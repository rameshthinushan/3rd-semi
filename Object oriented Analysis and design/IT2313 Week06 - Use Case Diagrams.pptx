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1"/>
  </p:notesMasterIdLst>
  <p:handoutMasterIdLst>
    <p:handoutMasterId r:id="rId32"/>
  </p:handoutMasterIdLst>
  <p:sldIdLst>
    <p:sldId id="256" r:id="rId2"/>
    <p:sldId id="264" r:id="rId3"/>
    <p:sldId id="257" r:id="rId4"/>
    <p:sldId id="258" r:id="rId5"/>
    <p:sldId id="268" r:id="rId6"/>
    <p:sldId id="271" r:id="rId7"/>
    <p:sldId id="272" r:id="rId8"/>
    <p:sldId id="273" r:id="rId9"/>
    <p:sldId id="274" r:id="rId10"/>
    <p:sldId id="290" r:id="rId11"/>
    <p:sldId id="275" r:id="rId12"/>
    <p:sldId id="263" r:id="rId13"/>
    <p:sldId id="259" r:id="rId14"/>
    <p:sldId id="260" r:id="rId15"/>
    <p:sldId id="261" r:id="rId16"/>
    <p:sldId id="262" r:id="rId17"/>
    <p:sldId id="270" r:id="rId18"/>
    <p:sldId id="276" r:id="rId19"/>
    <p:sldId id="277" r:id="rId20"/>
    <p:sldId id="283" r:id="rId21"/>
    <p:sldId id="281" r:id="rId22"/>
    <p:sldId id="282" r:id="rId23"/>
    <p:sldId id="286" r:id="rId24"/>
    <p:sldId id="284" r:id="rId25"/>
    <p:sldId id="285" r:id="rId26"/>
    <p:sldId id="287" r:id="rId27"/>
    <p:sldId id="288" r:id="rId28"/>
    <p:sldId id="289" r:id="rId29"/>
    <p:sldId id="266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08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8473F-51AA-4B5A-B149-BB219FAC895F}" type="datetimeFigureOut">
              <a:rPr lang="en-US" smtClean="0"/>
              <a:pPr/>
              <a:t>10/22/2021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Janaka Rajakaruna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F95EB-9115-4539-9088-14CE8A4E33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78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7F444-D555-43D3-A0D6-58226F1828F0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D5BF1-AB92-4DE2-8549-CF95C668A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84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8A252-A799-48CD-A6B3-2F3DA6FE647F}" type="datetime1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2866E-42F7-4984-8EBE-048FFFCFE45F}" type="datetime1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E2AE8-0907-499E-90AB-40364229A80A}" type="datetime1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9557-A2D4-45CE-8E43-739F044CE835}" type="datetime1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EE73-B098-4737-A2CD-22E21237DC4A}" type="datetime1">
              <a:rPr lang="en-US" smtClean="0"/>
              <a:t>10/22/2021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9EC9-172F-41E7-B9DB-572B0898DE88}" type="datetime1">
              <a:rPr lang="en-US" smtClean="0"/>
              <a:t>10/22/2021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B966-16E2-4EDF-B81A-EBE5CAF6C6AB}" type="datetime1">
              <a:rPr lang="en-US" smtClean="0"/>
              <a:t>10/22/2021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B3860-E8C5-4858-8530-5E96F4748A38}" type="datetime1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3220-07A6-46D6-A59E-6A3FE16298D6}" type="datetime1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118B0-8A58-4178-9284-28D6657D858A}" type="datetime1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D8CA1-A607-4B46-A7E1-3DD39E054810}" type="datetime1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60458-7AD8-4A24-B9C1-1831CF039A92}" type="datetime1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Use Case Diagram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 Oriented Analysis and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18288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 use case diagram is a graphical depiction of the user’s interaction with a system and interactions among the elements of a system.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935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 functions of a system behavior as user views</a:t>
            </a:r>
          </a:p>
          <a:p>
            <a:r>
              <a:rPr lang="en-GB" dirty="0"/>
              <a:t>Depicts the interactions between the system and external systems and users.</a:t>
            </a:r>
          </a:p>
          <a:p>
            <a:r>
              <a:rPr lang="en-GB" dirty="0"/>
              <a:t>Graphically describes who will use the system and in what ways the user expects to interact with the system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35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case diagram illustrates</a:t>
            </a:r>
          </a:p>
          <a:p>
            <a:pPr lvl="1"/>
            <a:r>
              <a:rPr lang="en-US" dirty="0"/>
              <a:t>A set of use cases for a system</a:t>
            </a:r>
          </a:p>
          <a:p>
            <a:pPr lvl="1"/>
            <a:r>
              <a:rPr lang="en-US" dirty="0"/>
              <a:t>The actors of these use cases</a:t>
            </a:r>
          </a:p>
          <a:p>
            <a:pPr lvl="1"/>
            <a:r>
              <a:rPr lang="en-US" dirty="0"/>
              <a:t>Relations between the actors and use cases </a:t>
            </a:r>
          </a:p>
          <a:p>
            <a:pPr lvl="1"/>
            <a:r>
              <a:rPr lang="en-US" dirty="0"/>
              <a:t>Relations among the use cases.</a:t>
            </a:r>
          </a:p>
          <a:p>
            <a:pPr lvl="1"/>
            <a:r>
              <a:rPr lang="en-US" dirty="0"/>
              <a:t>System boundary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57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 Diagram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23850" y="1422400"/>
            <a:ext cx="8123238" cy="4902200"/>
            <a:chOff x="323850" y="1143000"/>
            <a:chExt cx="8123238" cy="4902200"/>
          </a:xfrm>
        </p:grpSpPr>
        <p:sp>
          <p:nvSpPr>
            <p:cNvPr id="6" name="Line 3"/>
            <p:cNvSpPr>
              <a:spLocks noChangeShapeType="1"/>
            </p:cNvSpPr>
            <p:nvPr/>
          </p:nvSpPr>
          <p:spPr bwMode="auto">
            <a:xfrm>
              <a:off x="4648200" y="1143000"/>
              <a:ext cx="12700" cy="4902200"/>
            </a:xfrm>
            <a:prstGeom prst="line">
              <a:avLst/>
            </a:prstGeom>
            <a:noFill/>
            <a:ln w="38100" cmpd="dbl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0" tIns="45715" rIns="91430" bIns="45715" anchor="ctr"/>
            <a:lstStyle/>
            <a:p>
              <a:endParaRPr lang="en-US"/>
            </a:p>
          </p:txBody>
        </p:sp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3052763" y="1752600"/>
              <a:ext cx="419100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>
                  <a:latin typeface="Copperplate Gothic Light" panose="020E0507020206020404" pitchFamily="34" charset="0"/>
                </a:rPr>
                <a:t>Actor</a:t>
              </a:r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2765425" y="2819400"/>
              <a:ext cx="74612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>
                  <a:latin typeface="Copperplate Gothic Light" panose="020E0507020206020404" pitchFamily="34" charset="0"/>
                </a:rPr>
                <a:t>Use case</a:t>
              </a: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2444750" y="3886200"/>
              <a:ext cx="1412875" cy="44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>
                  <a:latin typeface="Copperplate Gothic Light" panose="020E0507020206020404" pitchFamily="34" charset="0"/>
                </a:rPr>
                <a:t>Actor to Use case</a:t>
              </a:r>
            </a:p>
            <a:p>
              <a:pPr algn="ctr"/>
              <a:r>
                <a:rPr lang="en-US" altLang="en-US" sz="1400">
                  <a:latin typeface="Copperplate Gothic Light" panose="020E0507020206020404" pitchFamily="34" charset="0"/>
                </a:rPr>
                <a:t>Association</a:t>
              </a: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7110413" y="1905000"/>
              <a:ext cx="88582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>
                  <a:latin typeface="Copperplate Gothic Light" panose="020E0507020206020404" pitchFamily="34" charset="0"/>
                </a:rPr>
                <a:t>Inheritance</a:t>
              </a: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6794500" y="2819400"/>
              <a:ext cx="1652588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>
                  <a:latin typeface="Copperplate Gothic Light" panose="020E0507020206020404" pitchFamily="34" charset="0"/>
                </a:rPr>
                <a:t>Inclusion Of a </a:t>
              </a:r>
            </a:p>
            <a:p>
              <a:pPr algn="ctr"/>
              <a:r>
                <a:rPr lang="en-US" altLang="en-US" sz="1400">
                  <a:latin typeface="Copperplate Gothic Light" panose="020E0507020206020404" pitchFamily="34" charset="0"/>
                </a:rPr>
                <a:t>Use case by Another</a:t>
              </a: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6794500" y="3962400"/>
              <a:ext cx="1652588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>
                  <a:latin typeface="Copperplate Gothic Light" panose="020E0507020206020404" pitchFamily="34" charset="0"/>
                </a:rPr>
                <a:t>Extension of a</a:t>
              </a:r>
            </a:p>
            <a:p>
              <a:pPr algn="ctr"/>
              <a:r>
                <a:rPr lang="en-US" altLang="en-US" sz="1400">
                  <a:latin typeface="Copperplate Gothic Light" panose="020E0507020206020404" pitchFamily="34" charset="0"/>
                </a:rPr>
                <a:t>Use case by Another</a:t>
              </a:r>
            </a:p>
          </p:txBody>
        </p:sp>
        <p:grpSp>
          <p:nvGrpSpPr>
            <p:cNvPr id="13" name="Group 10"/>
            <p:cNvGrpSpPr>
              <a:grpSpLocks/>
            </p:cNvGrpSpPr>
            <p:nvPr/>
          </p:nvGrpSpPr>
          <p:grpSpPr bwMode="auto">
            <a:xfrm>
              <a:off x="901700" y="1557338"/>
              <a:ext cx="481013" cy="766762"/>
              <a:chOff x="568" y="2312"/>
              <a:chExt cx="303" cy="483"/>
            </a:xfrm>
          </p:grpSpPr>
          <p:sp>
            <p:nvSpPr>
              <p:cNvPr id="31" name="Freeform 11"/>
              <p:cNvSpPr>
                <a:spLocks/>
              </p:cNvSpPr>
              <p:nvPr/>
            </p:nvSpPr>
            <p:spPr bwMode="auto">
              <a:xfrm>
                <a:off x="678" y="2326"/>
                <a:ext cx="117" cy="117"/>
              </a:xfrm>
              <a:custGeom>
                <a:avLst/>
                <a:gdLst>
                  <a:gd name="T0" fmla="*/ 97 w 117"/>
                  <a:gd name="T1" fmla="*/ 103 h 117"/>
                  <a:gd name="T2" fmla="*/ 117 w 117"/>
                  <a:gd name="T3" fmla="*/ 83 h 117"/>
                  <a:gd name="T4" fmla="*/ 117 w 117"/>
                  <a:gd name="T5" fmla="*/ 55 h 117"/>
                  <a:gd name="T6" fmla="*/ 117 w 117"/>
                  <a:gd name="T7" fmla="*/ 34 h 117"/>
                  <a:gd name="T8" fmla="*/ 97 w 117"/>
                  <a:gd name="T9" fmla="*/ 14 h 117"/>
                  <a:gd name="T10" fmla="*/ 76 w 117"/>
                  <a:gd name="T11" fmla="*/ 7 h 117"/>
                  <a:gd name="T12" fmla="*/ 55 w 117"/>
                  <a:gd name="T13" fmla="*/ 0 h 117"/>
                  <a:gd name="T14" fmla="*/ 35 w 117"/>
                  <a:gd name="T15" fmla="*/ 7 h 117"/>
                  <a:gd name="T16" fmla="*/ 14 w 117"/>
                  <a:gd name="T17" fmla="*/ 14 h 117"/>
                  <a:gd name="T18" fmla="*/ 0 w 117"/>
                  <a:gd name="T19" fmla="*/ 34 h 117"/>
                  <a:gd name="T20" fmla="*/ 0 w 117"/>
                  <a:gd name="T21" fmla="*/ 55 h 117"/>
                  <a:gd name="T22" fmla="*/ 0 w 117"/>
                  <a:gd name="T23" fmla="*/ 83 h 117"/>
                  <a:gd name="T24" fmla="*/ 14 w 117"/>
                  <a:gd name="T25" fmla="*/ 103 h 117"/>
                  <a:gd name="T26" fmla="*/ 35 w 117"/>
                  <a:gd name="T27" fmla="*/ 117 h 117"/>
                  <a:gd name="T28" fmla="*/ 55 w 117"/>
                  <a:gd name="T29" fmla="*/ 117 h 117"/>
                  <a:gd name="T30" fmla="*/ 76 w 117"/>
                  <a:gd name="T31" fmla="*/ 117 h 117"/>
                  <a:gd name="T32" fmla="*/ 97 w 117"/>
                  <a:gd name="T33" fmla="*/ 103 h 1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7"/>
                  <a:gd name="T52" fmla="*/ 0 h 117"/>
                  <a:gd name="T53" fmla="*/ 117 w 117"/>
                  <a:gd name="T54" fmla="*/ 117 h 1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7" h="117">
                    <a:moveTo>
                      <a:pt x="97" y="103"/>
                    </a:moveTo>
                    <a:lnTo>
                      <a:pt x="117" y="83"/>
                    </a:lnTo>
                    <a:lnTo>
                      <a:pt x="117" y="55"/>
                    </a:lnTo>
                    <a:lnTo>
                      <a:pt x="117" y="34"/>
                    </a:lnTo>
                    <a:lnTo>
                      <a:pt x="97" y="14"/>
                    </a:lnTo>
                    <a:lnTo>
                      <a:pt x="76" y="7"/>
                    </a:lnTo>
                    <a:lnTo>
                      <a:pt x="55" y="0"/>
                    </a:lnTo>
                    <a:lnTo>
                      <a:pt x="35" y="7"/>
                    </a:lnTo>
                    <a:lnTo>
                      <a:pt x="14" y="14"/>
                    </a:lnTo>
                    <a:lnTo>
                      <a:pt x="0" y="34"/>
                    </a:lnTo>
                    <a:lnTo>
                      <a:pt x="0" y="55"/>
                    </a:lnTo>
                    <a:lnTo>
                      <a:pt x="0" y="83"/>
                    </a:lnTo>
                    <a:lnTo>
                      <a:pt x="14" y="103"/>
                    </a:lnTo>
                    <a:lnTo>
                      <a:pt x="35" y="117"/>
                    </a:lnTo>
                    <a:lnTo>
                      <a:pt x="55" y="117"/>
                    </a:lnTo>
                    <a:lnTo>
                      <a:pt x="76" y="117"/>
                    </a:lnTo>
                    <a:lnTo>
                      <a:pt x="97" y="103"/>
                    </a:lnTo>
                    <a:close/>
                  </a:path>
                </a:pathLst>
              </a:custGeom>
              <a:solidFill>
                <a:srgbClr val="C8C8C8"/>
              </a:solidFill>
              <a:ln w="0">
                <a:solidFill>
                  <a:srgbClr val="C8C8C8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2" name="Freeform 12"/>
              <p:cNvSpPr>
                <a:spLocks/>
              </p:cNvSpPr>
              <p:nvPr/>
            </p:nvSpPr>
            <p:spPr bwMode="auto">
              <a:xfrm>
                <a:off x="657" y="2312"/>
                <a:ext cx="124" cy="117"/>
              </a:xfrm>
              <a:custGeom>
                <a:avLst/>
                <a:gdLst>
                  <a:gd name="T0" fmla="*/ 104 w 124"/>
                  <a:gd name="T1" fmla="*/ 97 h 117"/>
                  <a:gd name="T2" fmla="*/ 118 w 124"/>
                  <a:gd name="T3" fmla="*/ 76 h 117"/>
                  <a:gd name="T4" fmla="*/ 124 w 124"/>
                  <a:gd name="T5" fmla="*/ 55 h 117"/>
                  <a:gd name="T6" fmla="*/ 118 w 124"/>
                  <a:gd name="T7" fmla="*/ 35 h 117"/>
                  <a:gd name="T8" fmla="*/ 104 w 124"/>
                  <a:gd name="T9" fmla="*/ 14 h 117"/>
                  <a:gd name="T10" fmla="*/ 83 w 124"/>
                  <a:gd name="T11" fmla="*/ 0 h 117"/>
                  <a:gd name="T12" fmla="*/ 62 w 124"/>
                  <a:gd name="T13" fmla="*/ 0 h 117"/>
                  <a:gd name="T14" fmla="*/ 42 w 124"/>
                  <a:gd name="T15" fmla="*/ 0 h 117"/>
                  <a:gd name="T16" fmla="*/ 21 w 124"/>
                  <a:gd name="T17" fmla="*/ 14 h 117"/>
                  <a:gd name="T18" fmla="*/ 7 w 124"/>
                  <a:gd name="T19" fmla="*/ 35 h 117"/>
                  <a:gd name="T20" fmla="*/ 0 w 124"/>
                  <a:gd name="T21" fmla="*/ 55 h 117"/>
                  <a:gd name="T22" fmla="*/ 7 w 124"/>
                  <a:gd name="T23" fmla="*/ 76 h 117"/>
                  <a:gd name="T24" fmla="*/ 21 w 124"/>
                  <a:gd name="T25" fmla="*/ 97 h 117"/>
                  <a:gd name="T26" fmla="*/ 42 w 124"/>
                  <a:gd name="T27" fmla="*/ 117 h 117"/>
                  <a:gd name="T28" fmla="*/ 62 w 124"/>
                  <a:gd name="T29" fmla="*/ 117 h 117"/>
                  <a:gd name="T30" fmla="*/ 83 w 124"/>
                  <a:gd name="T31" fmla="*/ 117 h 117"/>
                  <a:gd name="T32" fmla="*/ 104 w 124"/>
                  <a:gd name="T33" fmla="*/ 97 h 1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24"/>
                  <a:gd name="T52" fmla="*/ 0 h 117"/>
                  <a:gd name="T53" fmla="*/ 124 w 124"/>
                  <a:gd name="T54" fmla="*/ 117 h 1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24" h="117">
                    <a:moveTo>
                      <a:pt x="104" y="97"/>
                    </a:moveTo>
                    <a:lnTo>
                      <a:pt x="118" y="76"/>
                    </a:lnTo>
                    <a:lnTo>
                      <a:pt x="124" y="55"/>
                    </a:lnTo>
                    <a:lnTo>
                      <a:pt x="118" y="35"/>
                    </a:lnTo>
                    <a:lnTo>
                      <a:pt x="104" y="14"/>
                    </a:lnTo>
                    <a:lnTo>
                      <a:pt x="83" y="0"/>
                    </a:lnTo>
                    <a:lnTo>
                      <a:pt x="62" y="0"/>
                    </a:lnTo>
                    <a:lnTo>
                      <a:pt x="42" y="0"/>
                    </a:lnTo>
                    <a:lnTo>
                      <a:pt x="21" y="14"/>
                    </a:lnTo>
                    <a:lnTo>
                      <a:pt x="7" y="35"/>
                    </a:lnTo>
                    <a:lnTo>
                      <a:pt x="0" y="55"/>
                    </a:lnTo>
                    <a:lnTo>
                      <a:pt x="7" y="76"/>
                    </a:lnTo>
                    <a:lnTo>
                      <a:pt x="21" y="97"/>
                    </a:lnTo>
                    <a:lnTo>
                      <a:pt x="42" y="117"/>
                    </a:lnTo>
                    <a:lnTo>
                      <a:pt x="62" y="117"/>
                    </a:lnTo>
                    <a:lnTo>
                      <a:pt x="83" y="117"/>
                    </a:lnTo>
                    <a:lnTo>
                      <a:pt x="104" y="97"/>
                    </a:lnTo>
                    <a:close/>
                  </a:path>
                </a:pathLst>
              </a:custGeom>
              <a:solidFill>
                <a:srgbClr val="F3F2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3" name="Line 13"/>
              <p:cNvSpPr>
                <a:spLocks noChangeShapeType="1"/>
              </p:cNvSpPr>
              <p:nvPr/>
            </p:nvSpPr>
            <p:spPr bwMode="auto">
              <a:xfrm>
                <a:off x="719" y="2429"/>
                <a:ext cx="1" cy="21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Line 14"/>
              <p:cNvSpPr>
                <a:spLocks noChangeShapeType="1"/>
              </p:cNvSpPr>
              <p:nvPr/>
            </p:nvSpPr>
            <p:spPr bwMode="auto">
              <a:xfrm>
                <a:off x="630" y="2491"/>
                <a:ext cx="179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5"/>
              <p:cNvSpPr>
                <a:spLocks/>
              </p:cNvSpPr>
              <p:nvPr/>
            </p:nvSpPr>
            <p:spPr bwMode="auto">
              <a:xfrm>
                <a:off x="568" y="2643"/>
                <a:ext cx="303" cy="152"/>
              </a:xfrm>
              <a:custGeom>
                <a:avLst/>
                <a:gdLst>
                  <a:gd name="T0" fmla="*/ 0 w 303"/>
                  <a:gd name="T1" fmla="*/ 152 h 152"/>
                  <a:gd name="T2" fmla="*/ 151 w 303"/>
                  <a:gd name="T3" fmla="*/ 0 h 152"/>
                  <a:gd name="T4" fmla="*/ 303 w 303"/>
                  <a:gd name="T5" fmla="*/ 152 h 152"/>
                  <a:gd name="T6" fmla="*/ 0 60000 65536"/>
                  <a:gd name="T7" fmla="*/ 0 60000 65536"/>
                  <a:gd name="T8" fmla="*/ 0 60000 65536"/>
                  <a:gd name="T9" fmla="*/ 0 w 303"/>
                  <a:gd name="T10" fmla="*/ 0 h 152"/>
                  <a:gd name="T11" fmla="*/ 303 w 303"/>
                  <a:gd name="T12" fmla="*/ 152 h 1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03" h="152">
                    <a:moveTo>
                      <a:pt x="0" y="152"/>
                    </a:moveTo>
                    <a:lnTo>
                      <a:pt x="151" y="0"/>
                    </a:lnTo>
                    <a:lnTo>
                      <a:pt x="303" y="15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6" name="Rectangle 16"/>
              <p:cNvSpPr>
                <a:spLocks noChangeArrowheads="1"/>
              </p:cNvSpPr>
              <p:nvPr/>
            </p:nvSpPr>
            <p:spPr bwMode="auto">
              <a:xfrm>
                <a:off x="568" y="2312"/>
                <a:ext cx="303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14" name="Freeform 17"/>
            <p:cNvSpPr>
              <a:spLocks/>
            </p:cNvSpPr>
            <p:nvPr/>
          </p:nvSpPr>
          <p:spPr bwMode="auto">
            <a:xfrm>
              <a:off x="323850" y="2711450"/>
              <a:ext cx="1974850" cy="476250"/>
            </a:xfrm>
            <a:custGeom>
              <a:avLst/>
              <a:gdLst>
                <a:gd name="T0" fmla="*/ 2147483647 w 1750"/>
                <a:gd name="T1" fmla="*/ 2147483647 h 421"/>
                <a:gd name="T2" fmla="*/ 2147483647 w 1750"/>
                <a:gd name="T3" fmla="*/ 2147483647 h 421"/>
                <a:gd name="T4" fmla="*/ 2147483647 w 1750"/>
                <a:gd name="T5" fmla="*/ 2147483647 h 421"/>
                <a:gd name="T6" fmla="*/ 2147483647 w 1750"/>
                <a:gd name="T7" fmla="*/ 2147483647 h 421"/>
                <a:gd name="T8" fmla="*/ 2147483647 w 1750"/>
                <a:gd name="T9" fmla="*/ 2147483647 h 421"/>
                <a:gd name="T10" fmla="*/ 2147483647 w 1750"/>
                <a:gd name="T11" fmla="*/ 2147483647 h 421"/>
                <a:gd name="T12" fmla="*/ 2147483647 w 1750"/>
                <a:gd name="T13" fmla="*/ 2147483647 h 421"/>
                <a:gd name="T14" fmla="*/ 2147483647 w 1750"/>
                <a:gd name="T15" fmla="*/ 2147483647 h 421"/>
                <a:gd name="T16" fmla="*/ 2147483647 w 1750"/>
                <a:gd name="T17" fmla="*/ 2147483647 h 421"/>
                <a:gd name="T18" fmla="*/ 2147483647 w 1750"/>
                <a:gd name="T19" fmla="*/ 2147483647 h 421"/>
                <a:gd name="T20" fmla="*/ 2147483647 w 1750"/>
                <a:gd name="T21" fmla="*/ 2147483647 h 421"/>
                <a:gd name="T22" fmla="*/ 2147483647 w 1750"/>
                <a:gd name="T23" fmla="*/ 2147483647 h 421"/>
                <a:gd name="T24" fmla="*/ 2147483647 w 1750"/>
                <a:gd name="T25" fmla="*/ 2147483647 h 421"/>
                <a:gd name="T26" fmla="*/ 2147483647 w 1750"/>
                <a:gd name="T27" fmla="*/ 2147483647 h 421"/>
                <a:gd name="T28" fmla="*/ 2147483647 w 1750"/>
                <a:gd name="T29" fmla="*/ 2147483647 h 421"/>
                <a:gd name="T30" fmla="*/ 2147483647 w 1750"/>
                <a:gd name="T31" fmla="*/ 2147483647 h 421"/>
                <a:gd name="T32" fmla="*/ 2147483647 w 1750"/>
                <a:gd name="T33" fmla="*/ 2147483647 h 421"/>
                <a:gd name="T34" fmla="*/ 2147483647 w 1750"/>
                <a:gd name="T35" fmla="*/ 2147483647 h 421"/>
                <a:gd name="T36" fmla="*/ 2147483647 w 1750"/>
                <a:gd name="T37" fmla="*/ 2147483647 h 421"/>
                <a:gd name="T38" fmla="*/ 2147483647 w 1750"/>
                <a:gd name="T39" fmla="*/ 0 h 421"/>
                <a:gd name="T40" fmla="*/ 2147483647 w 1750"/>
                <a:gd name="T41" fmla="*/ 0 h 421"/>
                <a:gd name="T42" fmla="*/ 2147483647 w 1750"/>
                <a:gd name="T43" fmla="*/ 0 h 421"/>
                <a:gd name="T44" fmla="*/ 2147483647 w 1750"/>
                <a:gd name="T45" fmla="*/ 2147483647 h 421"/>
                <a:gd name="T46" fmla="*/ 2147483647 w 1750"/>
                <a:gd name="T47" fmla="*/ 2147483647 h 421"/>
                <a:gd name="T48" fmla="*/ 2147483647 w 1750"/>
                <a:gd name="T49" fmla="*/ 2147483647 h 421"/>
                <a:gd name="T50" fmla="*/ 2147483647 w 1750"/>
                <a:gd name="T51" fmla="*/ 2147483647 h 421"/>
                <a:gd name="T52" fmla="*/ 2147483647 w 1750"/>
                <a:gd name="T53" fmla="*/ 2147483647 h 421"/>
                <a:gd name="T54" fmla="*/ 2147483647 w 1750"/>
                <a:gd name="T55" fmla="*/ 2147483647 h 421"/>
                <a:gd name="T56" fmla="*/ 2147483647 w 1750"/>
                <a:gd name="T57" fmla="*/ 2147483647 h 421"/>
                <a:gd name="T58" fmla="*/ 2147483647 w 1750"/>
                <a:gd name="T59" fmla="*/ 2147483647 h 421"/>
                <a:gd name="T60" fmla="*/ 2147483647 w 1750"/>
                <a:gd name="T61" fmla="*/ 2147483647 h 421"/>
                <a:gd name="T62" fmla="*/ 2147483647 w 1750"/>
                <a:gd name="T63" fmla="*/ 2147483647 h 421"/>
                <a:gd name="T64" fmla="*/ 0 w 1750"/>
                <a:gd name="T65" fmla="*/ 2147483647 h 421"/>
                <a:gd name="T66" fmla="*/ 2147483647 w 1750"/>
                <a:gd name="T67" fmla="*/ 2147483647 h 421"/>
                <a:gd name="T68" fmla="*/ 2147483647 w 1750"/>
                <a:gd name="T69" fmla="*/ 2147483647 h 421"/>
                <a:gd name="T70" fmla="*/ 2147483647 w 1750"/>
                <a:gd name="T71" fmla="*/ 2147483647 h 421"/>
                <a:gd name="T72" fmla="*/ 2147483647 w 1750"/>
                <a:gd name="T73" fmla="*/ 2147483647 h 421"/>
                <a:gd name="T74" fmla="*/ 2147483647 w 1750"/>
                <a:gd name="T75" fmla="*/ 2147483647 h 421"/>
                <a:gd name="T76" fmla="*/ 2147483647 w 1750"/>
                <a:gd name="T77" fmla="*/ 2147483647 h 421"/>
                <a:gd name="T78" fmla="*/ 2147483647 w 1750"/>
                <a:gd name="T79" fmla="*/ 2147483647 h 421"/>
                <a:gd name="T80" fmla="*/ 2147483647 w 1750"/>
                <a:gd name="T81" fmla="*/ 2147483647 h 421"/>
                <a:gd name="T82" fmla="*/ 2147483647 w 1750"/>
                <a:gd name="T83" fmla="*/ 2147483647 h 421"/>
                <a:gd name="T84" fmla="*/ 2147483647 w 1750"/>
                <a:gd name="T85" fmla="*/ 2147483647 h 421"/>
                <a:gd name="T86" fmla="*/ 2147483647 w 1750"/>
                <a:gd name="T87" fmla="*/ 2147483647 h 421"/>
                <a:gd name="T88" fmla="*/ 2147483647 w 1750"/>
                <a:gd name="T89" fmla="*/ 2147483647 h 421"/>
                <a:gd name="T90" fmla="*/ 2147483647 w 1750"/>
                <a:gd name="T91" fmla="*/ 2147483647 h 421"/>
                <a:gd name="T92" fmla="*/ 2147483647 w 1750"/>
                <a:gd name="T93" fmla="*/ 2147483647 h 421"/>
                <a:gd name="T94" fmla="*/ 2147483647 w 1750"/>
                <a:gd name="T95" fmla="*/ 2147483647 h 421"/>
                <a:gd name="T96" fmla="*/ 2147483647 w 1750"/>
                <a:gd name="T97" fmla="*/ 2147483647 h 42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750"/>
                <a:gd name="T148" fmla="*/ 0 h 421"/>
                <a:gd name="T149" fmla="*/ 1750 w 1750"/>
                <a:gd name="T150" fmla="*/ 421 h 42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750" h="421">
                  <a:moveTo>
                    <a:pt x="1495" y="359"/>
                  </a:moveTo>
                  <a:lnTo>
                    <a:pt x="1551" y="338"/>
                  </a:lnTo>
                  <a:lnTo>
                    <a:pt x="1606" y="324"/>
                  </a:lnTo>
                  <a:lnTo>
                    <a:pt x="1647" y="304"/>
                  </a:lnTo>
                  <a:lnTo>
                    <a:pt x="1688" y="290"/>
                  </a:lnTo>
                  <a:lnTo>
                    <a:pt x="1716" y="269"/>
                  </a:lnTo>
                  <a:lnTo>
                    <a:pt x="1730" y="249"/>
                  </a:lnTo>
                  <a:lnTo>
                    <a:pt x="1744" y="228"/>
                  </a:lnTo>
                  <a:lnTo>
                    <a:pt x="1750" y="207"/>
                  </a:lnTo>
                  <a:lnTo>
                    <a:pt x="1744" y="187"/>
                  </a:lnTo>
                  <a:lnTo>
                    <a:pt x="1730" y="166"/>
                  </a:lnTo>
                  <a:lnTo>
                    <a:pt x="1716" y="145"/>
                  </a:lnTo>
                  <a:lnTo>
                    <a:pt x="1688" y="131"/>
                  </a:lnTo>
                  <a:lnTo>
                    <a:pt x="1647" y="111"/>
                  </a:lnTo>
                  <a:lnTo>
                    <a:pt x="1606" y="97"/>
                  </a:lnTo>
                  <a:lnTo>
                    <a:pt x="1551" y="76"/>
                  </a:lnTo>
                  <a:lnTo>
                    <a:pt x="1495" y="62"/>
                  </a:lnTo>
                  <a:lnTo>
                    <a:pt x="1358" y="35"/>
                  </a:lnTo>
                  <a:lnTo>
                    <a:pt x="1206" y="14"/>
                  </a:lnTo>
                  <a:lnTo>
                    <a:pt x="1041" y="0"/>
                  </a:lnTo>
                  <a:lnTo>
                    <a:pt x="875" y="0"/>
                  </a:lnTo>
                  <a:lnTo>
                    <a:pt x="710" y="0"/>
                  </a:lnTo>
                  <a:lnTo>
                    <a:pt x="544" y="14"/>
                  </a:lnTo>
                  <a:lnTo>
                    <a:pt x="393" y="35"/>
                  </a:lnTo>
                  <a:lnTo>
                    <a:pt x="255" y="62"/>
                  </a:lnTo>
                  <a:lnTo>
                    <a:pt x="193" y="76"/>
                  </a:lnTo>
                  <a:lnTo>
                    <a:pt x="145" y="97"/>
                  </a:lnTo>
                  <a:lnTo>
                    <a:pt x="96" y="111"/>
                  </a:lnTo>
                  <a:lnTo>
                    <a:pt x="62" y="131"/>
                  </a:lnTo>
                  <a:lnTo>
                    <a:pt x="34" y="145"/>
                  </a:lnTo>
                  <a:lnTo>
                    <a:pt x="21" y="166"/>
                  </a:lnTo>
                  <a:lnTo>
                    <a:pt x="7" y="187"/>
                  </a:lnTo>
                  <a:lnTo>
                    <a:pt x="0" y="207"/>
                  </a:lnTo>
                  <a:lnTo>
                    <a:pt x="7" y="228"/>
                  </a:lnTo>
                  <a:lnTo>
                    <a:pt x="21" y="249"/>
                  </a:lnTo>
                  <a:lnTo>
                    <a:pt x="34" y="269"/>
                  </a:lnTo>
                  <a:lnTo>
                    <a:pt x="62" y="290"/>
                  </a:lnTo>
                  <a:lnTo>
                    <a:pt x="96" y="304"/>
                  </a:lnTo>
                  <a:lnTo>
                    <a:pt x="145" y="324"/>
                  </a:lnTo>
                  <a:lnTo>
                    <a:pt x="193" y="338"/>
                  </a:lnTo>
                  <a:lnTo>
                    <a:pt x="255" y="359"/>
                  </a:lnTo>
                  <a:lnTo>
                    <a:pt x="393" y="387"/>
                  </a:lnTo>
                  <a:lnTo>
                    <a:pt x="544" y="407"/>
                  </a:lnTo>
                  <a:lnTo>
                    <a:pt x="710" y="414"/>
                  </a:lnTo>
                  <a:lnTo>
                    <a:pt x="875" y="421"/>
                  </a:lnTo>
                  <a:lnTo>
                    <a:pt x="1041" y="414"/>
                  </a:lnTo>
                  <a:lnTo>
                    <a:pt x="1206" y="407"/>
                  </a:lnTo>
                  <a:lnTo>
                    <a:pt x="1358" y="387"/>
                  </a:lnTo>
                  <a:lnTo>
                    <a:pt x="1495" y="359"/>
                  </a:lnTo>
                  <a:close/>
                </a:path>
              </a:pathLst>
            </a:custGeom>
            <a:solidFill>
              <a:srgbClr val="F3F2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lIns="91430" tIns="45715" rIns="91430" bIns="45715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" name="Line 18"/>
            <p:cNvSpPr>
              <a:spLocks noChangeShapeType="1"/>
            </p:cNvSpPr>
            <p:nvPr/>
          </p:nvSpPr>
          <p:spPr bwMode="auto">
            <a:xfrm>
              <a:off x="611188" y="4292600"/>
              <a:ext cx="1619250" cy="1762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0" tIns="45715" rIns="91430" bIns="45715"/>
            <a:lstStyle/>
            <a:p>
              <a:endParaRPr lang="en-US"/>
            </a:p>
          </p:txBody>
        </p:sp>
        <p:sp>
          <p:nvSpPr>
            <p:cNvPr id="16" name="Rectangle 19"/>
            <p:cNvSpPr>
              <a:spLocks noChangeArrowheads="1"/>
            </p:cNvSpPr>
            <p:nvPr/>
          </p:nvSpPr>
          <p:spPr bwMode="auto">
            <a:xfrm>
              <a:off x="900113" y="5300663"/>
              <a:ext cx="1009650" cy="51752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30" tIns="45715" rIns="91430" bIns="45715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" name="Text Box 20"/>
            <p:cNvSpPr txBox="1">
              <a:spLocks noChangeArrowheads="1"/>
            </p:cNvSpPr>
            <p:nvPr/>
          </p:nvSpPr>
          <p:spPr bwMode="auto">
            <a:xfrm>
              <a:off x="2919413" y="5308600"/>
              <a:ext cx="766762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>
                  <a:latin typeface="Copperplate Gothic Light" panose="020E0507020206020404" pitchFamily="34" charset="0"/>
                </a:rPr>
                <a:t>System </a:t>
              </a:r>
            </a:p>
            <a:p>
              <a:pPr algn="ctr"/>
              <a:r>
                <a:rPr lang="en-US" altLang="en-US" sz="1400">
                  <a:latin typeface="Copperplate Gothic Light" panose="020E0507020206020404" pitchFamily="34" charset="0"/>
                </a:rPr>
                <a:t>Boundary</a:t>
              </a:r>
            </a:p>
          </p:txBody>
        </p:sp>
        <p:pic>
          <p:nvPicPr>
            <p:cNvPr id="18" name="Picture 2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5432425" y="1557338"/>
              <a:ext cx="147637" cy="871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5388" y="2997200"/>
              <a:ext cx="12954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Freeform 23"/>
            <p:cNvSpPr>
              <a:spLocks/>
            </p:cNvSpPr>
            <p:nvPr/>
          </p:nvSpPr>
          <p:spPr bwMode="auto">
            <a:xfrm>
              <a:off x="4921250" y="5097463"/>
              <a:ext cx="1666875" cy="496887"/>
            </a:xfrm>
            <a:custGeom>
              <a:avLst/>
              <a:gdLst>
                <a:gd name="T0" fmla="*/ 0 w 1626"/>
                <a:gd name="T1" fmla="*/ 0 h 483"/>
                <a:gd name="T2" fmla="*/ 2147483647 w 1626"/>
                <a:gd name="T3" fmla="*/ 0 h 483"/>
                <a:gd name="T4" fmla="*/ 2147483647 w 1626"/>
                <a:gd name="T5" fmla="*/ 2147483647 h 483"/>
                <a:gd name="T6" fmla="*/ 2147483647 w 1626"/>
                <a:gd name="T7" fmla="*/ 2147483647 h 483"/>
                <a:gd name="T8" fmla="*/ 0 w 1626"/>
                <a:gd name="T9" fmla="*/ 2147483647 h 483"/>
                <a:gd name="T10" fmla="*/ 0 w 1626"/>
                <a:gd name="T11" fmla="*/ 0 h 4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26"/>
                <a:gd name="T19" fmla="*/ 0 h 483"/>
                <a:gd name="T20" fmla="*/ 1626 w 1626"/>
                <a:gd name="T21" fmla="*/ 483 h 48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26" h="483">
                  <a:moveTo>
                    <a:pt x="0" y="0"/>
                  </a:moveTo>
                  <a:lnTo>
                    <a:pt x="1537" y="0"/>
                  </a:lnTo>
                  <a:lnTo>
                    <a:pt x="1626" y="117"/>
                  </a:lnTo>
                  <a:lnTo>
                    <a:pt x="1626" y="483"/>
                  </a:lnTo>
                  <a:lnTo>
                    <a:pt x="0" y="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2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lIns="91430" tIns="45715" rIns="91430" bIns="45715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" name="Text Box 24"/>
            <p:cNvSpPr txBox="1">
              <a:spLocks noChangeArrowheads="1"/>
            </p:cNvSpPr>
            <p:nvPr/>
          </p:nvSpPr>
          <p:spPr bwMode="auto">
            <a:xfrm>
              <a:off x="7561263" y="5091113"/>
              <a:ext cx="46672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>
                  <a:latin typeface="Copperplate Gothic Light" panose="020E0507020206020404" pitchFamily="34" charset="0"/>
                </a:rPr>
                <a:t>Notes</a:t>
              </a:r>
            </a:p>
          </p:txBody>
        </p:sp>
        <p:grpSp>
          <p:nvGrpSpPr>
            <p:cNvPr id="22" name="Group 25"/>
            <p:cNvGrpSpPr>
              <a:grpSpLocks noChangeAspect="1"/>
            </p:cNvGrpSpPr>
            <p:nvPr/>
          </p:nvGrpSpPr>
          <p:grpSpPr bwMode="auto">
            <a:xfrm>
              <a:off x="4984750" y="4005263"/>
              <a:ext cx="1316038" cy="334962"/>
              <a:chOff x="3140" y="2523"/>
              <a:chExt cx="829" cy="211"/>
            </a:xfrm>
          </p:grpSpPr>
          <p:sp>
            <p:nvSpPr>
              <p:cNvPr id="23" name="AutoShape 26"/>
              <p:cNvSpPr>
                <a:spLocks noChangeAspect="1" noChangeArrowheads="1" noTextEdit="1"/>
              </p:cNvSpPr>
              <p:nvPr/>
            </p:nvSpPr>
            <p:spPr bwMode="auto">
              <a:xfrm>
                <a:off x="3140" y="2523"/>
                <a:ext cx="829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Line 27"/>
              <p:cNvSpPr>
                <a:spLocks noChangeShapeType="1"/>
              </p:cNvSpPr>
              <p:nvPr/>
            </p:nvSpPr>
            <p:spPr bwMode="auto">
              <a:xfrm>
                <a:off x="3185" y="2689"/>
                <a:ext cx="72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28"/>
              <p:cNvSpPr>
                <a:spLocks/>
              </p:cNvSpPr>
              <p:nvPr/>
            </p:nvSpPr>
            <p:spPr bwMode="auto">
              <a:xfrm>
                <a:off x="3841" y="2659"/>
                <a:ext cx="68" cy="67"/>
              </a:xfrm>
              <a:custGeom>
                <a:avLst/>
                <a:gdLst>
                  <a:gd name="T0" fmla="*/ 0 w 9"/>
                  <a:gd name="T1" fmla="*/ 0 h 9"/>
                  <a:gd name="T2" fmla="*/ 1675255 w 9"/>
                  <a:gd name="T3" fmla="*/ 684874 h 9"/>
                  <a:gd name="T4" fmla="*/ 0 w 9"/>
                  <a:gd name="T5" fmla="*/ 1532692 h 9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9"/>
                  <a:gd name="T11" fmla="*/ 9 w 9"/>
                  <a:gd name="T12" fmla="*/ 9 h 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9">
                    <a:moveTo>
                      <a:pt x="0" y="0"/>
                    </a:moveTo>
                    <a:lnTo>
                      <a:pt x="9" y="4"/>
                    </a:lnTo>
                    <a:lnTo>
                      <a:pt x="0" y="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" name="Rectangle 29"/>
              <p:cNvSpPr>
                <a:spLocks noChangeArrowheads="1"/>
              </p:cNvSpPr>
              <p:nvPr/>
            </p:nvSpPr>
            <p:spPr bwMode="auto">
              <a:xfrm>
                <a:off x="3140" y="2523"/>
                <a:ext cx="821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" name="Rectangle 30"/>
              <p:cNvSpPr>
                <a:spLocks noChangeArrowheads="1"/>
              </p:cNvSpPr>
              <p:nvPr/>
            </p:nvSpPr>
            <p:spPr bwMode="auto">
              <a:xfrm>
                <a:off x="3246" y="2531"/>
                <a:ext cx="131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AU" altLang="en-US" sz="1400">
                    <a:solidFill>
                      <a:srgbClr val="4020C0"/>
                    </a:solidFill>
                    <a:latin typeface="Arial" panose="020B0604020202020204" pitchFamily="34" charset="0"/>
                  </a:rPr>
                  <a:t>&lt;&lt;</a:t>
                </a:r>
                <a:endParaRPr lang="en-AU" altLang="en-US" sz="1800"/>
              </a:p>
            </p:txBody>
          </p:sp>
          <p:sp>
            <p:nvSpPr>
              <p:cNvPr id="28" name="Rectangle 31"/>
              <p:cNvSpPr>
                <a:spLocks noChangeArrowheads="1"/>
              </p:cNvSpPr>
              <p:nvPr/>
            </p:nvSpPr>
            <p:spPr bwMode="auto">
              <a:xfrm>
                <a:off x="3381" y="2531"/>
                <a:ext cx="39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AU" altLang="en-US" sz="1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extends</a:t>
                </a:r>
                <a:endParaRPr lang="en-AU" altLang="en-US" sz="1800" dirty="0"/>
              </a:p>
            </p:txBody>
          </p:sp>
          <p:sp>
            <p:nvSpPr>
              <p:cNvPr id="29" name="Rectangle 32"/>
              <p:cNvSpPr>
                <a:spLocks noChangeArrowheads="1"/>
              </p:cNvSpPr>
              <p:nvPr/>
            </p:nvSpPr>
            <p:spPr bwMode="auto">
              <a:xfrm>
                <a:off x="3705" y="2531"/>
                <a:ext cx="131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AU" altLang="en-US" sz="1400">
                    <a:solidFill>
                      <a:srgbClr val="4020C0"/>
                    </a:solidFill>
                    <a:latin typeface="Arial" panose="020B0604020202020204" pitchFamily="34" charset="0"/>
                  </a:rPr>
                  <a:t>&gt;&gt;</a:t>
                </a:r>
                <a:endParaRPr lang="en-AU" altLang="en-US" sz="1800"/>
              </a:p>
            </p:txBody>
          </p:sp>
          <p:sp>
            <p:nvSpPr>
              <p:cNvPr id="30" name="Rectangle 33"/>
              <p:cNvSpPr>
                <a:spLocks noChangeArrowheads="1"/>
              </p:cNvSpPr>
              <p:nvPr/>
            </p:nvSpPr>
            <p:spPr bwMode="auto">
              <a:xfrm>
                <a:off x="3961" y="2726"/>
                <a:ext cx="8" cy="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5850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1295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just">
              <a:buNone/>
            </a:pPr>
            <a:r>
              <a:rPr lang="en-US" dirty="0"/>
              <a:t>Type of </a:t>
            </a:r>
            <a:r>
              <a:rPr lang="en-US" i="1" dirty="0"/>
              <a:t>users of the system </a:t>
            </a:r>
            <a:r>
              <a:rPr lang="en-US" dirty="0"/>
              <a:t>or external systems that the system interacts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3429000"/>
            <a:ext cx="8229600" cy="2895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Actor may anything that needs to interact with the system to </a:t>
            </a:r>
            <a:r>
              <a:rPr lang="en-US" dirty="0">
                <a:solidFill>
                  <a:srgbClr val="FF0000"/>
                </a:solidFill>
              </a:rPr>
              <a:t>exchange information</a:t>
            </a:r>
          </a:p>
          <a:p>
            <a:pPr lvl="1" algn="just"/>
            <a:r>
              <a:rPr lang="en-US" dirty="0"/>
              <a:t>User</a:t>
            </a:r>
          </a:p>
          <a:p>
            <a:pPr lvl="1" algn="just"/>
            <a:r>
              <a:rPr lang="en-US" dirty="0"/>
              <a:t>Separate computer system</a:t>
            </a:r>
          </a:p>
          <a:p>
            <a:pPr lvl="1" algn="just"/>
            <a:r>
              <a:rPr lang="en-US" dirty="0"/>
              <a:t>External device</a:t>
            </a:r>
          </a:p>
          <a:p>
            <a:pPr lvl="1"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246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Actor Variations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648200"/>
          </a:xfrm>
        </p:spPr>
        <p:txBody>
          <a:bodyPr>
            <a:normAutofit/>
          </a:bodyPr>
          <a:lstStyle/>
          <a:p>
            <a:r>
              <a:rPr lang="en-US" dirty="0"/>
              <a:t>Primary actor Vs. secondary actor</a:t>
            </a:r>
          </a:p>
          <a:p>
            <a:pPr marL="514305" lvl="1" indent="-214268" defTabSz="685658">
              <a:lnSpc>
                <a:spcPct val="120000"/>
              </a:lnSpc>
              <a:tabLst>
                <a:tab pos="2142681" algn="l"/>
              </a:tabLst>
              <a:defRPr/>
            </a:pPr>
            <a:r>
              <a:rPr lang="en-US" sz="2400" dirty="0"/>
              <a:t>Primary</a:t>
            </a:r>
            <a:endParaRPr lang="en-US" sz="1950" dirty="0"/>
          </a:p>
          <a:p>
            <a:pPr marL="814281" lvl="2" indent="-171415" defTabSz="685658">
              <a:lnSpc>
                <a:spcPct val="120000"/>
              </a:lnSpc>
              <a:tabLst>
                <a:tab pos="2142681" algn="l"/>
              </a:tabLst>
              <a:defRPr/>
            </a:pPr>
            <a:r>
              <a:rPr lang="en-US" dirty="0"/>
              <a:t>The first or main Actor who uses the system</a:t>
            </a:r>
          </a:p>
          <a:p>
            <a:pPr marL="814281" lvl="2" indent="-171415" defTabSz="685658">
              <a:lnSpc>
                <a:spcPct val="120000"/>
              </a:lnSpc>
              <a:tabLst>
                <a:tab pos="2142681" algn="l"/>
              </a:tabLst>
              <a:defRPr/>
            </a:pPr>
            <a:r>
              <a:rPr lang="en-US" dirty="0"/>
              <a:t>The main Actor who benefits from the system </a:t>
            </a:r>
          </a:p>
          <a:p>
            <a:pPr marL="814281" lvl="2" indent="-171415" defTabSz="685658">
              <a:lnSpc>
                <a:spcPct val="120000"/>
              </a:lnSpc>
              <a:tabLst>
                <a:tab pos="2142681" algn="l"/>
              </a:tabLst>
              <a:defRPr/>
            </a:pPr>
            <a:r>
              <a:rPr lang="en-US" dirty="0"/>
              <a:t>e.g. Customer, Patient, Doctor</a:t>
            </a:r>
          </a:p>
          <a:p>
            <a:pPr marL="514305" lvl="1" indent="-214268" defTabSz="685658">
              <a:lnSpc>
                <a:spcPct val="120000"/>
              </a:lnSpc>
              <a:tabLst>
                <a:tab pos="2142681" algn="l"/>
              </a:tabLst>
              <a:defRPr/>
            </a:pPr>
            <a:r>
              <a:rPr lang="en-US" sz="2400" dirty="0"/>
              <a:t>Secondary Actor</a:t>
            </a:r>
          </a:p>
          <a:p>
            <a:pPr marL="814281" lvl="2" indent="-171415" defTabSz="685658">
              <a:lnSpc>
                <a:spcPct val="120000"/>
              </a:lnSpc>
              <a:tabLst>
                <a:tab pos="2142681" algn="l"/>
              </a:tabLst>
              <a:defRPr/>
            </a:pPr>
            <a:r>
              <a:rPr lang="en-US" dirty="0"/>
              <a:t>The Actor who derives indirect benefits from or uses the system </a:t>
            </a:r>
          </a:p>
          <a:p>
            <a:pPr marL="814281" lvl="2" indent="-171415" defTabSz="685658">
              <a:lnSpc>
                <a:spcPct val="120000"/>
              </a:lnSpc>
              <a:tabLst>
                <a:tab pos="2142681" algn="l"/>
              </a:tabLst>
              <a:defRPr/>
            </a:pPr>
            <a:r>
              <a:rPr lang="en-US" dirty="0"/>
              <a:t>e.g. Branch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629400" y="63246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 rot="19347841">
            <a:off x="5956960" y="3607022"/>
            <a:ext cx="3297761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4281" lvl="2" indent="-171415" defTabSz="685658">
              <a:lnSpc>
                <a:spcPct val="120000"/>
              </a:lnSpc>
              <a:tabLst>
                <a:tab pos="2142681" algn="l"/>
              </a:tabLst>
              <a:defRPr/>
            </a:pPr>
            <a:r>
              <a:rPr lang="en-US" dirty="0">
                <a:solidFill>
                  <a:srgbClr val="FF0000"/>
                </a:solidFill>
              </a:rPr>
              <a:t>Depends on Perspective</a:t>
            </a:r>
          </a:p>
        </p:txBody>
      </p:sp>
    </p:spTree>
    <p:extLst>
      <p:ext uri="{BB962C8B-B14F-4D97-AF65-F5344CB8AC3E}">
        <p14:creationId xmlns:p14="http://schemas.microsoft.com/office/powerpoint/2010/main" val="1361889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Actor Variations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Direct actor Vs. indirect actor</a:t>
            </a:r>
          </a:p>
          <a:p>
            <a:pPr lvl="1"/>
            <a:r>
              <a:rPr lang="en-US" dirty="0"/>
              <a:t>Direct </a:t>
            </a:r>
          </a:p>
          <a:p>
            <a:pPr lvl="2"/>
            <a:r>
              <a:rPr lang="en-US" dirty="0"/>
              <a:t>E.g. Teller </a:t>
            </a:r>
          </a:p>
          <a:p>
            <a:pPr lvl="1"/>
            <a:r>
              <a:rPr lang="en-US" dirty="0"/>
              <a:t>Indirect</a:t>
            </a:r>
          </a:p>
          <a:p>
            <a:pPr lvl="2"/>
            <a:r>
              <a:rPr lang="en-US" dirty="0"/>
              <a:t>E.g. Customer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3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functionality to complete a process</a:t>
            </a:r>
          </a:p>
          <a:p>
            <a:r>
              <a:rPr lang="en-US" altLang="en-US" dirty="0"/>
              <a:t>Describe </a:t>
            </a:r>
            <a:r>
              <a:rPr lang="en-US" altLang="en-US" b="1" dirty="0"/>
              <a:t>what</a:t>
            </a:r>
            <a:r>
              <a:rPr lang="en-US" altLang="en-US" dirty="0"/>
              <a:t> a system does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608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 Diagram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AutoShape 2" descr="automated teller machine and actor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05000"/>
            <a:ext cx="6718062" cy="4729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1842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Actor based</a:t>
            </a:r>
          </a:p>
          <a:p>
            <a:pPr lvl="1" algn="just"/>
            <a:r>
              <a:rPr lang="en-US" dirty="0"/>
              <a:t>Specify the actors which will use the system and which other systems must interact with it.</a:t>
            </a:r>
          </a:p>
          <a:p>
            <a:pPr lvl="1" algn="just"/>
            <a:r>
              <a:rPr lang="en-US" dirty="0"/>
              <a:t>For each actor, identifying the processes they initiate or participate </a:t>
            </a:r>
          </a:p>
          <a:p>
            <a:pPr algn="just"/>
            <a:r>
              <a:rPr lang="en-US" dirty="0"/>
              <a:t>Event based</a:t>
            </a:r>
          </a:p>
          <a:p>
            <a:pPr lvl="1" algn="just"/>
            <a:r>
              <a:rPr lang="en-US" dirty="0"/>
              <a:t>Identify the external events that a system must respond to</a:t>
            </a:r>
          </a:p>
          <a:p>
            <a:pPr lvl="1" algn="just"/>
            <a:r>
              <a:rPr lang="en-US" dirty="0"/>
              <a:t>Relate the events to actors and use cases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022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Advantages of Use Case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Easy to understand by non technical people </a:t>
            </a:r>
          </a:p>
          <a:p>
            <a:pPr algn="just"/>
            <a:r>
              <a:rPr lang="en-US" dirty="0"/>
              <a:t>Facilitate encouraging user involvement</a:t>
            </a:r>
          </a:p>
          <a:p>
            <a:pPr algn="just"/>
            <a:r>
              <a:rPr lang="en-US" dirty="0"/>
              <a:t>Used to gathering system requirements from  users</a:t>
            </a:r>
          </a:p>
          <a:p>
            <a:pPr algn="just"/>
            <a:r>
              <a:rPr lang="en-US" dirty="0"/>
              <a:t>Used to describe a new design to stakeholders</a:t>
            </a:r>
          </a:p>
          <a:p>
            <a:pPr algn="just"/>
            <a:r>
              <a:rPr lang="en-US" dirty="0"/>
              <a:t>Helpful in identifying project scope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6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175259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just">
              <a:buNone/>
            </a:pPr>
            <a:r>
              <a:rPr lang="en-US" dirty="0"/>
              <a:t>The scenario is an </a:t>
            </a:r>
            <a:r>
              <a:rPr lang="en-US" i="1" dirty="0"/>
              <a:t>ordered</a:t>
            </a:r>
            <a:r>
              <a:rPr lang="en-US" dirty="0"/>
              <a:t> sequence of interactions between the actor(s) and the system to accomplish a goal.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4191000"/>
            <a:ext cx="8229600" cy="205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4211782"/>
            <a:ext cx="8229600" cy="205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3886200"/>
            <a:ext cx="8229600" cy="2590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Scenario consists of </a:t>
            </a:r>
          </a:p>
          <a:p>
            <a:pPr lvl="1"/>
            <a:r>
              <a:rPr lang="en-US" dirty="0"/>
              <a:t>Normal flow</a:t>
            </a:r>
          </a:p>
          <a:p>
            <a:pPr lvl="1"/>
            <a:r>
              <a:rPr lang="en-US" dirty="0"/>
              <a:t>Alternate flow</a:t>
            </a:r>
          </a:p>
          <a:p>
            <a:pPr lvl="1"/>
            <a:r>
              <a:rPr lang="en-US" dirty="0"/>
              <a:t>Sub flows</a:t>
            </a:r>
          </a:p>
          <a:p>
            <a:pPr lvl="1"/>
            <a:r>
              <a:rPr lang="en-US" dirty="0"/>
              <a:t>Exceptions</a:t>
            </a:r>
          </a:p>
        </p:txBody>
      </p:sp>
    </p:spTree>
    <p:extLst>
      <p:ext uri="{BB962C8B-B14F-4D97-AF65-F5344CB8AC3E}">
        <p14:creationId xmlns:p14="http://schemas.microsoft.com/office/powerpoint/2010/main" val="3176971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121919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basic flow cover events what "normally" happens when the use case is performed.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3429000"/>
            <a:ext cx="8229600" cy="1348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Known as best case scenario</a:t>
            </a:r>
          </a:p>
          <a:p>
            <a:r>
              <a:rPr lang="en-US" dirty="0"/>
              <a:t>Ex.</a:t>
            </a:r>
          </a:p>
          <a:p>
            <a:endParaRPr lang="en-US" dirty="0"/>
          </a:p>
        </p:txBody>
      </p:sp>
      <p:graphicFrame>
        <p:nvGraphicFramePr>
          <p:cNvPr id="6" name="Group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9758033"/>
              </p:ext>
            </p:extLst>
          </p:nvPr>
        </p:nvGraphicFramePr>
        <p:xfrm>
          <a:off x="491836" y="4777581"/>
          <a:ext cx="8194964" cy="1865674"/>
        </p:xfrm>
        <a:graphic>
          <a:graphicData uri="http://schemas.openxmlformats.org/drawingml/2006/table">
            <a:tbl>
              <a:tblPr/>
              <a:tblGrid>
                <a:gridCol w="1685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9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65674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pitchFamily="34" charset="0"/>
                        </a:rPr>
                        <a:t>Normal Flow: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1.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pitchFamily="34" charset="0"/>
                        </a:rPr>
                        <a:t>	Customer inserts the bank card.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2.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	Customers enters password.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3.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	System verifies password.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4.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	System presents a list of transaction types that the customer may conduct.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5.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	Customer selects a type of transaction.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9890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12192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dirty="0"/>
              <a:t>Sub-flows elaborate the details of the steps in the normal 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5" name="Group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8402404"/>
              </p:ext>
            </p:extLst>
          </p:nvPr>
        </p:nvGraphicFramePr>
        <p:xfrm>
          <a:off x="457200" y="3542607"/>
          <a:ext cx="8118764" cy="3084186"/>
        </p:xfrm>
        <a:graphic>
          <a:graphicData uri="http://schemas.openxmlformats.org/drawingml/2006/table">
            <a:tbl>
              <a:tblPr/>
              <a:tblGrid>
                <a:gridCol w="1670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8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6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pitchFamily="34" charset="0"/>
                        </a:rPr>
                        <a:t>Normal Flow: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1.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pitchFamily="34" charset="0"/>
                        </a:rPr>
                        <a:t>Registration clerk enter or update personal data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052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pitchFamily="34" charset="0"/>
                        </a:rPr>
                        <a:t>Sub Flows: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Baskerville SC" pitchFamily="18" charset="0"/>
                          <a:cs typeface="Times New Roman" pitchFamily="18" charset="0"/>
                        </a:rPr>
                        <a:t>1.1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	The registration clerk enters the Social Security Number of the new patient.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Baskerville SC" pitchFamily="18" charset="0"/>
                          <a:cs typeface="Times New Roman" pitchFamily="18" charset="0"/>
                        </a:rPr>
                        <a:t>1.2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	The registration clerk enters or updates patient’s address.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Baskerville SC" pitchFamily="18" charset="0"/>
                          <a:cs typeface="Times New Roman" pitchFamily="18" charset="0"/>
                        </a:rPr>
                        <a:t>1.3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	The registration clerk enters or updates patient’s phone number.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Baskerville SC" pitchFamily="18" charset="0"/>
                          <a:cs typeface="Times New Roman" pitchFamily="18" charset="0"/>
                        </a:rPr>
                        <a:t>1.4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	The registration clerk enters or updates the name, the address and the phone number of the patient’s closest relative.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3048000"/>
            <a:ext cx="8229600" cy="1729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790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76199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Alternate flow elaborate optional behaviors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5" name="Group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429446"/>
              </p:ext>
            </p:extLst>
          </p:nvPr>
        </p:nvGraphicFramePr>
        <p:xfrm>
          <a:off x="457200" y="3657599"/>
          <a:ext cx="8118764" cy="2969193"/>
        </p:xfrm>
        <a:graphic>
          <a:graphicData uri="http://schemas.openxmlformats.org/drawingml/2006/table">
            <a:tbl>
              <a:tblPr/>
              <a:tblGrid>
                <a:gridCol w="1670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8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33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pitchFamily="34" charset="0"/>
                        </a:rPr>
                        <a:t>Normal Flow: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1.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pitchFamily="34" charset="0"/>
                        </a:rPr>
                        <a:t>Registration clerk enter or update personal data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485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itchFamily="18" charset="0"/>
                          <a:cs typeface="Arial" pitchFamily="34" charset="0"/>
                        </a:rPr>
                        <a:t>Sub Flows: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Baskerville SC" pitchFamily="18" charset="0"/>
                          <a:cs typeface="Times New Roman" pitchFamily="18" charset="0"/>
                        </a:rPr>
                        <a:t>1.1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	patient is new:. Reception clerk directs the        patient to registration.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Baskerville SC" pitchFamily="18" charset="0"/>
                          <a:cs typeface="Times New Roman" pitchFamily="18" charset="0"/>
                        </a:rPr>
                        <a:t>1.2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	Patient is not new but personal or insurance data has changed. Reception clerk directs the patient to registration.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Baskerville SC" pitchFamily="18" charset="0"/>
                          <a:cs typeface="Times New Roman" pitchFamily="18" charset="0"/>
                        </a:rPr>
                        <a:t>1.3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	Patient has lost the hospital ID card. Reception clerk directs the patient to registration.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3048000"/>
            <a:ext cx="8229600" cy="1729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755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12192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Exceptional flow elaborate failures which not achieving the </a:t>
            </a:r>
            <a:r>
              <a:rPr lang="en-US" b="1" dirty="0"/>
              <a:t>use case's</a:t>
            </a:r>
            <a:r>
              <a:rPr lang="en-US" dirty="0"/>
              <a:t> goal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66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Narratives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16002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just">
              <a:buNone/>
            </a:pPr>
            <a:r>
              <a:rPr lang="en-US" dirty="0"/>
              <a:t>Narration is a textual representation of the course of events encountered when an actor is interacting with the system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373380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165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Narratives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00200"/>
            <a:ext cx="6235195" cy="4865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5133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Association</a:t>
            </a:r>
          </a:p>
          <a:p>
            <a:r>
              <a:rPr lang="en-US" dirty="0"/>
              <a:t>Extend</a:t>
            </a:r>
          </a:p>
          <a:p>
            <a:r>
              <a:rPr lang="en-US" dirty="0"/>
              <a:t>Include </a:t>
            </a:r>
          </a:p>
          <a:p>
            <a:r>
              <a:rPr lang="en-US" dirty="0"/>
              <a:t>Depends on</a:t>
            </a:r>
          </a:p>
          <a:p>
            <a:r>
              <a:rPr lang="en-US" dirty="0"/>
              <a:t>Inheritance</a:t>
            </a:r>
          </a:p>
          <a:p>
            <a:r>
              <a:rPr lang="en-US" dirty="0"/>
              <a:t>Generalization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09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Associations 	</a:t>
            </a:r>
          </a:p>
          <a:p>
            <a:pPr lvl="1"/>
            <a:r>
              <a:rPr lang="en-US" dirty="0"/>
              <a:t>Drawn between actors and use cases to show that an actor carries out a use case</a:t>
            </a:r>
          </a:p>
          <a:p>
            <a:pPr lvl="1"/>
            <a:r>
              <a:rPr lang="en-US" dirty="0"/>
              <a:t>Solid line connecting the actor and the use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3962400"/>
            <a:ext cx="3657599" cy="2790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45986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Extend </a:t>
            </a:r>
          </a:p>
          <a:p>
            <a:pPr lvl="1"/>
            <a:r>
              <a:rPr lang="en-US" dirty="0"/>
              <a:t>Extends the functionality of the original use case</a:t>
            </a:r>
          </a:p>
          <a:p>
            <a:pPr lvl="1"/>
            <a:r>
              <a:rPr lang="en-US" dirty="0"/>
              <a:t>Arrow headed (either solid/dashed) line </a:t>
            </a:r>
          </a:p>
          <a:p>
            <a:pPr lvl="1"/>
            <a:r>
              <a:rPr lang="en-US" dirty="0"/>
              <a:t>Shows optional behavior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3581400"/>
            <a:ext cx="3361098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4151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8370" name="Picture 2" descr="UML extend relationship example - Registration use case is extended with optional Get Help use case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133600"/>
            <a:ext cx="6134100" cy="1295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23891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</a:t>
            </a:r>
          </a:p>
          <a:p>
            <a:pPr lvl="1"/>
            <a:r>
              <a:rPr lang="en-US"/>
              <a:t>Depict the Relationship between an abstract use case and it included use case.</a:t>
            </a:r>
            <a:endParaRPr lang="en-US" dirty="0"/>
          </a:p>
          <a:p>
            <a:pPr lvl="1"/>
            <a:r>
              <a:rPr lang="en-US" dirty="0"/>
              <a:t>Arrow headed (either solid/dashed) line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16582" y="4038600"/>
            <a:ext cx="4137815" cy="2641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8319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1026" name="Picture 2" descr="Large and complex use case could be simplified by splitting it into several use cases using include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2720713"/>
            <a:ext cx="5257800" cy="4137287"/>
          </a:xfrm>
          <a:prstGeom prst="rect">
            <a:avLst/>
          </a:prstGeom>
          <a:noFill/>
        </p:spPr>
      </p:pic>
      <p:pic>
        <p:nvPicPr>
          <p:cNvPr id="1028" name="Picture 4" descr="UML include relationship example - Deposit Funds and Withdraw Cash use cases include Customer Authentication use case.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0"/>
            <a:ext cx="6318209" cy="3200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928575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Depends on</a:t>
            </a:r>
          </a:p>
          <a:p>
            <a:pPr lvl="1"/>
            <a:r>
              <a:rPr lang="en-US" dirty="0"/>
              <a:t>Indicating that one use case cannot be performed until another use case has been performed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513" y="3657600"/>
            <a:ext cx="6839129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55827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65830" y="3733800"/>
            <a:ext cx="5774364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  <a:p>
            <a:pPr lvl="1" algn="just"/>
            <a:r>
              <a:rPr lang="en-US" dirty="0"/>
              <a:t>Relationship between actors</a:t>
            </a:r>
          </a:p>
          <a:p>
            <a:pPr lvl="1" algn="just"/>
            <a:r>
              <a:rPr lang="en-US" dirty="0"/>
              <a:t>Simplify the drawing when an abstract actor inherits the role of multiple actors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7995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3239858"/>
            <a:ext cx="5472545" cy="3627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Generalization</a:t>
            </a:r>
          </a:p>
          <a:p>
            <a:pPr lvl="1"/>
            <a:r>
              <a:rPr lang="en-US" dirty="0"/>
              <a:t>Relation between use cases</a:t>
            </a:r>
          </a:p>
          <a:p>
            <a:pPr lvl="1"/>
            <a:r>
              <a:rPr lang="en-US" dirty="0"/>
              <a:t>Relation between abstract use case and specialized use case</a:t>
            </a:r>
          </a:p>
          <a:p>
            <a:pPr lvl="1"/>
            <a:r>
              <a:rPr lang="en-US" dirty="0"/>
              <a:t>Use arrow headed solid line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4390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Process of Modeling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dirty="0"/>
              <a:t>Step 1: Identify business external systems or users</a:t>
            </a:r>
          </a:p>
          <a:p>
            <a:pPr lvl="1"/>
            <a:r>
              <a:rPr lang="en-US" dirty="0"/>
              <a:t>Actors </a:t>
            </a:r>
          </a:p>
          <a:p>
            <a:pPr>
              <a:buNone/>
            </a:pPr>
            <a:r>
              <a:rPr lang="en-US" dirty="0"/>
              <a:t>Step 2: Identify Business Requirements</a:t>
            </a:r>
          </a:p>
          <a:p>
            <a:pPr lvl="1"/>
            <a:r>
              <a:rPr lang="en-US" dirty="0"/>
              <a:t>Use Cases</a:t>
            </a:r>
          </a:p>
          <a:p>
            <a:pPr>
              <a:buNone/>
            </a:pPr>
            <a:r>
              <a:rPr lang="en-US" dirty="0"/>
              <a:t>Step 3: Construct Use‐Case Model </a:t>
            </a:r>
          </a:p>
          <a:p>
            <a:pPr lvl="1"/>
            <a:r>
              <a:rPr lang="en-US" dirty="0"/>
              <a:t>Diagram</a:t>
            </a:r>
          </a:p>
          <a:p>
            <a:pPr>
              <a:buNone/>
            </a:pPr>
            <a:r>
              <a:rPr lang="en-US" dirty="0"/>
              <a:t>Step 4: Document Business Requirement</a:t>
            </a:r>
          </a:p>
          <a:p>
            <a:pPr lvl="1"/>
            <a:r>
              <a:rPr lang="en-US" dirty="0"/>
              <a:t>Use‐case Narratives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811803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1850</TotalTime>
  <Words>892</Words>
  <Application>Microsoft Office PowerPoint</Application>
  <PresentationFormat>On-screen Show (4:3)</PresentationFormat>
  <Paragraphs>183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Copperplate Gothic Light</vt:lpstr>
      <vt:lpstr>NewBaskerville SC</vt:lpstr>
      <vt:lpstr>Times New Roman</vt:lpstr>
      <vt:lpstr>HNDIT</vt:lpstr>
      <vt:lpstr>Object Oriented Analysis and Design</vt:lpstr>
      <vt:lpstr>Use Case diagram</vt:lpstr>
      <vt:lpstr>Use Case diagram</vt:lpstr>
      <vt:lpstr>Use Case diagram</vt:lpstr>
      <vt:lpstr>Use Case Diagram Components</vt:lpstr>
      <vt:lpstr>Actor</vt:lpstr>
      <vt:lpstr>Actor Variations</vt:lpstr>
      <vt:lpstr>Actor Variations</vt:lpstr>
      <vt:lpstr>Use Case</vt:lpstr>
      <vt:lpstr>Use Case Diagram Example</vt:lpstr>
      <vt:lpstr>Identifying Use Cases</vt:lpstr>
      <vt:lpstr>Advantages of Use Case diagram</vt:lpstr>
      <vt:lpstr>Scenario</vt:lpstr>
      <vt:lpstr>Normal Flow</vt:lpstr>
      <vt:lpstr>Sub Flow</vt:lpstr>
      <vt:lpstr>Alternate Flow</vt:lpstr>
      <vt:lpstr>Exceptions</vt:lpstr>
      <vt:lpstr>Narratives</vt:lpstr>
      <vt:lpstr>Narratives</vt:lpstr>
      <vt:lpstr>Relationships</vt:lpstr>
      <vt:lpstr>Relationships</vt:lpstr>
      <vt:lpstr>Relationships</vt:lpstr>
      <vt:lpstr>Example</vt:lpstr>
      <vt:lpstr>Relationships</vt:lpstr>
      <vt:lpstr>Example</vt:lpstr>
      <vt:lpstr>Relationships</vt:lpstr>
      <vt:lpstr>Relationships</vt:lpstr>
      <vt:lpstr>Relationships</vt:lpstr>
      <vt:lpstr>The Process of Modeling Use Cases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Janaka</dc:creator>
  <cp:lastModifiedBy>HP</cp:lastModifiedBy>
  <cp:revision>500</cp:revision>
  <dcterms:created xsi:type="dcterms:W3CDTF">2006-08-16T00:00:00Z</dcterms:created>
  <dcterms:modified xsi:type="dcterms:W3CDTF">2021-10-22T14:33:31Z</dcterms:modified>
</cp:coreProperties>
</file>