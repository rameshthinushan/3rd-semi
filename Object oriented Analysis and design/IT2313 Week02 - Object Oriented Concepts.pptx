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5"/>
  </p:notesMasterIdLst>
  <p:handoutMasterIdLst>
    <p:handoutMasterId r:id="rId16"/>
  </p:handoutMasterIdLst>
  <p:sldIdLst>
    <p:sldId id="256" r:id="rId2"/>
    <p:sldId id="258" r:id="rId3"/>
    <p:sldId id="257" r:id="rId4"/>
    <p:sldId id="275" r:id="rId5"/>
    <p:sldId id="277" r:id="rId6"/>
    <p:sldId id="276" r:id="rId7"/>
    <p:sldId id="278" r:id="rId8"/>
    <p:sldId id="280" r:id="rId9"/>
    <p:sldId id="279" r:id="rId10"/>
    <p:sldId id="281" r:id="rId11"/>
    <p:sldId id="282" r:id="rId12"/>
    <p:sldId id="283" r:id="rId13"/>
    <p:sldId id="284"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72"/>
      </p:cViewPr>
      <p:guideLst>
        <p:guide orient="horz" pos="2160"/>
        <p:guide pos="2880"/>
      </p:guideLst>
    </p:cSldViewPr>
  </p:slideViewPr>
  <p:notesTextViewPr>
    <p:cViewPr>
      <p:scale>
        <a:sx n="100" d="100"/>
        <a:sy n="100" d="100"/>
      </p:scale>
      <p:origin x="0" y="0"/>
    </p:cViewPr>
  </p:notesTextViewPr>
  <p:notesViewPr>
    <p:cSldViewPr>
      <p:cViewPr varScale="1">
        <p:scale>
          <a:sx n="56" d="100"/>
          <a:sy n="56" d="100"/>
        </p:scale>
        <p:origin x="-288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EA8473F-51AA-4B5A-B149-BB219FAC895F}" type="datetimeFigureOut">
              <a:rPr lang="en-US" smtClean="0"/>
              <a:pPr/>
              <a:t>10/22/2021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dirty="0"/>
              <a:t>Janaka Rajakaruna</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0AF95EB-9115-4539-9088-14CE8A4E3352}" type="slidenum">
              <a:rPr lang="en-US" smtClean="0"/>
              <a:pPr/>
              <a:t>‹#›</a:t>
            </a:fld>
            <a:endParaRPr lang="en-US"/>
          </a:p>
        </p:txBody>
      </p:sp>
    </p:spTree>
    <p:extLst>
      <p:ext uri="{BB962C8B-B14F-4D97-AF65-F5344CB8AC3E}">
        <p14:creationId xmlns:p14="http://schemas.microsoft.com/office/powerpoint/2010/main" val="21647782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B17F444-D555-43D3-A0D6-58226F1828F0}" type="datetimeFigureOut">
              <a:rPr lang="en-US" smtClean="0"/>
              <a:t>10/22/2021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82D5BF1-AB92-4DE2-8549-CF95C668A756}" type="slidenum">
              <a:rPr lang="en-US" smtClean="0"/>
              <a:t>‹#›</a:t>
            </a:fld>
            <a:endParaRPr lang="en-US"/>
          </a:p>
        </p:txBody>
      </p:sp>
    </p:spTree>
    <p:extLst>
      <p:ext uri="{BB962C8B-B14F-4D97-AF65-F5344CB8AC3E}">
        <p14:creationId xmlns:p14="http://schemas.microsoft.com/office/powerpoint/2010/main" val="2914484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057400"/>
            <a:ext cx="9144000" cy="2566851"/>
          </a:xfrm>
          <a:prstGeom prst="rect">
            <a:avLst/>
          </a:prstGeom>
        </p:spPr>
      </p:pic>
      <p:sp>
        <p:nvSpPr>
          <p:cNvPr id="4" name="Date Placeholder 3"/>
          <p:cNvSpPr>
            <a:spLocks noGrp="1"/>
          </p:cNvSpPr>
          <p:nvPr>
            <p:ph type="dt" sz="half" idx="10"/>
          </p:nvPr>
        </p:nvSpPr>
        <p:spPr/>
        <p:txBody>
          <a:bodyPr/>
          <a:lstStyle/>
          <a:p>
            <a:fld id="{BA2372C5-0ECD-4FA7-BF60-A57B07353018}" type="datetime1">
              <a:rPr lang="en-US" smtClean="0"/>
              <a:t>10/22/2021</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Chapter Title style</a:t>
            </a:r>
          </a:p>
        </p:txBody>
      </p:sp>
      <p:sp>
        <p:nvSpPr>
          <p:cNvPr id="2" name="Title 1"/>
          <p:cNvSpPr>
            <a:spLocks noGrp="1"/>
          </p:cNvSpPr>
          <p:nvPr>
            <p:ph type="ctrTitle" hasCustomPrompt="1"/>
          </p:nvPr>
        </p:nvSpPr>
        <p:spPr>
          <a:xfrm>
            <a:off x="4953000" y="2362201"/>
            <a:ext cx="3886200" cy="1981199"/>
          </a:xfrm>
        </p:spPr>
        <p:txBody>
          <a:bodyPr/>
          <a:lstStyle>
            <a:lvl1pPr>
              <a:defRPr/>
            </a:lvl1pPr>
          </a:lstStyle>
          <a:p>
            <a:r>
              <a:rPr lang="en-US" dirty="0"/>
              <a:t>Click to edit Course Title style</a:t>
            </a:r>
          </a:p>
        </p:txBody>
      </p:sp>
    </p:spTree>
    <p:extLst>
      <p:ext uri="{BB962C8B-B14F-4D97-AF65-F5344CB8AC3E}">
        <p14:creationId xmlns:p14="http://schemas.microsoft.com/office/powerpoint/2010/main" val="1302127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D286EB-A531-4D8D-9F74-DC41F56053BB}" type="datetime1">
              <a:rPr lang="en-US" smtClean="0"/>
              <a:t>10/22/2021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78172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AD0D0F-086F-4F0D-BD87-C36122D0B084}" type="datetime1">
              <a:rPr lang="en-US" smtClean="0"/>
              <a:t>10/22/2021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94410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722CBA1-0952-4095-999E-E70031DD245F}" type="datetime1">
              <a:rPr lang="en-US" smtClean="0"/>
              <a:t>10/22/2021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34815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98EAD1E-D931-4EF7-BC25-2C8CDA5A1FFC}" type="datetime1">
              <a:rPr lang="en-US" smtClean="0"/>
              <a:t>10/22/2021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11861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F5FDDAF-06B3-4D90-9922-E8EC6528CC70}" type="datetime1">
              <a:rPr lang="en-US" smtClean="0"/>
              <a:t>10/22/2021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6419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5E88A63-2249-4889-843C-CEE24B595D03}" type="datetime1">
              <a:rPr lang="en-US" smtClean="0"/>
              <a:t>10/22/2021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66640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6DE3F45-224C-40AE-9BEF-ABDE58DE8258}" type="datetime1">
              <a:rPr lang="en-US" smtClean="0"/>
              <a:t>10/22/2021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44932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942B390-A6C3-41DB-A28A-CBBED910BE91}" type="datetime1">
              <a:rPr lang="en-US" smtClean="0"/>
              <a:t>10/22/2021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14718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6B4DA98-EEC9-466C-91B0-9AC66B32EFDB}" type="datetime1">
              <a:rPr lang="en-US" smtClean="0"/>
              <a:t>10/22/2021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22774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66AD996-D1FE-42FC-89F8-2DF149F32075}" type="datetime1">
              <a:rPr lang="en-US" smtClean="0"/>
              <a:t>10/22/2021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8613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BE72AD-9451-41E3-8FA1-2A7B4E1C03B5}" type="datetime1">
              <a:rPr lang="en-US" smtClean="0"/>
              <a:t>10/22/2021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0"/>
            <a:ext cx="9144000" cy="381000"/>
          </a:xfrm>
          <a:prstGeom prst="rect">
            <a:avLst/>
          </a:prstGeom>
        </p:spPr>
      </p:pic>
    </p:spTree>
    <p:extLst>
      <p:ext uri="{BB962C8B-B14F-4D97-AF65-F5344CB8AC3E}">
        <p14:creationId xmlns:p14="http://schemas.microsoft.com/office/powerpoint/2010/main" val="182038408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t> Object-Oriented Concepts</a:t>
            </a:r>
          </a:p>
        </p:txBody>
      </p:sp>
      <p:sp>
        <p:nvSpPr>
          <p:cNvPr id="2" name="Title 1"/>
          <p:cNvSpPr>
            <a:spLocks noGrp="1"/>
          </p:cNvSpPr>
          <p:nvPr>
            <p:ph type="ctrTitle"/>
          </p:nvPr>
        </p:nvSpPr>
        <p:spPr/>
        <p:txBody>
          <a:bodyPr>
            <a:normAutofit fontScale="90000"/>
          </a:bodyPr>
          <a:lstStyle/>
          <a:p>
            <a:r>
              <a:rPr lang="en-US" dirty="0"/>
              <a:t>Object Oriented Analysis and Design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OOAD Concepts</a:t>
            </a:r>
          </a:p>
        </p:txBody>
      </p:sp>
      <p:sp>
        <p:nvSpPr>
          <p:cNvPr id="2" name="Content Placeholder 1"/>
          <p:cNvSpPr>
            <a:spLocks noGrp="1"/>
          </p:cNvSpPr>
          <p:nvPr>
            <p:ph idx="1"/>
          </p:nvPr>
        </p:nvSpPr>
        <p:spPr/>
        <p:txBody>
          <a:bodyPr>
            <a:normAutofit fontScale="92500" lnSpcReduction="10000"/>
          </a:bodyPr>
          <a:lstStyle/>
          <a:p>
            <a:r>
              <a:rPr lang="en-US" dirty="0"/>
              <a:t>Class</a:t>
            </a:r>
          </a:p>
          <a:p>
            <a:r>
              <a:rPr lang="en-US" dirty="0"/>
              <a:t>Object</a:t>
            </a:r>
          </a:p>
          <a:p>
            <a:r>
              <a:rPr lang="en-US" dirty="0"/>
              <a:t>Encapsulation </a:t>
            </a:r>
          </a:p>
          <a:p>
            <a:r>
              <a:rPr lang="en-US" dirty="0"/>
              <a:t>Abstraction</a:t>
            </a:r>
          </a:p>
          <a:p>
            <a:r>
              <a:rPr lang="en-US" dirty="0"/>
              <a:t>Inheritance</a:t>
            </a:r>
          </a:p>
          <a:p>
            <a:r>
              <a:rPr lang="en-US" dirty="0"/>
              <a:t>Polymorphism</a:t>
            </a:r>
          </a:p>
          <a:p>
            <a:r>
              <a:rPr lang="en-US" dirty="0"/>
              <a:t>Message passing</a:t>
            </a:r>
          </a:p>
          <a:p>
            <a:r>
              <a:rPr lang="en-US" dirty="0"/>
              <a:t>Dynamic binding</a:t>
            </a:r>
          </a:p>
          <a:p>
            <a:endParaRPr lang="en-US" dirty="0"/>
          </a:p>
          <a:p>
            <a:endParaRPr lang="en-US" i="1"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Classes &amp; Objects </a:t>
            </a:r>
          </a:p>
        </p:txBody>
      </p:sp>
      <p:sp>
        <p:nvSpPr>
          <p:cNvPr id="3" name="Content Placeholder 2"/>
          <p:cNvSpPr>
            <a:spLocks noGrp="1"/>
          </p:cNvSpPr>
          <p:nvPr>
            <p:ph idx="1"/>
          </p:nvPr>
        </p:nvSpPr>
        <p:spPr>
          <a:xfrm>
            <a:off x="457200" y="1905000"/>
            <a:ext cx="8229600" cy="4648200"/>
          </a:xfrm>
        </p:spPr>
        <p:txBody>
          <a:bodyPr>
            <a:normAutofit/>
          </a:bodyPr>
          <a:lstStyle/>
          <a:p>
            <a:r>
              <a:rPr lang="en-US" sz="3000" dirty="0"/>
              <a:t>Data / attributes / field/state</a:t>
            </a:r>
          </a:p>
          <a:p>
            <a:pPr lvl="1"/>
            <a:r>
              <a:rPr lang="en-US" dirty="0"/>
              <a:t>Describe the characteristics</a:t>
            </a:r>
          </a:p>
          <a:p>
            <a:r>
              <a:rPr lang="en-US" sz="3000" dirty="0"/>
              <a:t>Method</a:t>
            </a:r>
          </a:p>
          <a:p>
            <a:pPr lvl="1"/>
            <a:r>
              <a:rPr lang="en-US" dirty="0"/>
              <a:t>Perform operations</a:t>
            </a:r>
          </a:p>
          <a:p>
            <a:pPr lvl="1"/>
            <a:r>
              <a:rPr lang="en-US" dirty="0"/>
              <a:t>Perform object to object communication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Classes &amp; Objects </a:t>
            </a:r>
          </a:p>
        </p:txBody>
      </p:sp>
      <p:sp>
        <p:nvSpPr>
          <p:cNvPr id="3" name="Content Placeholder 2"/>
          <p:cNvSpPr>
            <a:spLocks noGrp="1"/>
          </p:cNvSpPr>
          <p:nvPr>
            <p:ph idx="1"/>
          </p:nvPr>
        </p:nvSpPr>
        <p:spPr>
          <a:xfrm>
            <a:off x="457200" y="1905000"/>
            <a:ext cx="8229600" cy="4648200"/>
          </a:xfrm>
        </p:spPr>
        <p:txBody>
          <a:bodyPr>
            <a:normAutofit fontScale="92500" lnSpcReduction="10000"/>
          </a:bodyPr>
          <a:lstStyle/>
          <a:p>
            <a:r>
              <a:rPr lang="en-US" sz="3000" dirty="0"/>
              <a:t>Class</a:t>
            </a:r>
          </a:p>
          <a:p>
            <a:pPr lvl="1"/>
            <a:r>
              <a:rPr lang="en-US" dirty="0"/>
              <a:t>Category or group of things that have the same attributes and the same behaviors. </a:t>
            </a:r>
          </a:p>
          <a:p>
            <a:pPr lvl="1"/>
            <a:r>
              <a:rPr lang="en-US" dirty="0"/>
              <a:t>Class is a decryption of properties and behaviors which a collection of same type objects can have</a:t>
            </a:r>
          </a:p>
          <a:p>
            <a:pPr lvl="1"/>
            <a:endParaRPr lang="en-US" dirty="0"/>
          </a:p>
          <a:p>
            <a:r>
              <a:rPr lang="en-US" sz="3000" dirty="0"/>
              <a:t>Object</a:t>
            </a:r>
          </a:p>
          <a:p>
            <a:pPr lvl="1"/>
            <a:r>
              <a:rPr lang="en-US" dirty="0"/>
              <a:t>Instance of a class</a:t>
            </a:r>
          </a:p>
          <a:p>
            <a:pPr lvl="1"/>
            <a:r>
              <a:rPr lang="en-US" dirty="0"/>
              <a:t>Object is a bundle of properties and behaviors</a:t>
            </a:r>
          </a:p>
          <a:p>
            <a:pPr lvl="1"/>
            <a:r>
              <a:rPr lang="en-US" dirty="0"/>
              <a:t>An object stores its state in </a:t>
            </a:r>
            <a:r>
              <a:rPr lang="en-US" i="1" dirty="0"/>
              <a:t>fields</a:t>
            </a:r>
            <a:r>
              <a:rPr lang="en-US" dirty="0"/>
              <a:t> (variables) and exposes its behavior through </a:t>
            </a:r>
            <a:r>
              <a:rPr lang="en-US" i="1" dirty="0"/>
              <a:t>methods</a:t>
            </a:r>
            <a:r>
              <a:rPr lang="en-US" dirty="0"/>
              <a:t> (functions)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42240853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Classes &amp; Objects </a:t>
            </a:r>
          </a:p>
        </p:txBody>
      </p:sp>
      <p:sp>
        <p:nvSpPr>
          <p:cNvPr id="7" name="Oval 6"/>
          <p:cNvSpPr/>
          <p:nvPr/>
        </p:nvSpPr>
        <p:spPr>
          <a:xfrm>
            <a:off x="1754144" y="1913948"/>
            <a:ext cx="2590800" cy="41910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r>
              <a:rPr lang="en-US" b="1" dirty="0">
                <a:solidFill>
                  <a:schemeClr val="tx1"/>
                </a:solidFill>
              </a:rPr>
              <a:t>Student</a:t>
            </a:r>
          </a:p>
        </p:txBody>
      </p:sp>
      <p:sp>
        <p:nvSpPr>
          <p:cNvPr id="8" name="Rounded Rectangle 7"/>
          <p:cNvSpPr/>
          <p:nvPr/>
        </p:nvSpPr>
        <p:spPr>
          <a:xfrm>
            <a:off x="2231396" y="3093605"/>
            <a:ext cx="1636295" cy="685800"/>
          </a:xfrm>
          <a:prstGeom prst="roundRect">
            <a:avLst/>
          </a:prstGeom>
          <a:solidFill>
            <a:srgbClr val="FFC00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rPr>
              <a:t>age</a:t>
            </a:r>
          </a:p>
        </p:txBody>
      </p:sp>
      <p:sp>
        <p:nvSpPr>
          <p:cNvPr id="9" name="Rounded Rectangle 8"/>
          <p:cNvSpPr/>
          <p:nvPr/>
        </p:nvSpPr>
        <p:spPr>
          <a:xfrm>
            <a:off x="2231396" y="4236605"/>
            <a:ext cx="1636295" cy="1066800"/>
          </a:xfrm>
          <a:prstGeom prst="roundRect">
            <a:avLst/>
          </a:prstGeom>
          <a:solidFill>
            <a:srgbClr val="FFC00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rPr>
              <a:t>Study()</a:t>
            </a:r>
          </a:p>
        </p:txBody>
      </p:sp>
      <p:sp>
        <p:nvSpPr>
          <p:cNvPr id="10" name="Oval 9"/>
          <p:cNvSpPr/>
          <p:nvPr/>
        </p:nvSpPr>
        <p:spPr>
          <a:xfrm>
            <a:off x="5335544" y="1913948"/>
            <a:ext cx="2590800" cy="4191000"/>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r>
              <a:rPr lang="en-US" b="1" dirty="0" err="1">
                <a:solidFill>
                  <a:schemeClr val="tx1"/>
                </a:solidFill>
              </a:rPr>
              <a:t>Nimal</a:t>
            </a:r>
            <a:endParaRPr lang="en-US" b="1" dirty="0">
              <a:solidFill>
                <a:schemeClr val="tx1"/>
              </a:solidFill>
            </a:endParaRPr>
          </a:p>
        </p:txBody>
      </p:sp>
      <p:sp>
        <p:nvSpPr>
          <p:cNvPr id="11" name="Rounded Rectangle 10"/>
          <p:cNvSpPr/>
          <p:nvPr/>
        </p:nvSpPr>
        <p:spPr>
          <a:xfrm>
            <a:off x="5812796" y="3093605"/>
            <a:ext cx="1636295" cy="685800"/>
          </a:xfrm>
          <a:prstGeom prst="roundRect">
            <a:avLst/>
          </a:prstGeom>
          <a:solidFill>
            <a:schemeClr val="accent1">
              <a:lumMod val="7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rPr>
              <a:t>21</a:t>
            </a:r>
          </a:p>
        </p:txBody>
      </p:sp>
      <p:sp>
        <p:nvSpPr>
          <p:cNvPr id="12" name="Rounded Rectangle 11"/>
          <p:cNvSpPr/>
          <p:nvPr/>
        </p:nvSpPr>
        <p:spPr>
          <a:xfrm>
            <a:off x="5812796" y="4236605"/>
            <a:ext cx="1636295" cy="1066800"/>
          </a:xfrm>
          <a:prstGeom prst="roundRect">
            <a:avLst/>
          </a:prstGeom>
          <a:solidFill>
            <a:schemeClr val="accent1">
              <a:lumMod val="7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rPr>
              <a:t>Study()</a:t>
            </a:r>
          </a:p>
        </p:txBody>
      </p:sp>
      <p:sp>
        <p:nvSpPr>
          <p:cNvPr id="5" name="TextBox 4"/>
          <p:cNvSpPr txBox="1"/>
          <p:nvPr/>
        </p:nvSpPr>
        <p:spPr>
          <a:xfrm>
            <a:off x="2719966" y="6444734"/>
            <a:ext cx="659155" cy="369332"/>
          </a:xfrm>
          <a:prstGeom prst="rect">
            <a:avLst/>
          </a:prstGeom>
          <a:noFill/>
        </p:spPr>
        <p:txBody>
          <a:bodyPr wrap="none" rtlCol="0">
            <a:spAutoFit/>
          </a:bodyPr>
          <a:lstStyle/>
          <a:p>
            <a:r>
              <a:rPr lang="en-US" b="1" dirty="0"/>
              <a:t>Class</a:t>
            </a:r>
          </a:p>
        </p:txBody>
      </p:sp>
      <p:sp>
        <p:nvSpPr>
          <p:cNvPr id="15" name="TextBox 14"/>
          <p:cNvSpPr txBox="1"/>
          <p:nvPr/>
        </p:nvSpPr>
        <p:spPr>
          <a:xfrm>
            <a:off x="6301366" y="6444734"/>
            <a:ext cx="814647" cy="369332"/>
          </a:xfrm>
          <a:prstGeom prst="rect">
            <a:avLst/>
          </a:prstGeom>
          <a:noFill/>
        </p:spPr>
        <p:txBody>
          <a:bodyPr wrap="none" rtlCol="0">
            <a:spAutoFit/>
          </a:bodyPr>
          <a:lstStyle/>
          <a:p>
            <a:r>
              <a:rPr lang="en-US" b="1" dirty="0"/>
              <a:t>Object</a:t>
            </a:r>
          </a:p>
        </p:txBody>
      </p:sp>
      <p:sp>
        <p:nvSpPr>
          <p:cNvPr id="13" name="TextBox 12"/>
          <p:cNvSpPr txBox="1"/>
          <p:nvPr/>
        </p:nvSpPr>
        <p:spPr>
          <a:xfrm>
            <a:off x="228600" y="1600200"/>
            <a:ext cx="2402645" cy="369332"/>
          </a:xfrm>
          <a:prstGeom prst="rect">
            <a:avLst/>
          </a:prstGeom>
          <a:noFill/>
        </p:spPr>
        <p:txBody>
          <a:bodyPr wrap="none" rtlCol="0">
            <a:spAutoFit/>
          </a:bodyPr>
          <a:lstStyle/>
          <a:p>
            <a:r>
              <a:rPr lang="en-US" dirty="0"/>
              <a:t>Attribute/Field/variable</a:t>
            </a:r>
          </a:p>
        </p:txBody>
      </p:sp>
      <p:sp>
        <p:nvSpPr>
          <p:cNvPr id="17" name="TextBox 16"/>
          <p:cNvSpPr txBox="1"/>
          <p:nvPr/>
        </p:nvSpPr>
        <p:spPr>
          <a:xfrm>
            <a:off x="7136795" y="1593107"/>
            <a:ext cx="1229696" cy="369332"/>
          </a:xfrm>
          <a:prstGeom prst="rect">
            <a:avLst/>
          </a:prstGeom>
          <a:noFill/>
        </p:spPr>
        <p:txBody>
          <a:bodyPr wrap="none" rtlCol="0">
            <a:spAutoFit/>
          </a:bodyPr>
          <a:lstStyle/>
          <a:p>
            <a:r>
              <a:rPr lang="en-US" dirty="0"/>
              <a:t>Data/Value</a:t>
            </a:r>
          </a:p>
        </p:txBody>
      </p:sp>
      <p:cxnSp>
        <p:nvCxnSpPr>
          <p:cNvPr id="16" name="Straight Arrow Connector 15"/>
          <p:cNvCxnSpPr/>
          <p:nvPr/>
        </p:nvCxnSpPr>
        <p:spPr>
          <a:xfrm>
            <a:off x="1981200" y="1962439"/>
            <a:ext cx="457200" cy="113116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7342569" y="1911062"/>
            <a:ext cx="818148" cy="1143000"/>
          </a:xfrm>
          <a:prstGeom prst="line">
            <a:avLst/>
          </a:prstGeom>
          <a:ln cmpd="sng">
            <a:solidFill>
              <a:schemeClr val="tx1"/>
            </a:solidFill>
            <a:headEnd type="triangle"/>
          </a:ln>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28749227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Classes &amp; Objects </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83752349"/>
              </p:ext>
            </p:extLst>
          </p:nvPr>
        </p:nvGraphicFramePr>
        <p:xfrm>
          <a:off x="533400" y="1600200"/>
          <a:ext cx="8229600" cy="240792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70840">
                <a:tc>
                  <a:txBody>
                    <a:bodyPr/>
                    <a:lstStyle/>
                    <a:p>
                      <a:pPr algn="ctr"/>
                      <a:r>
                        <a:rPr lang="en-US" sz="2800" dirty="0">
                          <a:solidFill>
                            <a:schemeClr val="tx1"/>
                          </a:solidFill>
                        </a:rPr>
                        <a:t>Class</a:t>
                      </a:r>
                    </a:p>
                  </a:txBody>
                  <a:tcPr/>
                </a:tc>
                <a:tc>
                  <a:txBody>
                    <a:bodyPr/>
                    <a:lstStyle/>
                    <a:p>
                      <a:pPr algn="ctr"/>
                      <a:r>
                        <a:rPr lang="en-US" sz="2800" dirty="0">
                          <a:solidFill>
                            <a:schemeClr val="tx1"/>
                          </a:solidFill>
                        </a:rPr>
                        <a:t>Object</a:t>
                      </a:r>
                    </a:p>
                  </a:txBody>
                  <a:tcPr/>
                </a:tc>
                <a:extLst>
                  <a:ext uri="{0D108BD9-81ED-4DB2-BD59-A6C34878D82A}">
                    <a16:rowId xmlns:a16="http://schemas.microsoft.com/office/drawing/2014/main" val="10000"/>
                  </a:ext>
                </a:extLst>
              </a:tr>
              <a:tr h="370840">
                <a:tc>
                  <a:txBody>
                    <a:bodyPr/>
                    <a:lstStyle/>
                    <a:p>
                      <a:r>
                        <a:rPr lang="en-US" sz="2000" dirty="0"/>
                        <a:t>User</a:t>
                      </a:r>
                      <a:r>
                        <a:rPr lang="en-US" sz="2000" baseline="0" dirty="0"/>
                        <a:t> defined data type</a:t>
                      </a:r>
                      <a:endParaRPr lang="en-US" sz="2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Instance of</a:t>
                      </a:r>
                      <a:r>
                        <a:rPr lang="en-US" sz="2000" baseline="0" dirty="0"/>
                        <a:t> u</a:t>
                      </a:r>
                      <a:r>
                        <a:rPr lang="en-US" sz="2000" dirty="0"/>
                        <a:t>ser</a:t>
                      </a:r>
                      <a:r>
                        <a:rPr lang="en-US" sz="2000" baseline="0" dirty="0"/>
                        <a:t> defined data type</a:t>
                      </a:r>
                      <a:endParaRPr lang="en-US" sz="2000" dirty="0"/>
                    </a:p>
                  </a:txBody>
                  <a:tcPr/>
                </a:tc>
                <a:extLst>
                  <a:ext uri="{0D108BD9-81ED-4DB2-BD59-A6C34878D82A}">
                    <a16:rowId xmlns:a16="http://schemas.microsoft.com/office/drawing/2014/main" val="10001"/>
                  </a:ext>
                </a:extLst>
              </a:tr>
              <a:tr h="370840">
                <a:tc>
                  <a:txBody>
                    <a:bodyPr/>
                    <a:lstStyle/>
                    <a:p>
                      <a:r>
                        <a:rPr lang="en-US" sz="2000" dirty="0"/>
                        <a:t>Prototype or</a:t>
                      </a:r>
                      <a:r>
                        <a:rPr lang="en-US" sz="2000" baseline="0" dirty="0"/>
                        <a:t> model</a:t>
                      </a:r>
                      <a:endParaRPr lang="en-US" sz="2000" dirty="0"/>
                    </a:p>
                  </a:txBody>
                  <a:tcPr/>
                </a:tc>
                <a:tc>
                  <a:txBody>
                    <a:bodyPr/>
                    <a:lstStyle/>
                    <a:p>
                      <a:r>
                        <a:rPr lang="en-US" sz="2000" dirty="0"/>
                        <a:t>Containing</a:t>
                      </a:r>
                      <a:r>
                        <a:rPr lang="en-US" sz="2000" baseline="0" dirty="0"/>
                        <a:t> features</a:t>
                      </a:r>
                      <a:endParaRPr lang="en-US" sz="2000" dirty="0"/>
                    </a:p>
                  </a:txBody>
                  <a:tcPr/>
                </a:tc>
                <a:extLst>
                  <a:ext uri="{0D108BD9-81ED-4DB2-BD59-A6C34878D82A}">
                    <a16:rowId xmlns:a16="http://schemas.microsoft.com/office/drawing/2014/main" val="10002"/>
                  </a:ext>
                </a:extLst>
              </a:tr>
              <a:tr h="370840">
                <a:tc>
                  <a:txBody>
                    <a:bodyPr/>
                    <a:lstStyle/>
                    <a:p>
                      <a:r>
                        <a:rPr lang="en-US" sz="2000" dirty="0"/>
                        <a:t>Do not occupy memory</a:t>
                      </a:r>
                    </a:p>
                  </a:txBody>
                  <a:tcPr/>
                </a:tc>
                <a:tc>
                  <a:txBody>
                    <a:bodyPr/>
                    <a:lstStyle/>
                    <a:p>
                      <a:r>
                        <a:rPr lang="en-US" sz="2000" dirty="0"/>
                        <a:t>Occupy memory</a:t>
                      </a:r>
                    </a:p>
                  </a:txBody>
                  <a:tcPr/>
                </a:tc>
                <a:extLst>
                  <a:ext uri="{0D108BD9-81ED-4DB2-BD59-A6C34878D82A}">
                    <a16:rowId xmlns:a16="http://schemas.microsoft.com/office/drawing/2014/main" val="10003"/>
                  </a:ext>
                </a:extLst>
              </a:tr>
              <a:tr h="370840">
                <a:tc>
                  <a:txBody>
                    <a:bodyPr/>
                    <a:lstStyle/>
                    <a:p>
                      <a:r>
                        <a:rPr lang="en-US" sz="2000" dirty="0"/>
                        <a:t>Cant manipulate since its not in memory</a:t>
                      </a:r>
                    </a:p>
                  </a:txBody>
                  <a:tcPr/>
                </a:tc>
                <a:tc>
                  <a:txBody>
                    <a:bodyPr/>
                    <a:lstStyle/>
                    <a:p>
                      <a:r>
                        <a:rPr lang="en-US" sz="2000" dirty="0"/>
                        <a:t>Can manipulate</a:t>
                      </a:r>
                    </a:p>
                  </a:txBody>
                  <a:tcPr/>
                </a:tc>
                <a:extLst>
                  <a:ext uri="{0D108BD9-81ED-4DB2-BD59-A6C34878D82A}">
                    <a16:rowId xmlns:a16="http://schemas.microsoft.com/office/drawing/2014/main" val="10004"/>
                  </a:ext>
                </a:extLst>
              </a:tr>
            </a:tbl>
          </a:graphicData>
        </a:graphic>
      </p:graphicFrame>
      <p:sp>
        <p:nvSpPr>
          <p:cNvPr id="3" name="Slide Number Placeholder 2"/>
          <p:cNvSpPr>
            <a:spLocks noGrp="1"/>
          </p:cNvSpPr>
          <p:nvPr>
            <p:ph type="sldNum" sz="quarter" idx="12"/>
          </p:nvPr>
        </p:nvSpPr>
        <p:spPr/>
        <p:txBody>
          <a:bodyPr/>
          <a:lstStyle/>
          <a:p>
            <a:fld id="{B6F15528-21DE-4FAA-801E-634DDDAF4B2B}" type="slidenum">
              <a:rPr lang="en-US" smtClean="0"/>
              <a:pPr/>
              <a:t>6</a:t>
            </a:fld>
            <a:endParaRPr lang="en-US"/>
          </a:p>
        </p:txBody>
      </p:sp>
    </p:spTree>
    <p:extLst>
      <p:ext uri="{BB962C8B-B14F-4D97-AF65-F5344CB8AC3E}">
        <p14:creationId xmlns:p14="http://schemas.microsoft.com/office/powerpoint/2010/main" val="12675786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Classes &amp; Objects </a:t>
            </a:r>
          </a:p>
        </p:txBody>
      </p:sp>
      <p:sp>
        <p:nvSpPr>
          <p:cNvPr id="3" name="Content Placeholder 2"/>
          <p:cNvSpPr>
            <a:spLocks noGrp="1"/>
          </p:cNvSpPr>
          <p:nvPr>
            <p:ph idx="1"/>
          </p:nvPr>
        </p:nvSpPr>
        <p:spPr>
          <a:xfrm>
            <a:off x="457200" y="1600200"/>
            <a:ext cx="4038600" cy="5029200"/>
          </a:xfrm>
        </p:spPr>
        <p:style>
          <a:lnRef idx="2">
            <a:schemeClr val="dk1"/>
          </a:lnRef>
          <a:fillRef idx="1">
            <a:schemeClr val="lt1"/>
          </a:fillRef>
          <a:effectRef idx="0">
            <a:schemeClr val="dk1"/>
          </a:effectRef>
          <a:fontRef idx="minor">
            <a:schemeClr val="dk1"/>
          </a:fontRef>
        </p:style>
        <p:txBody>
          <a:bodyPr>
            <a:normAutofit fontScale="55000" lnSpcReduction="20000"/>
          </a:bodyPr>
          <a:lstStyle/>
          <a:p>
            <a:pPr marL="0" indent="0">
              <a:buNone/>
            </a:pPr>
            <a:r>
              <a:rPr lang="en-US" dirty="0"/>
              <a:t>class Student</a:t>
            </a:r>
          </a:p>
          <a:p>
            <a:pPr marL="0" indent="0">
              <a:buNone/>
            </a:pPr>
            <a:r>
              <a:rPr lang="en-US" dirty="0"/>
              <a:t>    {</a:t>
            </a:r>
          </a:p>
          <a:p>
            <a:pPr marL="0" indent="0">
              <a:buNone/>
            </a:pPr>
            <a:r>
              <a:rPr lang="en-US" dirty="0"/>
              <a:t>    private :</a:t>
            </a:r>
          </a:p>
          <a:p>
            <a:pPr marL="0" indent="0">
              <a:buNone/>
            </a:pPr>
            <a:r>
              <a:rPr lang="en-US" dirty="0"/>
              <a:t>        </a:t>
            </a:r>
            <a:r>
              <a:rPr lang="en-US" dirty="0" err="1"/>
              <a:t>int</a:t>
            </a:r>
            <a:r>
              <a:rPr lang="en-US" dirty="0"/>
              <a:t> AM;</a:t>
            </a:r>
          </a:p>
          <a:p>
            <a:pPr marL="0" indent="0">
              <a:buNone/>
            </a:pPr>
            <a:r>
              <a:rPr lang="en-US" dirty="0"/>
              <a:t>        </a:t>
            </a:r>
            <a:r>
              <a:rPr lang="en-US" dirty="0" err="1"/>
              <a:t>int</a:t>
            </a:r>
            <a:r>
              <a:rPr lang="en-US" dirty="0"/>
              <a:t> EM;</a:t>
            </a:r>
          </a:p>
          <a:p>
            <a:pPr marL="0" indent="0">
              <a:buNone/>
            </a:pPr>
            <a:r>
              <a:rPr lang="en-US" dirty="0"/>
              <a:t>    public :</a:t>
            </a:r>
          </a:p>
          <a:p>
            <a:pPr marL="0" indent="0">
              <a:buNone/>
            </a:pPr>
            <a:r>
              <a:rPr lang="en-US" dirty="0"/>
              <a:t>        void </a:t>
            </a:r>
            <a:r>
              <a:rPr lang="en-US" dirty="0" err="1"/>
              <a:t>ReadMarks</a:t>
            </a:r>
            <a:r>
              <a:rPr lang="en-US" dirty="0"/>
              <a:t>()</a:t>
            </a:r>
          </a:p>
          <a:p>
            <a:pPr marL="0" indent="0">
              <a:buNone/>
            </a:pPr>
            <a:r>
              <a:rPr lang="en-US" dirty="0"/>
              <a:t>        {</a:t>
            </a:r>
          </a:p>
          <a:p>
            <a:pPr marL="0" indent="0">
              <a:buNone/>
            </a:pPr>
            <a:r>
              <a:rPr lang="en-US" dirty="0"/>
              <a:t>        </a:t>
            </a:r>
            <a:r>
              <a:rPr lang="en-US" dirty="0" err="1"/>
              <a:t>cout</a:t>
            </a:r>
            <a:r>
              <a:rPr lang="en-US" dirty="0"/>
              <a:t>&lt;&lt;"Enter Assignment Marks : ";</a:t>
            </a:r>
          </a:p>
          <a:p>
            <a:pPr marL="0" indent="0">
              <a:buNone/>
            </a:pPr>
            <a:r>
              <a:rPr lang="en-US" dirty="0"/>
              <a:t>        </a:t>
            </a:r>
            <a:r>
              <a:rPr lang="en-US" dirty="0" err="1"/>
              <a:t>cin</a:t>
            </a:r>
            <a:r>
              <a:rPr lang="en-US" dirty="0"/>
              <a:t>&gt;&gt;AM;</a:t>
            </a:r>
          </a:p>
          <a:p>
            <a:pPr marL="0" indent="0">
              <a:buNone/>
            </a:pPr>
            <a:r>
              <a:rPr lang="en-US" dirty="0"/>
              <a:t>        </a:t>
            </a:r>
            <a:r>
              <a:rPr lang="en-US" dirty="0" err="1"/>
              <a:t>cout</a:t>
            </a:r>
            <a:r>
              <a:rPr lang="en-US" dirty="0"/>
              <a:t>&lt;&lt;"Enter Assignment Marks : ";</a:t>
            </a:r>
          </a:p>
          <a:p>
            <a:pPr marL="0" indent="0">
              <a:buNone/>
            </a:pPr>
            <a:r>
              <a:rPr lang="en-US" dirty="0"/>
              <a:t>        </a:t>
            </a:r>
            <a:r>
              <a:rPr lang="en-US" dirty="0" err="1"/>
              <a:t>cin</a:t>
            </a:r>
            <a:r>
              <a:rPr lang="en-US" dirty="0"/>
              <a:t>&gt;&gt;AM;</a:t>
            </a:r>
          </a:p>
          <a:p>
            <a:pPr marL="0" indent="0">
              <a:buNone/>
            </a:pPr>
            <a:r>
              <a:rPr lang="en-US" dirty="0"/>
              <a:t>        }</a:t>
            </a:r>
          </a:p>
          <a:p>
            <a:pPr marL="0" indent="0">
              <a:buNone/>
            </a:pPr>
            <a:r>
              <a:rPr lang="en-US" dirty="0"/>
              <a:t>        void </a:t>
            </a:r>
            <a:r>
              <a:rPr lang="en-US" dirty="0" err="1"/>
              <a:t>printGrade</a:t>
            </a:r>
            <a:r>
              <a:rPr lang="en-US" dirty="0"/>
              <a:t>()</a:t>
            </a:r>
          </a:p>
          <a:p>
            <a:pPr marL="0" indent="0">
              <a:buNone/>
            </a:pPr>
            <a:r>
              <a:rPr lang="en-US" dirty="0"/>
              <a:t>        {</a:t>
            </a:r>
          </a:p>
          <a:p>
            <a:pPr marL="0" indent="0">
              <a:buNone/>
            </a:pPr>
            <a:r>
              <a:rPr lang="en-US" dirty="0"/>
              <a:t>        </a:t>
            </a:r>
            <a:r>
              <a:rPr lang="en-US" dirty="0" err="1"/>
              <a:t>cout</a:t>
            </a:r>
            <a:r>
              <a:rPr lang="en-US" dirty="0"/>
              <a:t>&lt;&lt;"Grade :"&lt;&lt;(AM+AM)/2;</a:t>
            </a:r>
          </a:p>
          <a:p>
            <a:pPr marL="0" indent="0">
              <a:buNone/>
            </a:pPr>
            <a:r>
              <a:rPr lang="en-US" dirty="0"/>
              <a:t>        }</a:t>
            </a:r>
          </a:p>
          <a:p>
            <a:pPr marL="0" indent="0">
              <a:buNone/>
            </a:pPr>
            <a:r>
              <a:rPr lang="en-US" dirty="0"/>
              <a:t>    };</a:t>
            </a:r>
          </a:p>
          <a:p>
            <a:endParaRPr lang="en-US" dirty="0"/>
          </a:p>
        </p:txBody>
      </p:sp>
      <p:sp>
        <p:nvSpPr>
          <p:cNvPr id="5" name="Content Placeholder 2"/>
          <p:cNvSpPr txBox="1">
            <a:spLocks/>
          </p:cNvSpPr>
          <p:nvPr/>
        </p:nvSpPr>
        <p:spPr>
          <a:xfrm>
            <a:off x="4648200" y="1600200"/>
            <a:ext cx="4038600" cy="50292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buNone/>
            </a:pPr>
            <a:r>
              <a:rPr lang="en-US" sz="1800" dirty="0"/>
              <a:t>main()</a:t>
            </a:r>
          </a:p>
          <a:p>
            <a:pPr marL="0" indent="0">
              <a:buNone/>
            </a:pPr>
            <a:r>
              <a:rPr lang="en-US" sz="1800" dirty="0"/>
              <a:t>{</a:t>
            </a:r>
          </a:p>
          <a:p>
            <a:pPr marL="0" indent="0">
              <a:buNone/>
            </a:pPr>
            <a:r>
              <a:rPr lang="en-US" sz="1800" dirty="0"/>
              <a:t>Student </a:t>
            </a:r>
            <a:r>
              <a:rPr lang="en-US" sz="1800" dirty="0" err="1"/>
              <a:t>Nimal</a:t>
            </a:r>
            <a:r>
              <a:rPr lang="en-US" sz="1800" dirty="0"/>
              <a:t>;</a:t>
            </a:r>
          </a:p>
          <a:p>
            <a:pPr marL="0" indent="0">
              <a:buNone/>
            </a:pPr>
            <a:r>
              <a:rPr lang="en-US" sz="1800" dirty="0" err="1"/>
              <a:t>Nimal.ReadMarks</a:t>
            </a:r>
            <a:r>
              <a:rPr lang="en-US" sz="1800" dirty="0"/>
              <a:t>();</a:t>
            </a:r>
          </a:p>
          <a:p>
            <a:pPr marL="0" indent="0">
              <a:buNone/>
            </a:pPr>
            <a:r>
              <a:rPr lang="en-US" sz="1800" dirty="0" err="1"/>
              <a:t>Nimal.printGrade</a:t>
            </a:r>
            <a:r>
              <a:rPr lang="en-US" sz="1800" dirty="0"/>
              <a:t>();</a:t>
            </a:r>
          </a:p>
          <a:p>
            <a:pPr marL="0" indent="0">
              <a:buNone/>
            </a:pPr>
            <a:r>
              <a:rPr lang="en-US" sz="1800" dirty="0" err="1"/>
              <a:t>getch</a:t>
            </a:r>
            <a:r>
              <a:rPr lang="en-US" sz="1800" dirty="0"/>
              <a:t>();</a:t>
            </a:r>
          </a:p>
          <a:p>
            <a:pPr marL="0" indent="0">
              <a:buNone/>
            </a:pPr>
            <a:r>
              <a:rPr lang="en-US" sz="1800" dirty="0"/>
              <a:t>}</a:t>
            </a:r>
          </a:p>
          <a:p>
            <a:pPr marL="0" indent="0">
              <a:buNone/>
            </a:pPr>
            <a:endParaRPr lang="en-US" sz="18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a:t>
            </a:fld>
            <a:endParaRPr lang="en-US"/>
          </a:p>
        </p:txBody>
      </p:sp>
    </p:spTree>
    <p:extLst>
      <p:ext uri="{BB962C8B-B14F-4D97-AF65-F5344CB8AC3E}">
        <p14:creationId xmlns:p14="http://schemas.microsoft.com/office/powerpoint/2010/main" val="29273926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Classes &amp; Objects </a:t>
            </a:r>
          </a:p>
        </p:txBody>
      </p:sp>
      <p:sp>
        <p:nvSpPr>
          <p:cNvPr id="3" name="Content Placeholder 2"/>
          <p:cNvSpPr>
            <a:spLocks noGrp="1"/>
          </p:cNvSpPr>
          <p:nvPr>
            <p:ph idx="1"/>
          </p:nvPr>
        </p:nvSpPr>
        <p:spPr/>
        <p:txBody>
          <a:bodyPr/>
          <a:lstStyle/>
          <a:p>
            <a:pPr marL="342900" lvl="1" indent="-342900">
              <a:buFont typeface="Arial" pitchFamily="34" charset="0"/>
              <a:buChar char="•"/>
            </a:pPr>
            <a:r>
              <a:rPr lang="en-US" dirty="0"/>
              <a:t>Member functions defined outside class</a:t>
            </a:r>
          </a:p>
          <a:p>
            <a:pPr marL="742950" lvl="2" indent="-342900"/>
            <a:r>
              <a:rPr lang="en-US" dirty="0"/>
              <a:t>Binary scope resolution operator (::) ties  member name to class name</a:t>
            </a:r>
          </a:p>
          <a:p>
            <a:pPr marL="742950" lvl="2" indent="-342900"/>
            <a:r>
              <a:rPr lang="en-US" dirty="0"/>
              <a:t>scope resolution operator  help uniquely identifying functions of a particular class</a:t>
            </a:r>
          </a:p>
          <a:p>
            <a:pPr marL="742950" lvl="2" indent="-342900"/>
            <a:r>
              <a:rPr lang="en-US" dirty="0"/>
              <a:t>Different classes can have member functions with same name</a:t>
            </a:r>
          </a:p>
        </p:txBody>
      </p:sp>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val="11528591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Classes &amp; Objects </a:t>
            </a:r>
          </a:p>
        </p:txBody>
      </p:sp>
      <p:sp>
        <p:nvSpPr>
          <p:cNvPr id="3" name="Content Placeholder 2"/>
          <p:cNvSpPr>
            <a:spLocks noGrp="1"/>
          </p:cNvSpPr>
          <p:nvPr>
            <p:ph idx="1"/>
          </p:nvPr>
        </p:nvSpPr>
        <p:spPr>
          <a:xfrm>
            <a:off x="457200" y="1600200"/>
            <a:ext cx="4038600" cy="5029200"/>
          </a:xfrm>
        </p:spPr>
        <p:style>
          <a:lnRef idx="2">
            <a:schemeClr val="dk1"/>
          </a:lnRef>
          <a:fillRef idx="1">
            <a:schemeClr val="lt1"/>
          </a:fillRef>
          <a:effectRef idx="0">
            <a:schemeClr val="dk1"/>
          </a:effectRef>
          <a:fontRef idx="minor">
            <a:schemeClr val="dk1"/>
          </a:fontRef>
        </p:style>
        <p:txBody>
          <a:bodyPr>
            <a:noAutofit/>
          </a:bodyPr>
          <a:lstStyle/>
          <a:p>
            <a:pPr marL="0" indent="0">
              <a:buNone/>
            </a:pPr>
            <a:r>
              <a:rPr lang="en-US" sz="1800" dirty="0"/>
              <a:t>class Student</a:t>
            </a:r>
          </a:p>
          <a:p>
            <a:pPr marL="0" indent="0">
              <a:buNone/>
            </a:pPr>
            <a:r>
              <a:rPr lang="en-US" sz="1800" dirty="0"/>
              <a:t>    {</a:t>
            </a:r>
          </a:p>
          <a:p>
            <a:pPr marL="0" indent="0">
              <a:buNone/>
            </a:pPr>
            <a:r>
              <a:rPr lang="en-US" sz="1800" dirty="0"/>
              <a:t>    private :</a:t>
            </a:r>
          </a:p>
          <a:p>
            <a:pPr marL="0" indent="0">
              <a:buNone/>
            </a:pPr>
            <a:r>
              <a:rPr lang="en-US" sz="1800" dirty="0"/>
              <a:t>        </a:t>
            </a:r>
            <a:r>
              <a:rPr lang="en-US" sz="1800" dirty="0" err="1"/>
              <a:t>int</a:t>
            </a:r>
            <a:r>
              <a:rPr lang="en-US" sz="1800" dirty="0"/>
              <a:t> AM;</a:t>
            </a:r>
          </a:p>
          <a:p>
            <a:pPr marL="0" indent="0">
              <a:buNone/>
            </a:pPr>
            <a:r>
              <a:rPr lang="en-US" sz="1800" dirty="0"/>
              <a:t>        </a:t>
            </a:r>
            <a:r>
              <a:rPr lang="en-US" sz="1800" dirty="0" err="1"/>
              <a:t>int</a:t>
            </a:r>
            <a:r>
              <a:rPr lang="en-US" sz="1800" dirty="0"/>
              <a:t> EM;</a:t>
            </a:r>
          </a:p>
          <a:p>
            <a:pPr marL="0" indent="0">
              <a:buNone/>
            </a:pPr>
            <a:r>
              <a:rPr lang="en-US" sz="1800" dirty="0"/>
              <a:t>    public :</a:t>
            </a:r>
          </a:p>
          <a:p>
            <a:pPr marL="0" indent="0">
              <a:buNone/>
            </a:pPr>
            <a:r>
              <a:rPr lang="en-US" sz="1800" dirty="0"/>
              <a:t>        void </a:t>
            </a:r>
            <a:r>
              <a:rPr lang="en-US" sz="1800" dirty="0" err="1"/>
              <a:t>ReadMarks</a:t>
            </a:r>
            <a:r>
              <a:rPr lang="en-US" sz="1800" dirty="0"/>
              <a:t>();</a:t>
            </a:r>
          </a:p>
          <a:p>
            <a:pPr marL="0" indent="0">
              <a:buNone/>
            </a:pPr>
            <a:r>
              <a:rPr lang="en-US" sz="1800" dirty="0"/>
              <a:t>        void </a:t>
            </a:r>
            <a:r>
              <a:rPr lang="en-US" sz="1800" dirty="0" err="1"/>
              <a:t>printGrade</a:t>
            </a:r>
            <a:r>
              <a:rPr lang="en-US" sz="1800" dirty="0"/>
              <a:t>();</a:t>
            </a:r>
          </a:p>
          <a:p>
            <a:pPr marL="0" indent="0">
              <a:buNone/>
            </a:pPr>
            <a:r>
              <a:rPr lang="en-US" sz="1800" dirty="0"/>
              <a:t>    };</a:t>
            </a:r>
          </a:p>
          <a:p>
            <a:pPr marL="0" indent="0">
              <a:buNone/>
            </a:pPr>
            <a:r>
              <a:rPr lang="en-US" sz="1800" dirty="0"/>
              <a:t>void Student::</a:t>
            </a:r>
            <a:r>
              <a:rPr lang="en-US" sz="1800" dirty="0" err="1"/>
              <a:t>ReadMarks</a:t>
            </a:r>
            <a:r>
              <a:rPr lang="en-US" sz="1800" dirty="0"/>
              <a:t>()</a:t>
            </a:r>
          </a:p>
          <a:p>
            <a:pPr marL="0" indent="0">
              <a:buNone/>
            </a:pPr>
            <a:r>
              <a:rPr lang="en-US" sz="1800" dirty="0"/>
              <a:t>        {</a:t>
            </a:r>
          </a:p>
          <a:p>
            <a:pPr marL="0" indent="0">
              <a:buNone/>
            </a:pPr>
            <a:r>
              <a:rPr lang="en-US" sz="1800" dirty="0"/>
              <a:t>        </a:t>
            </a:r>
            <a:r>
              <a:rPr lang="en-US" sz="1800" dirty="0" err="1"/>
              <a:t>cout</a:t>
            </a:r>
            <a:r>
              <a:rPr lang="en-US" sz="1800" dirty="0"/>
              <a:t>&lt;&lt;"Enter Assignment Marks : ";</a:t>
            </a:r>
          </a:p>
          <a:p>
            <a:pPr marL="0" indent="0">
              <a:buNone/>
            </a:pPr>
            <a:r>
              <a:rPr lang="en-US" sz="1800" dirty="0"/>
              <a:t>        </a:t>
            </a:r>
            <a:r>
              <a:rPr lang="en-US" sz="1800" dirty="0" err="1"/>
              <a:t>cin</a:t>
            </a:r>
            <a:r>
              <a:rPr lang="en-US" sz="1800" dirty="0"/>
              <a:t>&gt;&gt;AM;</a:t>
            </a:r>
          </a:p>
          <a:p>
            <a:pPr marL="0" indent="0">
              <a:buNone/>
            </a:pPr>
            <a:r>
              <a:rPr lang="en-US" sz="1800" dirty="0"/>
              <a:t>        </a:t>
            </a:r>
            <a:r>
              <a:rPr lang="en-US" sz="1800" dirty="0" err="1"/>
              <a:t>cout</a:t>
            </a:r>
            <a:r>
              <a:rPr lang="en-US" sz="1800" dirty="0"/>
              <a:t>&lt;&lt;"Enter Assignment Marks : ";</a:t>
            </a:r>
          </a:p>
          <a:p>
            <a:pPr marL="0" indent="0">
              <a:buNone/>
            </a:pPr>
            <a:r>
              <a:rPr lang="en-US" sz="1800" dirty="0"/>
              <a:t>        </a:t>
            </a:r>
            <a:r>
              <a:rPr lang="en-US" sz="1800" dirty="0" err="1"/>
              <a:t>cin</a:t>
            </a:r>
            <a:r>
              <a:rPr lang="en-US" sz="1800" dirty="0"/>
              <a:t>&gt;&gt;AM;        }</a:t>
            </a:r>
          </a:p>
        </p:txBody>
      </p:sp>
      <p:sp>
        <p:nvSpPr>
          <p:cNvPr id="5" name="Content Placeholder 2"/>
          <p:cNvSpPr txBox="1">
            <a:spLocks/>
          </p:cNvSpPr>
          <p:nvPr/>
        </p:nvSpPr>
        <p:spPr>
          <a:xfrm>
            <a:off x="4648200" y="1600200"/>
            <a:ext cx="4038600" cy="50292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buNone/>
            </a:pPr>
            <a:r>
              <a:rPr lang="en-US" sz="1800" dirty="0"/>
              <a:t>void Student::</a:t>
            </a:r>
            <a:r>
              <a:rPr lang="en-US" sz="1800" dirty="0" err="1"/>
              <a:t>printGrade</a:t>
            </a:r>
            <a:r>
              <a:rPr lang="en-US" sz="1800" dirty="0"/>
              <a:t>()</a:t>
            </a:r>
          </a:p>
          <a:p>
            <a:pPr marL="0" indent="0">
              <a:buNone/>
            </a:pPr>
            <a:r>
              <a:rPr lang="en-US" sz="1800" dirty="0"/>
              <a:t>        {</a:t>
            </a:r>
          </a:p>
          <a:p>
            <a:pPr marL="0" indent="0">
              <a:buNone/>
            </a:pPr>
            <a:r>
              <a:rPr lang="en-US" sz="1800" dirty="0"/>
              <a:t>        </a:t>
            </a:r>
            <a:r>
              <a:rPr lang="en-US" sz="1800" dirty="0" err="1"/>
              <a:t>cout</a:t>
            </a:r>
            <a:r>
              <a:rPr lang="en-US" sz="1800" dirty="0"/>
              <a:t>&lt;&lt;"Grade :"&lt;&lt;(AM+AM)/2;</a:t>
            </a:r>
          </a:p>
          <a:p>
            <a:pPr marL="0" indent="0">
              <a:buNone/>
            </a:pPr>
            <a:r>
              <a:rPr lang="en-US" sz="1800" dirty="0"/>
              <a:t>        }</a:t>
            </a:r>
          </a:p>
          <a:p>
            <a:pPr marL="0" indent="0">
              <a:buNone/>
            </a:pPr>
            <a:r>
              <a:rPr lang="en-US" sz="1800" dirty="0"/>
              <a:t>main()</a:t>
            </a:r>
          </a:p>
          <a:p>
            <a:pPr marL="0" indent="0">
              <a:buNone/>
            </a:pPr>
            <a:r>
              <a:rPr lang="en-US" sz="1800" dirty="0"/>
              <a:t>{</a:t>
            </a:r>
          </a:p>
          <a:p>
            <a:pPr marL="0" indent="0">
              <a:buNone/>
            </a:pPr>
            <a:r>
              <a:rPr lang="en-US" sz="1800" dirty="0"/>
              <a:t>Student </a:t>
            </a:r>
            <a:r>
              <a:rPr lang="en-US" sz="1800" dirty="0" err="1"/>
              <a:t>Nimal</a:t>
            </a:r>
            <a:r>
              <a:rPr lang="en-US" sz="1800" dirty="0"/>
              <a:t>;</a:t>
            </a:r>
          </a:p>
          <a:p>
            <a:pPr marL="0" indent="0">
              <a:buNone/>
            </a:pPr>
            <a:r>
              <a:rPr lang="en-US" sz="1800" dirty="0" err="1"/>
              <a:t>Nimal.ReadMarks</a:t>
            </a:r>
            <a:r>
              <a:rPr lang="en-US" sz="1800" dirty="0"/>
              <a:t>();</a:t>
            </a:r>
          </a:p>
          <a:p>
            <a:pPr marL="0" indent="0">
              <a:buNone/>
            </a:pPr>
            <a:r>
              <a:rPr lang="en-US" sz="1800" dirty="0" err="1"/>
              <a:t>Nimal.printGrade</a:t>
            </a:r>
            <a:r>
              <a:rPr lang="en-US" sz="1800" dirty="0"/>
              <a:t>();</a:t>
            </a:r>
          </a:p>
          <a:p>
            <a:pPr marL="0" indent="0">
              <a:buNone/>
            </a:pPr>
            <a:r>
              <a:rPr lang="en-US" sz="1800" dirty="0" err="1"/>
              <a:t>getch</a:t>
            </a:r>
            <a:r>
              <a:rPr lang="en-US" sz="1800" dirty="0"/>
              <a:t>();</a:t>
            </a:r>
          </a:p>
          <a:p>
            <a:pPr marL="0" indent="0">
              <a:buNone/>
            </a:pPr>
            <a:r>
              <a:rPr lang="en-US" sz="1800" dirty="0"/>
              <a:t>}</a:t>
            </a:r>
          </a:p>
          <a:p>
            <a:pPr marL="0" indent="0">
              <a:buNone/>
            </a:pPr>
            <a:endParaRPr lang="en-US" sz="18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a:t>
            </a:fld>
            <a:endParaRPr lang="en-US"/>
          </a:p>
        </p:txBody>
      </p:sp>
    </p:spTree>
    <p:extLst>
      <p:ext uri="{BB962C8B-B14F-4D97-AF65-F5344CB8AC3E}">
        <p14:creationId xmlns:p14="http://schemas.microsoft.com/office/powerpoint/2010/main" val="2226575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Constructors</a:t>
            </a:r>
          </a:p>
        </p:txBody>
      </p:sp>
      <p:sp>
        <p:nvSpPr>
          <p:cNvPr id="3" name="Content Placeholder 2"/>
          <p:cNvSpPr>
            <a:spLocks noGrp="1"/>
          </p:cNvSpPr>
          <p:nvPr>
            <p:ph idx="1"/>
          </p:nvPr>
        </p:nvSpPr>
        <p:spPr>
          <a:xfrm>
            <a:off x="457200" y="1905001"/>
            <a:ext cx="8229600" cy="2590800"/>
          </a:xfrm>
        </p:spPr>
        <p:style>
          <a:lnRef idx="2">
            <a:schemeClr val="dk1"/>
          </a:lnRef>
          <a:fillRef idx="1">
            <a:schemeClr val="lt1"/>
          </a:fillRef>
          <a:effectRef idx="0">
            <a:schemeClr val="dk1"/>
          </a:effectRef>
          <a:fontRef idx="minor">
            <a:schemeClr val="dk1"/>
          </a:fontRef>
        </p:style>
        <p:txBody>
          <a:bodyPr/>
          <a:lstStyle/>
          <a:p>
            <a:pPr marL="0" indent="0" algn="just">
              <a:buNone/>
            </a:pPr>
            <a:r>
              <a:rPr lang="en-US" dirty="0"/>
              <a:t>Constructors are special member functions of any class, which are invoked at the moment an instances of the class are created.  They are special functions that have the same name as their class. </a:t>
            </a:r>
          </a:p>
        </p:txBody>
      </p:sp>
      <p:sp>
        <p:nvSpPr>
          <p:cNvPr id="4" name="Content Placeholder 2"/>
          <p:cNvSpPr txBox="1">
            <a:spLocks/>
          </p:cNvSpPr>
          <p:nvPr/>
        </p:nvSpPr>
        <p:spPr>
          <a:xfrm>
            <a:off x="457200" y="4572000"/>
            <a:ext cx="8229600" cy="1554163"/>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t>Have the same name as the class.</a:t>
            </a:r>
          </a:p>
          <a:p>
            <a:r>
              <a:rPr lang="en-US"/>
              <a:t>It may take arguments.</a:t>
            </a:r>
          </a:p>
          <a:p>
            <a:r>
              <a:rPr lang="en-US"/>
              <a:t>It cannot return a value [including void].</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10</a:t>
            </a:fld>
            <a:endParaRPr lang="en-US"/>
          </a:p>
        </p:txBody>
      </p:sp>
    </p:spTree>
    <p:extLst>
      <p:ext uri="{BB962C8B-B14F-4D97-AF65-F5344CB8AC3E}">
        <p14:creationId xmlns:p14="http://schemas.microsoft.com/office/powerpoint/2010/main" val="6277671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Constructors</a:t>
            </a:r>
          </a:p>
        </p:txBody>
      </p:sp>
      <p:sp>
        <p:nvSpPr>
          <p:cNvPr id="3" name="Content Placeholder 2"/>
          <p:cNvSpPr>
            <a:spLocks noGrp="1"/>
          </p:cNvSpPr>
          <p:nvPr>
            <p:ph idx="1"/>
          </p:nvPr>
        </p:nvSpPr>
        <p:spPr/>
        <p:txBody>
          <a:bodyPr/>
          <a:lstStyle/>
          <a:p>
            <a:r>
              <a:rPr lang="en-US" dirty="0"/>
              <a:t>Default Constructor</a:t>
            </a:r>
          </a:p>
          <a:p>
            <a:pPr lvl="1"/>
            <a:r>
              <a:rPr lang="en-US" dirty="0"/>
              <a:t>Accepts no parameters</a:t>
            </a:r>
          </a:p>
          <a:p>
            <a:pPr lvl="1"/>
            <a:r>
              <a:rPr lang="en-US" dirty="0"/>
              <a:t>Called if no user-defined constructors</a:t>
            </a:r>
          </a:p>
          <a:p>
            <a:pPr lvl="1"/>
            <a:endParaRPr lang="en-US" dirty="0"/>
          </a:p>
          <a:p>
            <a:r>
              <a:rPr lang="en-US" dirty="0"/>
              <a:t>Parameterized Constructor </a:t>
            </a:r>
          </a:p>
          <a:p>
            <a:pPr lvl="1"/>
            <a:r>
              <a:rPr lang="en-US" dirty="0"/>
              <a:t>A constructor that receives arguments/parameters</a:t>
            </a:r>
          </a:p>
        </p:txBody>
      </p:sp>
      <p:sp>
        <p:nvSpPr>
          <p:cNvPr id="4" name="Rectangle 3"/>
          <p:cNvSpPr/>
          <p:nvPr/>
        </p:nvSpPr>
        <p:spPr>
          <a:xfrm>
            <a:off x="3505200" y="5029200"/>
            <a:ext cx="184731" cy="369332"/>
          </a:xfrm>
          <a:prstGeom prst="rect">
            <a:avLst/>
          </a:prstGeom>
        </p:spPr>
        <p:txBody>
          <a:bodyPr wrap="none">
            <a:spAutoFit/>
          </a:bodyPr>
          <a:lstStyle/>
          <a:p>
            <a:endParaRPr lang="en-US" dirty="0"/>
          </a:p>
        </p:txBody>
      </p:sp>
      <p:sp>
        <p:nvSpPr>
          <p:cNvPr id="5" name="Rectangle 4"/>
          <p:cNvSpPr/>
          <p:nvPr/>
        </p:nvSpPr>
        <p:spPr>
          <a:xfrm>
            <a:off x="6705600" y="2514600"/>
            <a:ext cx="1489318" cy="646331"/>
          </a:xfrm>
          <a:prstGeom prst="rect">
            <a:avLst/>
          </a:prstGeom>
        </p:spPr>
        <p:style>
          <a:lnRef idx="2">
            <a:schemeClr val="dk1"/>
          </a:lnRef>
          <a:fillRef idx="1">
            <a:schemeClr val="lt1"/>
          </a:fillRef>
          <a:effectRef idx="0">
            <a:schemeClr val="dk1"/>
          </a:effectRef>
          <a:fontRef idx="minor">
            <a:schemeClr val="dk1"/>
          </a:fontRef>
        </p:style>
        <p:txBody>
          <a:bodyPr wrap="none">
            <a:spAutoFit/>
          </a:bodyPr>
          <a:lstStyle/>
          <a:p>
            <a:r>
              <a:rPr lang="en-US" dirty="0"/>
              <a:t>Class:: Circle()</a:t>
            </a:r>
          </a:p>
          <a:p>
            <a:r>
              <a:rPr lang="en-US" dirty="0"/>
              <a:t>	{}</a:t>
            </a:r>
          </a:p>
        </p:txBody>
      </p:sp>
      <p:sp>
        <p:nvSpPr>
          <p:cNvPr id="6" name="Rectangle 5"/>
          <p:cNvSpPr/>
          <p:nvPr/>
        </p:nvSpPr>
        <p:spPr>
          <a:xfrm>
            <a:off x="5953535" y="5537031"/>
            <a:ext cx="2241383" cy="646331"/>
          </a:xfrm>
          <a:prstGeom prst="rect">
            <a:avLst/>
          </a:prstGeom>
        </p:spPr>
        <p:style>
          <a:lnRef idx="2">
            <a:schemeClr val="dk1"/>
          </a:lnRef>
          <a:fillRef idx="1">
            <a:schemeClr val="lt1"/>
          </a:fillRef>
          <a:effectRef idx="0">
            <a:schemeClr val="dk1"/>
          </a:effectRef>
          <a:fontRef idx="minor">
            <a:schemeClr val="dk1"/>
          </a:fontRef>
        </p:style>
        <p:txBody>
          <a:bodyPr wrap="none">
            <a:spAutoFit/>
          </a:bodyPr>
          <a:lstStyle/>
          <a:p>
            <a:r>
              <a:rPr lang="en-US" dirty="0"/>
              <a:t>Circle::Circle(</a:t>
            </a:r>
            <a:r>
              <a:rPr lang="en-US" dirty="0" err="1"/>
              <a:t>int</a:t>
            </a:r>
            <a:r>
              <a:rPr lang="en-US" dirty="0"/>
              <a:t> r)</a:t>
            </a:r>
          </a:p>
          <a:p>
            <a:r>
              <a:rPr lang="en-US" dirty="0"/>
              <a:t>	{ radius = r;}</a:t>
            </a:r>
          </a:p>
        </p:txBody>
      </p:sp>
      <p:sp>
        <p:nvSpPr>
          <p:cNvPr id="7" name="Slide Number Placeholder 6"/>
          <p:cNvSpPr>
            <a:spLocks noGrp="1"/>
          </p:cNvSpPr>
          <p:nvPr>
            <p:ph type="sldNum" sz="quarter" idx="12"/>
          </p:nvPr>
        </p:nvSpPr>
        <p:spPr/>
        <p:txBody>
          <a:bodyPr/>
          <a:lstStyle/>
          <a:p>
            <a:fld id="{B6F15528-21DE-4FAA-801E-634DDDAF4B2B}" type="slidenum">
              <a:rPr lang="en-US" smtClean="0"/>
              <a:pPr/>
              <a:t>11</a:t>
            </a:fld>
            <a:endParaRPr lang="en-US"/>
          </a:p>
        </p:txBody>
      </p:sp>
    </p:spTree>
    <p:extLst>
      <p:ext uri="{BB962C8B-B14F-4D97-AF65-F5344CB8AC3E}">
        <p14:creationId xmlns:p14="http://schemas.microsoft.com/office/powerpoint/2010/main" val="7919752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Destructors</a:t>
            </a:r>
          </a:p>
        </p:txBody>
      </p:sp>
      <p:sp>
        <p:nvSpPr>
          <p:cNvPr id="3" name="Content Placeholder 2"/>
          <p:cNvSpPr>
            <a:spLocks noGrp="1"/>
          </p:cNvSpPr>
          <p:nvPr>
            <p:ph idx="1"/>
          </p:nvPr>
        </p:nvSpPr>
        <p:spPr/>
        <p:txBody>
          <a:bodyPr>
            <a:normAutofit fontScale="92500" lnSpcReduction="10000"/>
          </a:bodyPr>
          <a:lstStyle/>
          <a:p>
            <a:r>
              <a:rPr lang="en-US" dirty="0"/>
              <a:t>Special member function</a:t>
            </a:r>
          </a:p>
          <a:p>
            <a:r>
              <a:rPr lang="en-US" dirty="0"/>
              <a:t>Having same name as class </a:t>
            </a:r>
          </a:p>
          <a:p>
            <a:r>
              <a:rPr lang="en-US" dirty="0"/>
              <a:t>Preceded with </a:t>
            </a:r>
            <a:r>
              <a:rPr lang="en-US" dirty="0">
                <a:solidFill>
                  <a:srgbClr val="FF0000"/>
                </a:solidFill>
              </a:rPr>
              <a:t>tilde</a:t>
            </a:r>
            <a:r>
              <a:rPr lang="en-US" dirty="0"/>
              <a:t> (~)</a:t>
            </a:r>
          </a:p>
          <a:p>
            <a:r>
              <a:rPr lang="en-US" dirty="0"/>
              <a:t>No arguments </a:t>
            </a:r>
          </a:p>
          <a:p>
            <a:r>
              <a:rPr lang="en-US" dirty="0"/>
              <a:t>No return value</a:t>
            </a:r>
          </a:p>
          <a:p>
            <a:r>
              <a:rPr lang="en-US" dirty="0"/>
              <a:t>Cannot be overloaded</a:t>
            </a:r>
          </a:p>
          <a:p>
            <a:r>
              <a:rPr lang="en-US" dirty="0"/>
              <a:t>Invoked before system reclaims object’s memory</a:t>
            </a:r>
          </a:p>
          <a:p>
            <a:r>
              <a:rPr lang="en-US" dirty="0"/>
              <a:t>Used in reusing memory for new objects</a:t>
            </a:r>
          </a:p>
          <a:p>
            <a:endParaRPr lang="en-US" dirty="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a:p>
        </p:txBody>
      </p:sp>
    </p:spTree>
    <p:extLst>
      <p:ext uri="{BB962C8B-B14F-4D97-AF65-F5344CB8AC3E}">
        <p14:creationId xmlns:p14="http://schemas.microsoft.com/office/powerpoint/2010/main" val="22910110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Pointers </a:t>
            </a:r>
          </a:p>
        </p:txBody>
      </p:sp>
      <p:sp>
        <p:nvSpPr>
          <p:cNvPr id="3" name="Content Placeholder 2"/>
          <p:cNvSpPr>
            <a:spLocks noGrp="1"/>
          </p:cNvSpPr>
          <p:nvPr>
            <p:ph idx="1"/>
          </p:nvPr>
        </p:nvSpPr>
        <p:spPr>
          <a:xfrm>
            <a:off x="457200" y="1905001"/>
            <a:ext cx="8229600" cy="1524000"/>
          </a:xfrm>
        </p:spPr>
        <p:style>
          <a:lnRef idx="2">
            <a:schemeClr val="dk1"/>
          </a:lnRef>
          <a:fillRef idx="1">
            <a:schemeClr val="lt1"/>
          </a:fillRef>
          <a:effectRef idx="0">
            <a:schemeClr val="dk1"/>
          </a:effectRef>
          <a:fontRef idx="minor">
            <a:schemeClr val="dk1"/>
          </a:fontRef>
        </p:style>
        <p:txBody>
          <a:bodyPr/>
          <a:lstStyle/>
          <a:p>
            <a:pPr marL="0" indent="0" algn="just">
              <a:buNone/>
            </a:pPr>
            <a:r>
              <a:rPr lang="en-US" dirty="0"/>
              <a:t>Memory location which hold the address of another memory location/ variable</a:t>
            </a:r>
          </a:p>
        </p:txBody>
      </p:sp>
      <p:sp>
        <p:nvSpPr>
          <p:cNvPr id="4" name="Content Placeholder 2"/>
          <p:cNvSpPr txBox="1">
            <a:spLocks/>
          </p:cNvSpPr>
          <p:nvPr/>
        </p:nvSpPr>
        <p:spPr>
          <a:xfrm>
            <a:off x="457200" y="3581402"/>
            <a:ext cx="8229600" cy="15240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fontScale="70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None/>
            </a:pPr>
            <a:r>
              <a:rPr lang="en-US" dirty="0" err="1"/>
              <a:t>int</a:t>
            </a:r>
            <a:r>
              <a:rPr lang="en-US" dirty="0"/>
              <a:t> x=5;</a:t>
            </a:r>
          </a:p>
          <a:p>
            <a:pPr>
              <a:buNone/>
            </a:pPr>
            <a:r>
              <a:rPr lang="en-US" dirty="0" err="1"/>
              <a:t>int</a:t>
            </a:r>
            <a:r>
              <a:rPr lang="en-US" dirty="0"/>
              <a:t> *p;</a:t>
            </a:r>
          </a:p>
          <a:p>
            <a:pPr>
              <a:buNone/>
            </a:pPr>
            <a:r>
              <a:rPr lang="en-US" dirty="0"/>
              <a:t>p= &amp;x;</a:t>
            </a:r>
          </a:p>
          <a:p>
            <a:pPr>
              <a:buNone/>
            </a:pPr>
            <a:r>
              <a:rPr lang="en-US" dirty="0"/>
              <a:t>*p=10;</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13</a:t>
            </a:fld>
            <a:endParaRPr lang="en-US"/>
          </a:p>
        </p:txBody>
      </p:sp>
    </p:spTree>
    <p:extLst>
      <p:ext uri="{BB962C8B-B14F-4D97-AF65-F5344CB8AC3E}">
        <p14:creationId xmlns:p14="http://schemas.microsoft.com/office/powerpoint/2010/main" val="2588891808"/>
      </p:ext>
    </p:extLst>
  </p:cSld>
  <p:clrMapOvr>
    <a:masterClrMapping/>
  </p:clrMapOvr>
</p:sld>
</file>

<file path=ppt/theme/theme1.xml><?xml version="1.0" encoding="utf-8"?>
<a:theme xmlns:a="http://schemas.openxmlformats.org/drawingml/2006/main" name="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47D6EB70-AC5D-4C93-8EC9-DDBA92A97C78}" vid="{AD4A3A70-3E62-4EFF-A645-92967231B9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SLIATE LMS Template Powerpoint</Template>
  <TotalTime>1019</TotalTime>
  <Words>576</Words>
  <Application>Microsoft Office PowerPoint</Application>
  <PresentationFormat>On-screen Show (4:3)</PresentationFormat>
  <Paragraphs>172</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HNDIT</vt:lpstr>
      <vt:lpstr>Object Oriented Analysis and Design</vt:lpstr>
      <vt:lpstr>OOAD Concepts</vt:lpstr>
      <vt:lpstr>Classes &amp; Objects </vt:lpstr>
      <vt:lpstr>Classes &amp; Objects </vt:lpstr>
      <vt:lpstr>Classes &amp; Objects </vt:lpstr>
      <vt:lpstr>Classes &amp; Objects </vt:lpstr>
      <vt:lpstr>Classes &amp; Objects </vt:lpstr>
      <vt:lpstr>Classes &amp; Objects </vt:lpstr>
      <vt:lpstr>Classes &amp; Objects </vt:lpstr>
      <vt:lpstr>Constructors</vt:lpstr>
      <vt:lpstr>Constructors</vt:lpstr>
      <vt:lpstr>Destructors</vt:lpstr>
      <vt:lpstr>Pointers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Janaka</dc:creator>
  <cp:lastModifiedBy>HP</cp:lastModifiedBy>
  <cp:revision>210</cp:revision>
  <dcterms:created xsi:type="dcterms:W3CDTF">2006-08-16T00:00:00Z</dcterms:created>
  <dcterms:modified xsi:type="dcterms:W3CDTF">2021-10-22T14:33:38Z</dcterms:modified>
</cp:coreProperties>
</file>