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8"/>
  </p:notesMasterIdLst>
  <p:sldIdLst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10/22/2021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252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10/22/2021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648200" y="2362200"/>
            <a:ext cx="4419600" cy="1828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/>
              <a:t>HNDIT2302</a:t>
            </a:r>
            <a:br>
              <a:rPr lang="en-US" b="1" dirty="0"/>
            </a:br>
            <a:r>
              <a:rPr lang="en-US" b="1" dirty="0"/>
              <a:t> </a:t>
            </a:r>
            <a:r>
              <a:rPr lang="en-US" sz="3600" b="1" dirty="0"/>
              <a:t>IT Project Management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4876800"/>
            <a:ext cx="83783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Human Resource Management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1921996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841839-D509-4FE7-A812-D781F39384AB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Objectives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839200" cy="5486400"/>
          </a:xfrm>
        </p:spPr>
        <p:txBody>
          <a:bodyPr>
            <a:normAutofit/>
          </a:bodyPr>
          <a:lstStyle/>
          <a:p>
            <a:r>
              <a:rPr lang="en-US" dirty="0"/>
              <a:t>Define project human resource management and describe its processes. </a:t>
            </a:r>
          </a:p>
          <a:p>
            <a:r>
              <a:rPr lang="en-US" dirty="0"/>
              <a:t>Summarize key concepts for managing people</a:t>
            </a:r>
          </a:p>
          <a:p>
            <a:r>
              <a:rPr lang="en-US" dirty="0"/>
              <a:t>Identify the tools for HR management (project organizational chart, responsibility assignment matrix, and resource histogram) </a:t>
            </a:r>
          </a:p>
          <a:p>
            <a:r>
              <a:rPr lang="en-US" dirty="0"/>
              <a:t>Explain the concepts of resource assignments, resource loading, and resource leveling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1979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225D1B-0A07-40EC-8FA5-1CEE1E5AD477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Project Human Resource Management?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Project human resource management includes the processes required to make the most effective use of the people involved with a project. Processes include</a:t>
            </a:r>
          </a:p>
          <a:p>
            <a:pPr lvl="1" algn="just"/>
            <a:r>
              <a:rPr lang="en-US" altLang="en-US" dirty="0"/>
              <a:t>Organizational planning</a:t>
            </a:r>
          </a:p>
          <a:p>
            <a:pPr lvl="1" algn="just"/>
            <a:r>
              <a:rPr lang="en-US" altLang="en-US" dirty="0"/>
              <a:t>Staff acquisition</a:t>
            </a:r>
          </a:p>
          <a:p>
            <a:pPr lvl="1" algn="just"/>
            <a:r>
              <a:rPr lang="en-US" altLang="en-US" dirty="0"/>
              <a:t>Team development</a:t>
            </a:r>
          </a:p>
        </p:txBody>
      </p:sp>
    </p:spTree>
    <p:extLst>
      <p:ext uri="{BB962C8B-B14F-4D97-AF65-F5344CB8AC3E}">
        <p14:creationId xmlns:p14="http://schemas.microsoft.com/office/powerpoint/2010/main" val="87976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5DF702-1142-450C-9E98-F526B8F672B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Keys to Managing People</a:t>
            </a:r>
          </a:p>
        </p:txBody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Psychologists and management theorists have devoted much research and thought to the field of managing people at work</a:t>
            </a:r>
          </a:p>
          <a:p>
            <a:pPr algn="just"/>
            <a:r>
              <a:rPr lang="en-US" altLang="en-US" dirty="0"/>
              <a:t>Important areas related to project management include</a:t>
            </a:r>
          </a:p>
          <a:p>
            <a:pPr lvl="1" algn="just"/>
            <a:r>
              <a:rPr lang="en-US" altLang="en-US" dirty="0"/>
              <a:t>motivation (intrinsic and extrinsic)</a:t>
            </a:r>
          </a:p>
          <a:p>
            <a:pPr lvl="1" algn="just"/>
            <a:r>
              <a:rPr lang="en-US" altLang="en-US" dirty="0"/>
              <a:t>influence and power</a:t>
            </a:r>
          </a:p>
          <a:p>
            <a:pPr lvl="1" algn="just"/>
            <a:r>
              <a:rPr lang="en-US" altLang="en-US" dirty="0"/>
              <a:t>effectiveness</a:t>
            </a:r>
          </a:p>
        </p:txBody>
      </p:sp>
    </p:spTree>
    <p:extLst>
      <p:ext uri="{BB962C8B-B14F-4D97-AF65-F5344CB8AC3E}">
        <p14:creationId xmlns:p14="http://schemas.microsoft.com/office/powerpoint/2010/main" val="14294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331C5B-7E12-4072-94CD-9D58BD6BFDD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Abraham Maslow developed a hierarchy of needs to illustrate his theory that people’s behaviors are guided by a sequence of needs</a:t>
            </a:r>
          </a:p>
          <a:p>
            <a:pPr algn="just"/>
            <a:r>
              <a:rPr lang="en-US" altLang="en-US" dirty="0"/>
              <a:t>Maslow argued that humans possess unique qualities that enable them to make independent choices, thus giving them control of their destiny</a:t>
            </a:r>
          </a:p>
        </p:txBody>
      </p:sp>
    </p:spTree>
    <p:extLst>
      <p:ext uri="{BB962C8B-B14F-4D97-AF65-F5344CB8AC3E}">
        <p14:creationId xmlns:p14="http://schemas.microsoft.com/office/powerpoint/2010/main" val="158628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4A8DC2-8048-47C0-8555-A9D198F94174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Maslow’s Hierarchy of Needs</a:t>
            </a:r>
          </a:p>
        </p:txBody>
      </p:sp>
      <p:pic>
        <p:nvPicPr>
          <p:cNvPr id="2959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524000"/>
            <a:ext cx="8648700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617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392F2-8C48-48AA-8DF9-2CB392ACA7FD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Ways to Influence that Help and Hurt Projects</a:t>
            </a:r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828800"/>
            <a:ext cx="8186738" cy="41148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Projects are more likely to succeed when project managers influence with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expertise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work challenge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Projects are more likely to fail when project managers rely too heavily 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authority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money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penalty</a:t>
            </a:r>
          </a:p>
        </p:txBody>
      </p:sp>
    </p:spTree>
    <p:extLst>
      <p:ext uri="{BB962C8B-B14F-4D97-AF65-F5344CB8AC3E}">
        <p14:creationId xmlns:p14="http://schemas.microsoft.com/office/powerpoint/2010/main" val="3614489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4917AB-CCED-4350-B006-2754068779D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Power is the potential ability to influence behavior to get people to do things they would not otherwise do</a:t>
            </a:r>
          </a:p>
          <a:p>
            <a:pPr>
              <a:lnSpc>
                <a:spcPct val="90000"/>
              </a:lnSpc>
            </a:pPr>
            <a:r>
              <a:rPr lang="en-US" altLang="en-US"/>
              <a:t>Types of power include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Coercive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Legitimate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Expert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Reward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Referent</a:t>
            </a:r>
          </a:p>
        </p:txBody>
      </p:sp>
    </p:spTree>
    <p:extLst>
      <p:ext uri="{BB962C8B-B14F-4D97-AF65-F5344CB8AC3E}">
        <p14:creationId xmlns:p14="http://schemas.microsoft.com/office/powerpoint/2010/main" val="3526387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51BC9-184C-4E4E-88D8-668C0025828C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Improving Effectiveness - Covey’s 7 Habits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Project managers can apply Covey’s 7 habits to improve effectiveness on projects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 proactive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Begin with the end in mind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Put first things first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Think win/win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Seek first to understand, then to be understood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Synergize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Sharpen the saw</a:t>
            </a:r>
          </a:p>
        </p:txBody>
      </p:sp>
    </p:spTree>
    <p:extLst>
      <p:ext uri="{BB962C8B-B14F-4D97-AF65-F5344CB8AC3E}">
        <p14:creationId xmlns:p14="http://schemas.microsoft.com/office/powerpoint/2010/main" val="324059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F6FE00-3AB6-4B33-8AF4-36EEF843ED34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Empathic Listening and Rapport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186738" cy="39624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Good project managers are empathic listeners; they listen with the intent to understand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Before you can communicate with others, you have to have rapport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Mirroring is a technique to help establish rapport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IT professionals often need to develop empathic listening and other people skills to improve relationships with users and other stakeholders</a:t>
            </a:r>
          </a:p>
        </p:txBody>
      </p:sp>
    </p:spTree>
    <p:extLst>
      <p:ext uri="{BB962C8B-B14F-4D97-AF65-F5344CB8AC3E}">
        <p14:creationId xmlns:p14="http://schemas.microsoft.com/office/powerpoint/2010/main" val="2842716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639CBB-E11A-4ACB-8303-0FF69C4E816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Improving Relationships Between Users and Developers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/>
              <a:t>Some organizations require business people, not IT people, to take the lead in determining and justifying investments in new computer systems</a:t>
            </a:r>
          </a:p>
          <a:p>
            <a:r>
              <a:rPr lang="en-US" altLang="en-US"/>
              <a:t>CIOs push their staff to recognize that the needs of the business must drive all technology decisions</a:t>
            </a:r>
          </a:p>
          <a:p>
            <a:r>
              <a:rPr lang="en-US" altLang="en-US"/>
              <a:t>Some companies reshape their IT units to look and perform like consulting firms</a:t>
            </a:r>
          </a:p>
        </p:txBody>
      </p:sp>
    </p:spTree>
    <p:extLst>
      <p:ext uri="{BB962C8B-B14F-4D97-AF65-F5344CB8AC3E}">
        <p14:creationId xmlns:p14="http://schemas.microsoft.com/office/powerpoint/2010/main" val="1651540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D6687B-224E-4D3E-BB38-E27FDBE4361F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Organizational Planning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186738" cy="47910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sz="3600" dirty="0"/>
              <a:t>Organizational planning involves identifying, documenting, and assigning project roles, responsibilities, and reporting relationships</a:t>
            </a:r>
          </a:p>
          <a:p>
            <a:pPr algn="just">
              <a:lnSpc>
                <a:spcPct val="90000"/>
              </a:lnSpc>
            </a:pPr>
            <a:r>
              <a:rPr lang="en-US" altLang="en-US" sz="3600" dirty="0"/>
              <a:t>Outputs and processes include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3200" dirty="0"/>
              <a:t>project organizational charts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3200" dirty="0"/>
              <a:t>work definition and assignment process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3200" dirty="0"/>
              <a:t>responsibility assignment matrixes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3200" dirty="0"/>
              <a:t>resource histograms</a:t>
            </a:r>
          </a:p>
        </p:txBody>
      </p:sp>
    </p:spTree>
    <p:extLst>
      <p:ext uri="{BB962C8B-B14F-4D97-AF65-F5344CB8AC3E}">
        <p14:creationId xmlns:p14="http://schemas.microsoft.com/office/powerpoint/2010/main" val="494278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Organizational Planning</a:t>
            </a:r>
            <a:endParaRPr lang="pt-B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10278" name="Picture 6" descr="U:\9_organizational_plann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1971675"/>
            <a:ext cx="819467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381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82FB8C-F720-44EE-A81C-488725B51C54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Organizational Chart for a Large IT Project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6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5875"/>
            <a:ext cx="8229600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502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BB4EE5-DC2E-4B98-9CE3-C2686A81C03B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Work Definition and Assignment Process</a:t>
            </a:r>
          </a:p>
        </p:txBody>
      </p:sp>
      <p:pic>
        <p:nvPicPr>
          <p:cNvPr id="3072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3" y="1295400"/>
            <a:ext cx="8294687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498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511DF-8850-466A-BA4B-DDA20B86CC24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Responsibility Assignment Matrix (RAM)</a:t>
            </a:r>
          </a:p>
        </p:txBody>
      </p:sp>
      <p:pic>
        <p:nvPicPr>
          <p:cNvPr id="3082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2276475"/>
            <a:ext cx="8220075" cy="397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3939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CD4AE-321D-449F-ACA0-9C87A64D900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 Showing Stakeholder Roles</a:t>
            </a:r>
          </a:p>
        </p:txBody>
      </p:sp>
      <p:pic>
        <p:nvPicPr>
          <p:cNvPr id="3092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4813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09DE1B-979D-4FAC-A3AF-19BDF8ED49F8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RACI Chart</a:t>
            </a:r>
          </a:p>
        </p:txBody>
      </p:sp>
      <p:pic>
        <p:nvPicPr>
          <p:cNvPr id="3317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6" b="25000"/>
          <a:stretch>
            <a:fillRect/>
          </a:stretch>
        </p:blipFill>
        <p:spPr bwMode="auto">
          <a:xfrm>
            <a:off x="457200" y="1066800"/>
            <a:ext cx="8153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1371600" y="4267200"/>
            <a:ext cx="6465888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R = responsibility, only one R per task</a:t>
            </a:r>
          </a:p>
          <a:p>
            <a:r>
              <a:rPr lang="en-US" altLang="en-US" sz="3200"/>
              <a:t>A = accountability</a:t>
            </a:r>
          </a:p>
          <a:p>
            <a:r>
              <a:rPr lang="en-US" altLang="en-US" sz="3200"/>
              <a:t>C = consultation</a:t>
            </a:r>
          </a:p>
          <a:p>
            <a:r>
              <a:rPr lang="en-US" altLang="en-US" sz="3200"/>
              <a:t>I =  informed</a:t>
            </a:r>
          </a:p>
        </p:txBody>
      </p:sp>
    </p:spTree>
    <p:extLst>
      <p:ext uri="{BB962C8B-B14F-4D97-AF65-F5344CB8AC3E}">
        <p14:creationId xmlns:p14="http://schemas.microsoft.com/office/powerpoint/2010/main" val="9738601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6724F-8C12-4EEA-B8A2-45C0B65A3716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Sample Resource Histogram</a:t>
            </a:r>
          </a:p>
        </p:txBody>
      </p:sp>
      <p:pic>
        <p:nvPicPr>
          <p:cNvPr id="3102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67056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8061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FD78C-864F-49BE-98D8-2C0E7CF70FD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Staff Acquisition</a:t>
            </a:r>
            <a:endParaRPr lang="en-US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458200" cy="4572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800" dirty="0"/>
              <a:t>Staffing plans and good hiring procedures are important in staff acquisition, as are incentives for recruiting and retention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Some companies give their employees one dollar for every hour a new person they helped hire works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Some organizations allow people to work from home as an incentive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Research shows that people leave their jobs because they don’t make a difference, don’t get proper recognition, aren’t learning anything new, don’t like their coworkers, and want to earn more money</a:t>
            </a:r>
          </a:p>
          <a:p>
            <a:pPr algn="just">
              <a:lnSpc>
                <a:spcPct val="9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0236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Staff Acquisition</a:t>
            </a:r>
            <a:endParaRPr lang="pt-B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11302" name="Picture 6" descr="U:\9_staff_acquisitio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1668463"/>
            <a:ext cx="8150225" cy="352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649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5C7D2-3EE1-4AAB-9DB8-E7703A096382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Loading and Leveling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Resource loading refers to the amount of individual resources an existing project schedule requires during specific time periods</a:t>
            </a:r>
          </a:p>
          <a:p>
            <a:r>
              <a:rPr lang="en-US" altLang="en-US"/>
              <a:t>Resource histograms show resource loading</a:t>
            </a:r>
          </a:p>
          <a:p>
            <a:r>
              <a:rPr lang="en-US" altLang="en-US"/>
              <a:t>Overallocation means more resources than are available are assigned to perform work at a given time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9807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CBCBA5-D569-46E0-9233-1F7F6FFF07DC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Leveling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Resource leveling is a technique for resolving resource conflicts by delaying tasks</a:t>
            </a:r>
          </a:p>
          <a:p>
            <a:pPr algn="just"/>
            <a:r>
              <a:rPr lang="en-US" altLang="en-US" dirty="0"/>
              <a:t>The main purpose of resource leveling is to create a smoother distribution of resource usage and reduce over allocation</a:t>
            </a:r>
          </a:p>
        </p:txBody>
      </p:sp>
    </p:spTree>
    <p:extLst>
      <p:ext uri="{BB962C8B-B14F-4D97-AF65-F5344CB8AC3E}">
        <p14:creationId xmlns:p14="http://schemas.microsoft.com/office/powerpoint/2010/main" val="4195269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DF57-AC53-446A-9D49-C2C23D1BA2BB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8001000" cy="685800"/>
          </a:xfrm>
        </p:spPr>
        <p:txBody>
          <a:bodyPr/>
          <a:lstStyle/>
          <a:p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Leveling Example</a:t>
            </a:r>
            <a:endParaRPr lang="en-US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16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857250"/>
            <a:ext cx="65532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58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60FDB0-932B-43D1-B752-65575C7C90D6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Development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It takes teamwork to successfully complete most projects</a:t>
            </a:r>
          </a:p>
          <a:p>
            <a:pPr algn="just"/>
            <a:r>
              <a:rPr lang="en-US" altLang="en-US" dirty="0"/>
              <a:t>Training can help people understand themselves, each other, and how to work better in teams</a:t>
            </a:r>
          </a:p>
          <a:p>
            <a:pPr algn="just"/>
            <a:r>
              <a:rPr lang="en-US" altLang="en-US" dirty="0"/>
              <a:t>Team building activities include</a:t>
            </a:r>
          </a:p>
          <a:p>
            <a:pPr lvl="1" algn="just"/>
            <a:r>
              <a:rPr lang="en-US" altLang="en-US" dirty="0"/>
              <a:t>physical challenges</a:t>
            </a:r>
          </a:p>
          <a:p>
            <a:pPr lvl="1" algn="just"/>
            <a:r>
              <a:rPr lang="en-US" altLang="en-US" dirty="0"/>
              <a:t>psychological preference indicator tools</a:t>
            </a:r>
          </a:p>
          <a:p>
            <a:pPr algn="just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2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Development</a:t>
            </a:r>
            <a:endParaRPr lang="pt-B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12326" name="Picture 6" descr="U:\9_team_developmen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8" y="1725613"/>
            <a:ext cx="8035925" cy="340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316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0B24C-5870-434B-808E-E111DBAB6A59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Styles Profile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/>
              <a:t>People are perceived as behaving primarily in one of four zones, based on their assertiveness and responsiveness:</a:t>
            </a:r>
          </a:p>
          <a:p>
            <a:pPr lvl="1"/>
            <a:r>
              <a:rPr lang="en-US" altLang="en-US" sz="2400"/>
              <a:t>Drivers</a:t>
            </a:r>
          </a:p>
          <a:p>
            <a:pPr lvl="1"/>
            <a:r>
              <a:rPr lang="en-US" altLang="en-US" sz="2400"/>
              <a:t>Expressives</a:t>
            </a:r>
          </a:p>
          <a:p>
            <a:pPr lvl="1"/>
            <a:r>
              <a:rPr lang="en-US" altLang="en-US" sz="2400"/>
              <a:t>Analyticals</a:t>
            </a:r>
          </a:p>
          <a:p>
            <a:pPr lvl="1"/>
            <a:r>
              <a:rPr lang="en-US" altLang="en-US" sz="2400"/>
              <a:t>Amiables</a:t>
            </a:r>
          </a:p>
          <a:p>
            <a:r>
              <a:rPr lang="en-US" altLang="en-US" sz="2800"/>
              <a:t>People on opposite corners (drivers and amiables, analyticals and expressives) may have difficulties getting along</a:t>
            </a:r>
          </a:p>
        </p:txBody>
      </p:sp>
    </p:spTree>
    <p:extLst>
      <p:ext uri="{BB962C8B-B14F-4D97-AF65-F5344CB8AC3E}">
        <p14:creationId xmlns:p14="http://schemas.microsoft.com/office/powerpoint/2010/main" val="1405818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8770F-5E03-443E-A482-1234DA145C2D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Social Styles</a:t>
            </a:r>
          </a:p>
        </p:txBody>
      </p:sp>
      <p:pic>
        <p:nvPicPr>
          <p:cNvPr id="320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11312"/>
            <a:ext cx="6248400" cy="509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6440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6245A-59EA-4252-8DC4-4FAF77025AC1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Reward and Recognition Systems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Team-based reward and recognition systems can promote teamwork</a:t>
            </a:r>
          </a:p>
          <a:p>
            <a:r>
              <a:rPr lang="en-US" altLang="en-US"/>
              <a:t>Focus on rewarding teams for achieving specific goals</a:t>
            </a:r>
          </a:p>
          <a:p>
            <a:r>
              <a:rPr lang="en-US" altLang="en-US"/>
              <a:t>Allow time for team members to mentor and help each other to meet project goals and develop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1168206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A1A7-50E6-4EFD-AA38-DD823A2B878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Advice on Teams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86738" cy="364807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en-US" dirty="0"/>
              <a:t>Focus on meeting project objectives and producing positive results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Fix the problem instead of blaming people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Establish regular, effective meetings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Nurture team members and encourage them to help each other</a:t>
            </a:r>
          </a:p>
          <a:p>
            <a:pPr algn="just">
              <a:lnSpc>
                <a:spcPct val="90000"/>
              </a:lnSpc>
            </a:pPr>
            <a:r>
              <a:rPr lang="en-US" altLang="en-US" dirty="0"/>
              <a:t>Acknowledge individual and group accomplishments</a:t>
            </a:r>
          </a:p>
        </p:txBody>
      </p:sp>
    </p:spTree>
    <p:extLst>
      <p:ext uri="{BB962C8B-B14F-4D97-AF65-F5344CB8AC3E}">
        <p14:creationId xmlns:p14="http://schemas.microsoft.com/office/powerpoint/2010/main" val="2201538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9071DA-DC0C-4E2D-A8B5-B904CCF39104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Software to Assist in Human Resource Management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Software can help in producing RAMs and resource histograms </a:t>
            </a:r>
          </a:p>
          <a:p>
            <a:pPr algn="just"/>
            <a:r>
              <a:rPr lang="en-US" altLang="en-US" dirty="0"/>
              <a:t>Project management software includes several features related to human resource management such as </a:t>
            </a:r>
          </a:p>
          <a:p>
            <a:pPr lvl="1" algn="just"/>
            <a:r>
              <a:rPr lang="en-US" altLang="en-US" dirty="0"/>
              <a:t>viewing resource usage information</a:t>
            </a:r>
          </a:p>
          <a:p>
            <a:pPr lvl="1" algn="just"/>
            <a:r>
              <a:rPr lang="en-US" altLang="en-US" dirty="0"/>
              <a:t>identifying under and </a:t>
            </a:r>
            <a:r>
              <a:rPr lang="en-US" altLang="en-US" dirty="0" err="1"/>
              <a:t>overallocated</a:t>
            </a:r>
            <a:r>
              <a:rPr lang="en-US" altLang="en-US" dirty="0"/>
              <a:t> resources</a:t>
            </a:r>
          </a:p>
          <a:p>
            <a:pPr lvl="1" algn="just"/>
            <a:r>
              <a:rPr lang="en-US" altLang="en-US" dirty="0"/>
              <a:t>leveling resources</a:t>
            </a:r>
          </a:p>
          <a:p>
            <a:pPr lvl="1" algn="just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84168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D4F5BE-A2C9-4986-B6E5-6C8470D5BB85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Usage View from Microsoft Project</a:t>
            </a:r>
          </a:p>
        </p:txBody>
      </p:sp>
      <p:pic>
        <p:nvPicPr>
          <p:cNvPr id="3246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3" b="32016"/>
          <a:stretch>
            <a:fillRect/>
          </a:stretch>
        </p:blipFill>
        <p:spPr bwMode="auto">
          <a:xfrm>
            <a:off x="0" y="1990725"/>
            <a:ext cx="9144000" cy="334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1021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606CA-00E6-4030-8DC9-11393D0E6821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32563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Usage Report from Microsoft Project</a:t>
            </a:r>
          </a:p>
        </p:txBody>
      </p:sp>
      <p:pic>
        <p:nvPicPr>
          <p:cNvPr id="325636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0" b="31389"/>
          <a:stretch>
            <a:fillRect/>
          </a:stretch>
        </p:blipFill>
        <p:spPr bwMode="auto">
          <a:xfrm>
            <a:off x="0" y="2190750"/>
            <a:ext cx="914400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87512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106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Human Resource Management</a:t>
            </a:r>
            <a:endParaRPr lang="pt-B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16420" name="Picture 4" descr="U:\9_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38" y="1250950"/>
            <a:ext cx="7485062" cy="560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68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2457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ct val="40000"/>
              </a:spcBef>
            </a:pPr>
            <a:r>
              <a:rPr lang="en-US" dirty="0"/>
              <a:t>“Information Technology Project Management”, Kathy Schwalbe, sixth Edition, THOMSON Course Technology</a:t>
            </a:r>
          </a:p>
          <a:p>
            <a:pPr marL="0" indent="0" algn="just">
              <a:spcBef>
                <a:spcPct val="40000"/>
              </a:spcBef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7EE52-0A3E-4056-BF10-76CEB3A6A0B6}" type="slidenum">
              <a:rPr lang="en-US" altLang="en-US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997882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1171</TotalTime>
  <Words>935</Words>
  <Application>Microsoft Office PowerPoint</Application>
  <PresentationFormat>On-screen Show (4:3)</PresentationFormat>
  <Paragraphs>155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Times New Roman</vt:lpstr>
      <vt:lpstr>HNDIT</vt:lpstr>
      <vt:lpstr>1_HNDIT</vt:lpstr>
      <vt:lpstr>HNDIT2302  IT Project Management</vt:lpstr>
      <vt:lpstr>Learning Objectives</vt:lpstr>
      <vt:lpstr>What is Project Human Resource Management?</vt:lpstr>
      <vt:lpstr>Keys to Managing People</vt:lpstr>
      <vt:lpstr>Motivation</vt:lpstr>
      <vt:lpstr>Maslow’s Hierarchy of Needs</vt:lpstr>
      <vt:lpstr>Ways to Influence that Help and Hurt Projects</vt:lpstr>
      <vt:lpstr>Power</vt:lpstr>
      <vt:lpstr>Improving Effectiveness - Covey’s 7 Habits</vt:lpstr>
      <vt:lpstr>Empathic Listening and Rapport</vt:lpstr>
      <vt:lpstr>Improving Relationships Between Users and Developers</vt:lpstr>
      <vt:lpstr>Organizational Planning</vt:lpstr>
      <vt:lpstr>Organizational Planning</vt:lpstr>
      <vt:lpstr>Sample Organizational Chart for a Large IT Project</vt:lpstr>
      <vt:lpstr> Work Definition and Assignment Process</vt:lpstr>
      <vt:lpstr>Sample Responsibility Assignment Matrix (RAM)</vt:lpstr>
      <vt:lpstr>RAM Showing Stakeholder Roles</vt:lpstr>
      <vt:lpstr>Sample RACI Chart</vt:lpstr>
      <vt:lpstr>Sample Resource Histogram</vt:lpstr>
      <vt:lpstr>Staff Acquisition</vt:lpstr>
      <vt:lpstr>Staff Acquisition</vt:lpstr>
      <vt:lpstr>Resource Loading and Leveling</vt:lpstr>
      <vt:lpstr>Resource Leveling</vt:lpstr>
      <vt:lpstr>Resource Leveling Example</vt:lpstr>
      <vt:lpstr>Team Development</vt:lpstr>
      <vt:lpstr>Team Development</vt:lpstr>
      <vt:lpstr>Social Styles Profile</vt:lpstr>
      <vt:lpstr>Social Styles</vt:lpstr>
      <vt:lpstr>Reward and Recognition Systems</vt:lpstr>
      <vt:lpstr>General Advice on Teams</vt:lpstr>
      <vt:lpstr>Using Software to Assist in Human Resource Management</vt:lpstr>
      <vt:lpstr>Resource Usage View from Microsoft Project</vt:lpstr>
      <vt:lpstr>Resource Usage Report from Microsoft Project</vt:lpstr>
      <vt:lpstr>Project Human Resource Management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HP</cp:lastModifiedBy>
  <cp:revision>146</cp:revision>
  <dcterms:created xsi:type="dcterms:W3CDTF">2014-03-07T13:02:25Z</dcterms:created>
  <dcterms:modified xsi:type="dcterms:W3CDTF">2021-10-22T14:58:15Z</dcterms:modified>
</cp:coreProperties>
</file>