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1684-27D9-44E6-B364-CBA23809EDE9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1ED20-19C3-45B4-82A3-A4878EFB82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093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8BB902A-3F9C-416A-99D6-4AEFA8DC5A6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DBD5822-CBE8-49AA-927A-388A6DB8EB72}" type="slidenum">
              <a:rPr lang="en-US">
                <a:latin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latin typeface="Arial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9109-15FE-41BA-8708-C19D544AFE45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68538-048D-4CB6-9FB0-1E70B6C20EAE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0262"/>
            <a:ext cx="9144000" cy="2566851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4800600" y="2130425"/>
            <a:ext cx="4038600" cy="2493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kern="1200" dirty="0" smtClean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Principles of Management and Applied Economics</a:t>
            </a:r>
            <a:endParaRPr lang="en-US" sz="8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76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9109-15FE-41BA-8708-C19D544AFE45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68538-048D-4CB6-9FB0-1E70B6C2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94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9109-15FE-41BA-8708-C19D544AFE45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68538-048D-4CB6-9FB0-1E70B6C2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28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9109-15FE-41BA-8708-C19D544AFE45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68538-048D-4CB6-9FB0-1E70B6C2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7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9109-15FE-41BA-8708-C19D544AFE45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68538-048D-4CB6-9FB0-1E70B6C2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51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9109-15FE-41BA-8708-C19D544AFE45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68538-048D-4CB6-9FB0-1E70B6C2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33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9109-15FE-41BA-8708-C19D544AFE45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68538-048D-4CB6-9FB0-1E70B6C2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08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9109-15FE-41BA-8708-C19D544AFE45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68538-048D-4CB6-9FB0-1E70B6C2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31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9109-15FE-41BA-8708-C19D544AFE45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68538-048D-4CB6-9FB0-1E70B6C2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08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9109-15FE-41BA-8708-C19D544AFE45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68538-048D-4CB6-9FB0-1E70B6C2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3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79109-15FE-41BA-8708-C19D544AFE45}" type="datetimeFigureOut">
              <a:rPr lang="en-US" smtClean="0"/>
              <a:t>8/11/2018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68538-048D-4CB6-9FB0-1E70B6C20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22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79109-15FE-41BA-8708-C19D544AFE45}" type="datetimeFigureOut">
              <a:rPr lang="en-US" smtClean="0"/>
              <a:t>8/12/2018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68538-048D-4CB6-9FB0-1E70B6C20EA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92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4419600"/>
            <a:ext cx="7772400" cy="147002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3200" b="1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Process of </a:t>
            </a:r>
            <a:r>
              <a:rPr lang="en-US" sz="32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Controlling</a:t>
            </a:r>
            <a:endParaRPr lang="en-US" sz="3200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45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Grp="1" noChangeArrowheads="1"/>
          </p:cNvSpPr>
          <p:nvPr>
            <p:ph type="title"/>
          </p:nvPr>
        </p:nvSpPr>
        <p:spPr>
          <a:xfrm>
            <a:off x="152400" y="1295400"/>
            <a:ext cx="8610600" cy="2133600"/>
          </a:xfrm>
        </p:spPr>
        <p:txBody>
          <a:bodyPr rtlCol="0">
            <a:normAutofit fontScale="90000"/>
          </a:bodyPr>
          <a:lstStyle/>
          <a:p>
            <a:pPr algn="just" fontAlgn="auto">
              <a:spcAft>
                <a:spcPts val="0"/>
              </a:spcAft>
              <a:defRPr/>
            </a:pPr>
            <a:r>
              <a:rPr lang="en-US" sz="3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Control is the regulation of organisational activities in such a way as to facilitate goal attainment.</a:t>
            </a:r>
            <a:br>
              <a:rPr lang="en-US" sz="3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</a:t>
            </a:r>
            <a:r>
              <a:rPr lang="en-US" sz="31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(Griffin, 2012)</a:t>
            </a:r>
            <a:r>
              <a:rPr lang="en-US" sz="2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200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19" name="Text Box 15"/>
          <p:cNvSpPr txBox="1">
            <a:spLocks noChangeArrowheads="1"/>
          </p:cNvSpPr>
          <p:nvPr/>
        </p:nvSpPr>
        <p:spPr bwMode="auto">
          <a:xfrm>
            <a:off x="1524000" y="304800"/>
            <a:ext cx="6172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4400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Control - Definitions</a:t>
            </a:r>
          </a:p>
        </p:txBody>
      </p:sp>
      <p:sp>
        <p:nvSpPr>
          <p:cNvPr id="8" name="Rectangle 5"/>
          <p:cNvSpPr txBox="1">
            <a:spLocks noChangeArrowheads="1"/>
          </p:cNvSpPr>
          <p:nvPr/>
        </p:nvSpPr>
        <p:spPr>
          <a:xfrm>
            <a:off x="152400" y="3048000"/>
            <a:ext cx="8686800" cy="39624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just"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Control refers to the systematic process of regulating organisational activities to make them consistent with the expectations established in plans, targets and standards of performance. </a:t>
            </a:r>
            <a:br>
              <a:rPr lang="en-US" sz="3200" dirty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lang="en-US" sz="3200" dirty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					                     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(Daft, 2012)</a:t>
            </a:r>
            <a:b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en-US" sz="2800" i="1" dirty="0">
              <a:solidFill>
                <a:srgbClr val="00206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63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Importance of Control</a:t>
            </a:r>
            <a:endParaRPr lang="en-US" dirty="0"/>
          </a:p>
        </p:txBody>
      </p:sp>
      <p:sp>
        <p:nvSpPr>
          <p:cNvPr id="42" name="Text Box 31"/>
          <p:cNvSpPr txBox="1">
            <a:spLocks noChangeArrowheads="1"/>
          </p:cNvSpPr>
          <p:nvPr/>
        </p:nvSpPr>
        <p:spPr bwMode="auto">
          <a:xfrm>
            <a:off x="381000" y="1524000"/>
            <a:ext cx="8382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69863" indent="-169863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>
              <a:buFont typeface="Arial" charset="0"/>
              <a:buChar char="•"/>
            </a:pPr>
            <a:r>
              <a:rPr lang="en-US" sz="32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Organisational control is one of the most important functions in management and is closely related to other functions of the  management process. </a:t>
            </a:r>
          </a:p>
          <a:p>
            <a:pPr algn="just">
              <a:buFont typeface="Arial" charset="0"/>
              <a:buChar char="•"/>
            </a:pPr>
            <a:endParaRPr lang="en-US" sz="32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charset="0"/>
              <a:buChar char="•"/>
            </a:pPr>
            <a:r>
              <a:rPr lang="en-US" sz="32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It also facilitates the managers in ensuring that limited resources are obtained and properly utilized in the process of accomplishing organisation’s objectives. </a:t>
            </a:r>
          </a:p>
        </p:txBody>
      </p:sp>
    </p:spTree>
    <p:extLst>
      <p:ext uri="{BB962C8B-B14F-4D97-AF65-F5344CB8AC3E}">
        <p14:creationId xmlns:p14="http://schemas.microsoft.com/office/powerpoint/2010/main" val="2990656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48513" y="457200"/>
            <a:ext cx="5791200" cy="6858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900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Process</a:t>
            </a:r>
            <a:r>
              <a:rPr lang="en-US" sz="4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900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of Controlling</a:t>
            </a:r>
          </a:p>
        </p:txBody>
      </p:sp>
      <p:grpSp>
        <p:nvGrpSpPr>
          <p:cNvPr id="8195" name="Group 34"/>
          <p:cNvGrpSpPr>
            <a:grpSpLocks/>
          </p:cNvGrpSpPr>
          <p:nvPr/>
        </p:nvGrpSpPr>
        <p:grpSpPr bwMode="auto">
          <a:xfrm>
            <a:off x="1139825" y="1287988"/>
            <a:ext cx="6022976" cy="5304374"/>
            <a:chOff x="528" y="432"/>
            <a:chExt cx="4174" cy="3676"/>
          </a:xfrm>
        </p:grpSpPr>
        <p:grpSp>
          <p:nvGrpSpPr>
            <p:cNvPr id="8200" name="Group 33"/>
            <p:cNvGrpSpPr>
              <a:grpSpLocks/>
            </p:cNvGrpSpPr>
            <p:nvPr/>
          </p:nvGrpSpPr>
          <p:grpSpPr bwMode="auto">
            <a:xfrm>
              <a:off x="528" y="432"/>
              <a:ext cx="4169" cy="3643"/>
              <a:chOff x="528" y="432"/>
              <a:chExt cx="4169" cy="3643"/>
            </a:xfrm>
          </p:grpSpPr>
          <p:sp>
            <p:nvSpPr>
              <p:cNvPr id="8205" name="Rectangle 8" descr="Stationery"/>
              <p:cNvSpPr>
                <a:spLocks noChangeArrowheads="1"/>
              </p:cNvSpPr>
              <p:nvPr/>
            </p:nvSpPr>
            <p:spPr bwMode="auto">
              <a:xfrm>
                <a:off x="1152" y="432"/>
                <a:ext cx="3545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US" sz="240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Establish Performance Criteria and Standards</a:t>
                </a:r>
              </a:p>
            </p:txBody>
          </p:sp>
          <p:sp>
            <p:nvSpPr>
              <p:cNvPr id="8206" name="Rectangle 9" descr="Stationery"/>
              <p:cNvSpPr>
                <a:spLocks noChangeArrowheads="1"/>
              </p:cNvSpPr>
              <p:nvPr/>
            </p:nvSpPr>
            <p:spPr bwMode="auto">
              <a:xfrm>
                <a:off x="1141" y="1344"/>
                <a:ext cx="3545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US" sz="240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Measure Actual Performance</a:t>
                </a:r>
              </a:p>
            </p:txBody>
          </p:sp>
          <p:sp>
            <p:nvSpPr>
              <p:cNvPr id="8207" name="Rectangle 11" descr="Stationery"/>
              <p:cNvSpPr>
                <a:spLocks noChangeArrowheads="1"/>
              </p:cNvSpPr>
              <p:nvPr/>
            </p:nvSpPr>
            <p:spPr bwMode="auto">
              <a:xfrm>
                <a:off x="1107" y="2263"/>
                <a:ext cx="3545" cy="514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/>
                <a:r>
                  <a:rPr lang="en-US" sz="240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Compare Actual Performance against Standards</a:t>
                </a:r>
              </a:p>
            </p:txBody>
          </p:sp>
          <p:sp>
            <p:nvSpPr>
              <p:cNvPr id="8208" name="AutoShape 12" descr="Stationery"/>
              <p:cNvSpPr>
                <a:spLocks noChangeArrowheads="1"/>
              </p:cNvSpPr>
              <p:nvPr/>
            </p:nvSpPr>
            <p:spPr bwMode="auto">
              <a:xfrm>
                <a:off x="2544" y="1056"/>
                <a:ext cx="503" cy="187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grpSp>
            <p:nvGrpSpPr>
              <p:cNvPr id="8209" name="Group 31"/>
              <p:cNvGrpSpPr>
                <a:grpSpLocks/>
              </p:cNvGrpSpPr>
              <p:nvPr/>
            </p:nvGrpSpPr>
            <p:grpSpPr bwMode="auto">
              <a:xfrm>
                <a:off x="1104" y="3090"/>
                <a:ext cx="3593" cy="985"/>
                <a:chOff x="1104" y="3072"/>
                <a:chExt cx="3593" cy="985"/>
              </a:xfrm>
            </p:grpSpPr>
            <p:sp>
              <p:nvSpPr>
                <p:cNvPr id="8217" name="Rectangle 10" descr="Stationery"/>
                <p:cNvSpPr>
                  <a:spLocks noChangeArrowheads="1"/>
                </p:cNvSpPr>
                <p:nvPr/>
              </p:nvSpPr>
              <p:spPr bwMode="auto">
                <a:xfrm>
                  <a:off x="1104" y="3072"/>
                  <a:ext cx="3545" cy="968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sz="2400">
                      <a:solidFill>
                        <a:srgbClr val="002060"/>
                      </a:solidFill>
                      <a:latin typeface="Times New Roman" pitchFamily="18" charset="0"/>
                      <a:cs typeface="Times New Roman" pitchFamily="18" charset="0"/>
                    </a:rPr>
                    <a:t>Evaluate and Take Corrective Actions</a:t>
                  </a:r>
                </a:p>
              </p:txBody>
            </p:sp>
            <p:grpSp>
              <p:nvGrpSpPr>
                <p:cNvPr id="8218" name="Group 30"/>
                <p:cNvGrpSpPr>
                  <a:grpSpLocks/>
                </p:cNvGrpSpPr>
                <p:nvPr/>
              </p:nvGrpSpPr>
              <p:grpSpPr bwMode="auto">
                <a:xfrm>
                  <a:off x="1152" y="3504"/>
                  <a:ext cx="3545" cy="553"/>
                  <a:chOff x="1152" y="3504"/>
                  <a:chExt cx="3545" cy="553"/>
                </a:xfrm>
              </p:grpSpPr>
              <p:sp>
                <p:nvSpPr>
                  <p:cNvPr id="8219" name="Line 15" descr="Stationery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504"/>
                    <a:ext cx="354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0" name="Line 16" descr="Stationery"/>
                  <p:cNvSpPr>
                    <a:spLocks noChangeShapeType="1"/>
                  </p:cNvSpPr>
                  <p:nvPr/>
                </p:nvSpPr>
                <p:spPr bwMode="auto">
                  <a:xfrm>
                    <a:off x="2064" y="3504"/>
                    <a:ext cx="0" cy="553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221" name="Line 17" descr="Stationery"/>
                  <p:cNvSpPr>
                    <a:spLocks noChangeShapeType="1"/>
                  </p:cNvSpPr>
                  <p:nvPr/>
                </p:nvSpPr>
                <p:spPr bwMode="auto">
                  <a:xfrm>
                    <a:off x="3360" y="3504"/>
                    <a:ext cx="0" cy="553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8210" name="AutoShape 28" descr="Stationery"/>
              <p:cNvSpPr>
                <a:spLocks noChangeArrowheads="1"/>
              </p:cNvSpPr>
              <p:nvPr/>
            </p:nvSpPr>
            <p:spPr bwMode="auto">
              <a:xfrm>
                <a:off x="2496" y="1963"/>
                <a:ext cx="503" cy="187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sp>
            <p:nvSpPr>
              <p:cNvPr id="8211" name="AutoShape 29" descr="Stationery"/>
              <p:cNvSpPr>
                <a:spLocks noChangeArrowheads="1"/>
              </p:cNvSpPr>
              <p:nvPr/>
            </p:nvSpPr>
            <p:spPr bwMode="auto">
              <a:xfrm>
                <a:off x="2496" y="2832"/>
                <a:ext cx="503" cy="187"/>
              </a:xfrm>
              <a:prstGeom prst="downArrow">
                <a:avLst>
                  <a:gd name="adj1" fmla="val 50000"/>
                  <a:gd name="adj2" fmla="val 25000"/>
                </a:avLst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 pitchFamily="34" charset="0"/>
                </a:endParaRPr>
              </a:p>
            </p:txBody>
          </p:sp>
          <p:grpSp>
            <p:nvGrpSpPr>
              <p:cNvPr id="8212" name="Group 22"/>
              <p:cNvGrpSpPr>
                <a:grpSpLocks/>
              </p:cNvGrpSpPr>
              <p:nvPr/>
            </p:nvGrpSpPr>
            <p:grpSpPr bwMode="auto">
              <a:xfrm>
                <a:off x="528" y="768"/>
                <a:ext cx="591" cy="2766"/>
                <a:chOff x="3861" y="7204"/>
                <a:chExt cx="900" cy="3600"/>
              </a:xfrm>
            </p:grpSpPr>
            <p:sp>
              <p:nvSpPr>
                <p:cNvPr id="8213" name="Line 23" descr="Stationery"/>
                <p:cNvSpPr>
                  <a:spLocks noChangeShapeType="1"/>
                </p:cNvSpPr>
                <p:nvPr/>
              </p:nvSpPr>
              <p:spPr bwMode="auto">
                <a:xfrm flipH="1">
                  <a:off x="3861" y="7204"/>
                  <a:ext cx="90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14" name="Line 24" descr="Stationery"/>
                <p:cNvSpPr>
                  <a:spLocks noChangeShapeType="1"/>
                </p:cNvSpPr>
                <p:nvPr/>
              </p:nvSpPr>
              <p:spPr bwMode="auto">
                <a:xfrm>
                  <a:off x="3861" y="7204"/>
                  <a:ext cx="0" cy="360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15" name="Line 25" descr="Stationery"/>
                <p:cNvSpPr>
                  <a:spLocks noChangeShapeType="1"/>
                </p:cNvSpPr>
                <p:nvPr/>
              </p:nvSpPr>
              <p:spPr bwMode="auto">
                <a:xfrm>
                  <a:off x="3861" y="10804"/>
                  <a:ext cx="90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16" name="Line 26" descr="Stationery"/>
                <p:cNvSpPr>
                  <a:spLocks noChangeShapeType="1"/>
                </p:cNvSpPr>
                <p:nvPr/>
              </p:nvSpPr>
              <p:spPr bwMode="auto">
                <a:xfrm>
                  <a:off x="3861" y="8284"/>
                  <a:ext cx="90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8201" name="Group 18"/>
            <p:cNvGrpSpPr>
              <a:grpSpLocks/>
            </p:cNvGrpSpPr>
            <p:nvPr/>
          </p:nvGrpSpPr>
          <p:grpSpPr bwMode="auto">
            <a:xfrm>
              <a:off x="960" y="3552"/>
              <a:ext cx="3742" cy="556"/>
              <a:chOff x="4542" y="10773"/>
              <a:chExt cx="5700" cy="724"/>
            </a:xfrm>
          </p:grpSpPr>
          <p:sp>
            <p:nvSpPr>
              <p:cNvPr id="8202" name="Text Box 19"/>
              <p:cNvSpPr txBox="1">
                <a:spLocks noChangeArrowheads="1"/>
              </p:cNvSpPr>
              <p:nvPr/>
            </p:nvSpPr>
            <p:spPr bwMode="auto">
              <a:xfrm>
                <a:off x="4542" y="10773"/>
                <a:ext cx="1881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/>
                <a:r>
                  <a:rPr lang="en-US" sz="200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Correct Deviations</a:t>
                </a:r>
              </a:p>
            </p:txBody>
          </p:sp>
          <p:sp>
            <p:nvSpPr>
              <p:cNvPr id="8203" name="Text Box 20"/>
              <p:cNvSpPr txBox="1">
                <a:spLocks noChangeArrowheads="1"/>
              </p:cNvSpPr>
              <p:nvPr/>
            </p:nvSpPr>
            <p:spPr bwMode="auto">
              <a:xfrm>
                <a:off x="6589" y="10773"/>
                <a:ext cx="1341" cy="7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/>
                <a:r>
                  <a:rPr lang="en-US" sz="200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Change Standard</a:t>
                </a:r>
              </a:p>
            </p:txBody>
          </p:sp>
          <p:sp>
            <p:nvSpPr>
              <p:cNvPr id="8204" name="Text Box 21"/>
              <p:cNvSpPr txBox="1">
                <a:spLocks noChangeArrowheads="1"/>
              </p:cNvSpPr>
              <p:nvPr/>
            </p:nvSpPr>
            <p:spPr bwMode="auto">
              <a:xfrm>
                <a:off x="8361" y="10773"/>
                <a:ext cx="1881" cy="7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algn="ctr"/>
                <a:r>
                  <a:rPr lang="en-US" sz="200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Maintain </a:t>
                </a:r>
              </a:p>
              <a:p>
                <a:pPr algn="ctr"/>
                <a:r>
                  <a:rPr lang="en-US" sz="2000">
                    <a:solidFill>
                      <a:srgbClr val="002060"/>
                    </a:solidFill>
                    <a:latin typeface="Times New Roman" pitchFamily="18" charset="0"/>
                    <a:cs typeface="Times New Roman" pitchFamily="18" charset="0"/>
                  </a:rPr>
                  <a:t>Status Quo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645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6629400" cy="11430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Types of Control</a:t>
            </a:r>
          </a:p>
        </p:txBody>
      </p:sp>
      <p:sp>
        <p:nvSpPr>
          <p:cNvPr id="7199" name="Text Box 31"/>
          <p:cNvSpPr txBox="1">
            <a:spLocks noChangeArrowheads="1"/>
          </p:cNvSpPr>
          <p:nvPr/>
        </p:nvSpPr>
        <p:spPr bwMode="auto">
          <a:xfrm>
            <a:off x="838200" y="1752600"/>
            <a:ext cx="7772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68580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sz="4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Operational  Control</a:t>
            </a:r>
          </a:p>
          <a:p>
            <a:endParaRPr lang="en-US" sz="40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4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Financial Control</a:t>
            </a:r>
          </a:p>
          <a:p>
            <a:pPr>
              <a:buFont typeface="Wingdings" pitchFamily="2" charset="2"/>
              <a:buChar char="§"/>
            </a:pPr>
            <a:endParaRPr lang="en-US" sz="40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4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Structural Control</a:t>
            </a:r>
          </a:p>
          <a:p>
            <a:pPr>
              <a:buFont typeface="Wingdings" pitchFamily="2" charset="2"/>
              <a:buChar char="§"/>
            </a:pPr>
            <a:endParaRPr lang="en-US" sz="40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400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Strategic Control</a:t>
            </a:r>
          </a:p>
        </p:txBody>
      </p:sp>
    </p:spTree>
    <p:extLst>
      <p:ext uri="{BB962C8B-B14F-4D97-AF65-F5344CB8AC3E}">
        <p14:creationId xmlns:p14="http://schemas.microsoft.com/office/powerpoint/2010/main" val="17459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Operational Control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001000" cy="4724400"/>
          </a:xfrm>
        </p:spPr>
        <p:txBody>
          <a:bodyPr/>
          <a:lstStyle/>
          <a:p>
            <a:pPr marL="0" indent="0" algn="just">
              <a:buFont typeface="Arial" charset="0"/>
              <a:buNone/>
            </a:pPr>
            <a:r>
              <a:rPr lang="en-US" sz="28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Operational Control focuses on the process the organisation uses to transform resources into products or services.</a:t>
            </a:r>
            <a:endParaRPr lang="en-US" sz="400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409700" lvl="2" indent="-609600">
              <a:buSzPct val="97000"/>
              <a:buFont typeface="Wingdings" pitchFamily="2" charset="2"/>
              <a:buChar char="§"/>
            </a:pPr>
            <a:r>
              <a:rPr lang="en-US" sz="28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Feed -forward Control/Preliminary Control</a:t>
            </a:r>
          </a:p>
          <a:p>
            <a:pPr marL="1409700" lvl="2" indent="-609600">
              <a:buSzPct val="97000"/>
              <a:buFont typeface="Wingdings" pitchFamily="2" charset="2"/>
              <a:buChar char="§"/>
            </a:pPr>
            <a:r>
              <a:rPr lang="en-US" sz="28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Concurrent Control/ Screening Control</a:t>
            </a:r>
          </a:p>
          <a:p>
            <a:pPr marL="1409700" lvl="2" indent="-609600">
              <a:buSzPct val="97000"/>
              <a:buFont typeface="Wingdings" pitchFamily="2" charset="2"/>
              <a:buChar char="§"/>
            </a:pPr>
            <a:r>
              <a:rPr lang="en-US" sz="280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Feed-back Control/Post-action Control</a:t>
            </a:r>
          </a:p>
        </p:txBody>
      </p:sp>
      <p:sp>
        <p:nvSpPr>
          <p:cNvPr id="4" name="Half Frame 3"/>
          <p:cNvSpPr/>
          <p:nvPr/>
        </p:nvSpPr>
        <p:spPr>
          <a:xfrm>
            <a:off x="0" y="0"/>
            <a:ext cx="9144000" cy="533400"/>
          </a:xfrm>
          <a:prstGeom prst="halfFram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n>
                <a:solidFill>
                  <a:srgbClr val="00206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9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2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143000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Financial Control</a:t>
            </a:r>
            <a:br>
              <a:rPr lang="en-US" sz="40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5400" dirty="0" smtClean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6627" name="Content Placeholder 3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482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control of financial resources of an </a:t>
            </a:r>
            <a:r>
              <a:rPr lang="en-US" sz="28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</a:t>
            </a:r>
            <a:r>
              <a:rPr lang="en-US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Types of financial controls:</a:t>
            </a:r>
          </a:p>
          <a:p>
            <a:pPr marL="822960" lvl="1" indent="-182880" fontAlgn="auto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Budgetary Control</a:t>
            </a:r>
          </a:p>
          <a:p>
            <a:pPr marL="822960" lvl="1" indent="-182880" fontAlgn="auto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Financial Statements</a:t>
            </a:r>
          </a:p>
          <a:p>
            <a:pPr marL="822960" lvl="1" indent="-182880" fontAlgn="auto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Ratio Analysis</a:t>
            </a:r>
          </a:p>
          <a:p>
            <a:pPr marL="822960" lvl="1" indent="-182880" fontAlgn="auto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Financial Audits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 smtClean="0"/>
          </a:p>
        </p:txBody>
      </p:sp>
      <p:sp>
        <p:nvSpPr>
          <p:cNvPr id="4" name="Half Frame 3"/>
          <p:cNvSpPr/>
          <p:nvPr/>
        </p:nvSpPr>
        <p:spPr>
          <a:xfrm>
            <a:off x="0" y="0"/>
            <a:ext cx="9144000" cy="533400"/>
          </a:xfrm>
          <a:prstGeom prst="halfFram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n>
                <a:solidFill>
                  <a:srgbClr val="00206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6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848600" cy="11430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Structural Control</a:t>
            </a:r>
            <a:endParaRPr lang="en-US" sz="4000" b="1" dirty="0" smtClean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05800" cy="4524375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Bureaucratic Control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Control through a system of rules and Standard Operating Procedures (SOPs) that shapes and regulates the </a:t>
            </a:r>
            <a:r>
              <a:rPr 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behaviour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of divisions, functions, and individuals.</a:t>
            </a:r>
          </a:p>
          <a:p>
            <a:pPr lvl="1" fontAlgn="auto"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Decentralised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Control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The control exerted on individuals and groups in an </a:t>
            </a:r>
            <a:r>
              <a:rPr 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by shared values, norms, standards of </a:t>
            </a:r>
            <a:r>
              <a:rPr 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behaviour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and expectations.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Char char="–"/>
              <a:defRPr/>
            </a:pPr>
            <a:endParaRPr lang="en-US" dirty="0" smtClean="0"/>
          </a:p>
        </p:txBody>
      </p:sp>
      <p:sp>
        <p:nvSpPr>
          <p:cNvPr id="4" name="Half Frame 3"/>
          <p:cNvSpPr/>
          <p:nvPr/>
        </p:nvSpPr>
        <p:spPr>
          <a:xfrm>
            <a:off x="0" y="0"/>
            <a:ext cx="9144000" cy="533400"/>
          </a:xfrm>
          <a:prstGeom prst="halfFram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n>
                <a:solidFill>
                  <a:srgbClr val="00206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457296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8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Strategic Control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153400" cy="3657600"/>
          </a:xfrm>
        </p:spPr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Strategic control is a form of control  of which purpose is to ensure that the </a:t>
            </a:r>
            <a:r>
              <a:rPr 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organisation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effectively understands and responds to the realities of it’s environment</a:t>
            </a:r>
          </a:p>
          <a:p>
            <a:pPr fontAlgn="auto"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Effective strategic control should tell managers if their strategies are appropriate given the actual circumstances  </a:t>
            </a:r>
          </a:p>
        </p:txBody>
      </p:sp>
    </p:spTree>
    <p:extLst>
      <p:ext uri="{BB962C8B-B14F-4D97-AF65-F5344CB8AC3E}">
        <p14:creationId xmlns:p14="http://schemas.microsoft.com/office/powerpoint/2010/main" val="27044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" y="381000"/>
            <a:ext cx="8458200" cy="9144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Characteristics of an Effective Control System </a:t>
            </a:r>
            <a:endParaRPr lang="en-US" dirty="0" smtClean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 rtlCol="0">
            <a:normAutofit fontScale="85000" lnSpcReduction="10000"/>
          </a:bodyPr>
          <a:lstStyle/>
          <a:p>
            <a:pPr marL="457200" indent="-457200" fontAlgn="auto">
              <a:lnSpc>
                <a:spcPct val="140000"/>
              </a:lnSpc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Flexibility</a:t>
            </a:r>
          </a:p>
          <a:p>
            <a:pPr marL="457200" indent="-457200" fontAlgn="auto">
              <a:lnSpc>
                <a:spcPct val="140000"/>
              </a:lnSpc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Accuracy</a:t>
            </a:r>
          </a:p>
          <a:p>
            <a:pPr marL="457200" indent="-457200" fontAlgn="auto">
              <a:lnSpc>
                <a:spcPct val="140000"/>
              </a:lnSpc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Timeliness</a:t>
            </a:r>
          </a:p>
          <a:p>
            <a:pPr marL="457200" indent="-457200" fontAlgn="auto">
              <a:lnSpc>
                <a:spcPct val="140000"/>
              </a:lnSpc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Economic</a:t>
            </a:r>
          </a:p>
          <a:p>
            <a:pPr marL="457200" indent="-457200" fontAlgn="auto">
              <a:lnSpc>
                <a:spcPct val="140000"/>
              </a:lnSpc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Integration with planning</a:t>
            </a:r>
          </a:p>
          <a:p>
            <a:pPr marL="457200" indent="-457200" fontAlgn="auto">
              <a:lnSpc>
                <a:spcPct val="140000"/>
              </a:lnSpc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wholehearted support of top management</a:t>
            </a:r>
          </a:p>
          <a:p>
            <a:pPr marL="457200" indent="-457200" fontAlgn="auto">
              <a:lnSpc>
                <a:spcPct val="140000"/>
              </a:lnSpc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Participation of all managers in the control process</a:t>
            </a:r>
          </a:p>
          <a:p>
            <a:pPr marL="457200" indent="-457200" fontAlgn="auto">
              <a:lnSpc>
                <a:spcPct val="140000"/>
              </a:lnSpc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 complementary relationship to manager's authority</a:t>
            </a:r>
            <a:endParaRPr lang="en-US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65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274</Words>
  <Application>Microsoft Office PowerPoint</Application>
  <PresentationFormat>On-screen Show (4:3)</PresentationFormat>
  <Paragraphs>60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7. The Process of Controlling</vt:lpstr>
      <vt:lpstr>Control is the regulation of organisational activities in such a way as to facilitate goal attainment.                                                                        (Griffin, 2012) </vt:lpstr>
      <vt:lpstr>Importance of Control</vt:lpstr>
      <vt:lpstr>Process of Controlling</vt:lpstr>
      <vt:lpstr>Types of Control</vt:lpstr>
      <vt:lpstr>Operational Control</vt:lpstr>
      <vt:lpstr>Financial Control </vt:lpstr>
      <vt:lpstr>Structural Control</vt:lpstr>
      <vt:lpstr>Strategic Control</vt:lpstr>
      <vt:lpstr>Characteristics of an Effective Control System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8. The Process of Controlling</dc:title>
  <dc:creator>Acer</dc:creator>
  <cp:lastModifiedBy>admina</cp:lastModifiedBy>
  <cp:revision>4</cp:revision>
  <dcterms:created xsi:type="dcterms:W3CDTF">2015-05-29T06:19:00Z</dcterms:created>
  <dcterms:modified xsi:type="dcterms:W3CDTF">2018-08-11T18:33:42Z</dcterms:modified>
</cp:coreProperties>
</file>