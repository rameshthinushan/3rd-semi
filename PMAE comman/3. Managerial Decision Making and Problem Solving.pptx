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75" r:id="rId2"/>
    <p:sldId id="277" r:id="rId3"/>
    <p:sldId id="279" r:id="rId4"/>
    <p:sldId id="306" r:id="rId5"/>
    <p:sldId id="281" r:id="rId6"/>
    <p:sldId id="307" r:id="rId7"/>
    <p:sldId id="284" r:id="rId8"/>
    <p:sldId id="304" r:id="rId9"/>
    <p:sldId id="285" r:id="rId10"/>
    <p:sldId id="286" r:id="rId11"/>
    <p:sldId id="299" r:id="rId12"/>
    <p:sldId id="301" r:id="rId13"/>
    <p:sldId id="291" r:id="rId1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FE2"/>
    <a:srgbClr val="35BBF7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09" autoAdjust="0"/>
  </p:normalViewPr>
  <p:slideViewPr>
    <p:cSldViewPr>
      <p:cViewPr varScale="1">
        <p:scale>
          <a:sx n="63" d="100"/>
          <a:sy n="6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089CE-AF7B-417A-A236-E1052665967D}" type="datetimeFigureOut">
              <a:rPr lang="en-US" smtClean="0"/>
              <a:pPr/>
              <a:t>6/12/2021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9D3A4-726F-4C0A-AC49-4568D1FCD3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5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5BAA309-F746-472B-A4AB-6436993B6D8E}" type="datetimeFigureOut">
              <a:rPr lang="en-US" smtClean="0"/>
              <a:pPr/>
              <a:t>6/12/2021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10F7C1F-ED9B-428A-A9AA-2EB64E3B687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77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F7C1F-ED9B-428A-A9AA-2EB64E3B6876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85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7E78-FF04-45AD-8937-D8FCE2717D26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262"/>
            <a:ext cx="9144000" cy="2566851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4800600" y="2130425"/>
            <a:ext cx="4038600" cy="24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 dirty="0" smtClean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Principles of Management and Applied Economics</a:t>
            </a:r>
            <a:endParaRPr lang="en-US" sz="8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16082-E195-421A-A230-4D6BC7F0BF30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0CA0-1C12-46F0-B67F-64E9D400837C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A0B4-060F-4A6C-B7D0-EC724D70E426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BD28-F802-4018-A87F-8FB22B580E91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FBD4-56AF-4AFC-A833-64EE58D85342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67F13-4612-4203-828A-6FD986CD02DE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48A7F-F491-4814-9D82-B9454D1BF2D9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C517A-6E2C-41B1-8C06-72F595610F1B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11A42-F91B-455B-BDED-6FA41997A9AB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2B641-EA0D-4AFF-83DC-0DE49AB65B2E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A323D-191E-44CC-9CA1-036C19AEAD9F}" type="datetime1">
              <a:rPr lang="en-US" smtClean="0"/>
              <a:pPr/>
              <a:t>6/12/2021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BUS1320 Introduction to Management Department of Business Administration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03323-2C60-4DB0-B5F6-29C1B2C886D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4419600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4. Managerial Decision Making and Problem Solving</a:t>
            </a:r>
            <a:endParaRPr lang="en-US" sz="32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Problem</a:t>
            </a:r>
          </a:p>
          <a:p>
            <a:pPr indent="-182880"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The </a:t>
            </a:r>
            <a:r>
              <a:rPr lang="en-US" sz="2400" dirty="0" err="1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unfavourable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difference between the actual state of affairs and desired state of affairs.</a:t>
            </a:r>
          </a:p>
          <a:p>
            <a:pPr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Decision </a:t>
            </a:r>
            <a:endParaRPr lang="en-US" sz="2800" dirty="0" smtClean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Choice made from available alternatives as a solution for a problem.</a:t>
            </a:r>
          </a:p>
          <a:p>
            <a:pPr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Decision Making </a:t>
            </a:r>
            <a:endParaRPr lang="en-US" sz="2400" dirty="0" smtClean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  The act of choosing an alternative from a set of alternatives.</a:t>
            </a:r>
            <a:endParaRPr lang="en-US" sz="2400" i="1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and Decision Making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Programmed Decisions</a:t>
            </a: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	A decision that is fairly structured solution to routine problems determined by rules, procedures and habits.</a:t>
            </a:r>
          </a:p>
          <a:p>
            <a:pPr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Non-programmed Decisions</a:t>
            </a:r>
          </a:p>
          <a:p>
            <a:pPr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	Specific solutions created through unstructured process to deal with non- routine problems.</a:t>
            </a:r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Types of Decisions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G Omega" pitchFamily="34" charset="0"/>
              </a:rPr>
              <a:t>Decision Types &amp; Managerial Levels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7223125" y="3013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33400" y="1752600"/>
            <a:ext cx="7956550" cy="4191000"/>
            <a:chOff x="336" y="1680"/>
            <a:chExt cx="5012" cy="2112"/>
          </a:xfrm>
        </p:grpSpPr>
        <p:sp>
          <p:nvSpPr>
            <p:cNvPr id="9220" name="AutoShape 4"/>
            <p:cNvSpPr>
              <a:spLocks noChangeArrowheads="1"/>
            </p:cNvSpPr>
            <p:nvPr/>
          </p:nvSpPr>
          <p:spPr bwMode="auto">
            <a:xfrm>
              <a:off x="336" y="1680"/>
              <a:ext cx="2112" cy="2112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0066FF"/>
                </a:gs>
                <a:gs pos="100000">
                  <a:srgbClr val="FF00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9221" name="Rectangle 5"/>
            <p:cNvSpPr>
              <a:spLocks noChangeArrowheads="1"/>
            </p:cNvSpPr>
            <p:nvPr/>
          </p:nvSpPr>
          <p:spPr bwMode="auto">
            <a:xfrm>
              <a:off x="2496" y="1728"/>
              <a:ext cx="2832" cy="2064"/>
            </a:xfrm>
            <a:prstGeom prst="rect">
              <a:avLst/>
            </a:prstGeom>
            <a:gradFill rotWithShape="0">
              <a:gsLst>
                <a:gs pos="0">
                  <a:srgbClr val="FF33CC"/>
                </a:gs>
                <a:gs pos="100000">
                  <a:srgbClr val="0066FF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1152" y="2016"/>
              <a:ext cx="502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/>
                <a:t>Top</a:t>
              </a:r>
            </a:p>
          </p:txBody>
        </p:sp>
        <p:sp>
          <p:nvSpPr>
            <p:cNvPr id="9226" name="Text Box 10"/>
            <p:cNvSpPr txBox="1">
              <a:spLocks noChangeArrowheads="1"/>
            </p:cNvSpPr>
            <p:nvPr/>
          </p:nvSpPr>
          <p:spPr bwMode="auto">
            <a:xfrm>
              <a:off x="1008" y="2640"/>
              <a:ext cx="800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/>
                <a:t>Middle</a:t>
              </a:r>
            </a:p>
          </p:txBody>
        </p:sp>
        <p:sp>
          <p:nvSpPr>
            <p:cNvPr id="9227" name="Text Box 11"/>
            <p:cNvSpPr txBox="1">
              <a:spLocks noChangeArrowheads="1"/>
            </p:cNvSpPr>
            <p:nvPr/>
          </p:nvSpPr>
          <p:spPr bwMode="auto">
            <a:xfrm>
              <a:off x="960" y="3312"/>
              <a:ext cx="737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/>
                <a:t>Lower</a:t>
              </a:r>
            </a:p>
          </p:txBody>
        </p:sp>
        <p:sp>
          <p:nvSpPr>
            <p:cNvPr id="9228" name="Text Box 12"/>
            <p:cNvSpPr txBox="1">
              <a:spLocks noChangeArrowheads="1"/>
            </p:cNvSpPr>
            <p:nvPr/>
          </p:nvSpPr>
          <p:spPr bwMode="auto">
            <a:xfrm>
              <a:off x="2544" y="3168"/>
              <a:ext cx="1385" cy="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/>
                <a:t>Programmed</a:t>
              </a:r>
            </a:p>
            <a:p>
              <a:r>
                <a:rPr lang="en-US" sz="2800" b="1"/>
                <a:t>Decisions</a:t>
              </a:r>
            </a:p>
          </p:txBody>
        </p:sp>
        <p:sp>
          <p:nvSpPr>
            <p:cNvPr id="9231" name="Text Box 15"/>
            <p:cNvSpPr txBox="1">
              <a:spLocks noChangeArrowheads="1"/>
            </p:cNvSpPr>
            <p:nvPr/>
          </p:nvSpPr>
          <p:spPr bwMode="auto">
            <a:xfrm>
              <a:off x="3552" y="1785"/>
              <a:ext cx="1796" cy="4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700" b="1"/>
                <a:t>Non-Programmed</a:t>
              </a:r>
            </a:p>
            <a:p>
              <a:r>
                <a:rPr lang="en-US" sz="2700" b="1"/>
                <a:t>Decisions</a:t>
              </a:r>
            </a:p>
          </p:txBody>
        </p:sp>
        <p:sp>
          <p:nvSpPr>
            <p:cNvPr id="9232" name="Line 16"/>
            <p:cNvSpPr>
              <a:spLocks noChangeShapeType="1"/>
            </p:cNvSpPr>
            <p:nvPr/>
          </p:nvSpPr>
          <p:spPr bwMode="auto">
            <a:xfrm>
              <a:off x="1008" y="2448"/>
              <a:ext cx="43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Line 17"/>
            <p:cNvSpPr>
              <a:spLocks noChangeShapeType="1"/>
            </p:cNvSpPr>
            <p:nvPr/>
          </p:nvSpPr>
          <p:spPr bwMode="auto">
            <a:xfrm>
              <a:off x="672" y="3120"/>
              <a:ext cx="4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>
              <a:off x="3216" y="1728"/>
              <a:ext cx="1344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Certainty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All of the information the decision maker needs is fully available.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Risk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A decision has clear goals and good information is available, but the future outcomes associated with each alternative are subject to chance.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endParaRPr lang="en-US" sz="2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/>
            </a:pPr>
            <a:r>
              <a:rPr lang="en-US" sz="2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Uncertainty</a:t>
            </a:r>
          </a:p>
          <a:p>
            <a:pPr marL="45720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Managers know which goals they wish to achieve,  but information about alternatives and future events is incomplete and managers may have to come up with creative approaches to alternatives.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Conditions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Conditions …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3323-2C60-4DB0-B5F6-29C1B2C886D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 descr="File:Conditions of decision making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6400799" cy="531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96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Conditions and Decisions</a:t>
            </a:r>
            <a:endParaRPr lang="en-US" sz="36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29000" y="1295400"/>
            <a:ext cx="1828800" cy="76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Problems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609600" y="2438400"/>
            <a:ext cx="6892925" cy="1066800"/>
            <a:chOff x="528" y="1920"/>
            <a:chExt cx="4342" cy="672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16" name="Group 11"/>
            <p:cNvGrpSpPr>
              <a:grpSpLocks/>
            </p:cNvGrpSpPr>
            <p:nvPr/>
          </p:nvGrpSpPr>
          <p:grpSpPr bwMode="auto">
            <a:xfrm>
              <a:off x="528" y="2064"/>
              <a:ext cx="4342" cy="528"/>
              <a:chOff x="528" y="2064"/>
              <a:chExt cx="4342" cy="528"/>
            </a:xfrm>
            <a:grpFill/>
          </p:grpSpPr>
          <p:sp>
            <p:nvSpPr>
              <p:cNvPr id="31" name="Rectangle 13"/>
              <p:cNvSpPr>
                <a:spLocks noChangeArrowheads="1"/>
              </p:cNvSpPr>
              <p:nvPr/>
            </p:nvSpPr>
            <p:spPr bwMode="auto">
              <a:xfrm flipH="1">
                <a:off x="1109" y="2064"/>
                <a:ext cx="3761" cy="52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Text Box 17"/>
              <p:cNvSpPr txBox="1">
                <a:spLocks noChangeArrowheads="1"/>
              </p:cNvSpPr>
              <p:nvPr/>
            </p:nvSpPr>
            <p:spPr bwMode="auto">
              <a:xfrm>
                <a:off x="528" y="2110"/>
                <a:ext cx="422" cy="252"/>
              </a:xfrm>
              <a:prstGeom prst="rect">
                <a:avLst/>
              </a:prstGeom>
              <a:grpFill/>
              <a:ln w="9525">
                <a:solidFill>
                  <a:srgbClr val="00206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Low</a:t>
                </a:r>
              </a:p>
            </p:txBody>
          </p:sp>
          <p:sp>
            <p:nvSpPr>
              <p:cNvPr id="25" name="Text Box 19"/>
              <p:cNvSpPr txBox="1">
                <a:spLocks noChangeArrowheads="1"/>
              </p:cNvSpPr>
              <p:nvPr/>
            </p:nvSpPr>
            <p:spPr bwMode="auto">
              <a:xfrm>
                <a:off x="2160" y="2112"/>
                <a:ext cx="1537" cy="25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Possibility of Failure</a:t>
                </a:r>
              </a:p>
            </p:txBody>
          </p:sp>
          <p:sp>
            <p:nvSpPr>
              <p:cNvPr id="26" name="Line 20"/>
              <p:cNvSpPr>
                <a:spLocks noChangeShapeType="1"/>
              </p:cNvSpPr>
              <p:nvPr/>
            </p:nvSpPr>
            <p:spPr bwMode="auto">
              <a:xfrm flipV="1">
                <a:off x="3696" y="2208"/>
                <a:ext cx="1033" cy="14"/>
              </a:xfrm>
              <a:prstGeom prst="line">
                <a:avLst/>
              </a:prstGeom>
              <a:grpFill/>
              <a:ln w="41275">
                <a:solidFill>
                  <a:srgbClr val="92D05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 rot="10800000">
                <a:off x="1152" y="2208"/>
                <a:ext cx="912" cy="0"/>
              </a:xfrm>
              <a:prstGeom prst="line">
                <a:avLst/>
              </a:prstGeom>
              <a:grpFill/>
              <a:ln w="41275">
                <a:solidFill>
                  <a:srgbClr val="92D05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Text Box 22"/>
              <p:cNvSpPr txBox="1">
                <a:spLocks noChangeArrowheads="1"/>
              </p:cNvSpPr>
              <p:nvPr/>
            </p:nvSpPr>
            <p:spPr bwMode="auto">
              <a:xfrm>
                <a:off x="1200" y="2256"/>
                <a:ext cx="864" cy="25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Certainty</a:t>
                </a:r>
                <a:endParaRPr lang="en-US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Text Box 23"/>
              <p:cNvSpPr txBox="1">
                <a:spLocks noChangeArrowheads="1"/>
              </p:cNvSpPr>
              <p:nvPr/>
            </p:nvSpPr>
            <p:spPr bwMode="auto">
              <a:xfrm>
                <a:off x="2592" y="2304"/>
                <a:ext cx="460" cy="25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 smtClean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Risk</a:t>
                </a:r>
                <a:endParaRPr lang="en-US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Text Box 24"/>
              <p:cNvSpPr txBox="1">
                <a:spLocks noChangeArrowheads="1"/>
              </p:cNvSpPr>
              <p:nvPr/>
            </p:nvSpPr>
            <p:spPr bwMode="auto">
              <a:xfrm>
                <a:off x="3744" y="2256"/>
                <a:ext cx="878" cy="25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Uncertainty</a:t>
                </a:r>
                <a:endParaRPr lang="en-US" sz="2000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17" name="Group 26"/>
            <p:cNvGrpSpPr>
              <a:grpSpLocks/>
            </p:cNvGrpSpPr>
            <p:nvPr/>
          </p:nvGrpSpPr>
          <p:grpSpPr bwMode="auto">
            <a:xfrm>
              <a:off x="1296" y="1920"/>
              <a:ext cx="3312" cy="144"/>
              <a:chOff x="1296" y="1920"/>
              <a:chExt cx="3312" cy="144"/>
            </a:xfrm>
            <a:grpFill/>
          </p:grpSpPr>
          <p:sp>
            <p:nvSpPr>
              <p:cNvPr id="18" name="Line 27"/>
              <p:cNvSpPr>
                <a:spLocks noChangeShapeType="1"/>
              </p:cNvSpPr>
              <p:nvPr/>
            </p:nvSpPr>
            <p:spPr bwMode="auto">
              <a:xfrm flipV="1">
                <a:off x="1296" y="1920"/>
                <a:ext cx="3312" cy="0"/>
              </a:xfrm>
              <a:prstGeom prst="line">
                <a:avLst/>
              </a:prstGeom>
              <a:grpFill/>
              <a:ln w="28575">
                <a:solidFill>
                  <a:srgbClr val="00206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28"/>
              <p:cNvSpPr>
                <a:spLocks noChangeShapeType="1"/>
              </p:cNvSpPr>
              <p:nvPr/>
            </p:nvSpPr>
            <p:spPr bwMode="auto">
              <a:xfrm>
                <a:off x="4608" y="1920"/>
                <a:ext cx="0" cy="144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30"/>
              <p:cNvSpPr>
                <a:spLocks noChangeShapeType="1"/>
              </p:cNvSpPr>
              <p:nvPr/>
            </p:nvSpPr>
            <p:spPr bwMode="auto">
              <a:xfrm>
                <a:off x="1296" y="1920"/>
                <a:ext cx="0" cy="144"/>
              </a:xfrm>
              <a:prstGeom prst="line">
                <a:avLst/>
              </a:prstGeom>
              <a:grpFill/>
              <a:ln w="28575">
                <a:solidFill>
                  <a:srgbClr val="00206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31"/>
              <p:cNvSpPr>
                <a:spLocks noChangeShapeType="1"/>
              </p:cNvSpPr>
              <p:nvPr/>
            </p:nvSpPr>
            <p:spPr bwMode="auto">
              <a:xfrm>
                <a:off x="2880" y="1920"/>
                <a:ext cx="0" cy="144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7" name="Group 32"/>
          <p:cNvGrpSpPr>
            <a:grpSpLocks/>
          </p:cNvGrpSpPr>
          <p:nvPr/>
        </p:nvGrpSpPr>
        <p:grpSpPr bwMode="auto">
          <a:xfrm>
            <a:off x="685800" y="3505200"/>
            <a:ext cx="7924800" cy="1219200"/>
            <a:chOff x="384" y="2448"/>
            <a:chExt cx="4992" cy="768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38" name="Group 33"/>
            <p:cNvGrpSpPr>
              <a:grpSpLocks/>
            </p:cNvGrpSpPr>
            <p:nvPr/>
          </p:nvGrpSpPr>
          <p:grpSpPr bwMode="auto">
            <a:xfrm>
              <a:off x="1008" y="2448"/>
              <a:ext cx="3648" cy="144"/>
              <a:chOff x="1008" y="2448"/>
              <a:chExt cx="3648" cy="144"/>
            </a:xfrm>
            <a:grpFill/>
          </p:grpSpPr>
          <p:sp>
            <p:nvSpPr>
              <p:cNvPr id="46" name="Line 34"/>
              <p:cNvSpPr>
                <a:spLocks noChangeShapeType="1"/>
              </p:cNvSpPr>
              <p:nvPr/>
            </p:nvSpPr>
            <p:spPr bwMode="auto">
              <a:xfrm>
                <a:off x="1008" y="2448"/>
                <a:ext cx="3648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47" name="Group 35"/>
              <p:cNvGrpSpPr>
                <a:grpSpLocks/>
              </p:cNvGrpSpPr>
              <p:nvPr/>
            </p:nvGrpSpPr>
            <p:grpSpPr bwMode="auto">
              <a:xfrm>
                <a:off x="1152" y="2448"/>
                <a:ext cx="3120" cy="144"/>
                <a:chOff x="1152" y="2448"/>
                <a:chExt cx="3120" cy="144"/>
              </a:xfrm>
              <a:grpFill/>
            </p:grpSpPr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152" y="2448"/>
                  <a:ext cx="0" cy="144"/>
                </a:xfrm>
                <a:prstGeom prst="line">
                  <a:avLst/>
                </a:prstGeom>
                <a:grpFill/>
                <a:ln w="28575">
                  <a:solidFill>
                    <a:srgbClr val="00206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4272" y="2448"/>
                  <a:ext cx="0" cy="144"/>
                </a:xfrm>
                <a:prstGeom prst="line">
                  <a:avLst/>
                </a:prstGeom>
                <a:grpFill/>
                <a:ln w="28575">
                  <a:solidFill>
                    <a:srgbClr val="00206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2060"/>
                    </a:solidFill>
                  </a:endParaRPr>
                </a:p>
              </p:txBody>
            </p:sp>
          </p:grpSp>
        </p:grpSp>
        <p:grpSp>
          <p:nvGrpSpPr>
            <p:cNvPr id="40" name="Group 39"/>
            <p:cNvGrpSpPr>
              <a:grpSpLocks/>
            </p:cNvGrpSpPr>
            <p:nvPr/>
          </p:nvGrpSpPr>
          <p:grpSpPr bwMode="auto">
            <a:xfrm>
              <a:off x="384" y="2592"/>
              <a:ext cx="4992" cy="624"/>
              <a:chOff x="384" y="2592"/>
              <a:chExt cx="4992" cy="624"/>
            </a:xfrm>
            <a:grpFill/>
          </p:grpSpPr>
          <p:grpSp>
            <p:nvGrpSpPr>
              <p:cNvPr id="41" name="Group 40"/>
              <p:cNvGrpSpPr>
                <a:grpSpLocks/>
              </p:cNvGrpSpPr>
              <p:nvPr/>
            </p:nvGrpSpPr>
            <p:grpSpPr bwMode="auto">
              <a:xfrm>
                <a:off x="384" y="2592"/>
                <a:ext cx="4992" cy="528"/>
                <a:chOff x="384" y="2496"/>
                <a:chExt cx="4992" cy="528"/>
              </a:xfrm>
              <a:grpFill/>
            </p:grpSpPr>
            <p:sp>
              <p:nvSpPr>
                <p:cNvPr id="43" name="Rectangle 41"/>
                <p:cNvSpPr>
                  <a:spLocks noChangeArrowheads="1"/>
                </p:cNvSpPr>
                <p:nvPr/>
              </p:nvSpPr>
              <p:spPr bwMode="auto">
                <a:xfrm flipH="1">
                  <a:off x="384" y="2496"/>
                  <a:ext cx="4992" cy="528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4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661" y="2544"/>
                  <a:ext cx="1028" cy="446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Times New Roman" pitchFamily="18" charset="0"/>
                      <a:cs typeface="Times New Roman" pitchFamily="18" charset="0"/>
                    </a:rPr>
                    <a:t>Programmed</a:t>
                  </a:r>
                </a:p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Times New Roman" pitchFamily="18" charset="0"/>
                      <a:cs typeface="Times New Roman" pitchFamily="18" charset="0"/>
                    </a:rPr>
                    <a:t>Decisions</a:t>
                  </a:r>
                </a:p>
              </p:txBody>
            </p:sp>
            <p:sp>
              <p:nvSpPr>
                <p:cNvPr id="45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482" y="2544"/>
                  <a:ext cx="1360" cy="446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000" b="1" dirty="0" smtClean="0">
                      <a:solidFill>
                        <a:srgbClr val="002060"/>
                      </a:solidFill>
                      <a:latin typeface="Times New Roman" pitchFamily="18" charset="0"/>
                      <a:cs typeface="Times New Roman" pitchFamily="18" charset="0"/>
                    </a:rPr>
                    <a:t>Non-programmed</a:t>
                  </a:r>
                  <a:endParaRPr lang="en-US" sz="20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pPr algn="ctr"/>
                  <a:r>
                    <a:rPr lang="en-US" sz="2000" b="1" dirty="0">
                      <a:solidFill>
                        <a:srgbClr val="002060"/>
                      </a:solidFill>
                      <a:latin typeface="Times New Roman" pitchFamily="18" charset="0"/>
                      <a:cs typeface="Times New Roman" pitchFamily="18" charset="0"/>
                    </a:rPr>
                    <a:t>Decisions</a:t>
                  </a:r>
                </a:p>
              </p:txBody>
            </p:sp>
          </p:grpSp>
          <p:sp>
            <p:nvSpPr>
              <p:cNvPr id="42" name="Line 44"/>
              <p:cNvSpPr>
                <a:spLocks noChangeShapeType="1"/>
              </p:cNvSpPr>
              <p:nvPr/>
            </p:nvSpPr>
            <p:spPr bwMode="auto">
              <a:xfrm rot="10800000">
                <a:off x="2400" y="3216"/>
                <a:ext cx="912" cy="0"/>
              </a:xfrm>
              <a:prstGeom prst="line">
                <a:avLst/>
              </a:prstGeom>
              <a:grpFill/>
              <a:ln w="41275">
                <a:solidFill>
                  <a:schemeClr val="bg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50" name="Rectangle 49"/>
          <p:cNvSpPr/>
          <p:nvPr/>
        </p:nvSpPr>
        <p:spPr>
          <a:xfrm>
            <a:off x="3505200" y="4876800"/>
            <a:ext cx="1981200" cy="76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Solutions for the problems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Line 31"/>
          <p:cNvSpPr>
            <a:spLocks noChangeShapeType="1"/>
          </p:cNvSpPr>
          <p:nvPr/>
        </p:nvSpPr>
        <p:spPr bwMode="auto">
          <a:xfrm>
            <a:off x="4419600" y="4572000"/>
            <a:ext cx="0" cy="30480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31"/>
          <p:cNvSpPr>
            <a:spLocks noChangeShapeType="1"/>
          </p:cNvSpPr>
          <p:nvPr/>
        </p:nvSpPr>
        <p:spPr bwMode="auto">
          <a:xfrm>
            <a:off x="4267200" y="2057400"/>
            <a:ext cx="0" cy="381000"/>
          </a:xfrm>
          <a:prstGeom prst="line">
            <a:avLst/>
          </a:prstGeom>
          <a:noFill/>
          <a:ln w="38100">
            <a:solidFill>
              <a:srgbClr val="00206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 Box 17"/>
          <p:cNvSpPr txBox="1">
            <a:spLocks noChangeArrowheads="1"/>
          </p:cNvSpPr>
          <p:nvPr/>
        </p:nvSpPr>
        <p:spPr bwMode="auto">
          <a:xfrm>
            <a:off x="7696200" y="2895600"/>
            <a:ext cx="724878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4953000"/>
          </a:xfrm>
        </p:spPr>
        <p:txBody>
          <a:bodyPr>
            <a:normAutofit fontScale="92500"/>
          </a:bodyPr>
          <a:lstStyle/>
          <a:p>
            <a:pPr marL="274320" indent="-182880">
              <a:buClr>
                <a:srgbClr val="002060"/>
              </a:buClr>
              <a:buSzPct val="70000"/>
              <a:buFont typeface="Wingdings" pitchFamily="2" charset="2"/>
              <a:buChar char="§"/>
            </a:pP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Information plays a vital role in making effective decisions.</a:t>
            </a:r>
          </a:p>
          <a:p>
            <a:pPr marL="274320" indent="-182880">
              <a:buClr>
                <a:srgbClr val="0B5394"/>
              </a:buClr>
              <a:buSzPct val="70000"/>
              <a:buNone/>
            </a:pPr>
            <a:endParaRPr lang="en-US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182880">
              <a:buClr>
                <a:srgbClr val="0B5394"/>
              </a:buClr>
              <a:buSzPct val="70000"/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Characteristics of good information:</a:t>
            </a:r>
          </a:p>
          <a:p>
            <a:pPr marL="674370" lvl="1" indent="-182880">
              <a:buClr>
                <a:srgbClr val="002060"/>
              </a:buClr>
              <a:buSzPct val="70000"/>
              <a:buFont typeface="Wingdings" pitchFamily="2" charset="2"/>
              <a:buChar char="§"/>
            </a:pPr>
            <a:r>
              <a:rPr lang="en-US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pPr marL="674370" lvl="1" indent="-182880">
              <a:buClr>
                <a:srgbClr val="002060"/>
              </a:buClr>
              <a:buSzPct val="70000"/>
              <a:buFont typeface="Wingdings" pitchFamily="2" charset="2"/>
              <a:buChar char="§"/>
            </a:pPr>
            <a:r>
              <a:rPr lang="en-US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Relevancy</a:t>
            </a:r>
          </a:p>
          <a:p>
            <a:pPr marL="674370" lvl="1" indent="-182880">
              <a:buClr>
                <a:srgbClr val="002060"/>
              </a:buClr>
              <a:buSzPct val="70000"/>
              <a:buFont typeface="Wingdings" pitchFamily="2" charset="2"/>
              <a:buChar char="§"/>
            </a:pPr>
            <a:r>
              <a:rPr lang="en-US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Perfection</a:t>
            </a:r>
          </a:p>
          <a:p>
            <a:pPr marL="674370" lvl="1" indent="-182880">
              <a:buClr>
                <a:srgbClr val="002060"/>
              </a:buClr>
              <a:buSzPct val="70000"/>
              <a:buFont typeface="Wingdings" pitchFamily="2" charset="2"/>
              <a:buChar char="§"/>
            </a:pPr>
            <a:r>
              <a:rPr lang="en-US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Timeliness</a:t>
            </a:r>
          </a:p>
          <a:p>
            <a:pPr marL="674370" lvl="1" indent="-182880">
              <a:buClr>
                <a:srgbClr val="002060"/>
              </a:buClr>
              <a:buSzPct val="70000"/>
              <a:buFont typeface="Wingdings" pitchFamily="2" charset="2"/>
              <a:buChar char="§"/>
            </a:pPr>
            <a:r>
              <a:rPr lang="en-US" sz="3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Cost-effectiveness</a:t>
            </a:r>
          </a:p>
          <a:p>
            <a:pPr marL="469900" indent="-469900">
              <a:spcBef>
                <a:spcPts val="0"/>
              </a:spcBef>
              <a:buClr>
                <a:srgbClr val="0B5394"/>
              </a:buClr>
              <a:buSzPct val="70000"/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2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endParaRPr lang="en-US" sz="2200" b="1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Information for Decision Making</a:t>
            </a:r>
            <a:endParaRPr lang="en-US" sz="36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Different Types of Information Systems</a:t>
            </a:r>
            <a:endParaRPr lang="en-US" sz="36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629406"/>
              </p:ext>
            </p:extLst>
          </p:nvPr>
        </p:nvGraphicFramePr>
        <p:xfrm>
          <a:off x="152400" y="1066800"/>
          <a:ext cx="8763000" cy="426720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553322"/>
                <a:gridCol w="4209678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Level of Systems</a:t>
                      </a:r>
                      <a:endParaRPr lang="en-US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Types of Systems</a:t>
                      </a:r>
                      <a:endParaRPr lang="en-US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00113">
                <a:tc>
                  <a:txBody>
                    <a:bodyPr/>
                    <a:lstStyle/>
                    <a:p>
                      <a:r>
                        <a:rPr lang="en-US" sz="1600" b="1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Operational Level Systems</a:t>
                      </a:r>
                    </a:p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Monitor the elementary activities and transactions of an organisation.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Transactions Processing systems (TPS)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00113">
                <a:tc>
                  <a:txBody>
                    <a:bodyPr/>
                    <a:lstStyle/>
                    <a:p>
                      <a:r>
                        <a:rPr lang="en-US" sz="1600" b="1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Knowledge Level Systems</a:t>
                      </a:r>
                    </a:p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Support knowledge and data workers in an organisation. 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Office systems (OS)</a:t>
                      </a:r>
                    </a:p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Knowledge Work Systems (KWS)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166813">
                <a:tc>
                  <a:txBody>
                    <a:bodyPr/>
                    <a:lstStyle/>
                    <a:p>
                      <a:r>
                        <a:rPr lang="en-US" sz="1600" b="1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Management Level Systems</a:t>
                      </a:r>
                    </a:p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Support the monitoring, controlling, decision making and administrative activities of middle managers.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Decision Support Systems (DSS)</a:t>
                      </a:r>
                    </a:p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Management Information Systems  (MIS)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00113">
                <a:tc>
                  <a:txBody>
                    <a:bodyPr/>
                    <a:lstStyle/>
                    <a:p>
                      <a:r>
                        <a:rPr lang="en-US" sz="1600" b="1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Strategic Level Systems</a:t>
                      </a:r>
                    </a:p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Support the long-term planning activities of senior management. 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Executive Support Systems (ESS)</a:t>
                      </a:r>
                      <a:endParaRPr lang="en-US" sz="16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48200" y="5486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Laudon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and Laudon,2004) </a:t>
            </a:r>
            <a:endParaRPr lang="en-US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Selecting a decision making model depends on :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endParaRPr lang="en-US" sz="2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69900" indent="-182880">
              <a:buClr>
                <a:srgbClr val="002060"/>
              </a:buClr>
              <a:buSzPct val="95000"/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manager’s personal preference.</a:t>
            </a:r>
          </a:p>
          <a:p>
            <a:pPr marL="469900" indent="-182880">
              <a:buClr>
                <a:srgbClr val="002060"/>
              </a:buClr>
              <a:buSzPct val="95000"/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Whether the decision is programmed or non-programmed.</a:t>
            </a:r>
          </a:p>
          <a:p>
            <a:pPr marL="469900" indent="-182880">
              <a:buClr>
                <a:srgbClr val="002060"/>
              </a:buClr>
              <a:buSzPct val="95000"/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extent to which the decision is characterized by  certainty, risk and uncertainty .</a:t>
            </a:r>
          </a:p>
          <a:p>
            <a:pPr marL="469900" indent="-469900">
              <a:buClr>
                <a:srgbClr val="0B5394"/>
              </a:buClr>
              <a:buSzPct val="70000"/>
              <a:buNone/>
            </a:pPr>
            <a:endParaRPr lang="en-US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Models</a:t>
            </a:r>
            <a:endParaRPr lang="en-US" sz="38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5720" y="1448118"/>
            <a:ext cx="8686800" cy="4525963"/>
          </a:xfrm>
        </p:spPr>
        <p:txBody>
          <a:bodyPr>
            <a:normAutofit/>
          </a:bodyPr>
          <a:lstStyle/>
          <a:p>
            <a:pPr marL="469900" indent="-469900">
              <a:buClr>
                <a:srgbClr val="0B5394"/>
              </a:buClr>
              <a:buSzPct val="70000"/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Classical Model</a:t>
            </a:r>
          </a:p>
          <a:p>
            <a:pPr marL="112713" indent="-112713" algn="just">
              <a:buClr>
                <a:srgbClr val="0B5394"/>
              </a:buClr>
              <a:buSzPct val="70000"/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The classical model of decision making is based on rational economics assumptions and managerial beliefs about what ideal decision making should be.</a:t>
            </a:r>
          </a:p>
          <a:p>
            <a:pPr marL="112713" indent="-112713" algn="just">
              <a:buClr>
                <a:srgbClr val="0B5394"/>
              </a:buClr>
              <a:buSzPct val="70000"/>
              <a:buNone/>
            </a:pPr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12713" indent="-112713" algn="just">
              <a:buClr>
                <a:srgbClr val="0B5394"/>
              </a:buClr>
              <a:buSzPct val="70000"/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Decision maker strives for condition of certainty – gathers complete information, decision maker is rational, criteria for evaluating alternatives are known and use logic. </a:t>
            </a:r>
            <a:endParaRPr lang="en-US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Models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900" indent="-469900">
              <a:buClr>
                <a:srgbClr val="0B5394"/>
              </a:buClr>
              <a:buSzPct val="70000"/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10" name="Picture 9" descr="C06_Ex6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219200" y="792178"/>
            <a:ext cx="6363830" cy="644682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553200" y="62484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(Daft,2012)</a:t>
            </a:r>
            <a:endParaRPr lang="en-US" sz="20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10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Process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4983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Administrative Model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How managers actually make decisions in situations characterized by non-programmed decisions, risk and </a:t>
            </a:r>
            <a:r>
              <a:rPr lang="en-US" sz="2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uncertainity</a:t>
            </a: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Two concepts are instrumental in shaping the administrative model.</a:t>
            </a:r>
          </a:p>
          <a:p>
            <a:pPr marL="927100" lvl="2" indent="-457200" algn="just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Bounded Rationality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People have limits or boundaries on how rational they can be. These limitations can be Informational, Computation, Psychological and Cognitive limitations.</a:t>
            </a:r>
          </a:p>
          <a:p>
            <a:pPr marL="927100" lvl="2" indent="-45720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Satisficing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Decision makers choose the first solution alternative that satisfies minimal decision criteria.</a:t>
            </a:r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Making Models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1299</TotalTime>
  <Words>366</Words>
  <Application>Microsoft Office PowerPoint</Application>
  <PresentationFormat>On-screen Show (4:3)</PresentationFormat>
  <Paragraphs>97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CG Omega</vt:lpstr>
      <vt:lpstr>Times New Roman</vt:lpstr>
      <vt:lpstr>Wingdings</vt:lpstr>
      <vt:lpstr>Office Theme</vt:lpstr>
      <vt:lpstr>4. Managerial Decision Making and Problem Solving</vt:lpstr>
      <vt:lpstr>Decision and Decision Making</vt:lpstr>
      <vt:lpstr>Types of Decisions</vt:lpstr>
      <vt:lpstr>Decision Types &amp; Managerial Levels</vt:lpstr>
      <vt:lpstr>Decision Making Conditions</vt:lpstr>
      <vt:lpstr>Decision Making Conditions …</vt:lpstr>
      <vt:lpstr>Decision Making Conditions and Decisions</vt:lpstr>
      <vt:lpstr>Information for Decision Making</vt:lpstr>
      <vt:lpstr> Different Types of Information Systems</vt:lpstr>
      <vt:lpstr>Decision Making Models</vt:lpstr>
      <vt:lpstr>Decision Making Models</vt:lpstr>
      <vt:lpstr>PowerPoint Presentation</vt:lpstr>
      <vt:lpstr>Decision Making Models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Motivating People</dc:title>
  <dc:creator>L.M.R.S. Kumari</dc:creator>
  <cp:lastModifiedBy>HP</cp:lastModifiedBy>
  <cp:revision>160</cp:revision>
  <dcterms:created xsi:type="dcterms:W3CDTF">2013-01-20T12:40:58Z</dcterms:created>
  <dcterms:modified xsi:type="dcterms:W3CDTF">2021-06-13T09:52:05Z</dcterms:modified>
</cp:coreProperties>
</file>