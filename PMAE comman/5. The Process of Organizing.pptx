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37"/>
  </p:notesMasterIdLst>
  <p:handoutMasterIdLst>
    <p:handoutMasterId r:id="rId38"/>
  </p:handoutMasterIdLst>
  <p:sldIdLst>
    <p:sldId id="356" r:id="rId2"/>
    <p:sldId id="277" r:id="rId3"/>
    <p:sldId id="399" r:id="rId4"/>
    <p:sldId id="308" r:id="rId5"/>
    <p:sldId id="307" r:id="rId6"/>
    <p:sldId id="309" r:id="rId7"/>
    <p:sldId id="310" r:id="rId8"/>
    <p:sldId id="311" r:id="rId9"/>
    <p:sldId id="314" r:id="rId10"/>
    <p:sldId id="316" r:id="rId11"/>
    <p:sldId id="341" r:id="rId12"/>
    <p:sldId id="315" r:id="rId13"/>
    <p:sldId id="317" r:id="rId14"/>
    <p:sldId id="321" r:id="rId15"/>
    <p:sldId id="324" r:id="rId16"/>
    <p:sldId id="402" r:id="rId17"/>
    <p:sldId id="322" r:id="rId18"/>
    <p:sldId id="403" r:id="rId19"/>
    <p:sldId id="323" r:id="rId20"/>
    <p:sldId id="327" r:id="rId21"/>
    <p:sldId id="328" r:id="rId22"/>
    <p:sldId id="329" r:id="rId23"/>
    <p:sldId id="331" r:id="rId24"/>
    <p:sldId id="332" r:id="rId25"/>
    <p:sldId id="333" r:id="rId26"/>
    <p:sldId id="357" r:id="rId27"/>
    <p:sldId id="334" r:id="rId28"/>
    <p:sldId id="335" r:id="rId29"/>
    <p:sldId id="338" r:id="rId30"/>
    <p:sldId id="336" r:id="rId31"/>
    <p:sldId id="339" r:id="rId32"/>
    <p:sldId id="342" r:id="rId33"/>
    <p:sldId id="345" r:id="rId34"/>
    <p:sldId id="348" r:id="rId35"/>
    <p:sldId id="351" r:id="rId36"/>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a:srgbClr val="FFCC66"/>
    <a:srgbClr val="FFFF99"/>
    <a:srgbClr val="FF00FF"/>
    <a:srgbClr val="35BBF7"/>
    <a:srgbClr val="800000"/>
    <a:srgbClr val="245F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8" autoAdjust="0"/>
    <p:restoredTop sz="95699" autoAdjust="0"/>
  </p:normalViewPr>
  <p:slideViewPr>
    <p:cSldViewPr>
      <p:cViewPr varScale="1">
        <p:scale>
          <a:sx n="70" d="100"/>
          <a:sy n="70" d="100"/>
        </p:scale>
        <p:origin x="1398" y="72"/>
      </p:cViewPr>
      <p:guideLst>
        <p:guide orient="horz" pos="2160"/>
        <p:guide pos="2880"/>
      </p:guideLst>
    </p:cSldViewPr>
  </p:slideViewPr>
  <p:notesTextViewPr>
    <p:cViewPr>
      <p:scale>
        <a:sx n="100" d="100"/>
        <a:sy n="100" d="100"/>
      </p:scale>
      <p:origin x="0" y="0"/>
    </p:cViewPr>
  </p:notesTextViewPr>
  <p:sorterViewPr>
    <p:cViewPr>
      <p:scale>
        <a:sx n="76" d="100"/>
        <a:sy n="76" d="100"/>
      </p:scale>
      <p:origin x="0" y="82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667A753E-B96E-414F-B2DA-F4862188ECA9}" type="datetimeFigureOut">
              <a:rPr lang="en-US"/>
              <a:pPr>
                <a:defRPr/>
              </a:pPr>
              <a:t>7/2/2021</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46D31754-0DCD-412E-AFCD-BBD3644C70F6}" type="slidenum">
              <a:rPr lang="en-US"/>
              <a:pPr>
                <a:defRPr/>
              </a:pPr>
              <a:t>‹#›</a:t>
            </a:fld>
            <a:endParaRPr lang="en-US"/>
          </a:p>
        </p:txBody>
      </p:sp>
    </p:spTree>
    <p:extLst>
      <p:ext uri="{BB962C8B-B14F-4D97-AF65-F5344CB8AC3E}">
        <p14:creationId xmlns:p14="http://schemas.microsoft.com/office/powerpoint/2010/main" val="3250670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cs typeface="+mn-cs"/>
              </a:defRPr>
            </a:lvl1pPr>
          </a:lstStyle>
          <a:p>
            <a:pPr>
              <a:defRPr/>
            </a:pPr>
            <a:endParaRPr lang="en-GB"/>
          </a:p>
        </p:txBody>
      </p:sp>
      <p:sp>
        <p:nvSpPr>
          <p:cNvPr id="3" name="Date Placeholder 2"/>
          <p:cNvSpPr>
            <a:spLocks noGrp="1"/>
          </p:cNvSpPr>
          <p:nvPr>
            <p:ph type="dt" idx="1"/>
          </p:nvPr>
        </p:nvSpPr>
        <p:spPr>
          <a:xfrm>
            <a:off x="3970338" y="0"/>
            <a:ext cx="3038475" cy="465138"/>
          </a:xfrm>
          <a:prstGeom prst="rect">
            <a:avLst/>
          </a:prstGeom>
        </p:spPr>
        <p:txBody>
          <a:bodyPr vert="horz" lIns="93177" tIns="46589" rIns="93177" bIns="46589" rtlCol="0"/>
          <a:lstStyle>
            <a:lvl1pPr algn="r" fontAlgn="auto">
              <a:spcBef>
                <a:spcPts val="0"/>
              </a:spcBef>
              <a:spcAft>
                <a:spcPts val="0"/>
              </a:spcAft>
              <a:defRPr sz="1200">
                <a:latin typeface="+mn-lt"/>
                <a:cs typeface="+mn-cs"/>
              </a:defRPr>
            </a:lvl1pPr>
          </a:lstStyle>
          <a:p>
            <a:pPr>
              <a:defRPr/>
            </a:pPr>
            <a:fld id="{111CAD56-A55F-4235-929E-E37C4E0B9197}" type="datetimeFigureOut">
              <a:rPr lang="en-US"/>
              <a:pPr>
                <a:defRPr/>
              </a:pPr>
              <a:t>7/2/2021</a:t>
            </a:fld>
            <a:endParaRPr lang="en-GB"/>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GB"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GB" noProof="0"/>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cs typeface="+mn-cs"/>
              </a:defRPr>
            </a:lvl1pPr>
          </a:lstStyle>
          <a:p>
            <a:pPr>
              <a:defRPr/>
            </a:pPr>
            <a:endParaRPr lang="en-GB"/>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3177" tIns="46589" rIns="93177" bIns="46589" rtlCol="0" anchor="b"/>
          <a:lstStyle>
            <a:lvl1pPr algn="r" fontAlgn="auto">
              <a:spcBef>
                <a:spcPts val="0"/>
              </a:spcBef>
              <a:spcAft>
                <a:spcPts val="0"/>
              </a:spcAft>
              <a:defRPr sz="1200">
                <a:latin typeface="+mn-lt"/>
                <a:cs typeface="+mn-cs"/>
              </a:defRPr>
            </a:lvl1pPr>
          </a:lstStyle>
          <a:p>
            <a:pPr>
              <a:defRPr/>
            </a:pPr>
            <a:fld id="{37A87381-C8E7-498B-BA9B-381CE63A904B}" type="slidenum">
              <a:rPr lang="en-GB"/>
              <a:pPr>
                <a:defRPr/>
              </a:pPr>
              <a:t>‹#›</a:t>
            </a:fld>
            <a:endParaRPr lang="en-GB"/>
          </a:p>
        </p:txBody>
      </p:sp>
    </p:spTree>
    <p:extLst>
      <p:ext uri="{BB962C8B-B14F-4D97-AF65-F5344CB8AC3E}">
        <p14:creationId xmlns:p14="http://schemas.microsoft.com/office/powerpoint/2010/main" val="33305479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0B2AE8F4-5950-4F0E-B651-9E880C345263}" type="slidenum">
              <a:rPr lang="en-GB" smtClean="0"/>
              <a:pPr>
                <a:defRPr/>
              </a:pPr>
              <a:t>3</a:t>
            </a:fld>
            <a:endParaRPr lang="en-GB"/>
          </a:p>
        </p:txBody>
      </p:sp>
    </p:spTree>
    <p:extLst>
      <p:ext uri="{BB962C8B-B14F-4D97-AF65-F5344CB8AC3E}">
        <p14:creationId xmlns:p14="http://schemas.microsoft.com/office/powerpoint/2010/main" val="318437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81D5BFEF-5BE3-489E-8366-D4164F270D29}" type="slidenum">
              <a:rPr lang="en-GB" smtClean="0"/>
              <a:pPr>
                <a:defRPr/>
              </a:pPr>
              <a:t>21</a:t>
            </a:fld>
            <a:endParaRPr lang="en-GB"/>
          </a:p>
        </p:txBody>
      </p:sp>
    </p:spTree>
    <p:extLst>
      <p:ext uri="{BB962C8B-B14F-4D97-AF65-F5344CB8AC3E}">
        <p14:creationId xmlns:p14="http://schemas.microsoft.com/office/powerpoint/2010/main" val="3597372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A7B56853-9C52-48D6-AF9F-A6893824D5A2}" type="slidenum">
              <a:rPr lang="en-GB" smtClean="0"/>
              <a:pPr>
                <a:defRPr/>
              </a:pPr>
              <a:t>22</a:t>
            </a:fld>
            <a:endParaRPr lang="en-GB"/>
          </a:p>
        </p:txBody>
      </p:sp>
    </p:spTree>
    <p:extLst>
      <p:ext uri="{BB962C8B-B14F-4D97-AF65-F5344CB8AC3E}">
        <p14:creationId xmlns:p14="http://schemas.microsoft.com/office/powerpoint/2010/main" val="122366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E4A0FF51-3462-41F1-81A8-25329200BECF}" type="slidenum">
              <a:rPr lang="en-GB" smtClean="0"/>
              <a:pPr>
                <a:defRPr/>
              </a:pPr>
              <a:t>23</a:t>
            </a:fld>
            <a:endParaRPr lang="en-GB"/>
          </a:p>
        </p:txBody>
      </p:sp>
    </p:spTree>
    <p:extLst>
      <p:ext uri="{BB962C8B-B14F-4D97-AF65-F5344CB8AC3E}">
        <p14:creationId xmlns:p14="http://schemas.microsoft.com/office/powerpoint/2010/main" val="3141709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4" name="Slide Number Placeholder 3"/>
          <p:cNvSpPr>
            <a:spLocks noGrp="1"/>
          </p:cNvSpPr>
          <p:nvPr>
            <p:ph type="sldNum" sz="quarter" idx="5"/>
          </p:nvPr>
        </p:nvSpPr>
        <p:spPr/>
        <p:txBody>
          <a:bodyPr/>
          <a:lstStyle/>
          <a:p>
            <a:pPr>
              <a:defRPr/>
            </a:pPr>
            <a:fld id="{DBA17E62-309F-44CB-885D-1F1AEE63937F}" type="slidenum">
              <a:rPr lang="en-GB" smtClean="0"/>
              <a:pPr>
                <a:defRPr/>
              </a:pPr>
              <a:t>24</a:t>
            </a:fld>
            <a:endParaRPr lang="en-GB"/>
          </a:p>
        </p:txBody>
      </p:sp>
    </p:spTree>
    <p:extLst>
      <p:ext uri="{BB962C8B-B14F-4D97-AF65-F5344CB8AC3E}">
        <p14:creationId xmlns:p14="http://schemas.microsoft.com/office/powerpoint/2010/main" val="1401834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45720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72876FA3-4094-473B-B348-CAA2C7D2C5E8}" type="datetime1">
              <a:rPr lang="en-US"/>
              <a:pPr>
                <a:defRPr/>
              </a:pPr>
              <a:t>7/2/2021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BUS1320 Introduction to Management Department of Business Administration</a:t>
            </a:r>
          </a:p>
        </p:txBody>
      </p:sp>
      <p:sp>
        <p:nvSpPr>
          <p:cNvPr id="6" name="Slide Number Placeholder 5"/>
          <p:cNvSpPr>
            <a:spLocks noGrp="1"/>
          </p:cNvSpPr>
          <p:nvPr>
            <p:ph type="sldNum" sz="quarter" idx="12"/>
          </p:nvPr>
        </p:nvSpPr>
        <p:spPr/>
        <p:txBody>
          <a:bodyPr/>
          <a:lstStyle>
            <a:lvl1pPr>
              <a:defRPr/>
            </a:lvl1pPr>
          </a:lstStyle>
          <a:p>
            <a:pPr>
              <a:defRPr/>
            </a:pPr>
            <a:fld id="{39DC9F3F-618A-4319-981D-AA1EF46CC201}" type="slidenum">
              <a:rPr lang="en-US"/>
              <a:pPr>
                <a:defRPr/>
              </a:pPr>
              <a:t>‹#›</a:t>
            </a:fld>
            <a:endParaRPr lang="en-US"/>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100262"/>
            <a:ext cx="9144000" cy="2566851"/>
          </a:xfrm>
          <a:prstGeom prst="rect">
            <a:avLst/>
          </a:prstGeom>
        </p:spPr>
      </p:pic>
      <p:sp>
        <p:nvSpPr>
          <p:cNvPr id="10" name="Title 1"/>
          <p:cNvSpPr txBox="1">
            <a:spLocks/>
          </p:cNvSpPr>
          <p:nvPr userDrawn="1"/>
        </p:nvSpPr>
        <p:spPr>
          <a:xfrm>
            <a:off x="4800600" y="2130425"/>
            <a:ext cx="4038600" cy="2493826"/>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400" kern="1200" dirty="0" smtClean="0">
                <a:solidFill>
                  <a:schemeClr val="tx1"/>
                </a:solidFill>
                <a:effectLst/>
                <a:latin typeface="+mj-lt"/>
                <a:ea typeface="+mj-ea"/>
                <a:cs typeface="+mj-cs"/>
              </a:rPr>
              <a:t>Principles of Management and Applied Economics</a:t>
            </a:r>
            <a:endParaRPr lang="en-US" sz="80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8547469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6AC8D94-5B60-462A-AC2B-7741C43B6B27}" type="datetime1">
              <a:rPr lang="en-US"/>
              <a:pPr>
                <a:defRPr/>
              </a:pPr>
              <a:t>7/2/2021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BUS1320 Introduction to Management Department of Business Administration</a:t>
            </a:r>
          </a:p>
        </p:txBody>
      </p:sp>
      <p:sp>
        <p:nvSpPr>
          <p:cNvPr id="6" name="Slide Number Placeholder 5"/>
          <p:cNvSpPr>
            <a:spLocks noGrp="1"/>
          </p:cNvSpPr>
          <p:nvPr>
            <p:ph type="sldNum" sz="quarter" idx="12"/>
          </p:nvPr>
        </p:nvSpPr>
        <p:spPr/>
        <p:txBody>
          <a:bodyPr/>
          <a:lstStyle>
            <a:lvl1pPr>
              <a:defRPr/>
            </a:lvl1pPr>
          </a:lstStyle>
          <a:p>
            <a:pPr>
              <a:defRPr/>
            </a:pPr>
            <a:fld id="{423DB583-BDED-4C92-A487-D2F4DFE6BD73}" type="slidenum">
              <a:rPr lang="en-US"/>
              <a:pPr>
                <a:defRPr/>
              </a:pPr>
              <a:t>‹#›</a:t>
            </a:fld>
            <a:endParaRPr lang="en-US"/>
          </a:p>
        </p:txBody>
      </p:sp>
    </p:spTree>
    <p:extLst>
      <p:ext uri="{BB962C8B-B14F-4D97-AF65-F5344CB8AC3E}">
        <p14:creationId xmlns:p14="http://schemas.microsoft.com/office/powerpoint/2010/main" val="326713045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4350DDA-A4C8-4DBA-B4EC-AFE681D47E4D}" type="datetime1">
              <a:rPr lang="en-US"/>
              <a:pPr>
                <a:defRPr/>
              </a:pPr>
              <a:t>7/2/2021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BUS1320 Introduction to Management Department of Business Administration</a:t>
            </a:r>
          </a:p>
        </p:txBody>
      </p:sp>
      <p:sp>
        <p:nvSpPr>
          <p:cNvPr id="6" name="Slide Number Placeholder 5"/>
          <p:cNvSpPr>
            <a:spLocks noGrp="1"/>
          </p:cNvSpPr>
          <p:nvPr>
            <p:ph type="sldNum" sz="quarter" idx="12"/>
          </p:nvPr>
        </p:nvSpPr>
        <p:spPr/>
        <p:txBody>
          <a:bodyPr/>
          <a:lstStyle>
            <a:lvl1pPr>
              <a:defRPr/>
            </a:lvl1pPr>
          </a:lstStyle>
          <a:p>
            <a:pPr>
              <a:defRPr/>
            </a:pPr>
            <a:fld id="{B4AAB218-A5BB-4EFF-9C00-7537507B5BE5}" type="slidenum">
              <a:rPr lang="en-US"/>
              <a:pPr>
                <a:defRPr/>
              </a:pPr>
              <a:t>‹#›</a:t>
            </a:fld>
            <a:endParaRPr lang="en-US"/>
          </a:p>
        </p:txBody>
      </p:sp>
    </p:spTree>
    <p:extLst>
      <p:ext uri="{BB962C8B-B14F-4D97-AF65-F5344CB8AC3E}">
        <p14:creationId xmlns:p14="http://schemas.microsoft.com/office/powerpoint/2010/main" val="3979229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7118168A-8770-4F03-A8EB-4E3C389B16FC}" type="datetime1">
              <a:rPr lang="en-US"/>
              <a:pPr>
                <a:defRPr/>
              </a:pPr>
              <a:t>7/2/2021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BUS1320 Introduction to Management Department of Business Administration</a:t>
            </a:r>
          </a:p>
        </p:txBody>
      </p:sp>
      <p:sp>
        <p:nvSpPr>
          <p:cNvPr id="7" name="Slide Number Placeholder 5"/>
          <p:cNvSpPr>
            <a:spLocks noGrp="1"/>
          </p:cNvSpPr>
          <p:nvPr>
            <p:ph type="sldNum" sz="quarter" idx="12"/>
          </p:nvPr>
        </p:nvSpPr>
        <p:spPr/>
        <p:txBody>
          <a:bodyPr/>
          <a:lstStyle>
            <a:lvl1pPr>
              <a:defRPr/>
            </a:lvl1pPr>
          </a:lstStyle>
          <a:p>
            <a:pPr>
              <a:defRPr/>
            </a:pPr>
            <a:fld id="{2BA51231-4AF2-427B-ACF0-ADD2D536416F}" type="slidenum">
              <a:rPr lang="en-US"/>
              <a:pPr>
                <a:defRPr/>
              </a:pPr>
              <a:t>‹#›</a:t>
            </a:fld>
            <a:endParaRPr lang="en-US"/>
          </a:p>
        </p:txBody>
      </p:sp>
    </p:spTree>
    <p:extLst>
      <p:ext uri="{BB962C8B-B14F-4D97-AF65-F5344CB8AC3E}">
        <p14:creationId xmlns:p14="http://schemas.microsoft.com/office/powerpoint/2010/main" val="3006055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C816139-63E1-4EF6-B0F9-FB4FD0DD9273}" type="datetime1">
              <a:rPr lang="en-US"/>
              <a:pPr>
                <a:defRPr/>
              </a:pPr>
              <a:t>7/2/2021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BUS1320 Introduction to Management Department of Business Administration</a:t>
            </a:r>
          </a:p>
        </p:txBody>
      </p:sp>
      <p:sp>
        <p:nvSpPr>
          <p:cNvPr id="9" name="Slide Number Placeholder 5"/>
          <p:cNvSpPr>
            <a:spLocks noGrp="1"/>
          </p:cNvSpPr>
          <p:nvPr>
            <p:ph type="sldNum" sz="quarter" idx="12"/>
          </p:nvPr>
        </p:nvSpPr>
        <p:spPr/>
        <p:txBody>
          <a:bodyPr/>
          <a:lstStyle>
            <a:lvl1pPr>
              <a:defRPr/>
            </a:lvl1pPr>
          </a:lstStyle>
          <a:p>
            <a:pPr>
              <a:defRPr/>
            </a:pPr>
            <a:fld id="{2393E35F-9912-453A-815B-12A473A3C5A6}" type="slidenum">
              <a:rPr lang="en-US"/>
              <a:pPr>
                <a:defRPr/>
              </a:pPr>
              <a:t>‹#›</a:t>
            </a:fld>
            <a:endParaRPr lang="en-US"/>
          </a:p>
        </p:txBody>
      </p:sp>
    </p:spTree>
    <p:extLst>
      <p:ext uri="{BB962C8B-B14F-4D97-AF65-F5344CB8AC3E}">
        <p14:creationId xmlns:p14="http://schemas.microsoft.com/office/powerpoint/2010/main" val="551669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F83479BE-17FA-40AE-B383-F7BADFB953B4}" type="datetime1">
              <a:rPr lang="en-US"/>
              <a:pPr>
                <a:defRPr/>
              </a:pPr>
              <a:t>7/2/2021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BUS1320 Introduction to Management Department of Business Administration</a:t>
            </a:r>
          </a:p>
        </p:txBody>
      </p:sp>
      <p:sp>
        <p:nvSpPr>
          <p:cNvPr id="5" name="Slide Number Placeholder 5"/>
          <p:cNvSpPr>
            <a:spLocks noGrp="1"/>
          </p:cNvSpPr>
          <p:nvPr>
            <p:ph type="sldNum" sz="quarter" idx="12"/>
          </p:nvPr>
        </p:nvSpPr>
        <p:spPr/>
        <p:txBody>
          <a:bodyPr/>
          <a:lstStyle>
            <a:lvl1pPr>
              <a:defRPr/>
            </a:lvl1pPr>
          </a:lstStyle>
          <a:p>
            <a:pPr>
              <a:defRPr/>
            </a:pPr>
            <a:fld id="{99E0884D-8E70-4E30-89B9-CEC71543A7DF}" type="slidenum">
              <a:rPr lang="en-US"/>
              <a:pPr>
                <a:defRPr/>
              </a:pPr>
              <a:t>‹#›</a:t>
            </a:fld>
            <a:endParaRPr lang="en-US"/>
          </a:p>
        </p:txBody>
      </p:sp>
    </p:spTree>
    <p:extLst>
      <p:ext uri="{BB962C8B-B14F-4D97-AF65-F5344CB8AC3E}">
        <p14:creationId xmlns:p14="http://schemas.microsoft.com/office/powerpoint/2010/main" val="912583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FFF25C7-48B6-4113-9355-FDD954DE2881}" type="datetime1">
              <a:rPr lang="en-US"/>
              <a:pPr>
                <a:defRPr/>
              </a:pPr>
              <a:t>7/2/2021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BUS1320 Introduction to Management Department of Business Administration</a:t>
            </a:r>
          </a:p>
        </p:txBody>
      </p:sp>
      <p:sp>
        <p:nvSpPr>
          <p:cNvPr id="4" name="Slide Number Placeholder 5"/>
          <p:cNvSpPr>
            <a:spLocks noGrp="1"/>
          </p:cNvSpPr>
          <p:nvPr>
            <p:ph type="sldNum" sz="quarter" idx="12"/>
          </p:nvPr>
        </p:nvSpPr>
        <p:spPr/>
        <p:txBody>
          <a:bodyPr/>
          <a:lstStyle>
            <a:lvl1pPr>
              <a:defRPr/>
            </a:lvl1pPr>
          </a:lstStyle>
          <a:p>
            <a:pPr>
              <a:defRPr/>
            </a:pPr>
            <a:fld id="{05A56710-100F-451D-9BCF-E4E0D04ABC80}" type="slidenum">
              <a:rPr lang="en-US"/>
              <a:pPr>
                <a:defRPr/>
              </a:pPr>
              <a:t>‹#›</a:t>
            </a:fld>
            <a:endParaRPr lang="en-US"/>
          </a:p>
        </p:txBody>
      </p:sp>
    </p:spTree>
    <p:extLst>
      <p:ext uri="{BB962C8B-B14F-4D97-AF65-F5344CB8AC3E}">
        <p14:creationId xmlns:p14="http://schemas.microsoft.com/office/powerpoint/2010/main" val="881774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ED938F1-7C5C-4E78-891D-5383778DD1A7}" type="datetime1">
              <a:rPr lang="en-US"/>
              <a:pPr>
                <a:defRPr/>
              </a:pPr>
              <a:t>7/2/2021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BUS1320 Introduction to Management Department of Business Administration</a:t>
            </a:r>
          </a:p>
        </p:txBody>
      </p:sp>
      <p:sp>
        <p:nvSpPr>
          <p:cNvPr id="7" name="Slide Number Placeholder 5"/>
          <p:cNvSpPr>
            <a:spLocks noGrp="1"/>
          </p:cNvSpPr>
          <p:nvPr>
            <p:ph type="sldNum" sz="quarter" idx="12"/>
          </p:nvPr>
        </p:nvSpPr>
        <p:spPr/>
        <p:txBody>
          <a:bodyPr/>
          <a:lstStyle>
            <a:lvl1pPr>
              <a:defRPr/>
            </a:lvl1pPr>
          </a:lstStyle>
          <a:p>
            <a:pPr>
              <a:defRPr/>
            </a:pPr>
            <a:fld id="{56863BF1-158F-411D-830D-16125808B898}" type="slidenum">
              <a:rPr lang="en-US"/>
              <a:pPr>
                <a:defRPr/>
              </a:pPr>
              <a:t>‹#›</a:t>
            </a:fld>
            <a:endParaRPr lang="en-US"/>
          </a:p>
        </p:txBody>
      </p:sp>
    </p:spTree>
    <p:extLst>
      <p:ext uri="{BB962C8B-B14F-4D97-AF65-F5344CB8AC3E}">
        <p14:creationId xmlns:p14="http://schemas.microsoft.com/office/powerpoint/2010/main" val="3648589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BF04741-9487-4C8B-A9EC-2B332CDD9864}" type="datetime1">
              <a:rPr lang="en-US"/>
              <a:pPr>
                <a:defRPr/>
              </a:pPr>
              <a:t>7/2/2021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BUS1320 Introduction to Management Department of Business Administration</a:t>
            </a:r>
          </a:p>
        </p:txBody>
      </p:sp>
      <p:sp>
        <p:nvSpPr>
          <p:cNvPr id="7" name="Slide Number Placeholder 5"/>
          <p:cNvSpPr>
            <a:spLocks noGrp="1"/>
          </p:cNvSpPr>
          <p:nvPr>
            <p:ph type="sldNum" sz="quarter" idx="12"/>
          </p:nvPr>
        </p:nvSpPr>
        <p:spPr/>
        <p:txBody>
          <a:bodyPr/>
          <a:lstStyle>
            <a:lvl1pPr>
              <a:defRPr/>
            </a:lvl1pPr>
          </a:lstStyle>
          <a:p>
            <a:pPr>
              <a:defRPr/>
            </a:pPr>
            <a:fld id="{F2F22C8B-15FB-4E8A-91F5-4BBCDC0F9175}" type="slidenum">
              <a:rPr lang="en-US"/>
              <a:pPr>
                <a:defRPr/>
              </a:pPr>
              <a:t>‹#›</a:t>
            </a:fld>
            <a:endParaRPr lang="en-US"/>
          </a:p>
        </p:txBody>
      </p:sp>
    </p:spTree>
    <p:extLst>
      <p:ext uri="{BB962C8B-B14F-4D97-AF65-F5344CB8AC3E}">
        <p14:creationId xmlns:p14="http://schemas.microsoft.com/office/powerpoint/2010/main" val="3641053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0AC0A2D-F0F8-47D7-BC55-CAE41AD6FAF8}" type="datetime1">
              <a:rPr lang="en-US"/>
              <a:pPr>
                <a:defRPr/>
              </a:pPr>
              <a:t>7/2/2021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BUS1320 Introduction to Management Department of Business Administration</a:t>
            </a:r>
          </a:p>
        </p:txBody>
      </p:sp>
      <p:sp>
        <p:nvSpPr>
          <p:cNvPr id="6" name="Slide Number Placeholder 5"/>
          <p:cNvSpPr>
            <a:spLocks noGrp="1"/>
          </p:cNvSpPr>
          <p:nvPr>
            <p:ph type="sldNum" sz="quarter" idx="12"/>
          </p:nvPr>
        </p:nvSpPr>
        <p:spPr/>
        <p:txBody>
          <a:bodyPr/>
          <a:lstStyle>
            <a:lvl1pPr>
              <a:defRPr/>
            </a:lvl1pPr>
          </a:lstStyle>
          <a:p>
            <a:pPr>
              <a:defRPr/>
            </a:pPr>
            <a:fld id="{C16325BA-C06B-439A-BDBD-6D27AED8040F}" type="slidenum">
              <a:rPr lang="en-US"/>
              <a:pPr>
                <a:defRPr/>
              </a:pPr>
              <a:t>‹#›</a:t>
            </a:fld>
            <a:endParaRPr lang="en-US"/>
          </a:p>
        </p:txBody>
      </p:sp>
    </p:spTree>
    <p:extLst>
      <p:ext uri="{BB962C8B-B14F-4D97-AF65-F5344CB8AC3E}">
        <p14:creationId xmlns:p14="http://schemas.microsoft.com/office/powerpoint/2010/main" val="472067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399E451-236E-4266-83E1-82CFF959DEBA}" type="datetime1">
              <a:rPr lang="en-US"/>
              <a:pPr>
                <a:defRPr/>
              </a:pPr>
              <a:t>7/2/2021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BUS1320 Introduction to Management Department of Business Administration</a:t>
            </a:r>
          </a:p>
        </p:txBody>
      </p:sp>
      <p:sp>
        <p:nvSpPr>
          <p:cNvPr id="6" name="Slide Number Placeholder 5"/>
          <p:cNvSpPr>
            <a:spLocks noGrp="1"/>
          </p:cNvSpPr>
          <p:nvPr>
            <p:ph type="sldNum" sz="quarter" idx="12"/>
          </p:nvPr>
        </p:nvSpPr>
        <p:spPr/>
        <p:txBody>
          <a:bodyPr/>
          <a:lstStyle>
            <a:lvl1pPr>
              <a:defRPr/>
            </a:lvl1pPr>
          </a:lstStyle>
          <a:p>
            <a:pPr>
              <a:defRPr/>
            </a:pPr>
            <a:fld id="{84667227-C414-4481-9450-C238FA5EC37F}" type="slidenum">
              <a:rPr lang="en-US"/>
              <a:pPr>
                <a:defRPr/>
              </a:pPr>
              <a:t>‹#›</a:t>
            </a:fld>
            <a:endParaRPr lang="en-US"/>
          </a:p>
        </p:txBody>
      </p:sp>
    </p:spTree>
    <p:extLst>
      <p:ext uri="{BB962C8B-B14F-4D97-AF65-F5344CB8AC3E}">
        <p14:creationId xmlns:p14="http://schemas.microsoft.com/office/powerpoint/2010/main" val="993862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CCA4F21E-1B25-49A7-A6D5-D5469B347BBD}" type="datetime1">
              <a:rPr lang="en-US"/>
              <a:pPr>
                <a:defRPr/>
              </a:pPr>
              <a:t>7/2/2021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US"/>
              <a:t>BUS1320 Introduction to Management Department of Business Administration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F1D2CCE0-18DE-4FAF-A902-323DB631A366}" type="slidenum">
              <a:rPr lang="en-US"/>
              <a:pPr>
                <a:defRPr/>
              </a:pPr>
              <a:t>‹#›</a:t>
            </a:fld>
            <a:endParaRPr lang="en-US"/>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par>
    </p:tnLst>
  </p:timing>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0.png"/><Relationship Id="rId4"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lang="en-GB" b="1" dirty="0" smtClean="0">
              <a:solidFill>
                <a:schemeClr val="accent2">
                  <a:lumMod val="50000"/>
                </a:schemeClr>
              </a:solidFill>
              <a:latin typeface="Times New Roman" pitchFamily="18" charset="0"/>
              <a:cs typeface="Times New Roman" pitchFamily="18" charset="0"/>
            </a:endParaRPr>
          </a:p>
          <a:p>
            <a:r>
              <a:rPr lang="en-GB" b="1" dirty="0">
                <a:solidFill>
                  <a:schemeClr val="accent2">
                    <a:lumMod val="50000"/>
                  </a:schemeClr>
                </a:solidFill>
                <a:latin typeface="Times New Roman" pitchFamily="18" charset="0"/>
                <a:cs typeface="Times New Roman" pitchFamily="18" charset="0"/>
              </a:rPr>
              <a:t>5</a:t>
            </a:r>
            <a:r>
              <a:rPr lang="en-GB" b="1" smtClean="0">
                <a:solidFill>
                  <a:schemeClr val="accent2">
                    <a:lumMod val="50000"/>
                  </a:schemeClr>
                </a:solidFill>
                <a:latin typeface="Times New Roman" pitchFamily="18" charset="0"/>
                <a:cs typeface="Times New Roman" pitchFamily="18" charset="0"/>
              </a:rPr>
              <a:t>. </a:t>
            </a:r>
            <a:r>
              <a:rPr lang="en-GB" b="1" dirty="0" smtClean="0">
                <a:solidFill>
                  <a:schemeClr val="accent2">
                    <a:lumMod val="50000"/>
                  </a:schemeClr>
                </a:solidFill>
                <a:latin typeface="Times New Roman" pitchFamily="18" charset="0"/>
                <a:cs typeface="Times New Roman" pitchFamily="18" charset="0"/>
              </a:rPr>
              <a:t>The </a:t>
            </a:r>
            <a:r>
              <a:rPr lang="en-GB" b="1" dirty="0">
                <a:solidFill>
                  <a:schemeClr val="accent2">
                    <a:lumMod val="50000"/>
                  </a:schemeClr>
                </a:solidFill>
                <a:latin typeface="Times New Roman" pitchFamily="18" charset="0"/>
                <a:cs typeface="Times New Roman" pitchFamily="18" charset="0"/>
              </a:rPr>
              <a:t>Process of Organizing</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828800"/>
            <a:ext cx="8686800" cy="4648200"/>
          </a:xfrm>
        </p:spPr>
        <p:txBody>
          <a:bodyPr rtlCol="0">
            <a:normAutofit/>
          </a:bodyPr>
          <a:lstStyle/>
          <a:p>
            <a:pPr eaLnBrk="1" hangingPunct="1">
              <a:buFont typeface="Wingdings" pitchFamily="2" charset="2"/>
              <a:buChar char="§"/>
              <a:defRPr/>
            </a:pPr>
            <a:r>
              <a:rPr lang="en-US" sz="2700" dirty="0" smtClean="0">
                <a:solidFill>
                  <a:srgbClr val="002060"/>
                </a:solidFill>
                <a:latin typeface="Times New Roman" pitchFamily="18" charset="0"/>
                <a:ea typeface="Arial Unicode MS" pitchFamily="34" charset="-128"/>
                <a:cs typeface="Times New Roman" pitchFamily="18" charset="0"/>
              </a:rPr>
              <a:t>Is the process of establishing orderly uses for all resources within the management system. </a:t>
            </a:r>
            <a:r>
              <a:rPr lang="en-US" sz="1800" b="1" i="1" dirty="0" smtClean="0">
                <a:solidFill>
                  <a:srgbClr val="002060"/>
                </a:solidFill>
                <a:latin typeface="Times New Roman" pitchFamily="18" charset="0"/>
                <a:ea typeface="Arial Unicode MS" pitchFamily="34" charset="-128"/>
                <a:cs typeface="Times New Roman" pitchFamily="18" charset="0"/>
              </a:rPr>
              <a:t>(</a:t>
            </a:r>
            <a:r>
              <a:rPr lang="en-US" sz="1800" b="1" i="1" dirty="0" err="1" smtClean="0">
                <a:solidFill>
                  <a:srgbClr val="002060"/>
                </a:solidFill>
                <a:latin typeface="Times New Roman" pitchFamily="18" charset="0"/>
                <a:ea typeface="Arial Unicode MS" pitchFamily="34" charset="-128"/>
                <a:cs typeface="Times New Roman" pitchFamily="18" charset="0"/>
              </a:rPr>
              <a:t>Certo</a:t>
            </a:r>
            <a:r>
              <a:rPr lang="en-US" sz="1800" b="1" i="1" dirty="0" smtClean="0">
                <a:solidFill>
                  <a:srgbClr val="002060"/>
                </a:solidFill>
                <a:latin typeface="Times New Roman" pitchFamily="18" charset="0"/>
                <a:ea typeface="Arial Unicode MS" pitchFamily="34" charset="-128"/>
                <a:cs typeface="Times New Roman" pitchFamily="18" charset="0"/>
              </a:rPr>
              <a:t> and Certo,2010)</a:t>
            </a:r>
          </a:p>
          <a:p>
            <a:pPr eaLnBrk="1" hangingPunct="1">
              <a:buFont typeface="Arial" pitchFamily="34" charset="0"/>
              <a:buNone/>
              <a:defRPr/>
            </a:pPr>
            <a:r>
              <a:rPr lang="en-US" sz="2800" dirty="0" smtClean="0">
                <a:solidFill>
                  <a:srgbClr val="002060"/>
                </a:solidFill>
                <a:latin typeface="Times New Roman" pitchFamily="18" charset="0"/>
                <a:ea typeface="Arial Unicode MS" pitchFamily="34" charset="-128"/>
                <a:cs typeface="Times New Roman" pitchFamily="18" charset="0"/>
              </a:rPr>
              <a:t>  </a:t>
            </a:r>
          </a:p>
          <a:p>
            <a:pPr eaLnBrk="1" hangingPunct="1">
              <a:buFont typeface="Wingdings" pitchFamily="2" charset="2"/>
              <a:buChar char="§"/>
              <a:defRPr/>
            </a:pPr>
            <a:r>
              <a:rPr lang="en-US" sz="2700" dirty="0" smtClean="0">
                <a:solidFill>
                  <a:srgbClr val="002060"/>
                </a:solidFill>
                <a:latin typeface="Times New Roman" pitchFamily="18" charset="0"/>
                <a:ea typeface="Arial Unicode MS" pitchFamily="34" charset="-128"/>
                <a:cs typeface="Times New Roman" pitchFamily="18" charset="0"/>
              </a:rPr>
              <a:t>The deployment of </a:t>
            </a:r>
            <a:r>
              <a:rPr lang="en-US" sz="2700" dirty="0" err="1" smtClean="0">
                <a:solidFill>
                  <a:srgbClr val="002060"/>
                </a:solidFill>
                <a:latin typeface="Times New Roman" pitchFamily="18" charset="0"/>
                <a:ea typeface="Arial Unicode MS" pitchFamily="34" charset="-128"/>
                <a:cs typeface="Times New Roman" pitchFamily="18" charset="0"/>
              </a:rPr>
              <a:t>organisational</a:t>
            </a:r>
            <a:r>
              <a:rPr lang="en-US" sz="2700" dirty="0" smtClean="0">
                <a:solidFill>
                  <a:srgbClr val="002060"/>
                </a:solidFill>
                <a:latin typeface="Times New Roman" pitchFamily="18" charset="0"/>
                <a:ea typeface="Arial Unicode MS" pitchFamily="34" charset="-128"/>
                <a:cs typeface="Times New Roman" pitchFamily="18" charset="0"/>
              </a:rPr>
              <a:t> resources to achieve strategic goals. </a:t>
            </a:r>
            <a:r>
              <a:rPr lang="en-US" sz="1800" b="1" i="1" dirty="0" smtClean="0">
                <a:solidFill>
                  <a:srgbClr val="002060"/>
                </a:solidFill>
                <a:latin typeface="Times New Roman" pitchFamily="18" charset="0"/>
                <a:ea typeface="Arial Unicode MS" pitchFamily="34" charset="-128"/>
                <a:cs typeface="Times New Roman" pitchFamily="18" charset="0"/>
              </a:rPr>
              <a:t>(Daft, 2012) </a:t>
            </a:r>
          </a:p>
          <a:p>
            <a:pPr eaLnBrk="1" hangingPunct="1">
              <a:buFont typeface="Wingdings" pitchFamily="2" charset="2"/>
              <a:buChar char="§"/>
              <a:defRPr/>
            </a:pPr>
            <a:endParaRPr lang="en-US" sz="2800" dirty="0" smtClean="0">
              <a:solidFill>
                <a:srgbClr val="002060"/>
              </a:solidFill>
              <a:latin typeface="Times New Roman" pitchFamily="18" charset="0"/>
              <a:ea typeface="Arial Unicode MS" pitchFamily="34" charset="-128"/>
              <a:cs typeface="Times New Roman" pitchFamily="18" charset="0"/>
            </a:endParaRPr>
          </a:p>
          <a:p>
            <a:pPr eaLnBrk="1" hangingPunct="1">
              <a:buFont typeface="Wingdings" pitchFamily="2" charset="2"/>
              <a:buChar char="§"/>
              <a:defRPr/>
            </a:pPr>
            <a:r>
              <a:rPr lang="en-US" sz="2700" dirty="0" smtClean="0">
                <a:solidFill>
                  <a:srgbClr val="002060"/>
                </a:solidFill>
                <a:latin typeface="Times New Roman" pitchFamily="18" charset="0"/>
                <a:ea typeface="Arial Unicode MS" pitchFamily="34" charset="-128"/>
                <a:cs typeface="Times New Roman" pitchFamily="18" charset="0"/>
              </a:rPr>
              <a:t>Is the process of deciding how best to group </a:t>
            </a:r>
            <a:r>
              <a:rPr lang="en-US" sz="2700" dirty="0" err="1" smtClean="0">
                <a:solidFill>
                  <a:srgbClr val="002060"/>
                </a:solidFill>
                <a:latin typeface="Times New Roman" pitchFamily="18" charset="0"/>
                <a:ea typeface="Arial Unicode MS" pitchFamily="34" charset="-128"/>
                <a:cs typeface="Times New Roman" pitchFamily="18" charset="0"/>
              </a:rPr>
              <a:t>organisational</a:t>
            </a:r>
            <a:r>
              <a:rPr lang="en-US" sz="2700" dirty="0" smtClean="0">
                <a:solidFill>
                  <a:srgbClr val="002060"/>
                </a:solidFill>
                <a:latin typeface="Times New Roman" pitchFamily="18" charset="0"/>
                <a:ea typeface="Arial Unicode MS" pitchFamily="34" charset="-128"/>
                <a:cs typeface="Times New Roman" pitchFamily="18" charset="0"/>
              </a:rPr>
              <a:t> elements. </a:t>
            </a:r>
            <a:r>
              <a:rPr lang="en-US" sz="1800" b="1" i="1" dirty="0" smtClean="0">
                <a:solidFill>
                  <a:srgbClr val="002060"/>
                </a:solidFill>
                <a:latin typeface="Times New Roman" pitchFamily="18" charset="0"/>
                <a:ea typeface="Arial Unicode MS" pitchFamily="34" charset="-128"/>
                <a:cs typeface="Times New Roman" pitchFamily="18" charset="0"/>
              </a:rPr>
              <a:t>(Griffin ,2012)</a:t>
            </a:r>
          </a:p>
          <a:p>
            <a:pPr eaLnBrk="1" fontAlgn="auto" hangingPunct="1">
              <a:spcAft>
                <a:spcPts val="0"/>
              </a:spcAft>
              <a:buFont typeface="Arial" pitchFamily="34" charset="0"/>
              <a:buNone/>
              <a:defRPr/>
            </a:pPr>
            <a:endParaRPr lang="en-US" sz="2400" dirty="0">
              <a:solidFill>
                <a:srgbClr val="FF000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76200" y="457200"/>
            <a:ext cx="8229600" cy="1143000"/>
          </a:xfrm>
        </p:spPr>
        <p:txBody>
          <a:bodyPr rtlCol="0">
            <a:normAutofit/>
          </a:bodyPr>
          <a:lstStyle/>
          <a:p>
            <a:pPr eaLnBrk="1" fontAlgn="auto" hangingPunct="1">
              <a:spcAft>
                <a:spcPts val="0"/>
              </a:spcAft>
              <a:defRPr/>
            </a:pPr>
            <a:r>
              <a:rPr lang="en-US" sz="4000" b="1" dirty="0" smtClean="0">
                <a:solidFill>
                  <a:schemeClr val="accent2">
                    <a:lumMod val="50000"/>
                  </a:schemeClr>
                </a:solidFill>
                <a:latin typeface="Times New Roman" pitchFamily="18" charset="0"/>
                <a:cs typeface="Times New Roman" pitchFamily="18" charset="0"/>
              </a:rPr>
              <a:t>What is Organising? </a:t>
            </a:r>
            <a:endParaRPr lang="en-US" dirty="0">
              <a:solidFill>
                <a:schemeClr val="accent2">
                  <a:lumMod val="50000"/>
                </a:schemeClr>
              </a:solidFill>
            </a:endParaRPr>
          </a:p>
        </p:txBody>
      </p:sp>
      <p:pic>
        <p:nvPicPr>
          <p:cNvPr id="9" name="Picture 5" descr="95_11221"/>
          <p:cNvPicPr>
            <a:picLocks noChangeAspect="1" noChangeArrowheads="1"/>
          </p:cNvPicPr>
          <p:nvPr/>
        </p:nvPicPr>
        <p:blipFill>
          <a:blip r:embed="rId2"/>
          <a:srcRect/>
          <a:stretch>
            <a:fillRect/>
          </a:stretch>
        </p:blipFill>
        <p:spPr bwMode="auto">
          <a:xfrm>
            <a:off x="6705600" y="228600"/>
            <a:ext cx="2209800" cy="1447800"/>
          </a:xfrm>
          <a:prstGeom prst="rect">
            <a:avLst/>
          </a:prstGeom>
          <a:noFill/>
          <a:ln w="9525">
            <a:noFill/>
            <a:miter lim="800000"/>
            <a:headEnd/>
            <a:tailEnd/>
          </a:ln>
          <a:effectLst>
            <a:outerShdw blurRad="63500" sx="102000" sy="102000" algn="ctr" rotWithShape="0">
              <a:prstClr val="black">
                <a:alpha val="40000"/>
              </a:prstClr>
            </a:outerShdw>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686800" cy="4648200"/>
          </a:xfrm>
        </p:spPr>
        <p:txBody>
          <a:bodyPr rtlCol="0">
            <a:normAutofit fontScale="85000" lnSpcReduction="20000"/>
          </a:bodyPr>
          <a:lstStyle/>
          <a:p>
            <a:pPr marL="457200" indent="-457200">
              <a:lnSpc>
                <a:spcPct val="120000"/>
              </a:lnSpc>
              <a:buFontTx/>
              <a:buAutoNum type="arabicPeriod"/>
              <a:defRPr/>
            </a:pPr>
            <a:r>
              <a:rPr lang="en-US" sz="3300" dirty="0" smtClean="0">
                <a:solidFill>
                  <a:srgbClr val="002060"/>
                </a:solidFill>
                <a:latin typeface="Times New Roman" pitchFamily="18" charset="0"/>
                <a:cs typeface="Times New Roman" pitchFamily="18" charset="0"/>
              </a:rPr>
              <a:t>Identification of Work</a:t>
            </a:r>
          </a:p>
          <a:p>
            <a:pPr marL="457200" indent="-457200">
              <a:lnSpc>
                <a:spcPct val="120000"/>
              </a:lnSpc>
              <a:buFontTx/>
              <a:buAutoNum type="arabicPeriod"/>
              <a:defRPr/>
            </a:pPr>
            <a:r>
              <a:rPr lang="en-US" sz="3300" dirty="0" smtClean="0">
                <a:solidFill>
                  <a:srgbClr val="002060"/>
                </a:solidFill>
                <a:latin typeface="Times New Roman" pitchFamily="18" charset="0"/>
                <a:cs typeface="Times New Roman" pitchFamily="18" charset="0"/>
              </a:rPr>
              <a:t>Dividing the workload in to jobs</a:t>
            </a:r>
          </a:p>
          <a:p>
            <a:pPr marL="457200" indent="-457200">
              <a:lnSpc>
                <a:spcPct val="120000"/>
              </a:lnSpc>
              <a:buFontTx/>
              <a:buAutoNum type="arabicPeriod"/>
              <a:defRPr/>
            </a:pPr>
            <a:r>
              <a:rPr lang="en-US" sz="3300" dirty="0" smtClean="0">
                <a:solidFill>
                  <a:srgbClr val="002060"/>
                </a:solidFill>
                <a:latin typeface="Times New Roman" pitchFamily="18" charset="0"/>
                <a:cs typeface="Times New Roman" pitchFamily="18" charset="0"/>
              </a:rPr>
              <a:t>Grouping jobs in to departments</a:t>
            </a:r>
          </a:p>
          <a:p>
            <a:pPr marL="457200" indent="-457200">
              <a:lnSpc>
                <a:spcPct val="120000"/>
              </a:lnSpc>
              <a:buFontTx/>
              <a:buAutoNum type="arabicPeriod"/>
              <a:defRPr/>
            </a:pPr>
            <a:r>
              <a:rPr lang="en-US" sz="3300" dirty="0" smtClean="0">
                <a:solidFill>
                  <a:srgbClr val="002060"/>
                </a:solidFill>
                <a:latin typeface="Times New Roman" pitchFamily="18" charset="0"/>
                <a:cs typeface="Times New Roman" pitchFamily="18" charset="0"/>
              </a:rPr>
              <a:t>Deciding Spans of Management</a:t>
            </a:r>
          </a:p>
          <a:p>
            <a:pPr marL="457200" indent="-457200">
              <a:lnSpc>
                <a:spcPct val="120000"/>
              </a:lnSpc>
              <a:buFontTx/>
              <a:buAutoNum type="arabicPeriod"/>
              <a:defRPr/>
            </a:pPr>
            <a:r>
              <a:rPr lang="en-US" sz="3300" dirty="0" smtClean="0">
                <a:solidFill>
                  <a:srgbClr val="002060"/>
                </a:solidFill>
                <a:latin typeface="Times New Roman" pitchFamily="18" charset="0"/>
                <a:cs typeface="Times New Roman" pitchFamily="18" charset="0"/>
              </a:rPr>
              <a:t>Creation of Hierarchy</a:t>
            </a:r>
          </a:p>
          <a:p>
            <a:pPr marL="457200" indent="-457200">
              <a:lnSpc>
                <a:spcPct val="120000"/>
              </a:lnSpc>
              <a:buFontTx/>
              <a:buAutoNum type="arabicPeriod"/>
              <a:defRPr/>
            </a:pPr>
            <a:r>
              <a:rPr lang="en-US" sz="3300" dirty="0" smtClean="0">
                <a:solidFill>
                  <a:srgbClr val="002060"/>
                </a:solidFill>
                <a:latin typeface="Times New Roman" pitchFamily="18" charset="0"/>
                <a:cs typeface="Times New Roman" pitchFamily="18" charset="0"/>
              </a:rPr>
              <a:t>Delegating authority</a:t>
            </a:r>
          </a:p>
          <a:p>
            <a:pPr marL="457200" indent="-457200">
              <a:lnSpc>
                <a:spcPct val="120000"/>
              </a:lnSpc>
              <a:buFontTx/>
              <a:buAutoNum type="arabicPeriod"/>
              <a:defRPr/>
            </a:pPr>
            <a:r>
              <a:rPr lang="en-US" sz="3300" dirty="0" smtClean="0">
                <a:solidFill>
                  <a:srgbClr val="002060"/>
                </a:solidFill>
                <a:latin typeface="Times New Roman" pitchFamily="18" charset="0"/>
                <a:cs typeface="Times New Roman" pitchFamily="18" charset="0"/>
              </a:rPr>
              <a:t>Determining systems of working</a:t>
            </a:r>
          </a:p>
          <a:p>
            <a:pPr marL="457200" indent="-457200">
              <a:lnSpc>
                <a:spcPct val="120000"/>
              </a:lnSpc>
              <a:buFontTx/>
              <a:buAutoNum type="arabicPeriod"/>
              <a:defRPr/>
            </a:pPr>
            <a:r>
              <a:rPr lang="en-US" sz="3300" dirty="0" smtClean="0">
                <a:solidFill>
                  <a:srgbClr val="002060"/>
                </a:solidFill>
                <a:latin typeface="Times New Roman" pitchFamily="18" charset="0"/>
                <a:cs typeface="Times New Roman" pitchFamily="18" charset="0"/>
              </a:rPr>
              <a:t>Allocation of resources</a:t>
            </a:r>
          </a:p>
          <a:p>
            <a:pPr marL="457200" indent="-457200">
              <a:lnSpc>
                <a:spcPct val="120000"/>
              </a:lnSpc>
              <a:buFontTx/>
              <a:buAutoNum type="arabicPeriod"/>
              <a:defRPr/>
            </a:pPr>
            <a:r>
              <a:rPr lang="en-US" sz="3300" dirty="0" smtClean="0">
                <a:solidFill>
                  <a:srgbClr val="002060"/>
                </a:solidFill>
                <a:latin typeface="Times New Roman" pitchFamily="18" charset="0"/>
                <a:cs typeface="Times New Roman" pitchFamily="18" charset="0"/>
              </a:rPr>
              <a:t>Establishing coordinating mechanisms</a:t>
            </a:r>
          </a:p>
          <a:p>
            <a:pPr marL="0" algn="ctr" eaLnBrk="1" fontAlgn="auto" hangingPunct="1">
              <a:spcAft>
                <a:spcPts val="0"/>
              </a:spcAft>
              <a:buFont typeface="Arial" pitchFamily="34" charset="0"/>
              <a:buNone/>
              <a:defRPr/>
            </a:pPr>
            <a:endParaRPr lang="en-US"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228600" y="304800"/>
            <a:ext cx="8229600" cy="1143000"/>
          </a:xfrm>
        </p:spPr>
        <p:txBody>
          <a:bodyPr rtlCol="0">
            <a:normAutofit/>
          </a:bodyPr>
          <a:lstStyle/>
          <a:p>
            <a:pPr eaLnBrk="1" fontAlgn="auto" hangingPunct="1">
              <a:spcAft>
                <a:spcPts val="0"/>
              </a:spcAft>
              <a:defRPr/>
            </a:pPr>
            <a:r>
              <a:rPr lang="en-US" sz="4000" b="1" dirty="0" smtClean="0">
                <a:solidFill>
                  <a:schemeClr val="accent2">
                    <a:lumMod val="50000"/>
                  </a:schemeClr>
                </a:solidFill>
                <a:latin typeface="Times New Roman" pitchFamily="18" charset="0"/>
                <a:cs typeface="Times New Roman" pitchFamily="18" charset="0"/>
              </a:rPr>
              <a:t>The Process of </a:t>
            </a:r>
            <a:r>
              <a:rPr lang="en-US" sz="4000" b="1" dirty="0" err="1" smtClean="0">
                <a:solidFill>
                  <a:schemeClr val="accent2">
                    <a:lumMod val="50000"/>
                  </a:schemeClr>
                </a:solidFill>
                <a:latin typeface="Times New Roman" pitchFamily="18" charset="0"/>
                <a:cs typeface="Times New Roman" pitchFamily="18" charset="0"/>
              </a:rPr>
              <a:t>Organising</a:t>
            </a:r>
            <a:endParaRPr lang="en-US" dirty="0">
              <a:solidFill>
                <a:schemeClr val="accent2">
                  <a:lumMod val="50000"/>
                </a:schemeClr>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10" descr="http://t1.gstatic.com/images?q=tbn:ANd9GcRDeDc8po4u5s1-KshwLHHetChJXzb9d47xH_Bf_qp9pMwju47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2700" y="4495800"/>
            <a:ext cx="27813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0"/>
          <p:cNvSpPr>
            <a:spLocks noGrp="1"/>
          </p:cNvSpPr>
          <p:nvPr>
            <p:ph type="title"/>
          </p:nvPr>
        </p:nvSpPr>
        <p:spPr>
          <a:xfrm>
            <a:off x="533400" y="304800"/>
            <a:ext cx="8229600" cy="762000"/>
          </a:xfrm>
        </p:spPr>
        <p:txBody>
          <a:bodyPr rtlCol="0">
            <a:normAutofit/>
          </a:bodyPr>
          <a:lstStyle/>
          <a:p>
            <a:pPr eaLnBrk="1" fontAlgn="auto" hangingPunct="1">
              <a:spcAft>
                <a:spcPts val="0"/>
              </a:spcAft>
              <a:defRPr/>
            </a:pPr>
            <a:r>
              <a:rPr lang="en-US" sz="4000" b="1" dirty="0" smtClean="0">
                <a:solidFill>
                  <a:schemeClr val="accent2">
                    <a:lumMod val="50000"/>
                  </a:schemeClr>
                </a:solidFill>
                <a:latin typeface="Times New Roman" pitchFamily="18" charset="0"/>
                <a:cs typeface="Times New Roman" pitchFamily="18" charset="0"/>
              </a:rPr>
              <a:t>Basic Elements of Organising </a:t>
            </a:r>
            <a:endParaRPr lang="en-US" dirty="0">
              <a:solidFill>
                <a:schemeClr val="accent2">
                  <a:lumMod val="50000"/>
                </a:schemeClr>
              </a:solidFill>
            </a:endParaRPr>
          </a:p>
        </p:txBody>
      </p:sp>
      <p:sp>
        <p:nvSpPr>
          <p:cNvPr id="7176" name="Rectangle 8"/>
          <p:cNvSpPr>
            <a:spLocks noChangeArrowheads="1"/>
          </p:cNvSpPr>
          <p:nvPr/>
        </p:nvSpPr>
        <p:spPr bwMode="auto">
          <a:xfrm>
            <a:off x="6270625" y="5943600"/>
            <a:ext cx="1577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b="1" i="1">
                <a:solidFill>
                  <a:srgbClr val="002060"/>
                </a:solidFill>
                <a:latin typeface="Times New Roman" pitchFamily="18" charset="0"/>
                <a:ea typeface="Arial Unicode MS" pitchFamily="34" charset="-128"/>
                <a:cs typeface="Times New Roman" pitchFamily="18" charset="0"/>
              </a:rPr>
              <a:t>(Griffin ,2012)</a:t>
            </a:r>
            <a:endParaRPr lang="en-US" b="1">
              <a:ea typeface="Arial Unicode MS" pitchFamily="34" charset="-128"/>
              <a:cs typeface="Times New Roman" pitchFamily="18" charset="0"/>
            </a:endParaRPr>
          </a:p>
        </p:txBody>
      </p:sp>
      <p:pic>
        <p:nvPicPr>
          <p:cNvPr id="8201" name="Picture 2" descr="http://www.ndu.edu/press/lib/images/jfq-68/price-1.jpg"/>
          <p:cNvPicPr>
            <a:picLocks noChangeAspect="1" noChangeArrowheads="1"/>
          </p:cNvPicPr>
          <p:nvPr/>
        </p:nvPicPr>
        <p:blipFill>
          <a:blip r:embed="rId3"/>
          <a:srcRect/>
          <a:stretch>
            <a:fillRect/>
          </a:stretch>
        </p:blipFill>
        <p:spPr bwMode="auto">
          <a:xfrm>
            <a:off x="5638800" y="1143000"/>
            <a:ext cx="1905000" cy="1270000"/>
          </a:xfrm>
          <a:prstGeom prst="rect">
            <a:avLst/>
          </a:prstGeom>
          <a:noFill/>
          <a:ln w="9525">
            <a:noFill/>
            <a:miter lim="800000"/>
            <a:headEnd/>
            <a:tailEnd/>
          </a:ln>
          <a:effectLst>
            <a:outerShdw blurRad="63500" sx="102000" sy="102000" algn="ctr" rotWithShape="0">
              <a:prstClr val="black">
                <a:alpha val="40000"/>
              </a:prstClr>
            </a:outerShdw>
          </a:effectLst>
        </p:spPr>
      </p:pic>
      <p:sp>
        <p:nvSpPr>
          <p:cNvPr id="12" name="Content Placeholder 2"/>
          <p:cNvSpPr txBox="1">
            <a:spLocks/>
          </p:cNvSpPr>
          <p:nvPr/>
        </p:nvSpPr>
        <p:spPr bwMode="auto">
          <a:xfrm>
            <a:off x="304800" y="1295400"/>
            <a:ext cx="5334000" cy="5181600"/>
          </a:xfrm>
          <a:prstGeom prst="rect">
            <a:avLst/>
          </a:prstGeom>
          <a:noFill/>
          <a:ln w="9525">
            <a:noFill/>
            <a:miter lim="800000"/>
            <a:headEnd/>
            <a:tailEnd/>
          </a:ln>
        </p:spPr>
        <p:txBody>
          <a:bodyPr>
            <a:normAutofit fontScale="92500" lnSpcReduction="10000"/>
          </a:bodyPr>
          <a:lstStyle/>
          <a:p>
            <a:pPr marL="393700" indent="-393700">
              <a:spcBef>
                <a:spcPct val="20000"/>
              </a:spcBef>
              <a:buClr>
                <a:srgbClr val="002060"/>
              </a:buClr>
              <a:buFont typeface="Wingdings" pitchFamily="2" charset="2"/>
              <a:buChar char="§"/>
              <a:defRPr/>
            </a:pPr>
            <a:r>
              <a:rPr lang="en-US" sz="2800" dirty="0">
                <a:solidFill>
                  <a:srgbClr val="002060"/>
                </a:solidFill>
                <a:latin typeface="Times New Roman" pitchFamily="18" charset="0"/>
                <a:cs typeface="Times New Roman" pitchFamily="18" charset="0"/>
              </a:rPr>
              <a:t>Designing Jobs</a:t>
            </a:r>
          </a:p>
          <a:p>
            <a:pPr marL="393700" indent="-393700">
              <a:spcBef>
                <a:spcPct val="20000"/>
              </a:spcBef>
              <a:buClr>
                <a:srgbClr val="002060"/>
              </a:buClr>
              <a:buFont typeface="Wingdings" pitchFamily="2" charset="2"/>
              <a:buChar char="§"/>
              <a:defRPr/>
            </a:pPr>
            <a:endParaRPr lang="en-US" sz="2800" dirty="0">
              <a:solidFill>
                <a:srgbClr val="002060"/>
              </a:solidFill>
              <a:latin typeface="Times New Roman" pitchFamily="18" charset="0"/>
              <a:cs typeface="Times New Roman" pitchFamily="18" charset="0"/>
            </a:endParaRPr>
          </a:p>
          <a:p>
            <a:pPr marL="393700" indent="-393700">
              <a:spcBef>
                <a:spcPct val="20000"/>
              </a:spcBef>
              <a:buClr>
                <a:srgbClr val="002060"/>
              </a:buClr>
              <a:buFont typeface="Wingdings" pitchFamily="2" charset="2"/>
              <a:buChar char="§"/>
              <a:defRPr/>
            </a:pPr>
            <a:r>
              <a:rPr lang="en-US" sz="2800" dirty="0">
                <a:solidFill>
                  <a:srgbClr val="002060"/>
                </a:solidFill>
                <a:latin typeface="Times New Roman" pitchFamily="18" charset="0"/>
                <a:cs typeface="Times New Roman" pitchFamily="18" charset="0"/>
              </a:rPr>
              <a:t>Grouping Jobs </a:t>
            </a:r>
          </a:p>
          <a:p>
            <a:pPr marL="393700" indent="-393700">
              <a:spcBef>
                <a:spcPct val="20000"/>
              </a:spcBef>
              <a:buClr>
                <a:srgbClr val="002060"/>
              </a:buClr>
              <a:buFont typeface="Wingdings" pitchFamily="2" charset="2"/>
              <a:buChar char="§"/>
              <a:defRPr/>
            </a:pPr>
            <a:endParaRPr lang="en-US" sz="2800" dirty="0">
              <a:solidFill>
                <a:srgbClr val="002060"/>
              </a:solidFill>
              <a:latin typeface="Times New Roman" pitchFamily="18" charset="0"/>
              <a:cs typeface="Times New Roman" pitchFamily="18" charset="0"/>
            </a:endParaRPr>
          </a:p>
          <a:p>
            <a:pPr marL="393700" indent="-393700">
              <a:spcBef>
                <a:spcPct val="20000"/>
              </a:spcBef>
              <a:buClr>
                <a:srgbClr val="002060"/>
              </a:buClr>
              <a:buFont typeface="Wingdings" pitchFamily="2" charset="2"/>
              <a:buChar char="§"/>
              <a:defRPr/>
            </a:pPr>
            <a:r>
              <a:rPr lang="en-US" sz="2800" dirty="0">
                <a:solidFill>
                  <a:srgbClr val="002060"/>
                </a:solidFill>
                <a:latin typeface="Times New Roman" pitchFamily="18" charset="0"/>
                <a:cs typeface="Times New Roman" pitchFamily="18" charset="0"/>
              </a:rPr>
              <a:t>Establishing reporting relationships</a:t>
            </a:r>
          </a:p>
          <a:p>
            <a:pPr marL="393700" indent="-393700">
              <a:spcBef>
                <a:spcPct val="20000"/>
              </a:spcBef>
              <a:buClr>
                <a:srgbClr val="002060"/>
              </a:buClr>
              <a:buFont typeface="Wingdings" pitchFamily="2" charset="2"/>
              <a:buChar char="§"/>
              <a:defRPr/>
            </a:pPr>
            <a:endParaRPr lang="en-US" sz="2800" dirty="0">
              <a:solidFill>
                <a:srgbClr val="002060"/>
              </a:solidFill>
              <a:latin typeface="Times New Roman" pitchFamily="18" charset="0"/>
              <a:cs typeface="Times New Roman" pitchFamily="18" charset="0"/>
            </a:endParaRPr>
          </a:p>
          <a:p>
            <a:pPr marL="393700" indent="-393700">
              <a:spcBef>
                <a:spcPct val="20000"/>
              </a:spcBef>
              <a:buClr>
                <a:srgbClr val="002060"/>
              </a:buClr>
              <a:buFont typeface="Wingdings" pitchFamily="2" charset="2"/>
              <a:buChar char="§"/>
              <a:defRPr/>
            </a:pPr>
            <a:r>
              <a:rPr lang="en-US" sz="2800" dirty="0">
                <a:solidFill>
                  <a:srgbClr val="002060"/>
                </a:solidFill>
                <a:latin typeface="Times New Roman" pitchFamily="18" charset="0"/>
                <a:cs typeface="Times New Roman" pitchFamily="18" charset="0"/>
              </a:rPr>
              <a:t>Distributing authority</a:t>
            </a:r>
          </a:p>
          <a:p>
            <a:pPr marL="393700" indent="-393700">
              <a:spcBef>
                <a:spcPct val="20000"/>
              </a:spcBef>
              <a:buClr>
                <a:srgbClr val="002060"/>
              </a:buClr>
              <a:buFont typeface="Wingdings" pitchFamily="2" charset="2"/>
              <a:buChar char="§"/>
              <a:defRPr/>
            </a:pPr>
            <a:endParaRPr lang="en-US" sz="2800" dirty="0">
              <a:solidFill>
                <a:srgbClr val="002060"/>
              </a:solidFill>
              <a:latin typeface="Times New Roman" pitchFamily="18" charset="0"/>
              <a:cs typeface="Times New Roman" pitchFamily="18" charset="0"/>
            </a:endParaRPr>
          </a:p>
          <a:p>
            <a:pPr marL="393700" indent="-393700">
              <a:spcBef>
                <a:spcPct val="20000"/>
              </a:spcBef>
              <a:buClr>
                <a:srgbClr val="002060"/>
              </a:buClr>
              <a:buFont typeface="Wingdings" pitchFamily="2" charset="2"/>
              <a:buChar char="§"/>
              <a:defRPr/>
            </a:pPr>
            <a:r>
              <a:rPr lang="en-US" sz="2800" dirty="0">
                <a:solidFill>
                  <a:srgbClr val="002060"/>
                </a:solidFill>
                <a:latin typeface="Times New Roman" pitchFamily="18" charset="0"/>
                <a:cs typeface="Times New Roman" pitchFamily="18" charset="0"/>
              </a:rPr>
              <a:t>Coordinating activities</a:t>
            </a:r>
          </a:p>
          <a:p>
            <a:pPr marL="393700" indent="-393700">
              <a:spcBef>
                <a:spcPct val="20000"/>
              </a:spcBef>
              <a:buClr>
                <a:srgbClr val="002060"/>
              </a:buClr>
              <a:buFont typeface="Wingdings" pitchFamily="2" charset="2"/>
              <a:buChar char="§"/>
              <a:defRPr/>
            </a:pPr>
            <a:endParaRPr lang="en-US" sz="2800" dirty="0">
              <a:solidFill>
                <a:srgbClr val="002060"/>
              </a:solidFill>
              <a:latin typeface="Times New Roman" pitchFamily="18" charset="0"/>
              <a:cs typeface="Times New Roman" pitchFamily="18" charset="0"/>
            </a:endParaRPr>
          </a:p>
          <a:p>
            <a:pPr marL="393700" indent="-393700">
              <a:spcBef>
                <a:spcPct val="20000"/>
              </a:spcBef>
              <a:buClr>
                <a:srgbClr val="002060"/>
              </a:buClr>
              <a:buFont typeface="Wingdings" pitchFamily="2" charset="2"/>
              <a:buChar char="§"/>
              <a:defRPr/>
            </a:pPr>
            <a:r>
              <a:rPr lang="en-US" sz="2800" dirty="0">
                <a:solidFill>
                  <a:srgbClr val="002060"/>
                </a:solidFill>
                <a:latin typeface="Times New Roman" pitchFamily="18" charset="0"/>
                <a:cs typeface="Times New Roman" pitchFamily="18" charset="0"/>
              </a:rPr>
              <a:t>Differentiating between positions   </a:t>
            </a:r>
          </a:p>
          <a:p>
            <a:pPr marL="609600" indent="-609600">
              <a:spcBef>
                <a:spcPct val="20000"/>
              </a:spcBef>
              <a:buClr>
                <a:schemeClr val="tx1"/>
              </a:buClr>
              <a:buFont typeface="Wingdings" pitchFamily="2" charset="2"/>
              <a:buChar char="§"/>
              <a:defRPr/>
            </a:pPr>
            <a:endParaRPr lang="en-US" sz="2800" b="1" dirty="0">
              <a:latin typeface="+mn-lt"/>
              <a:cs typeface="+mn-cs"/>
            </a:endParaRPr>
          </a:p>
          <a:p>
            <a:pPr marL="342900" indent="-342900">
              <a:spcBef>
                <a:spcPct val="20000"/>
              </a:spcBef>
              <a:buFont typeface="Wingdings" pitchFamily="2" charset="2"/>
              <a:buChar char="§"/>
              <a:defRPr/>
            </a:pPr>
            <a:endParaRPr lang="en-US" sz="2800" dirty="0">
              <a:solidFill>
                <a:srgbClr val="002060"/>
              </a:solidFill>
              <a:latin typeface="Times New Roman" pitchFamily="18" charset="0"/>
              <a:ea typeface="Arial Unicode MS" pitchFamily="34" charset="-128"/>
              <a:cs typeface="Times New Roman" pitchFamily="18" charset="0"/>
            </a:endParaRPr>
          </a:p>
          <a:p>
            <a:pPr marL="342900" indent="-342900" fontAlgn="auto">
              <a:spcBef>
                <a:spcPct val="20000"/>
              </a:spcBef>
              <a:spcAft>
                <a:spcPts val="0"/>
              </a:spcAft>
              <a:buFont typeface="Arial" pitchFamily="34" charset="0"/>
              <a:buNone/>
              <a:defRPr/>
            </a:pPr>
            <a:endParaRPr lang="en-US" sz="2400" dirty="0">
              <a:solidFill>
                <a:srgbClr val="FF0000"/>
              </a:solidFill>
              <a:latin typeface="Times New Roman" pitchFamily="18" charset="0"/>
              <a:ea typeface="+mj-ea"/>
              <a:cs typeface="Times New Roman" pitchFamily="18" charset="0"/>
            </a:endParaRPr>
          </a:p>
        </p:txBody>
      </p:sp>
      <p:pic>
        <p:nvPicPr>
          <p:cNvPr id="8203" name="Picture 4" descr="http://smallbusiness.chron.com/DM-Resize/photos.demandstudios.com/getty/article/211/116/IND_023.jpg?w=600&amp;h=600&amp;keep_ratio=1"/>
          <p:cNvPicPr>
            <a:picLocks noChangeAspect="1" noChangeArrowheads="1"/>
          </p:cNvPicPr>
          <p:nvPr/>
        </p:nvPicPr>
        <p:blipFill>
          <a:blip r:embed="rId4"/>
          <a:srcRect/>
          <a:stretch>
            <a:fillRect/>
          </a:stretch>
        </p:blipFill>
        <p:spPr bwMode="auto">
          <a:xfrm>
            <a:off x="6019800" y="2209800"/>
            <a:ext cx="1981200" cy="1273175"/>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8204" name="Picture 6" descr="http://t2.gstatic.com/images?q=tbn:ANd9GcR6MkPfqhSOh3sELOT1j9HfIucdfnRfKnLw3EgmTSMJsVSV4aZw"/>
          <p:cNvPicPr>
            <a:picLocks noChangeAspect="1" noChangeArrowheads="1"/>
          </p:cNvPicPr>
          <p:nvPr/>
        </p:nvPicPr>
        <p:blipFill>
          <a:blip r:embed="rId5"/>
          <a:srcRect/>
          <a:stretch>
            <a:fillRect/>
          </a:stretch>
        </p:blipFill>
        <p:spPr bwMode="auto">
          <a:xfrm>
            <a:off x="6400800" y="3276600"/>
            <a:ext cx="1981200" cy="1371600"/>
          </a:xfrm>
          <a:prstGeom prst="rect">
            <a:avLst/>
          </a:prstGeom>
          <a:noFill/>
          <a:ln w="9525">
            <a:noFill/>
            <a:miter lim="800000"/>
            <a:headEnd/>
            <a:tailEnd/>
          </a:ln>
          <a:effectLst>
            <a:outerShdw blurRad="63500" sx="102000" sy="102000" algn="ctr" rotWithShape="0">
              <a:prstClr val="black">
                <a:alpha val="40000"/>
              </a:prstClr>
            </a:outerShdw>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752600"/>
            <a:ext cx="8534400" cy="4114800"/>
          </a:xfrm>
        </p:spPr>
        <p:txBody>
          <a:bodyPr rtlCol="0">
            <a:normAutofit/>
          </a:bodyPr>
          <a:lstStyle/>
          <a:p>
            <a:pPr marL="236538" indent="-236538" algn="just">
              <a:lnSpc>
                <a:spcPct val="110000"/>
              </a:lnSpc>
              <a:buFont typeface="Wingdings" pitchFamily="2" charset="2"/>
              <a:buChar char="§"/>
              <a:defRPr/>
            </a:pPr>
            <a:r>
              <a:rPr lang="en-US" sz="2600" dirty="0" smtClean="0">
                <a:solidFill>
                  <a:srgbClr val="002060"/>
                </a:solidFill>
                <a:latin typeface="Times New Roman" pitchFamily="18" charset="0"/>
                <a:cs typeface="Times New Roman" pitchFamily="18" charset="0"/>
              </a:rPr>
              <a:t>The set of elements that can be used to configure an </a:t>
            </a:r>
            <a:r>
              <a:rPr lang="en-US" sz="2600" dirty="0" err="1" smtClean="0">
                <a:solidFill>
                  <a:srgbClr val="002060"/>
                </a:solidFill>
                <a:latin typeface="Times New Roman" pitchFamily="18" charset="0"/>
                <a:cs typeface="Times New Roman" pitchFamily="18" charset="0"/>
              </a:rPr>
              <a:t>organisation</a:t>
            </a:r>
            <a:r>
              <a:rPr lang="en-US" sz="2600" dirty="0" smtClean="0">
                <a:solidFill>
                  <a:srgbClr val="002060"/>
                </a:solidFill>
                <a:latin typeface="Times New Roman" pitchFamily="18" charset="0"/>
                <a:cs typeface="Times New Roman" pitchFamily="18" charset="0"/>
              </a:rPr>
              <a:t>.</a:t>
            </a:r>
          </a:p>
          <a:p>
            <a:pPr marL="568325" indent="-284163" algn="just">
              <a:lnSpc>
                <a:spcPct val="110000"/>
              </a:lnSpc>
              <a:buSzPct val="80000"/>
              <a:buFont typeface="Arial" charset="0"/>
              <a:buNone/>
              <a:defRPr/>
            </a:pPr>
            <a:r>
              <a:rPr lang="en-US" sz="2600" dirty="0" smtClean="0">
                <a:solidFill>
                  <a:srgbClr val="002060"/>
                </a:solidFill>
                <a:latin typeface="Times New Roman" pitchFamily="18" charset="0"/>
                <a:cs typeface="Times New Roman" pitchFamily="18" charset="0"/>
              </a:rPr>
              <a:t>                                                                                </a:t>
            </a:r>
            <a:r>
              <a:rPr lang="en-US" sz="1900" b="1" i="1" dirty="0" smtClean="0">
                <a:solidFill>
                  <a:srgbClr val="002060"/>
                </a:solidFill>
                <a:latin typeface="Times New Roman" pitchFamily="18" charset="0"/>
                <a:ea typeface="Arial Unicode MS" pitchFamily="34" charset="-128"/>
                <a:cs typeface="Times New Roman" pitchFamily="18" charset="0"/>
              </a:rPr>
              <a:t>(Griffin, 2012) </a:t>
            </a:r>
          </a:p>
          <a:p>
            <a:pPr marL="568325" indent="-284163" algn="just">
              <a:lnSpc>
                <a:spcPct val="110000"/>
              </a:lnSpc>
              <a:buSzPct val="80000"/>
              <a:buFont typeface="Arial" charset="0"/>
              <a:buNone/>
              <a:defRPr/>
            </a:pPr>
            <a:endParaRPr lang="en-US" sz="2600" dirty="0" smtClean="0">
              <a:solidFill>
                <a:srgbClr val="002060"/>
              </a:solidFill>
              <a:latin typeface="Times New Roman" pitchFamily="18" charset="0"/>
              <a:cs typeface="Times New Roman" pitchFamily="18" charset="0"/>
            </a:endParaRPr>
          </a:p>
          <a:p>
            <a:pPr marL="346075" indent="-346075" algn="just">
              <a:lnSpc>
                <a:spcPct val="120000"/>
              </a:lnSpc>
              <a:buFont typeface="Wingdings" pitchFamily="2" charset="2"/>
              <a:buChar char="§"/>
              <a:defRPr/>
            </a:pPr>
            <a:r>
              <a:rPr lang="en-US" sz="2600" dirty="0" smtClean="0">
                <a:solidFill>
                  <a:srgbClr val="002060"/>
                </a:solidFill>
                <a:latin typeface="Times New Roman" pitchFamily="18" charset="0"/>
                <a:cs typeface="Times New Roman" pitchFamily="18" charset="0"/>
              </a:rPr>
              <a:t>The formal framework by which job tasks are divided, grouped and coordinated.                                            </a:t>
            </a:r>
          </a:p>
          <a:p>
            <a:pPr marL="346075" indent="-346075" algn="r">
              <a:lnSpc>
                <a:spcPct val="120000"/>
              </a:lnSpc>
              <a:buFont typeface="Arial" charset="0"/>
              <a:buNone/>
              <a:defRPr/>
            </a:pPr>
            <a:r>
              <a:rPr lang="en-US" sz="2600" dirty="0" smtClean="0">
                <a:solidFill>
                  <a:srgbClr val="002060"/>
                </a:solidFill>
                <a:latin typeface="Times New Roman" pitchFamily="18" charset="0"/>
                <a:cs typeface="Times New Roman" pitchFamily="18" charset="0"/>
              </a:rPr>
              <a:t> </a:t>
            </a:r>
            <a:r>
              <a:rPr lang="en-US" sz="1900" b="1" i="1" dirty="0" smtClean="0">
                <a:solidFill>
                  <a:srgbClr val="002060"/>
                </a:solidFill>
                <a:latin typeface="Times New Roman" pitchFamily="18" charset="0"/>
                <a:cs typeface="Times New Roman" pitchFamily="18" charset="0"/>
              </a:rPr>
              <a:t>(Robbins &amp; Coulter,2010)</a:t>
            </a:r>
          </a:p>
          <a:p>
            <a:pPr marL="465138" indent="-465138" algn="just">
              <a:buFont typeface="Arial" pitchFamily="34" charset="0"/>
              <a:buNone/>
              <a:defRPr/>
            </a:pPr>
            <a:endParaRPr lang="en-US" sz="1900" dirty="0" smtClean="0">
              <a:solidFill>
                <a:srgbClr val="002060"/>
              </a:solidFill>
              <a:latin typeface="Times New Roman" pitchFamily="18" charset="0"/>
              <a:cs typeface="Times New Roman" pitchFamily="18" charset="0"/>
            </a:endParaRPr>
          </a:p>
          <a:p>
            <a:pPr eaLnBrk="1" hangingPunct="1">
              <a:buFont typeface="Arial" charset="0"/>
              <a:buNone/>
              <a:defRPr/>
            </a:pPr>
            <a:endParaRPr lang="en-US" sz="2800" dirty="0" smtClean="0">
              <a:solidFill>
                <a:srgbClr val="002060"/>
              </a:solidFill>
              <a:latin typeface="Times New Roman" pitchFamily="18" charset="0"/>
              <a:ea typeface="Arial Unicode MS" pitchFamily="34" charset="-128"/>
              <a:cs typeface="Times New Roman" pitchFamily="18" charset="0"/>
            </a:endParaRPr>
          </a:p>
          <a:p>
            <a:pPr eaLnBrk="1" fontAlgn="auto" hangingPunct="1">
              <a:spcAft>
                <a:spcPts val="0"/>
              </a:spcAft>
              <a:buFont typeface="Arial" pitchFamily="34" charset="0"/>
              <a:buNone/>
              <a:defRPr/>
            </a:pPr>
            <a:endParaRPr lang="en-US" sz="2400" dirty="0">
              <a:solidFill>
                <a:srgbClr val="FF000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533400" y="457200"/>
            <a:ext cx="8229600" cy="762000"/>
          </a:xfrm>
        </p:spPr>
        <p:txBody>
          <a:bodyPr rtlCol="0">
            <a:normAutofit/>
          </a:bodyPr>
          <a:lstStyle/>
          <a:p>
            <a:pPr eaLnBrk="1" fontAlgn="auto" hangingPunct="1">
              <a:spcAft>
                <a:spcPts val="0"/>
              </a:spcAft>
              <a:defRPr/>
            </a:pPr>
            <a:r>
              <a:rPr lang="en-US" sz="4000" b="1" dirty="0" smtClean="0">
                <a:solidFill>
                  <a:schemeClr val="accent2">
                    <a:lumMod val="50000"/>
                  </a:schemeClr>
                </a:solidFill>
                <a:latin typeface="Times New Roman" pitchFamily="18" charset="0"/>
                <a:cs typeface="Times New Roman" pitchFamily="18" charset="0"/>
              </a:rPr>
              <a:t>Organisational Structure  </a:t>
            </a:r>
            <a:endParaRPr lang="en-US" dirty="0">
              <a:solidFill>
                <a:schemeClr val="accent2">
                  <a:lumMod val="50000"/>
                </a:schemeClr>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6" descr="http://www.free-power-point-templates.com/articles/wp-content/uploads/2013/02/org-chart-app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3810000"/>
            <a:ext cx="2674938"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304800" y="1447800"/>
            <a:ext cx="8686800" cy="2895600"/>
          </a:xfrm>
        </p:spPr>
        <p:txBody>
          <a:bodyPr rtlCol="0">
            <a:normAutofit/>
          </a:bodyPr>
          <a:lstStyle/>
          <a:p>
            <a:pPr marL="223838" indent="-223838" eaLnBrk="1" hangingPunct="1">
              <a:buClr>
                <a:srgbClr val="002060"/>
              </a:buClr>
              <a:buFont typeface="Wingdings" pitchFamily="2" charset="2"/>
              <a:buChar char="§"/>
              <a:defRPr/>
            </a:pPr>
            <a:r>
              <a:rPr lang="en-US" sz="2400" b="1" dirty="0" smtClean="0">
                <a:solidFill>
                  <a:srgbClr val="002060"/>
                </a:solidFill>
                <a:latin typeface="Times New Roman" pitchFamily="18" charset="0"/>
                <a:cs typeface="Times New Roman" pitchFamily="18" charset="0"/>
              </a:rPr>
              <a:t>The graphical/visual representation of the </a:t>
            </a:r>
            <a:r>
              <a:rPr lang="en-US" sz="2400" b="1" dirty="0" err="1" smtClean="0">
                <a:solidFill>
                  <a:srgbClr val="002060"/>
                </a:solidFill>
                <a:latin typeface="Times New Roman" pitchFamily="18" charset="0"/>
                <a:cs typeface="Times New Roman" pitchFamily="18" charset="0"/>
              </a:rPr>
              <a:t>organisational</a:t>
            </a:r>
            <a:r>
              <a:rPr lang="en-US" sz="2400" b="1" dirty="0" smtClean="0">
                <a:solidFill>
                  <a:srgbClr val="002060"/>
                </a:solidFill>
                <a:latin typeface="Times New Roman" pitchFamily="18" charset="0"/>
                <a:cs typeface="Times New Roman" pitchFamily="18" charset="0"/>
              </a:rPr>
              <a:t> structure.  </a:t>
            </a:r>
          </a:p>
          <a:p>
            <a:pPr marL="223838" indent="-223838" eaLnBrk="1" hangingPunct="1">
              <a:buClr>
                <a:srgbClr val="002060"/>
              </a:buClr>
              <a:buFont typeface="Wingdings" pitchFamily="2" charset="2"/>
              <a:buChar char="§"/>
              <a:defRPr/>
            </a:pPr>
            <a:endParaRPr lang="en-US" sz="800" b="1" dirty="0" smtClean="0">
              <a:solidFill>
                <a:srgbClr val="002060"/>
              </a:solidFill>
              <a:latin typeface="Times New Roman" pitchFamily="18" charset="0"/>
              <a:cs typeface="Times New Roman" pitchFamily="18" charset="0"/>
            </a:endParaRPr>
          </a:p>
          <a:p>
            <a:pPr marL="223838" indent="-223838" eaLnBrk="1" hangingPunct="1">
              <a:buClr>
                <a:srgbClr val="002060"/>
              </a:buClr>
              <a:buFont typeface="Wingdings" pitchFamily="2" charset="2"/>
              <a:buChar char="§"/>
              <a:defRPr/>
            </a:pPr>
            <a:r>
              <a:rPr lang="en-US" sz="2400" b="1" dirty="0" smtClean="0">
                <a:solidFill>
                  <a:srgbClr val="002060"/>
                </a:solidFill>
                <a:latin typeface="Times New Roman" pitchFamily="18" charset="0"/>
                <a:cs typeface="Times New Roman" pitchFamily="18" charset="0"/>
              </a:rPr>
              <a:t>In general, </a:t>
            </a:r>
            <a:r>
              <a:rPr lang="en-US" sz="2400" b="1" dirty="0" err="1" smtClean="0">
                <a:solidFill>
                  <a:srgbClr val="002060"/>
                </a:solidFill>
                <a:latin typeface="Times New Roman" pitchFamily="18" charset="0"/>
                <a:cs typeface="Times New Roman" pitchFamily="18" charset="0"/>
              </a:rPr>
              <a:t>organisational</a:t>
            </a:r>
            <a:r>
              <a:rPr lang="en-US" sz="2400" b="1" dirty="0" smtClean="0">
                <a:solidFill>
                  <a:srgbClr val="002060"/>
                </a:solidFill>
                <a:latin typeface="Times New Roman" pitchFamily="18" charset="0"/>
                <a:cs typeface="Times New Roman" pitchFamily="18" charset="0"/>
              </a:rPr>
              <a:t> charts can take forms such as vertical, horizontal, circular, etc.</a:t>
            </a:r>
          </a:p>
          <a:p>
            <a:pPr marL="0" indent="0" eaLnBrk="1" hangingPunct="1">
              <a:buClr>
                <a:srgbClr val="002060"/>
              </a:buClr>
              <a:buFont typeface="Arial" pitchFamily="34" charset="0"/>
              <a:buNone/>
              <a:defRPr/>
            </a:pPr>
            <a:endParaRPr lang="en-US" sz="2800" b="1" dirty="0" smtClean="0">
              <a:solidFill>
                <a:srgbClr val="002060"/>
              </a:solidFill>
              <a:latin typeface="Times New Roman" pitchFamily="18" charset="0"/>
              <a:cs typeface="Times New Roman" pitchFamily="18" charset="0"/>
            </a:endParaRPr>
          </a:p>
          <a:p>
            <a:pPr eaLnBrk="1" fontAlgn="auto" hangingPunct="1">
              <a:spcAft>
                <a:spcPts val="0"/>
              </a:spcAft>
              <a:buFont typeface="Arial" pitchFamily="34" charset="0"/>
              <a:buNone/>
              <a:defRPr/>
            </a:pPr>
            <a:endParaRPr lang="en-US" sz="800" i="1" dirty="0" smtClean="0">
              <a:solidFill>
                <a:srgbClr val="002060"/>
              </a:solidFill>
              <a:latin typeface="Times New Roman" pitchFamily="18" charset="0"/>
              <a:ea typeface="Arial Unicode MS" pitchFamily="34" charset="-128"/>
              <a:cs typeface="Times New Roman" pitchFamily="18" charset="0"/>
            </a:endParaRPr>
          </a:p>
        </p:txBody>
      </p:sp>
      <p:sp>
        <p:nvSpPr>
          <p:cNvPr id="11" name="Title 10"/>
          <p:cNvSpPr>
            <a:spLocks noGrp="1"/>
          </p:cNvSpPr>
          <p:nvPr>
            <p:ph type="title"/>
          </p:nvPr>
        </p:nvSpPr>
        <p:spPr>
          <a:xfrm>
            <a:off x="533400" y="304800"/>
            <a:ext cx="8229600" cy="762000"/>
          </a:xfrm>
        </p:spPr>
        <p:txBody>
          <a:bodyPr rtlCol="0">
            <a:normAutofit/>
          </a:bodyPr>
          <a:lstStyle/>
          <a:p>
            <a:pPr eaLnBrk="1" fontAlgn="auto" hangingPunct="1">
              <a:spcAft>
                <a:spcPts val="0"/>
              </a:spcAft>
              <a:defRPr/>
            </a:pPr>
            <a:r>
              <a:rPr lang="en-US" b="1" dirty="0" smtClean="0">
                <a:solidFill>
                  <a:schemeClr val="accent2">
                    <a:lumMod val="50000"/>
                  </a:schemeClr>
                </a:solidFill>
                <a:latin typeface="Times New Roman" pitchFamily="18" charset="0"/>
                <a:cs typeface="Times New Roman" pitchFamily="18" charset="0"/>
              </a:rPr>
              <a:t>Organisational Chart </a:t>
            </a:r>
            <a:endParaRPr lang="en-US" b="1" dirty="0">
              <a:solidFill>
                <a:schemeClr val="accent2">
                  <a:lumMod val="50000"/>
                </a:schemeClr>
              </a:solidFill>
              <a:latin typeface="Times New Roman" pitchFamily="18" charset="0"/>
              <a:cs typeface="Times New Roman" pitchFamily="18" charset="0"/>
            </a:endParaRPr>
          </a:p>
        </p:txBody>
      </p:sp>
      <p:sp>
        <p:nvSpPr>
          <p:cNvPr id="9225" name="AutoShape 2" descr="data:image/jpeg;base64,/9j/4AAQSkZJRgABAQAAAQABAAD/2wCEAAkGBhAREBUREBAWFRUUGBcaGBUYFxIYFhQYFRcVFhYUFhYaHicfGBkkJRgVHzEgJCcsLC04GB49NjAqNiYrLDUBCQoKBQUFDQUFDSkYEhgpKSkpKSkpKSkpKSkpKSkpKSkpKSkpKSkpKSkpKSkpKSkpKSkpKSkpKSkpKSkpKSkpKf/AABEIANMA7wMBIgACEQEDEQH/xAAbAAADAAMBAQAAAAAAAAAAAAAABAUCAwYBB//EAEAQAAIBBAEDAwIEAwUGBQUBAAECAwAEERIhBRMxBiJBUWEUIzJxQlKBBxUzgpEWJENikqE0Y3KT8FODwcLSF//EABQBAQAAAAAAAAAAAAAAAAAAAAD/xAAUEQEAAAAAAAAAAAAAAAAAAAAA/9oADAMBAAIRAxEAPwD7jRRRQFFFFAUUUUBRRSHWeuQWkYkuH1BYKoAZmd2zhERQWdjg8AfB+lA/WLyBQSxAA8knAH7mpBu72SaIwxRJblVd3lMnfOwJMSwgDRhxksx8+KxtfSsQ7v4iWW6E2NluGV48A7BVhAEagf8ApzxyTQZX3q22jjWSPe4Dlgn4aN7jYocMMxgquDx7iB5+hrY/Ubr8SsaWf5JALTtLGuMjOFiALMQcDnUfc1Rt7ZI1CRoqqOAqgBQPoAOBWygh28PU2Eolmto8giExxyuUOeGk3cB+PgAfvQOiXjQCN+pSCQOWM0cNspKkYEejI6gDznz96uUUHOC0Ml52x1C5DW0duzxAW4SQM0mGkPayxftsCFK4xxjNbLn0xO0jSJ1S7j2YkIPwZRcnOqhoCcDxySfvW6zuEPUblBCAyw2xMuTmQM1zqhHga6sf89WaCUenXX4rvC9PY+bYxREfox7ZRhxz7uc/TitFsvU0WXuNazMAOyFWaDJydhIS0uOMYIFXKKCDL6inhhSS5sJtmZgyW+LntgeHOurMp/5VJ+1PL6gtTMLfvxiYgMIWZVlwwyD2z7v+1UK1S2kbsrOisyHKkqCVOMZUnweT4oNtFQ4fTRgWX8HO6NJgqszSzwxsGLMVjZwRtkggMB4wKwk9Qy2sURvoWLOXDyW6SSwx6thGcf4ihgQf0kDkE+CQv0V4rg+D44P2P0r2gKKKKAooooCiiigKKKKAooooCtN3eRxI0krqiIMs7EBVA+STwBWm/wCsQQNEksgV5n0jXks7ecADJwPJPgfJFTLPos1wu3VEhkPcEkcKqWjg1BCjdsGVuSSxUDJ4HAoNwv7macLFEq2umTcmRS0m6Er+HRc8Alcs+B9AfNbuh9AjtEKo0kjO2zySu0kkj4C7sTwDgAYUADHAps9QhEohMqdwjIj2XcjnkJnJHB5x8UxQFFFYJOpJAYEjGQCCRnIBI/o3+h+lBnRRRQFFFYxyBgGUgggEEEEEHwQR5FBPtjc/jJt//D9qHtfo/wATafvePd47Pnj6fNUqjWdug6hcOJgWaG2BiwcxhWuSrk+MNsw/yGrNAUUUUBRRRQFFFFBHf01Es0tzbDtXEqMpcbmNmI9sksIYLIy488HGRmtMHqIwJEvUzFDLK7IrIXMMhABBDsMRlvhGOeMAmr1arq1jlQxyoro3lWAZW+xU8Gg20VAmNxaPPcSTPPbEb9kRbzRNlQREUxtFjJ1ILDHBNV+n9QiuIlmgkWSNxlXU5BH/AM4+2KBiiiigKKKKAooooCkOqdUEf5aFGuHRzDCzhDKYxkgHnjkZOOM1s6rfGGF5VieUopIjQZdz8Ko+/wD2pTo/SsMLqeJFu5IkSVlZ2VQuW7cZY8LknOMZPJzxQe9I6SyhJrrtSXYQq0yRhcKzF+0nyIxnAycnAJ5qrRRQcjcenrgu8YjQq93Hc/idveoR43KFNclwE7S4ONSMngqYlv0HqslrEVkljzHHtG1zN3TL2WDTGRuU9zLmP41zqT7T9JqB6shnf8MkG3unO+JJ4hoLe4b3yRe5V2CfYnUfNBEv/TnUdV7UrFzJO7ObicYJnDQALsEVO2CNQpGTjGCWrWnpW+jUom2g2AjW6mjJYvdFJe4OQB3IiV/7EoAW5eoX8UrRxJ7I+TstxN3AsdgNFkZ889yf3YOSmcZDZ02nqTqU0pjVAis64ka2l9gMd6zKy742Bhtx+rjuc/qUAPZ/TXUNM9+Rnbu9wieRQ3+8wvDohOqjQSgopT9WNhnNb+vdH6jJawRxMFlWFg7LNOuJtECNttl1yHyz7nxwckhV/VnUNC3aw/5e0X4e4/JRjBmYy5w3DyHXHGOf8N8udC9RXslxHHPGArpk6wzjB023ZpNdATwMBvIU4IJIan9PXwbbuO6s7tJH+JmUuvenaNUbP5WFeI4XAPb1PFdH6bsHgs7eCTG8UMSNg5GyIqnB4yMjziqNFBFsnh/vG5CqwlENtuxI0KFrnthR8EESZ/cU16g6mba1mnVQxjRmAPC5A8sfhR5J+gNarWaQ306GECMRW5WXQgyMzXG6F/DBcIcfG5+tVGUEEEZB4IPgg/BoOZuPUU1s5ilMVxJqZAI8QlERWZ91d2A/T7efdk5wFLVqX17llxbN23YgPugOqzx27OU8j3SxkL5I28EAG0PTVkI+0LSDt7badqPXbGu2uMZxxn6cUyemwnzCnkn9C+WcSMfHyyqx+4B8ig5U/wBpCqgkltXWPtiTIeNm1eGaaP2j+IiCQEZ4yvJycbj69OQptJAwJDAnTDFoY4wO4qsQzTxDJUY930Gej/uqDAHYjwAABonAVWVQOPADuAPox+prXF0O1VDGttEEIZSojjClWwWUjGCDgZHzgUHO3/r7sd0vASYgS0asrECMOZSGQtvjUeVULsNyhpm89USLZNKoXutPNBENZGGVuZYlZkTLMFRDIwXzo2MVWf05ZsoVrWEqPCmKMgeR4x9z/rTS2MQ1xGg1ZmX2r7WfbZhxwx2fJ+dj9TQcqv8AaGCsZW1cmRYuBklZZe7tCUVS+U7M2x14KgYOeHOmet0nniiELqJQMMfKP2ROUcAaqQp8bbZ/h1IY2JOi2zKytbxFXOXBjQhzsX2YY5OSWyfkk0Q9EtkcSJbxK6gAOI0DABdAAwGQNcL+wx4oHaj3ljPHcJPDNiFVYTW+mysBu4khCDYS5OCOQwPjIFWKKBPpPVobqFJ7dw8bjIYf6EEHlWByCDyCDmnK5e+unguIzYpFJF3mW8iTsq0TSr3DdSPkYYBeVblg4+cV0sMyuodGDKwBVlIKsCMggjgg+c0GdFFFAV47gAknAHJJ8AD5Ne1I64bhnghhiVo5Hb8Q7qrIsKqdo9SQS0hIUcEAbE/AITrXp1v1JheuXkgeF4ooXXVNXZlkmx5buKE1Jxhf/VTItbmzEEVrH34ASriSZjcIGcasjucOiAkasdsAYJIwbscYUBVAAAAAAAAA4AA+BWVApYdVgn37MqSdt2RwrAlHUkMjD4PHzTdS+o9CV+5JbsLe5kVV/ErHGz4QhlDBhh14xg/B4I4IVT1CbdoIL8hZZvaJUSQWzSFiFjDnOjsMEKx55AJoL1FFFAUUUUBRRWEkyrjZgNjgZIGSfAH1P2oM6KhxepTMJha20rtEPaZFeCKVtipRJJFycYOWCkfTNeuvU5IVw1tbylm39s1wgX+HU5i931yMUG61ilF9OxmBjMUAWLckxsGuN3KeFDZQZ+dD9Kq1y996YvTctc29+sLSRQxyA2yyBjCZSGGZAVB7rcftzT1xb9SAiEU9u2oAmMkMqmQ59zR6SYTjPtIb96C1RUlep3QuHSSz/IAJWdJVfOBnDQ4DhjyAF2/etvRfUFvdqzQOW0OrqVdHjbzq6OAyn9xQUaKKKAooooCiipd919Y7iO2WKWSSTBOie2KMkjuyuxCqvBGMlj8A0DXU+qQ20TTXEqxxr5ZiAB9B9yfgDk0gk13PNE8RjS0KBzssnflLqcR6Nr2QuQxJyxOBgc170vokql3vLj8S7OrBSirDDoWKdmPkqRnlixJIHirFAl0votvbRCG3iVE54H8RPlmJ5Zj8kkk/NSemmKwmisEjcRTCVoXJ2RXDGRrYDHsAUllycYVh/DXR0n1i0klgkjilMMjKQkq4yjY9rYPkZxx+9A5RSPR7xpIh3HjaVMLMIm2RJQql0B8jGfB55FPUGMjhQWYgADJJ8ADyTUT0xaxuZb5JWk/G9uRGKsmsKoBFGFJ8DLtnjJkNZ+qrvWJIex3vxUiQFPdrpLnus5HhQgkOf2HzVeCFUVUQBVUAADwABgAfagzooooCvCK9ooOfPTZ7NZ5LYy3IchltZJVwhLEy9qVwWGQchGbXI4IzxV6f1JZkVsMjMgcxSALKgbIG6ZyvII/oabqde+n7eaaO4eP82E+yRSyOBzlCykFkOTlDlT9KCjRXPR9bmtEkbqjQpGrqqXEfcCOJCQO5GdjCR7QSWK85yK2Xl7LcsiWFxEESRfxEoKu6KFWQRRrgqTICAWJ9oJwCSMB7c9cafvQ9OeJ54WRXZ+4Yoi36hsoxJIoGTGGGMjJGa2xemYDLFcXCLNcxRqgmZfBHJdI8lY2JJOVGfAzgCqVtaRxLpGiouSdVUKMsSzHA4ySST+9ezzqil3YKo8sSAB+5NBsoqcL2aT/Bj1X/AOpKGH9Vi4Y/5in9ay/u12/xLiQ/ULrGv9NRuP8AqNA/mikf7mj/AJpf/fuf/wC68/unH6Jpk/8AuF/+0u4oH6Q6z0SG7j7cwOAwZSrOjo651dHQgqwyeQa8JuY/5Zl+35cn9Mko5/6BW+z6gkuQpIZcbIwKuufGynnnnB8H4JoJqSXcEscWgmtu2FM7SATxsinMkwbCurYHK4IOeMHitaXccqLJE6ujgFXUgqwPggjgittc9LZtYsn4K1DQyzEzopbdDLqomiUnUKCMsoA8kjnOQ6GtVxcpGAZHVQSFBYgAsxCqoJ+SSAB85qbdeoULy29qyTXUab9rZgq5IAEkgUiMnOdT7iBwMc1ha+n+52Zr8RzXMOxDKriJC7Z/LjZiMqMKHPu4PjJFBqJubwTwvHLaRAhEmWRFuJNW/MZQAwjjbGA2dsHIA4NVundPjgiSGJdUQYUZZiB92Ykk/cmmaKAooooCiiig5+VoLO+U6uD1BtWbYdoSwREp7TyHdFYZHntD5xnoKl+po5zaym1CmdFLRBlVgXUEquG4G3K5+NqowSFlVipUkAlTjKkjOpxxkeKCZMlw1/GVcC3SGTdQwy8rvGI9lxnUKshB+pqtULotvCby9njlLuWhhdSuBEYY9win+LPe2J/5vtSHWbO8lvmWB2RUhtirmWZERjNc9wiJUKTnVUyrEfw+M5oOsor50nq+/jRUWIuyxOSJIZSxcWss6MWD5ZS6pH+kAkkAlhVY9c6gJu2VjKxyKGYQzDuq88UeU/MITCuxz7v0Z4GRQdfRXA23qfqKwI5iGMRpgxXDOpNpBM0zEvs4VnkXTGW1xttVH/aec2QmGpc3EkW4hfTVJZEDsjSApkIOS2MkYByBQdbRXCJ6s6kYVmMCjYIpTsXGyFrOK4eU+/LKrtIugAJ1xnauh9JXMsluzSuXJmnw+rIGQSuEKq2SFxjHJGPBxQbPU3VjbwZWHvPK6RJFyA7Strh2wQqAbEkjGAf2rd0LoNvZQiC1iEcYLHUZPLEsSSeT5/0AHgCtAWd7/YSr+Hih1MYYFjNIwbMi/AVFXH17hqvQaLy7WJC7Z4wAByWJOFVR8sSQAPvSttYM7CW4wXHKp5SH9v5n/wCc/fGATkgHdnMh/RCSqD4L4xJJ/TJjH0xJ9ao0BRRRQFFFFAUre9OWXByVdc6yLgOmfofkeMqcg45BpqigSsrxixilAEijPGdZF8CRM/HwV8qeOQVYumkuqWzMoeMfmR+5P+bj3Rk/Rh7ftwfIFM21wsiK6nKsAwP1DDIoOd9OWVt06U9PiyO6ZriIaKqhd0DxK45cqWB55CsvOBT3qP1GlmsZZQe6+gLSRxqpEckmWdyABhCP3Irz1SzxxC5htlnlgZSq6F5AjMqT9rHIcxl8Y848Gnr7pkczRtIM9pmZRxglo5IiGB8jEjcftQS7T1taOiu79rZSxDg4UDuH3SLlMERuynb3AZGRTA9VWnsBlILnABSVSuWCLuCo7YLEAF8Ak8ZqWnomxSdFDuJO22q7Lt20yilX13AjEqKMMPCZ2IzWaei7SBNjK6IMNJzEkcio4lVXVUCogbJwgXOzZzschRl9W2ahCZxiQIy+1+VkV3VzgcLqjsScABSTjFeL6usyVHdwWIGCkqlclApcFR2wS6YLYB2GCam2PpGyJKd2SXVBGUdxlYgs9sqYCg64MyhvJ1zk+a9PpS0lnVnnklmiPuZjGzYj7TiNvZiPGyH2aMd2JJ2JoK9r6htpIWnSTMajJbSQZBAYFQVy4IIwVBBzxmtKerrMlV7uC3HKSrqTI0IEmVHbO6MnuxyMVotfRkEcE0AeTWc5c5QHIAGcKoUk45LAl+dtq0W3pGyTa22YlwjlCUGViuWuBhVUALvIwIAAwcDFBT6P6ghujJ2diI9PcVZQ26BwVDAHGCDnGDkYzS3pC1SCBrVZ+7+HkkQn3ZQM3dSNs+SqSRjPzxTPRehJbBtZJHLaDMjKSBGoRFGFHAA/c8kkkk0t02SFL+6iRGWR0gmdi2Vk2DwKVX+EgQAH68UGPpS5ik/FNHB2v97nV/czd14ysZl5HtzqBqOBip8fr5PxM8JUMEIWEIcySOssdvIrBiFX8yVFBJAxsTgCrPp97oib8WMEXEwi/RzBt+Sfb9vrz9a3TdBtnjWNoEKJnVdRhdgQxH0JyeaCFb+uiTo1pKZC7LhTBhSbi6giVi0g9x/DtkjIGRzXtt6+ifBEUrK5UghYx20dLRgZMyZJzcp+kfDccc27foFrHjSBBqQRgDOVaRwc/XaWVs/V2+tEXp+1UarbxgYAwFHgCMAfsO1F/wBC/Sg5u59bRyQmNrUys6IdHESRyhzGCFV3JYDfnGQCrAkcUxa+sraIRxJavGryaIo/DD9U/ZDhFk21ZyecfUmq59LWfP8Au0fK6kY4xgL48A4CjbzgAZwKzb05aEq3YTKY148FXMqnHyQxLDPgkkYyaCDYf2ghohJJA+e0JnRND2oxDbyyOWZxuB31wANj9OKsdG9SpcuyLFImoJDN28SKsjxFl1Yke5D+oDgj74z/ANlbLUJ+Gj1XwNRjwq6/dcKg18YVeOBTkHToozskaqcEZAAOCxcj+rMx/cmgl+mEgL3c0Ls5kuZBIWXXV4VS3Ma8cqvb4P3NWpZAqlj4AJP7DmovpS7RxcqkAi7d3cKwBJ3bfcy8jy++2PAzVe8i3jdB/ErD/UEUGno0RW3jz+oqGb7s/uc/1JJ/rTlLdNm3hjf+ZEP+qg0zQI9T61Bb470mu2SAAzMQuCzaqCdVyMtjAyMkZpuKZWUMrBlYAhgQQQRkEEcEfepXVemTmdLm2aPcRvEVkDldXZGDgqcggr4/iz5GAah3Xom4cuGmjZDluVdWd2W2DbBTqq5hYjAI94ypClWDsFuULMgYFlxsM8rtnXI+M4NbM1wn/wDn0mBn8M51QFXiwjFUmjGwQAHQOmpAHhuFyCNo/s6GVYujSAyHusmZGYzW8kchbzuoicZ+O4ceTkO1zXtcT0X+z0xSI0rpII5EfBXPcaNLhVmcYA7pMytkhjlP1H269tQFIdJ4Ekf8krj+j4lA/oJAP6U/SHTOWnb4aU4/yRxRn/ujUDF9AZInRWKl1ZQwJBUsCAwI5BGc5pX07v8AhLfuSrK4ijDyI26yMEUM6v8AxAnJz96enmCKzscBQST9gMmpXo63hTp9qtuWMXZjMZcAOUZQylgOAcGgX9RemjdSxvsuiqFZWBO4F1aTkY8EFYGXB/mHxmoE39nUp2UPDgxSJ7lLDBEgijwVJRVJjOVYLhcaE4euv9QRu1pcLGCXMMoULwxYowUA/XOK4pOndRtCwiXAfsZaFGCCMJPuwjfvET9wxKxCtlSpA4YqFBfRdwk/fjaHbZmwdx+p+oe0kDJULeJ/7IHAII0Rf2fSrj3QsBoSpDBZyqWCssuB+km1kOef8QZB5B0pP1ZHX2SBnljeTCoUbKWSyrgq+oGJzgOg84LkYrCBupxR4AuMiPG/bieV50UiNH2XBiLbZfjwnuAJNA2P7PZQpIkiEvuCvqxCI1vPF2Rzntq0q4GfCDPIFUfSvpSW1lZ3dMESAIoACh2ibA1VF4Kt+lVHu8DmkLq46sqltpPc02QI4iIwl0UiVCsbNhoyDsUkPAOo5rr+mSSNBG0qlZCiF1OuVYqNgdeMg58cUDNRzLOOo69odg22e7p7u4suBGZPpqxIX9zViozwOeohxcLoLZlMG52LNKhWbt+MAKy7eecUGPp63WOa8QTiRmuO6UySYRLFFiM58Z1Zhj+ardQYngi6m6BHEt1AshckdthbN29VGc7jvAnjkY+lXqAooooCipF16nt1SUxE3LQlVeK3xLKrOcKpRT7fB/UQBg5xitcrdQm7LRdu2QjMqyp3Zhhh+Wuj9sZGctk4z4oLE06opd2CqoJZiQFUAZJJPAA85qH/ALVrNAZunRG8/M7ftZY0yBkuZJMAxjgbIG5PAODhq39NQLO9ye48kgZcySSOqoxBMaRk6InA4AqoBjgUEjpBvfxE34kL22WBogrKRGxQrPEDgMwDKGDMOe58YwLFQvUttHG0fUGZ1/BiVm0UsZInTEkZUHxlY3z8durNvcLIiujBlcBlYHIZWGQQfkEYNAn0s6F4D/wzlfvHISyY+wOyf5PvVCkuoWjHWSPHcjzrngOpxtGx+AcDn4IU84IO2yvVlXZcgg4ZTwyMPKsPg8j/AFBGQQaBiiiigKKKKAoorx3ABJOAOST4AHyaDTe3QijZyM4HAHlieFUfckgD7kVh022McSqxy3JYjwXclnI+xYtS1vm4cSkERIcxg8dxsY7pH8oydR85z/Kap0Ef1ZetFaSFIe8z6xrEc4kMzrEFYjwvvyT9Aawtb6aGRoWsu3bRJ+XNG6OmkajCtFgOrYGAFDDjzXrmWa9Rop17FuJBKiOCzzsE0jkXHtVVYv5zll4wObVAh0br1tdx9y2mWVQcHU8qfOrqeUb7EA0/U7q/QILpNJVONg4ZHeNw6jCuHQhtgOPNLtY3sckIgnjeFFRJEmV2lYLkNKJ1bmQjHDLgkeRmgs0VFh9TKHmW4gltlhBYyyhBAyBsB1mViv0OrYYfSqttdJIoeN1dW5DKQykfUEcGg20UUUBUGzW3fqdw6s5miggjcEDthHeaVNT5LHnP21q9UT03L3HupjbrETO8YbBDTJABEsj588hwPjAH1oNnXpJka3kghWTEyJJ7cusMuVdkP8OD22P2U051DqsMEbySvqsa7NgMzBc4zooLHnjgVl1OyE0MkJZlEiMmykhl2UrspHgjORUP0X0i0hjYxdt7hT27qdQ27zIB3AzNlsZOQucDIxQbZes3c8KPYW4G5YFrvuw9sKcK/ZC7uG5IGV+MkZpz+5GN1+Ie6mIAwsAZVgXK6sSqqDITyfeTjPGMCqlFAt0/pkFugjghSJB4VFVV/wBFGKZoooCiiig8IzUSyMttO0LRxJZhE7DprGIjlYzbupPJJIZSoxyQeQM3KW6l02K4ieGeNZI5BhkYZBH/AOD8gjkYGKBmk7vp2zdyNu3IBjcDIYDwsi/xr5+hGTgjJqfbvcW0sVv2Wltu2FFwZN5I3QMSbgPglSAMOCTnyORVa0vI5UWSJ1dGGVdGDKw+oYcEUCg6m8fFxEV/8xMvGfucDZP8wwP5jTlvdxyDaN1cfVSGH+orbStx0uCQ7PEjN/MVXb/q8igarxmAGScD60l/c0X/AJg/aWcf/vQvRLfOTErH6uNz/q2TQYt1qM8QgzH6R4Kj95CQi/sWz9qxHT3lObkjUciFclAR4LscGQ/YgL9iQDVECvaAqX1rrDwtFHFA00kzhQBlURRgySySYIRVXJA8scADzjy665i5S2jhlkLrs8iriKFDsFZpGwrMSMBFyfJ4AqbZTx9PDRSSXFzM3508urOQHyncKLxGnsIWNATiM4BwTQWejdGitYu1CDjZmJYlnd5GLu7seWYknk09SMnXbVd9rmEdsgPmSMdsnIAfJ9pOD5+lYf7R2eu34uDXbXPdixtgHXOf1YIOPvQUaKTh6xbuNknjYHGCroQcv2xyD8t7f3481pX1HasMpcRsvuy6yRlE0XdtmBwOOaCiygjBGQfIPzUW79KxGNUtpHs9GLg22kYLN5Lx6lJAfoymmJ/U1mi7NdRY0aQYkQlkQMWdQDlgNH8fyn6VnB6gtn1AmQGRiEBdAZMYzoM+7yPH1FBp7l8tyF7cMlsQB3N3WZCFOWZNSjgkAe0rjPjijpPqeC43C9yNoyodJo5ImQyEhMhwAc4OCpINO2PUoZwWgmSQA4JR1cA4BwSpODgg/wBaOodOhuI2iniSSNv1I6hlODkZB44IB/pQe9QuDHE7grkA67sFUt4UMx8AnA/rWjoFtNHawx3EhkmWNBI5Odn1G5z9M5qLd9Msy0HSk7irHrc9sHde3BMpRJWkJbVnIIHz2yOAMV1NAVAuZY7S8QrA2L59ZJQzELKkYEOY/ADKrLuMcqmc5BF+tF9bGSJ4w7IXVlDocOmwI2U/DDyP2oN9FSugXrlBb3E0T3UKp3hGTj3baSEEAruF2xjg5AzjNVaCK/qy2WRopGKMshQZViDqIMuSoIRAZ41y2Bk17P6vskUM04wVD8LIToQ53ICkqB23yT+nXnFeXPpO3kaRmL5l32ww/wCJ2Nsccf4Ef/f60peegLOTbIYF5ZJC2UYgzACRVDqwVTgEYGQckEZoGpvWNopADM2ZO0WWOQqG/M2O2MFVMbglScEc4ryH1tYsCRPwATkpMo/SrgAsoyxVlYKOWDAgEGtDehbYu8m0gZ2DZBQYxvx+nLjDsuX2IHClRWdx6ItXjMbblSQ36h5WCO3U8jHAjQ8/I+nFBuHrCzJCiUkn47c2VJeSMK419jlo3QK2CSMYziqHTOoLcQxzoCFlRXAYYYBwGAI+DzUyz9G28a4UtyYif0DJgmknT2qoUe6RhgADAAGMVT6ZYLBDHCpYrEiopbBbCgKMkAAnAHxQNVzPWumQWVtPNbTLYZYSySLErozD24aE+duBhMMTjBya6aoV1m5vPw8ltmCBY5e64cBp99olj8BwoUsx5wSg+tBXsu5207pUyajcqrKpbHuKqSSBn4JNbqKKAooooCovWha3Mn4CZ5AzJ3dFaWPuRq2jLuuNhkgMoPgjPkVaqX6ht5jC0lqsZuYwTFuqnPKs8Wx/SHC65zxkH4oH7W1SJFjjQIiAKqqMKqqMAAfAFSerdHYytNHdG3MqJFIdUJIDP2zGW/RLmVwD7gdh7TgVWtpt0DEakgZXKkoflSVJGR44NSvV3RGu7bsKcZkiJOcFQjqxcf8AMMZH3AoEIPR8feU/iNuxIzomqbJ3ZhcsJDnLEsFwcDAHySWrUfQMOgiMx/8AC9gDVM6iFoDIB9cP+3OPmo936X6mVmkQqs1yA7tHNIukojkVACrLlEzGuTt+gHRvik3pq978c4kYkSXBkUzSHeOS5iaKNDn8tVRQ2q4DGMK3DE0Dl56SUStN+J0VpEkkBVcEQzJcKAxI15Q5PPB+MZrW3oCPSNRMw7UUEanVfNurBHI8HkglfBxj5qIfSfU2iHckZ5FDAEzPgSNa3ETTLljhS7xcccA4ROdnOodOvICJXkmeNpZDKizXJLAzTtCqFMmFQrRZ11B0CnzQO3foMzPvLdsc7EhUCLs6zo2qhtQMTMcsrPkDLnJB2J6H9xLXBPcZGl/LUb9qY3CaHJMfuLZ88EYwQGpG/wCndSlsLRYi6zC3/MZpZUkWcxx6FyGXbnfJYNzj2HJI2ydCvw+/cldGkkaWMXMqs6meUwpG2w7WFeMkKVBCYOaCr0ToH4cxtDMGTtQRtlR7kgidEKEcAksp+mBj5q6anem7F4LO3hkxvFDEjYORsiKpwfnkean9WEV/KbJZmAt3hkuFVeHHudLcyZ9pJVHYDnXA42oGfTXekQ3NzAsU0pbC6ASLCrv2I5WydnAJJ+AXPHmrNFFAUUUUEbrlgVLXtvbrLdRxlEBdk7iFldoiRwT7SV2GAT8ZJqlY3YliSUI6bqraupV12AOrqeVYeCK31Bv7A200t/F3pNo/zbWPVu8yahJIwxGsgXYYB9wxxkDIXqKV6X1SK5hSeB945BlW5GR45B5BHIIPIINNUBRRRQFFFFAj1bqSQoNpFR5WEcWwYhpXyI11Xk8jJ+wPI81j0Dpr29tHFJM0zqMvKxJLuxLO3Phck4X4GB8UjYkXd08klsVW0kZLeRu4Gdims8gjIA150Vuc+/GAeb1AUUUUBRRRQFFFFBzYSDp1yTl1TqE44wnZiuChyc8MrS6j6gsPgtzZ6u7C3lMedhG5XHnYKcY++cVuubcOpUgHwRkBgGU5VsHjIIBH7Uh6dmuTAq3iqJ0yr6lSsmrMqzKAfarhdsHBGSPig4+369cQqrWzyyxskAlknErrDK25dlZypPgBhtqpZDxkguy+rOohM/hVDCOGRm0m1VJuwnhip2VjcsQcYWFc42zXb0UHz3/aq+XaQgKGjBBaKd4yyd/RERSGDS4Q5yw4wNtlJZi9XXsjFY1jyZWjI7Ux/DYu4rcdxt8SEo0jcaj8s/GcdzWEUKoMKoUEscAADLEsx4+SSST8kmg4Kf1j1JI0LRR5dI3L9mYLGXS4PaK9zJJaJOc59+NSSuWL31D1D2khY1aT4ilLRpFe2kLB2Le4MkshJ1XhCR8kdxU3r3VXt4do4HnkZgkcSA+52zjd8YjQYJLngAfJwCGPXr2dYmSzVHuWA0VmUBAzBDM4JyUTOxA5OMDzTdhYrEuAqBmO0jIgQSSEAPIVHycfJJ8cmlendDjjlluSCZp9d2Lb6hQAIoyQMRg5OMDJJJqnQFFFFAUUUUBRRRQSrvp034lLiK4YIFKywEbJIo2KsgyO3Lk/q8EcEcCs+hdeiu4zJFspViskbqUkicAExyIfDDI+oOQQSDmqVTOu9Ha4Qdq4kt5EbZJIzxtgjEkZ9sqfVW/oQeaCnRUmPrbrcPBNbyIqrslxw0MiqqlyzD/CYEn2vjIGQT4FVWBGRyDQe1H9S3DtH+FguEhubhWETNtkBde7IoH8Sq2R8Z1quTUH04Uuj/eDW5jd1aOMsz7G3EhZGKEARl+HIxnGmTxgBatYO2ioGZtVC7MSzHUAZZjyzH5J81topTq94YbeWVcZjjdxnOMopYZ+3FA3Xz6TqN5E5ZIbiW5DXRdC90IsKs5gUR6GBoiBEAVZXzjkkuKZtfX8u0YkiTiF++Acf70ssUIijJPC5Ytg5YiSPGScFyD+0BGwTbuqjiRiyL22MlzFjD4ONrd8k64DKTjkAE7fr3U2wQoKrsduxPmUB7YBfcF1OJJ+QD+gfRhWNj6h6pIVDRBcuu+IJ2aMCO6keIbaq3MUKhgx/wAT/mSmV/tFUq5FrJtEHZ12VcIiW7llL42P+8R8Y+GwT7dtsfr4O2sdrKxZ9YyfYsgHey2zAAf4LHAzwy/OQAX9MdXvp7lDOrhAsvPbkjVtktWXYNxkMZlHJxgjJIJrtK41f7SUwP8AdZslTJqo3Ih7cEm/syNsToNTgZDe7wTvT1q7zRxJbEbzBNmdeYw9xG7gDwQ0JIB8hh4OQA6uue6/DFayHqjd38mIpKsYU9yLZWDOp89r3vkc4L+fFdDXjoCCCMg8EHwc/BoMYpVdQyMGVgCGBBBBGQQR5BrOo/R/xEc00M4TtBlNs66LmMrzB2xzmMqefkMPoasUBRS9/wBQigjMs8qRovl3ZVUfuTxU2Se6nlmgELQQBCoue4glZ2Aw0CYYaqCfc+OcYHBoN3VustC8UUdvJM8rY9owkaKV7kkkh9qgA8DyxwAPkHR+gLbvLKZHllnbLyOedVJ7caqMKqKCQAB8knzW/o/R4rWIQwg6gkkszMzMxLM7sxJZiSSSfrTtAUUUUBRRRQFFFFAUUUUBRRRQYTQq6lHUMrAgqQCGBGCCDwQfpUGT09LbQhOlNHFq7P2pRK8TBhgxKdswLnkaAgH+Hk10NFByXXesSS3MXT1MkDs0bvKEkKSRKGkkSCVAQrEoEPc14LYySM9TBOrqHRgynkMpBBH1BHBrZioY9IW8aSraA2jTFCz24RDlDkEKVKDPIPt5B5oLlYyxKylWAKsCCCAQQeCCD5FQ5oupwpEsLQ3JXbutMWhd+cqU7SMgIGQRrzx4psdYk/E9hrOcIc63H5JhOF25w+6nOV5Xk0G6Tols2dreI7fqzGnuJ0BJ45P5cf8A0L9BRH0S1VdVt4gvHAjjA4LMOAMeXc/5m+ppG19Z2Ukckne7aQ69wzJLB29zhdu8q+TxTcfqC0ZEkW6hKSZCOJYyrlThgrZw2PBx4oEOoeh7KUIvaVEUklESJVfOgO3tJBwijZSGxxnFUoui2yuXW3iDM2zMI0DM3v8AcTjJPvfn/nb6mmfxCZ13XJ+MjJ/pWJu4+fzF9oJb3L7QPJP0FAtL0C0YANbQkLggGOM4KqqrjjjAVR+yj6VsbpNucEwR8EEexOCHMgYccEMS2fqSaXuPU9lHF3nu4Fj207hlj03xtptnG2Ocea1S+q7YNEqmSTvqrRmKGeVCjnCuZEUqq/OSRxzQWKKkp1W4eZ4lsnVFDYnkeERu4xqFVWaTU/zFR48UvF02/mgZLq6WF2YENaAqVTHKbzBsk/zBVP0xQZ+pbW2fsNNMIpI5kaF90RzJnXtJtw3cBKFfkN9gaT6N6skv0c2ttJEAjBZrhVCCdSFMRiV921OwYjAypAJqrb+nrdWjdoxJLEgRZpPzJgoz/wAVstnkknPzVFVA8D/4eTQR7X02pWI3rC7mhZmWV4410ZsZ7aKMKBgYzkj61ZoooCiiigKKKKAooooCiiigKKKKAooooCiiigKKKKAooooPCM+aQveh2syhJraGRVJIV442ALeSAwIGaKKDyT09aNMs7WsJmTGspjj7i68Lh8ZGPjmsYfTdkjSMlnArShhIRFEDKHOWWQge8HyQfNeUUDNn0yCJNIoY41znVERV2xjbAGM/em6KKAooooCiiigKKKKAooooCiiigKKKKD//2Q=="/>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26" name="AutoShape 4" descr="data:image/jpeg;base64,/9j/4AAQSkZJRgABAQAAAQABAAD/2wCEAAkGBhAREBUREBAWFRUUGBcaGBUYFxIYFhQYFRcVFhYUFhYaHicfGBkkJRgVHzEgJCcsLC04GB49NjAqNiYrLDUBCQoKBQUFDQUFDSkYEhgpKSkpKSkpKSkpKSkpKSkpKSkpKSkpKSkpKSkpKSkpKSkpKSkpKSkpKSkpKSkpKSkpKf/AABEIANMA7wMBIgACEQEDEQH/xAAbAAADAAMBAQAAAAAAAAAAAAAABAUCAwYBB//EAEAQAAIBBAEDAwIEAwUGBQUBAAECAwAEERIhBRMxBiJBUWEUIzJxQlKBBxUzgpEWJENikqE0Y3KT8FODwcLSF//EABQBAQAAAAAAAAAAAAAAAAAAAAD/xAAUEQEAAAAAAAAAAAAAAAAAAAAA/9oADAMBAAIRAxEAPwD7jRRRQFFFFAUUUUBRRSHWeuQWkYkuH1BYKoAZmd2zhERQWdjg8AfB+lA/WLyBQSxAA8knAH7mpBu72SaIwxRJblVd3lMnfOwJMSwgDRhxksx8+KxtfSsQ7v4iWW6E2NluGV48A7BVhAEagf8ApzxyTQZX3q22jjWSPe4Dlgn4aN7jYocMMxgquDx7iB5+hrY/Ubr8SsaWf5JALTtLGuMjOFiALMQcDnUfc1Rt7ZI1CRoqqOAqgBQPoAOBWygh28PU2Eolmto8giExxyuUOeGk3cB+PgAfvQOiXjQCN+pSCQOWM0cNspKkYEejI6gDznz96uUUHOC0Ml52x1C5DW0duzxAW4SQM0mGkPayxftsCFK4xxjNbLn0xO0jSJ1S7j2YkIPwZRcnOqhoCcDxySfvW6zuEPUblBCAyw2xMuTmQM1zqhHga6sf89WaCUenXX4rvC9PY+bYxREfox7ZRhxz7uc/TitFsvU0WXuNazMAOyFWaDJydhIS0uOMYIFXKKCDL6inhhSS5sJtmZgyW+LntgeHOurMp/5VJ+1PL6gtTMLfvxiYgMIWZVlwwyD2z7v+1UK1S2kbsrOisyHKkqCVOMZUnweT4oNtFQ4fTRgWX8HO6NJgqszSzwxsGLMVjZwRtkggMB4wKwk9Qy2sURvoWLOXDyW6SSwx6thGcf4ihgQf0kDkE+CQv0V4rg+D44P2P0r2gKKKKAooooCiiigKKKKAooooCtN3eRxI0krqiIMs7EBVA+STwBWm/wCsQQNEksgV5n0jXks7ecADJwPJPgfJFTLPos1wu3VEhkPcEkcKqWjg1BCjdsGVuSSxUDJ4HAoNwv7macLFEq2umTcmRS0m6Er+HRc8Alcs+B9AfNbuh9AjtEKo0kjO2zySu0kkj4C7sTwDgAYUADHAps9QhEohMqdwjIj2XcjnkJnJHB5x8UxQFFFYJOpJAYEjGQCCRnIBI/o3+h+lBnRRRQFFFYxyBgGUgggEEEEEHwQR5FBPtjc/jJt//D9qHtfo/wATafvePd47Pnj6fNUqjWdug6hcOJgWaG2BiwcxhWuSrk+MNsw/yGrNAUUUUBRRRQFFFFBHf01Es0tzbDtXEqMpcbmNmI9sksIYLIy488HGRmtMHqIwJEvUzFDLK7IrIXMMhABBDsMRlvhGOeMAmr1arq1jlQxyoro3lWAZW+xU8Gg20VAmNxaPPcSTPPbEb9kRbzRNlQREUxtFjJ1ILDHBNV+n9QiuIlmgkWSNxlXU5BH/AM4+2KBiiiigKKKKAooooCkOqdUEf5aFGuHRzDCzhDKYxkgHnjkZOOM1s6rfGGF5VieUopIjQZdz8Ko+/wD2pTo/SsMLqeJFu5IkSVlZ2VQuW7cZY8LknOMZPJzxQe9I6SyhJrrtSXYQq0yRhcKzF+0nyIxnAycnAJ5qrRRQcjcenrgu8YjQq93Hc/idveoR43KFNclwE7S4ONSMngqYlv0HqslrEVkljzHHtG1zN3TL2WDTGRuU9zLmP41zqT7T9JqB6shnf8MkG3unO+JJ4hoLe4b3yRe5V2CfYnUfNBEv/TnUdV7UrFzJO7ObicYJnDQALsEVO2CNQpGTjGCWrWnpW+jUom2g2AjW6mjJYvdFJe4OQB3IiV/7EoAW5eoX8UrRxJ7I+TstxN3AsdgNFkZ889yf3YOSmcZDZ02nqTqU0pjVAis64ka2l9gMd6zKy742Bhtx+rjuc/qUAPZ/TXUNM9+Rnbu9wieRQ3+8wvDohOqjQSgopT9WNhnNb+vdH6jJawRxMFlWFg7LNOuJtECNttl1yHyz7nxwckhV/VnUNC3aw/5e0X4e4/JRjBmYy5w3DyHXHGOf8N8udC9RXslxHHPGArpk6wzjB023ZpNdATwMBvIU4IJIan9PXwbbuO6s7tJH+JmUuvenaNUbP5WFeI4XAPb1PFdH6bsHgs7eCTG8UMSNg5GyIqnB4yMjziqNFBFsnh/vG5CqwlENtuxI0KFrnthR8EESZ/cU16g6mba1mnVQxjRmAPC5A8sfhR5J+gNarWaQ306GECMRW5WXQgyMzXG6F/DBcIcfG5+tVGUEEEZB4IPgg/BoOZuPUU1s5ilMVxJqZAI8QlERWZ91d2A/T7efdk5wFLVqX17llxbN23YgPugOqzx27OU8j3SxkL5I28EAG0PTVkI+0LSDt7badqPXbGu2uMZxxn6cUyemwnzCnkn9C+WcSMfHyyqx+4B8ig5U/wBpCqgkltXWPtiTIeNm1eGaaP2j+IiCQEZ4yvJycbj69OQptJAwJDAnTDFoY4wO4qsQzTxDJUY930Gej/uqDAHYjwAABonAVWVQOPADuAPox+prXF0O1VDGttEEIZSojjClWwWUjGCDgZHzgUHO3/r7sd0vASYgS0asrECMOZSGQtvjUeVULsNyhpm89USLZNKoXutPNBENZGGVuZYlZkTLMFRDIwXzo2MVWf05ZsoVrWEqPCmKMgeR4x9z/rTS2MQ1xGg1ZmX2r7WfbZhxwx2fJ+dj9TQcqv8AaGCsZW1cmRYuBklZZe7tCUVS+U7M2x14KgYOeHOmet0nniiELqJQMMfKP2ROUcAaqQp8bbZ/h1IY2JOi2zKytbxFXOXBjQhzsX2YY5OSWyfkk0Q9EtkcSJbxK6gAOI0DABdAAwGQNcL+wx4oHaj3ljPHcJPDNiFVYTW+mysBu4khCDYS5OCOQwPjIFWKKBPpPVobqFJ7dw8bjIYf6EEHlWByCDyCDmnK5e+unguIzYpFJF3mW8iTsq0TSr3DdSPkYYBeVblg4+cV0sMyuodGDKwBVlIKsCMggjgg+c0GdFFFAV47gAknAHJJ8AD5Ne1I64bhnghhiVo5Hb8Q7qrIsKqdo9SQS0hIUcEAbE/AITrXp1v1JheuXkgeF4ooXXVNXZlkmx5buKE1Jxhf/VTItbmzEEVrH34ASriSZjcIGcasjucOiAkasdsAYJIwbscYUBVAAAAAAAAA4AA+BWVApYdVgn37MqSdt2RwrAlHUkMjD4PHzTdS+o9CV+5JbsLe5kVV/ErHGz4QhlDBhh14xg/B4I4IVT1CbdoIL8hZZvaJUSQWzSFiFjDnOjsMEKx55AJoL1FFFAUUUUBRRWEkyrjZgNjgZIGSfAH1P2oM6KhxepTMJha20rtEPaZFeCKVtipRJJFycYOWCkfTNeuvU5IVw1tbylm39s1wgX+HU5i931yMUG61ilF9OxmBjMUAWLckxsGuN3KeFDZQZ+dD9Kq1y996YvTctc29+sLSRQxyA2yyBjCZSGGZAVB7rcftzT1xb9SAiEU9u2oAmMkMqmQ59zR6SYTjPtIb96C1RUlep3QuHSSz/IAJWdJVfOBnDQ4DhjyAF2/etvRfUFvdqzQOW0OrqVdHjbzq6OAyn9xQUaKKKAooooCiipd919Y7iO2WKWSSTBOie2KMkjuyuxCqvBGMlj8A0DXU+qQ20TTXEqxxr5ZiAB9B9yfgDk0gk13PNE8RjS0KBzssnflLqcR6Nr2QuQxJyxOBgc170vokql3vLj8S7OrBSirDDoWKdmPkqRnlixJIHirFAl0votvbRCG3iVE54H8RPlmJ5Zj8kkk/NSemmKwmisEjcRTCVoXJ2RXDGRrYDHsAUllycYVh/DXR0n1i0klgkjilMMjKQkq4yjY9rYPkZxx+9A5RSPR7xpIh3HjaVMLMIm2RJQql0B8jGfB55FPUGMjhQWYgADJJ8ADyTUT0xaxuZb5JWk/G9uRGKsmsKoBFGFJ8DLtnjJkNZ+qrvWJIex3vxUiQFPdrpLnus5HhQgkOf2HzVeCFUVUQBVUAADwABgAfagzooooCvCK9ooOfPTZ7NZ5LYy3IchltZJVwhLEy9qVwWGQchGbXI4IzxV6f1JZkVsMjMgcxSALKgbIG6ZyvII/oabqde+n7eaaO4eP82E+yRSyOBzlCykFkOTlDlT9KCjRXPR9bmtEkbqjQpGrqqXEfcCOJCQO5GdjCR7QSWK85yK2Xl7LcsiWFxEESRfxEoKu6KFWQRRrgqTICAWJ9oJwCSMB7c9cafvQ9OeJ54WRXZ+4Yoi36hsoxJIoGTGGGMjJGa2xemYDLFcXCLNcxRqgmZfBHJdI8lY2JJOVGfAzgCqVtaRxLpGiouSdVUKMsSzHA4ySST+9ezzqil3YKo8sSAB+5NBsoqcL2aT/Bj1X/AOpKGH9Vi4Y/5in9ay/u12/xLiQ/ULrGv9NRuP8AqNA/mikf7mj/AJpf/fuf/wC68/unH6Jpk/8AuF/+0u4oH6Q6z0SG7j7cwOAwZSrOjo651dHQgqwyeQa8JuY/5Zl+35cn9Mko5/6BW+z6gkuQpIZcbIwKuufGynnnnB8H4JoJqSXcEscWgmtu2FM7SATxsinMkwbCurYHK4IOeMHitaXccqLJE6ujgFXUgqwPggjgittc9LZtYsn4K1DQyzEzopbdDLqomiUnUKCMsoA8kjnOQ6GtVxcpGAZHVQSFBYgAsxCqoJ+SSAB85qbdeoULy29qyTXUab9rZgq5IAEkgUiMnOdT7iBwMc1ha+n+52Zr8RzXMOxDKriJC7Z/LjZiMqMKHPu4PjJFBqJubwTwvHLaRAhEmWRFuJNW/MZQAwjjbGA2dsHIA4NVundPjgiSGJdUQYUZZiB92Ykk/cmmaKAooooCiiig5+VoLO+U6uD1BtWbYdoSwREp7TyHdFYZHntD5xnoKl+po5zaym1CmdFLRBlVgXUEquG4G3K5+NqowSFlVipUkAlTjKkjOpxxkeKCZMlw1/GVcC3SGTdQwy8rvGI9lxnUKshB+pqtULotvCby9njlLuWhhdSuBEYY9win+LPe2J/5vtSHWbO8lvmWB2RUhtirmWZERjNc9wiJUKTnVUyrEfw+M5oOsor50nq+/jRUWIuyxOSJIZSxcWss6MWD5ZS6pH+kAkkAlhVY9c6gJu2VjKxyKGYQzDuq88UeU/MITCuxz7v0Z4GRQdfRXA23qfqKwI5iGMRpgxXDOpNpBM0zEvs4VnkXTGW1xttVH/aec2QmGpc3EkW4hfTVJZEDsjSApkIOS2MkYByBQdbRXCJ6s6kYVmMCjYIpTsXGyFrOK4eU+/LKrtIugAJ1xnauh9JXMsluzSuXJmnw+rIGQSuEKq2SFxjHJGPBxQbPU3VjbwZWHvPK6RJFyA7Strh2wQqAbEkjGAf2rd0LoNvZQiC1iEcYLHUZPLEsSSeT5/0AHgCtAWd7/YSr+Hih1MYYFjNIwbMi/AVFXH17hqvQaLy7WJC7Z4wAByWJOFVR8sSQAPvSttYM7CW4wXHKp5SH9v5n/wCc/fGATkgHdnMh/RCSqD4L4xJJ/TJjH0xJ9ao0BRRRQFFFFAUre9OWXByVdc6yLgOmfofkeMqcg45BpqigSsrxixilAEijPGdZF8CRM/HwV8qeOQVYumkuqWzMoeMfmR+5P+bj3Rk/Rh7ftwfIFM21wsiK6nKsAwP1DDIoOd9OWVt06U9PiyO6ZriIaKqhd0DxK45cqWB55CsvOBT3qP1GlmsZZQe6+gLSRxqpEckmWdyABhCP3Irz1SzxxC5htlnlgZSq6F5AjMqT9rHIcxl8Y848Gnr7pkczRtIM9pmZRxglo5IiGB8jEjcftQS7T1taOiu79rZSxDg4UDuH3SLlMERuynb3AZGRTA9VWnsBlILnABSVSuWCLuCo7YLEAF8Ak8ZqWnomxSdFDuJO22q7Lt20yilX13AjEqKMMPCZ2IzWaei7SBNjK6IMNJzEkcio4lVXVUCogbJwgXOzZzschRl9W2ahCZxiQIy+1+VkV3VzgcLqjsScABSTjFeL6usyVHdwWIGCkqlclApcFR2wS6YLYB2GCam2PpGyJKd2SXVBGUdxlYgs9sqYCg64MyhvJ1zk+a9PpS0lnVnnklmiPuZjGzYj7TiNvZiPGyH2aMd2JJ2JoK9r6htpIWnSTMajJbSQZBAYFQVy4IIwVBBzxmtKerrMlV7uC3HKSrqTI0IEmVHbO6MnuxyMVotfRkEcE0AeTWc5c5QHIAGcKoUk45LAl+dtq0W3pGyTa22YlwjlCUGViuWuBhVUALvIwIAAwcDFBT6P6ghujJ2diI9PcVZQ26BwVDAHGCDnGDkYzS3pC1SCBrVZ+7+HkkQn3ZQM3dSNs+SqSRjPzxTPRehJbBtZJHLaDMjKSBGoRFGFHAA/c8kkkk0t02SFL+6iRGWR0gmdi2Vk2DwKVX+EgQAH68UGPpS5ik/FNHB2v97nV/czd14ysZl5HtzqBqOBip8fr5PxM8JUMEIWEIcySOssdvIrBiFX8yVFBJAxsTgCrPp97oib8WMEXEwi/RzBt+Sfb9vrz9a3TdBtnjWNoEKJnVdRhdgQxH0JyeaCFb+uiTo1pKZC7LhTBhSbi6giVi0g9x/DtkjIGRzXtt6+ifBEUrK5UghYx20dLRgZMyZJzcp+kfDccc27foFrHjSBBqQRgDOVaRwc/XaWVs/V2+tEXp+1UarbxgYAwFHgCMAfsO1F/wBC/Sg5u59bRyQmNrUys6IdHESRyhzGCFV3JYDfnGQCrAkcUxa+sraIRxJavGryaIo/DD9U/ZDhFk21ZyecfUmq59LWfP8Au0fK6kY4xgL48A4CjbzgAZwKzb05aEq3YTKY148FXMqnHyQxLDPgkkYyaCDYf2ghohJJA+e0JnRND2oxDbyyOWZxuB31wANj9OKsdG9SpcuyLFImoJDN28SKsjxFl1Yke5D+oDgj74z/ANlbLUJ+Gj1XwNRjwq6/dcKg18YVeOBTkHToozskaqcEZAAOCxcj+rMx/cmgl+mEgL3c0Ls5kuZBIWXXV4VS3Ma8cqvb4P3NWpZAqlj4AJP7DmovpS7RxcqkAi7d3cKwBJ3bfcy8jy++2PAzVe8i3jdB/ErD/UEUGno0RW3jz+oqGb7s/uc/1JJ/rTlLdNm3hjf+ZEP+qg0zQI9T61Bb470mu2SAAzMQuCzaqCdVyMtjAyMkZpuKZWUMrBlYAhgQQQRkEEcEfepXVemTmdLm2aPcRvEVkDldXZGDgqcggr4/iz5GAah3Xom4cuGmjZDluVdWd2W2DbBTqq5hYjAI94ypClWDsFuULMgYFlxsM8rtnXI+M4NbM1wn/wDn0mBn8M51QFXiwjFUmjGwQAHQOmpAHhuFyCNo/s6GVYujSAyHusmZGYzW8kchbzuoicZ+O4ceTkO1zXtcT0X+z0xSI0rpII5EfBXPcaNLhVmcYA7pMytkhjlP1H269tQFIdJ4Ekf8krj+j4lA/oJAP6U/SHTOWnb4aU4/yRxRn/ujUDF9AZInRWKl1ZQwJBUsCAwI5BGc5pX07v8AhLfuSrK4ijDyI26yMEUM6v8AxAnJz96enmCKzscBQST9gMmpXo63hTp9qtuWMXZjMZcAOUZQylgOAcGgX9RemjdSxvsuiqFZWBO4F1aTkY8EFYGXB/mHxmoE39nUp2UPDgxSJ7lLDBEgijwVJRVJjOVYLhcaE4euv9QRu1pcLGCXMMoULwxYowUA/XOK4pOndRtCwiXAfsZaFGCCMJPuwjfvET9wxKxCtlSpA4YqFBfRdwk/fjaHbZmwdx+p+oe0kDJULeJ/7IHAII0Rf2fSrj3QsBoSpDBZyqWCssuB+km1kOef8QZB5B0pP1ZHX2SBnljeTCoUbKWSyrgq+oGJzgOg84LkYrCBupxR4AuMiPG/bieV50UiNH2XBiLbZfjwnuAJNA2P7PZQpIkiEvuCvqxCI1vPF2Rzntq0q4GfCDPIFUfSvpSW1lZ3dMESAIoACh2ibA1VF4Kt+lVHu8DmkLq46sqltpPc02QI4iIwl0UiVCsbNhoyDsUkPAOo5rr+mSSNBG0qlZCiF1OuVYqNgdeMg58cUDNRzLOOo69odg22e7p7u4suBGZPpqxIX9zViozwOeohxcLoLZlMG52LNKhWbt+MAKy7eecUGPp63WOa8QTiRmuO6UySYRLFFiM58Z1Zhj+ardQYngi6m6BHEt1AshckdthbN29VGc7jvAnjkY+lXqAooooCipF16nt1SUxE3LQlVeK3xLKrOcKpRT7fB/UQBg5xitcrdQm7LRdu2QjMqyp3Zhhh+Wuj9sZGctk4z4oLE06opd2CqoJZiQFUAZJJPAA85qH/ALVrNAZunRG8/M7ftZY0yBkuZJMAxjgbIG5PAODhq39NQLO9ye48kgZcySSOqoxBMaRk6InA4AqoBjgUEjpBvfxE34kL22WBogrKRGxQrPEDgMwDKGDMOe58YwLFQvUttHG0fUGZ1/BiVm0UsZInTEkZUHxlY3z8durNvcLIiujBlcBlYHIZWGQQfkEYNAn0s6F4D/wzlfvHISyY+wOyf5PvVCkuoWjHWSPHcjzrngOpxtGx+AcDn4IU84IO2yvVlXZcgg4ZTwyMPKsPg8j/AFBGQQaBiiiigKKKKAoorx3ABJOAOST4AHyaDTe3QijZyM4HAHlieFUfckgD7kVh022McSqxy3JYjwXclnI+xYtS1vm4cSkERIcxg8dxsY7pH8oydR85z/Kap0Ef1ZetFaSFIe8z6xrEc4kMzrEFYjwvvyT9Aawtb6aGRoWsu3bRJ+XNG6OmkajCtFgOrYGAFDDjzXrmWa9Rop17FuJBKiOCzzsE0jkXHtVVYv5zll4wObVAh0br1tdx9y2mWVQcHU8qfOrqeUb7EA0/U7q/QILpNJVONg4ZHeNw6jCuHQhtgOPNLtY3sckIgnjeFFRJEmV2lYLkNKJ1bmQjHDLgkeRmgs0VFh9TKHmW4gltlhBYyyhBAyBsB1mViv0OrYYfSqttdJIoeN1dW5DKQykfUEcGg20UUUBUGzW3fqdw6s5miggjcEDthHeaVNT5LHnP21q9UT03L3HupjbrETO8YbBDTJABEsj588hwPjAH1oNnXpJka3kghWTEyJJ7cusMuVdkP8OD22P2U051DqsMEbySvqsa7NgMzBc4zooLHnjgVl1OyE0MkJZlEiMmykhl2UrspHgjORUP0X0i0hjYxdt7hT27qdQ27zIB3AzNlsZOQucDIxQbZes3c8KPYW4G5YFrvuw9sKcK/ZC7uG5IGV+MkZpz+5GN1+Ie6mIAwsAZVgXK6sSqqDITyfeTjPGMCqlFAt0/pkFugjghSJB4VFVV/wBFGKZoooCiiig8IzUSyMttO0LRxJZhE7DprGIjlYzbupPJJIZSoxyQeQM3KW6l02K4ieGeNZI5BhkYZBH/AOD8gjkYGKBmk7vp2zdyNu3IBjcDIYDwsi/xr5+hGTgjJqfbvcW0sVv2Wltu2FFwZN5I3QMSbgPglSAMOCTnyORVa0vI5UWSJ1dGGVdGDKw+oYcEUCg6m8fFxEV/8xMvGfucDZP8wwP5jTlvdxyDaN1cfVSGH+orbStx0uCQ7PEjN/MVXb/q8igarxmAGScD60l/c0X/AJg/aWcf/vQvRLfOTErH6uNz/q2TQYt1qM8QgzH6R4Kj95CQi/sWz9qxHT3lObkjUciFclAR4LscGQ/YgL9iQDVECvaAqX1rrDwtFHFA00kzhQBlURRgySySYIRVXJA8scADzjy665i5S2jhlkLrs8iriKFDsFZpGwrMSMBFyfJ4AqbZTx9PDRSSXFzM3508urOQHyncKLxGnsIWNATiM4BwTQWejdGitYu1CDjZmJYlnd5GLu7seWYknk09SMnXbVd9rmEdsgPmSMdsnIAfJ9pOD5+lYf7R2eu34uDXbXPdixtgHXOf1YIOPvQUaKTh6xbuNknjYHGCroQcv2xyD8t7f3481pX1HasMpcRsvuy6yRlE0XdtmBwOOaCiygjBGQfIPzUW79KxGNUtpHs9GLg22kYLN5Lx6lJAfoymmJ/U1mi7NdRY0aQYkQlkQMWdQDlgNH8fyn6VnB6gtn1AmQGRiEBdAZMYzoM+7yPH1FBp7l8tyF7cMlsQB3N3WZCFOWZNSjgkAe0rjPjijpPqeC43C9yNoyodJo5ImQyEhMhwAc4OCpINO2PUoZwWgmSQA4JR1cA4BwSpODgg/wBaOodOhuI2iniSSNv1I6hlODkZB44IB/pQe9QuDHE7grkA67sFUt4UMx8AnA/rWjoFtNHawx3EhkmWNBI5Odn1G5z9M5qLd9Msy0HSk7irHrc9sHde3BMpRJWkJbVnIIHz2yOAMV1NAVAuZY7S8QrA2L59ZJQzELKkYEOY/ADKrLuMcqmc5BF+tF9bGSJ4w7IXVlDocOmwI2U/DDyP2oN9FSugXrlBb3E0T3UKp3hGTj3baSEEAruF2xjg5AzjNVaCK/qy2WRopGKMshQZViDqIMuSoIRAZ41y2Bk17P6vskUM04wVD8LIToQ53ICkqB23yT+nXnFeXPpO3kaRmL5l32ww/wCJ2Nsccf4Ef/f60peegLOTbIYF5ZJC2UYgzACRVDqwVTgEYGQckEZoGpvWNopADM2ZO0WWOQqG/M2O2MFVMbglScEc4ryH1tYsCRPwATkpMo/SrgAsoyxVlYKOWDAgEGtDehbYu8m0gZ2DZBQYxvx+nLjDsuX2IHClRWdx6ItXjMbblSQ36h5WCO3U8jHAjQ8/I+nFBuHrCzJCiUkn47c2VJeSMK419jlo3QK2CSMYziqHTOoLcQxzoCFlRXAYYYBwGAI+DzUyz9G28a4UtyYif0DJgmknT2qoUe6RhgADAAGMVT6ZYLBDHCpYrEiopbBbCgKMkAAnAHxQNVzPWumQWVtPNbTLYZYSySLErozD24aE+duBhMMTjBya6aoV1m5vPw8ltmCBY5e64cBp99olj8BwoUsx5wSg+tBXsu5207pUyajcqrKpbHuKqSSBn4JNbqKKAooooCovWha3Mn4CZ5AzJ3dFaWPuRq2jLuuNhkgMoPgjPkVaqX6ht5jC0lqsZuYwTFuqnPKs8Wx/SHC65zxkH4oH7W1SJFjjQIiAKqqMKqqMAAfAFSerdHYytNHdG3MqJFIdUJIDP2zGW/RLmVwD7gdh7TgVWtpt0DEakgZXKkoflSVJGR44NSvV3RGu7bsKcZkiJOcFQjqxcf8AMMZH3AoEIPR8feU/iNuxIzomqbJ3ZhcsJDnLEsFwcDAHySWrUfQMOgiMx/8AC9gDVM6iFoDIB9cP+3OPmo936X6mVmkQqs1yA7tHNIukojkVACrLlEzGuTt+gHRvik3pq978c4kYkSXBkUzSHeOS5iaKNDn8tVRQ2q4DGMK3DE0Dl56SUStN+J0VpEkkBVcEQzJcKAxI15Q5PPB+MZrW3oCPSNRMw7UUEanVfNurBHI8HkglfBxj5qIfSfU2iHckZ5FDAEzPgSNa3ETTLljhS7xcccA4ROdnOodOvICJXkmeNpZDKizXJLAzTtCqFMmFQrRZ11B0CnzQO3foMzPvLdsc7EhUCLs6zo2qhtQMTMcsrPkDLnJB2J6H9xLXBPcZGl/LUb9qY3CaHJMfuLZ88EYwQGpG/wCndSlsLRYi6zC3/MZpZUkWcxx6FyGXbnfJYNzj2HJI2ydCvw+/cldGkkaWMXMqs6meUwpG2w7WFeMkKVBCYOaCr0ToH4cxtDMGTtQRtlR7kgidEKEcAksp+mBj5q6anem7F4LO3hkxvFDEjYORsiKpwfnkean9WEV/KbJZmAt3hkuFVeHHudLcyZ9pJVHYDnXA42oGfTXekQ3NzAsU0pbC6ASLCrv2I5WydnAJJ+AXPHmrNFFAUUUUEbrlgVLXtvbrLdRxlEBdk7iFldoiRwT7SV2GAT8ZJqlY3YliSUI6bqraupV12AOrqeVYeCK31Bv7A200t/F3pNo/zbWPVu8yahJIwxGsgXYYB9wxxkDIXqKV6X1SK5hSeB945BlW5GR45B5BHIIPIINNUBRRRQFFFFAj1bqSQoNpFR5WEcWwYhpXyI11Xk8jJ+wPI81j0Dpr29tHFJM0zqMvKxJLuxLO3Phck4X4GB8UjYkXd08klsVW0kZLeRu4Gdims8gjIA150Vuc+/GAeb1AUUUUBRRRQFFFFBzYSDp1yTl1TqE44wnZiuChyc8MrS6j6gsPgtzZ6u7C3lMedhG5XHnYKcY++cVuubcOpUgHwRkBgGU5VsHjIIBH7Uh6dmuTAq3iqJ0yr6lSsmrMqzKAfarhdsHBGSPig4+369cQqrWzyyxskAlknErrDK25dlZypPgBhtqpZDxkguy+rOohM/hVDCOGRm0m1VJuwnhip2VjcsQcYWFc42zXb0UHz3/aq+XaQgKGjBBaKd4yyd/RERSGDS4Q5yw4wNtlJZi9XXsjFY1jyZWjI7Ux/DYu4rcdxt8SEo0jcaj8s/GcdzWEUKoMKoUEscAADLEsx4+SSST8kmg4Kf1j1JI0LRR5dI3L9mYLGXS4PaK9zJJaJOc59+NSSuWL31D1D2khY1aT4ilLRpFe2kLB2Le4MkshJ1XhCR8kdxU3r3VXt4do4HnkZgkcSA+52zjd8YjQYJLngAfJwCGPXr2dYmSzVHuWA0VmUBAzBDM4JyUTOxA5OMDzTdhYrEuAqBmO0jIgQSSEAPIVHycfJJ8cmlendDjjlluSCZp9d2Lb6hQAIoyQMRg5OMDJJJqnQFFFFAUUUUBRRRQSrvp034lLiK4YIFKywEbJIo2KsgyO3Lk/q8EcEcCs+hdeiu4zJFspViskbqUkicAExyIfDDI+oOQQSDmqVTOu9Ha4Qdq4kt5EbZJIzxtgjEkZ9sqfVW/oQeaCnRUmPrbrcPBNbyIqrslxw0MiqqlyzD/CYEn2vjIGQT4FVWBGRyDQe1H9S3DtH+FguEhubhWETNtkBde7IoH8Sq2R8Z1quTUH04Uuj/eDW5jd1aOMsz7G3EhZGKEARl+HIxnGmTxgBatYO2ioGZtVC7MSzHUAZZjyzH5J81topTq94YbeWVcZjjdxnOMopYZ+3FA3Xz6TqN5E5ZIbiW5DXRdC90IsKs5gUR6GBoiBEAVZXzjkkuKZtfX8u0YkiTiF++Acf70ssUIijJPC5Ytg5YiSPGScFyD+0BGwTbuqjiRiyL22MlzFjD4ONrd8k64DKTjkAE7fr3U2wQoKrsduxPmUB7YBfcF1OJJ+QD+gfRhWNj6h6pIVDRBcuu+IJ2aMCO6keIbaq3MUKhgx/wAT/mSmV/tFUq5FrJtEHZ12VcIiW7llL42P+8R8Y+GwT7dtsfr4O2sdrKxZ9YyfYsgHey2zAAf4LHAzwy/OQAX9MdXvp7lDOrhAsvPbkjVtktWXYNxkMZlHJxgjJIJrtK41f7SUwP8AdZslTJqo3Ih7cEm/syNsToNTgZDe7wTvT1q7zRxJbEbzBNmdeYw9xG7gDwQ0JIB8hh4OQA6uue6/DFayHqjd38mIpKsYU9yLZWDOp89r3vkc4L+fFdDXjoCCCMg8EHwc/BoMYpVdQyMGVgCGBBBBGQQR5BrOo/R/xEc00M4TtBlNs66LmMrzB2xzmMqefkMPoasUBRS9/wBQigjMs8qRovl3ZVUfuTxU2Se6nlmgELQQBCoue4glZ2Aw0CYYaqCfc+OcYHBoN3VustC8UUdvJM8rY9owkaKV7kkkh9qgA8DyxwAPkHR+gLbvLKZHllnbLyOedVJ7caqMKqKCQAB8knzW/o/R4rWIQwg6gkkszMzMxLM7sxJZiSSSfrTtAUUUUBRRRQFFFFAUUUUBRRRQYTQq6lHUMrAgqQCGBGCCDwQfpUGT09LbQhOlNHFq7P2pRK8TBhgxKdswLnkaAgH+Hk10NFByXXesSS3MXT1MkDs0bvKEkKSRKGkkSCVAQrEoEPc14LYySM9TBOrqHRgynkMpBBH1BHBrZioY9IW8aSraA2jTFCz24RDlDkEKVKDPIPt5B5oLlYyxKylWAKsCCCAQQeCCD5FQ5oupwpEsLQ3JXbutMWhd+cqU7SMgIGQRrzx4psdYk/E9hrOcIc63H5JhOF25w+6nOV5Xk0G6Tols2dreI7fqzGnuJ0BJ45P5cf8A0L9BRH0S1VdVt4gvHAjjA4LMOAMeXc/5m+ppG19Z2Ukckne7aQ69wzJLB29zhdu8q+TxTcfqC0ZEkW6hKSZCOJYyrlThgrZw2PBx4oEOoeh7KUIvaVEUklESJVfOgO3tJBwijZSGxxnFUoui2yuXW3iDM2zMI0DM3v8AcTjJPvfn/nb6mmfxCZ13XJ+MjJ/pWJu4+fzF9oJb3L7QPJP0FAtL0C0YANbQkLggGOM4KqqrjjjAVR+yj6VsbpNucEwR8EEexOCHMgYccEMS2fqSaXuPU9lHF3nu4Fj207hlj03xtptnG2Ocea1S+q7YNEqmSTvqrRmKGeVCjnCuZEUqq/OSRxzQWKKkp1W4eZ4lsnVFDYnkeERu4xqFVWaTU/zFR48UvF02/mgZLq6WF2YENaAqVTHKbzBsk/zBVP0xQZ+pbW2fsNNMIpI5kaF90RzJnXtJtw3cBKFfkN9gaT6N6skv0c2ttJEAjBZrhVCCdSFMRiV921OwYjAypAJqrb+nrdWjdoxJLEgRZpPzJgoz/wAVstnkknPzVFVA8D/4eTQR7X02pWI3rC7mhZmWV4410ZsZ7aKMKBgYzkj61ZoooCiiigKKKKAooooCiiigKKKKAooooCiiigKKKKAooooPCM+aQveh2syhJraGRVJIV442ALeSAwIGaKKDyT09aNMs7WsJmTGspjj7i68Lh8ZGPjmsYfTdkjSMlnArShhIRFEDKHOWWQge8HyQfNeUUDNn0yCJNIoY41znVERV2xjbAGM/em6KKAooooCiiigKKKKAooooCiiigKKKKD//2Q=="/>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pic>
        <p:nvPicPr>
          <p:cNvPr id="9227" name="Picture 11" descr="http://www.bscdesigner.com/wp-content/uploads/2009/12/Line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905250"/>
            <a:ext cx="2743200"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8" name="Picture 8" descr="http://images.vertex42.com/ExcelTemplates/orgcharts/horizontal-organizational-structure.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8450" y="3657600"/>
            <a:ext cx="333375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3048000" y="3657600"/>
            <a:ext cx="26670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295400"/>
            <a:ext cx="6858000" cy="4953000"/>
          </a:xfrm>
        </p:spPr>
        <p:txBody>
          <a:bodyPr rtlCol="0">
            <a:noAutofit/>
          </a:bodyPr>
          <a:lstStyle/>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Whole structure (hierarchy, departments, divisions, number and types of positions, etc.) can be viewed at a glance.</a:t>
            </a:r>
          </a:p>
          <a:p>
            <a:pPr marL="346075" lvl="1" indent="-346075" eaLnBrk="1" fontAlgn="auto" hangingPunct="1">
              <a:spcAft>
                <a:spcPts val="0"/>
              </a:spcAft>
              <a:buClr>
                <a:srgbClr val="002060"/>
              </a:buClr>
              <a:buFont typeface="Wingdings" pitchFamily="2" charset="2"/>
              <a:buChar char="§"/>
              <a:defRPr/>
            </a:pPr>
            <a:endParaRPr lang="en-US" sz="16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Outline managerial tasks and which manager is responsible for overseeing each employee.</a:t>
            </a:r>
          </a:p>
          <a:p>
            <a:pPr marL="346075" lvl="1" indent="-346075" eaLnBrk="1" fontAlgn="auto" hangingPunct="1">
              <a:spcAft>
                <a:spcPts val="0"/>
              </a:spcAft>
              <a:buClr>
                <a:srgbClr val="002060"/>
              </a:buClr>
              <a:buFont typeface="Wingdings" pitchFamily="2" charset="2"/>
              <a:buChar char="§"/>
              <a:defRPr/>
            </a:pPr>
            <a:endParaRPr lang="en-US" sz="1600" dirty="0" smtClean="0">
              <a:solidFill>
                <a:srgbClr val="002060"/>
              </a:solidFill>
              <a:latin typeface="Times New Roman" pitchFamily="18" charset="0"/>
              <a:cs typeface="Times New Roman" pitchFamily="18" charset="0"/>
            </a:endParaRPr>
          </a:p>
          <a:p>
            <a:pPr marL="346075" indent="-346075">
              <a:buClr>
                <a:srgbClr val="002060"/>
              </a:buClr>
              <a:buFont typeface="Wingdings" pitchFamily="2" charset="2"/>
              <a:buChar char="§"/>
              <a:defRPr/>
            </a:pPr>
            <a:endParaRPr lang="en-US" sz="1600" dirty="0" smtClean="0">
              <a:solidFill>
                <a:srgbClr val="002060"/>
              </a:solidFill>
              <a:latin typeface="Times New Roman" pitchFamily="18" charset="0"/>
              <a:cs typeface="Times New Roman" pitchFamily="18" charset="0"/>
            </a:endParaRPr>
          </a:p>
          <a:p>
            <a:pPr marL="346075" indent="-346075">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Shows the formal relationships and communication channels between the departments and the </a:t>
            </a:r>
            <a:r>
              <a:rPr lang="en-US" sz="2400" dirty="0" err="1" smtClean="0">
                <a:solidFill>
                  <a:srgbClr val="002060"/>
                </a:solidFill>
                <a:latin typeface="Times New Roman" pitchFamily="18" charset="0"/>
                <a:cs typeface="Times New Roman" pitchFamily="18" charset="0"/>
              </a:rPr>
              <a:t>organisational</a:t>
            </a:r>
            <a:r>
              <a:rPr lang="en-US" sz="2400" dirty="0" smtClean="0">
                <a:solidFill>
                  <a:srgbClr val="002060"/>
                </a:solidFill>
                <a:latin typeface="Times New Roman" pitchFamily="18" charset="0"/>
                <a:cs typeface="Times New Roman" pitchFamily="18" charset="0"/>
              </a:rPr>
              <a:t> members.</a:t>
            </a:r>
          </a:p>
          <a:p>
            <a:pPr marL="346075" lvl="1" indent="-346075" algn="ctr" eaLnBrk="1" fontAlgn="auto" hangingPunct="1">
              <a:spcAft>
                <a:spcPts val="0"/>
              </a:spcAft>
              <a:buClr>
                <a:srgbClr val="002060"/>
              </a:buClr>
              <a:buFont typeface="Arial" charset="0"/>
              <a:buNone/>
              <a:defRPr/>
            </a:pPr>
            <a:r>
              <a:rPr lang="en-US" sz="1800" dirty="0" smtClean="0">
                <a:solidFill>
                  <a:srgbClr val="002060"/>
                </a:solidFill>
                <a:latin typeface="Times New Roman" pitchFamily="18" charset="0"/>
                <a:cs typeface="Times New Roman" pitchFamily="18" charset="0"/>
              </a:rPr>
              <a:t>                                                                                                    </a:t>
            </a:r>
          </a:p>
          <a:p>
            <a:pPr marL="346075" lvl="1" indent="-346075" eaLnBrk="1" fontAlgn="auto" hangingPunct="1">
              <a:spcAft>
                <a:spcPts val="0"/>
              </a:spcAft>
              <a:buClr>
                <a:srgbClr val="002060"/>
              </a:buClr>
              <a:buFont typeface="Wingdings" pitchFamily="2" charset="2"/>
              <a:buChar char="§"/>
              <a:defRPr/>
            </a:pPr>
            <a:endParaRPr lang="en-US" sz="2400" dirty="0" smtClean="0">
              <a:solidFill>
                <a:srgbClr val="002060"/>
              </a:solidFill>
              <a:latin typeface="Times New Roman" pitchFamily="18" charset="0"/>
              <a:cs typeface="Times New Roman" pitchFamily="18" charset="0"/>
            </a:endParaRPr>
          </a:p>
          <a:p>
            <a:pPr marL="177800" lvl="1" indent="-177800" eaLnBrk="1" fontAlgn="auto" hangingPunct="1">
              <a:spcAft>
                <a:spcPts val="0"/>
              </a:spcAft>
              <a:buClr>
                <a:srgbClr val="002060"/>
              </a:buClr>
              <a:buFont typeface="Wingdings" pitchFamily="2" charset="2"/>
              <a:buChar char="§"/>
              <a:defRPr/>
            </a:pPr>
            <a:endParaRPr lang="en-US" sz="2400" dirty="0" smtClean="0">
              <a:solidFill>
                <a:srgbClr val="002060"/>
              </a:solidFill>
              <a:latin typeface="Times New Roman" pitchFamily="18" charset="0"/>
              <a:cs typeface="Times New Roman" pitchFamily="18" charset="0"/>
            </a:endParaRPr>
          </a:p>
          <a:p>
            <a:pPr marL="177800" lvl="1" indent="-177800" eaLnBrk="1" fontAlgn="auto" hangingPunct="1">
              <a:spcAft>
                <a:spcPts val="0"/>
              </a:spcAft>
              <a:buClr>
                <a:srgbClr val="002060"/>
              </a:buClr>
              <a:buFont typeface="Arial" charset="0"/>
              <a:buNone/>
              <a:defRPr/>
            </a:pPr>
            <a:endParaRPr lang="en-US" sz="2400" b="1"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533400" y="381000"/>
            <a:ext cx="8229600" cy="762000"/>
          </a:xfrm>
        </p:spPr>
        <p:txBody>
          <a:bodyPr rtlCol="0">
            <a:normAutofit fontScale="90000"/>
          </a:bodyPr>
          <a:lstStyle/>
          <a:p>
            <a:pPr eaLnBrk="1" fontAlgn="auto" hangingPunct="1">
              <a:spcAft>
                <a:spcPts val="0"/>
              </a:spcAft>
              <a:defRPr/>
            </a:pPr>
            <a:r>
              <a:rPr lang="en-US" b="1" dirty="0" smtClean="0">
                <a:solidFill>
                  <a:schemeClr val="accent2">
                    <a:lumMod val="50000"/>
                  </a:schemeClr>
                </a:solidFill>
                <a:latin typeface="Times New Roman" pitchFamily="18" charset="0"/>
                <a:cs typeface="Times New Roman" pitchFamily="18" charset="0"/>
              </a:rPr>
              <a:t>Benefits of an Organisational Chart </a:t>
            </a:r>
            <a:endParaRPr lang="en-US" b="1" dirty="0">
              <a:solidFill>
                <a:schemeClr val="accent2">
                  <a:lumMod val="50000"/>
                </a:schemeClr>
              </a:solidFill>
              <a:latin typeface="Times New Roman" pitchFamily="18" charset="0"/>
              <a:cs typeface="Times New Roman" pitchFamily="18" charset="0"/>
            </a:endParaRPr>
          </a:p>
        </p:txBody>
      </p:sp>
      <p:pic>
        <p:nvPicPr>
          <p:cNvPr id="10248" name="Picture 2" descr="http://www.samedaysteeldeck.com/wp-content/uploads/2013/03/11746336_s.jpg"/>
          <p:cNvPicPr>
            <a:picLocks noChangeAspect="1" noChangeArrowheads="1"/>
          </p:cNvPicPr>
          <p:nvPr/>
        </p:nvPicPr>
        <p:blipFill>
          <a:blip r:embed="rId2"/>
          <a:srcRect/>
          <a:stretch>
            <a:fillRect/>
          </a:stretch>
        </p:blipFill>
        <p:spPr bwMode="auto">
          <a:xfrm>
            <a:off x="7010400" y="1981200"/>
            <a:ext cx="1981200" cy="2819400"/>
          </a:xfrm>
          <a:prstGeom prst="rect">
            <a:avLst/>
          </a:prstGeom>
          <a:noFill/>
          <a:ln w="9525">
            <a:noFill/>
            <a:miter lim="800000"/>
            <a:headEnd/>
            <a:tailEnd/>
          </a:ln>
          <a:effectLst>
            <a:outerShdw blurRad="63500" sx="102000" sy="102000" algn="ctr" rotWithShape="0">
              <a:prstClr val="black">
                <a:alpha val="40000"/>
              </a:prstClr>
            </a:outerShdw>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686800" cy="4876800"/>
          </a:xfrm>
        </p:spPr>
        <p:txBody>
          <a:bodyPr rtlCol="0">
            <a:normAutofit lnSpcReduction="10000"/>
          </a:bodyPr>
          <a:lstStyle/>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Only reflects the formal work relationships and communication channels and does not illustrate the informal patterns of human (social) relationships.</a:t>
            </a:r>
          </a:p>
          <a:p>
            <a:pPr marL="284163" indent="-284163" eaLnBrk="1" hangingPunct="1">
              <a:buClr>
                <a:srgbClr val="002060"/>
              </a:buClr>
              <a:buFont typeface="Wingdings" pitchFamily="2" charset="2"/>
              <a:buChar char="§"/>
              <a:defRPr/>
            </a:pPr>
            <a:endParaRPr lang="en-US" sz="2400" dirty="0" smtClean="0">
              <a:solidFill>
                <a:srgbClr val="002060"/>
              </a:solidFill>
              <a:latin typeface="Times New Roman" pitchFamily="18" charset="0"/>
              <a:cs typeface="Times New Roman" pitchFamily="18" charset="0"/>
            </a:endParaRP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Does not explain the degree of delegation, </a:t>
            </a:r>
            <a:r>
              <a:rPr lang="en-US" sz="2400" dirty="0" err="1" smtClean="0">
                <a:solidFill>
                  <a:srgbClr val="002060"/>
                </a:solidFill>
                <a:latin typeface="Times New Roman" pitchFamily="18" charset="0"/>
                <a:cs typeface="Times New Roman" pitchFamily="18" charset="0"/>
              </a:rPr>
              <a:t>formalisation</a:t>
            </a:r>
            <a:r>
              <a:rPr lang="en-US" sz="2400" dirty="0" smtClean="0">
                <a:solidFill>
                  <a:srgbClr val="002060"/>
                </a:solidFill>
                <a:latin typeface="Times New Roman" pitchFamily="18" charset="0"/>
                <a:cs typeface="Times New Roman" pitchFamily="18" charset="0"/>
              </a:rPr>
              <a:t> and the managerial style adopted (e.g. autocratic or democratic).</a:t>
            </a:r>
          </a:p>
          <a:p>
            <a:pPr marL="284163" indent="-284163" eaLnBrk="1" hangingPunct="1">
              <a:buClr>
                <a:srgbClr val="002060"/>
              </a:buClr>
              <a:buFont typeface="Wingdings" pitchFamily="2" charset="2"/>
              <a:buChar char="§"/>
              <a:defRPr/>
            </a:pPr>
            <a:endParaRPr lang="en-US" sz="2400" dirty="0" smtClean="0">
              <a:solidFill>
                <a:srgbClr val="002060"/>
              </a:solidFill>
              <a:latin typeface="Times New Roman" pitchFamily="18" charset="0"/>
              <a:cs typeface="Times New Roman" pitchFamily="18" charset="0"/>
            </a:endParaRP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It introduces rigidity into work relationships and create status problems.</a:t>
            </a:r>
          </a:p>
          <a:p>
            <a:pPr marL="284163" indent="-284163" eaLnBrk="1" hangingPunct="1">
              <a:buClr>
                <a:srgbClr val="002060"/>
              </a:buClr>
              <a:buFont typeface="Wingdings" pitchFamily="2" charset="2"/>
              <a:buChar char="§"/>
              <a:defRPr/>
            </a:pPr>
            <a:endParaRPr lang="en-US" sz="2400" dirty="0" smtClean="0">
              <a:solidFill>
                <a:srgbClr val="002060"/>
              </a:solidFill>
              <a:latin typeface="Times New Roman" pitchFamily="18" charset="0"/>
              <a:cs typeface="Times New Roman" pitchFamily="18" charset="0"/>
            </a:endParaRP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It can soon become out-dated, especially in large </a:t>
            </a:r>
            <a:r>
              <a:rPr lang="en-US" sz="2400" dirty="0" err="1" smtClean="0">
                <a:solidFill>
                  <a:srgbClr val="002060"/>
                </a:solidFill>
                <a:latin typeface="Times New Roman" pitchFamily="18" charset="0"/>
                <a:cs typeface="Times New Roman" pitchFamily="18" charset="0"/>
              </a:rPr>
              <a:t>organisations</a:t>
            </a:r>
            <a:r>
              <a:rPr lang="en-US" sz="2400" dirty="0" smtClean="0">
                <a:solidFill>
                  <a:srgbClr val="002060"/>
                </a:solidFill>
                <a:latin typeface="Times New Roman" pitchFamily="18" charset="0"/>
                <a:cs typeface="Times New Roman" pitchFamily="18" charset="0"/>
              </a:rPr>
              <a:t> due to internal and external </a:t>
            </a:r>
            <a:r>
              <a:rPr lang="en-US" sz="2400" dirty="0" err="1" smtClean="0">
                <a:solidFill>
                  <a:srgbClr val="002060"/>
                </a:solidFill>
                <a:latin typeface="Times New Roman" pitchFamily="18" charset="0"/>
                <a:cs typeface="Times New Roman" pitchFamily="18" charset="0"/>
              </a:rPr>
              <a:t>organisational</a:t>
            </a:r>
            <a:r>
              <a:rPr lang="en-US" sz="2400" dirty="0" smtClean="0">
                <a:solidFill>
                  <a:srgbClr val="002060"/>
                </a:solidFill>
                <a:latin typeface="Times New Roman" pitchFamily="18" charset="0"/>
                <a:cs typeface="Times New Roman" pitchFamily="18" charset="0"/>
              </a:rPr>
              <a:t> changes.</a:t>
            </a:r>
          </a:p>
          <a:p>
            <a:pPr marL="508000" indent="-508000" eaLnBrk="1" hangingPunct="1">
              <a:buClr>
                <a:srgbClr val="002060"/>
              </a:buClr>
              <a:buFont typeface="Wingdings" pitchFamily="2" charset="2"/>
              <a:buChar char="§"/>
              <a:defRPr/>
            </a:pPr>
            <a:endParaRPr lang="en-US" sz="2400" dirty="0" smtClean="0">
              <a:solidFill>
                <a:srgbClr val="002060"/>
              </a:solidFill>
              <a:latin typeface="Times New Roman" pitchFamily="18" charset="0"/>
              <a:cs typeface="Times New Roman" pitchFamily="18" charset="0"/>
            </a:endParaRPr>
          </a:p>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508000" indent="-508000" eaLnBrk="1" hangingPunct="1">
              <a:buClr>
                <a:srgbClr val="002060"/>
              </a:buClr>
              <a:buFont typeface="Wingdings" pitchFamily="2" charset="2"/>
              <a:buChar char="§"/>
              <a:defRPr/>
            </a:pPr>
            <a:endParaRPr lang="en-US" sz="2400" dirty="0" smtClean="0">
              <a:solidFill>
                <a:srgbClr val="002060"/>
              </a:solidFill>
              <a:latin typeface="Times New Roman" pitchFamily="18" charset="0"/>
              <a:cs typeface="Times New Roman" pitchFamily="18" charset="0"/>
            </a:endParaRPr>
          </a:p>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533400" y="228600"/>
            <a:ext cx="8229600" cy="762000"/>
          </a:xfrm>
        </p:spPr>
        <p:txBody>
          <a:bodyPr rtlCol="0">
            <a:norm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Limitations of an Organisational Chart </a:t>
            </a:r>
            <a:endParaRPr lang="en-US" sz="36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5867400" y="6019800"/>
            <a:ext cx="2590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dirty="0">
                <a:solidFill>
                  <a:srgbClr val="002060"/>
                </a:solidFill>
                <a:latin typeface="Times New Roman" pitchFamily="18" charset="0"/>
                <a:cs typeface="Times New Roman" pitchFamily="18" charset="0"/>
              </a:rPr>
              <a:t>(www.edrawsoft.com)</a:t>
            </a:r>
            <a:endParaRPr lang="en-US" b="1" i="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763000" cy="4800600"/>
          </a:xfrm>
        </p:spPr>
        <p:txBody>
          <a:bodyPr rtlCol="0">
            <a:normAutofit/>
          </a:bodyPr>
          <a:lstStyle/>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236538" indent="-236538"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 The determination of an individual’s work related responsibilities.</a:t>
            </a:r>
          </a:p>
          <a:p>
            <a:pPr marL="236538" indent="-236538" eaLnBrk="1" hangingPunct="1">
              <a:buClr>
                <a:srgbClr val="002060"/>
              </a:buClr>
              <a:buFont typeface="Wingdings" pitchFamily="2" charset="2"/>
              <a:buChar char="§"/>
              <a:defRPr/>
            </a:pPr>
            <a:endParaRPr lang="en-US" sz="1000" dirty="0" smtClean="0">
              <a:solidFill>
                <a:srgbClr val="002060"/>
              </a:solidFill>
              <a:latin typeface="Times New Roman" pitchFamily="18" charset="0"/>
              <a:cs typeface="Times New Roman" pitchFamily="18" charset="0"/>
            </a:endParaRPr>
          </a:p>
          <a:p>
            <a:pPr marL="236538" indent="-236538"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 The natural starting point for designing jobs is determining the level of desired </a:t>
            </a:r>
            <a:r>
              <a:rPr lang="en-US" sz="2400" dirty="0" err="1" smtClean="0">
                <a:solidFill>
                  <a:srgbClr val="002060"/>
                </a:solidFill>
                <a:latin typeface="Times New Roman" pitchFamily="18" charset="0"/>
                <a:cs typeface="Times New Roman" pitchFamily="18" charset="0"/>
              </a:rPr>
              <a:t>specialisation</a:t>
            </a:r>
            <a:r>
              <a:rPr lang="en-US" sz="2400" dirty="0" smtClean="0">
                <a:solidFill>
                  <a:srgbClr val="002060"/>
                </a:solidFill>
                <a:latin typeface="Times New Roman" pitchFamily="18" charset="0"/>
                <a:cs typeface="Times New Roman" pitchFamily="18" charset="0"/>
              </a:rPr>
              <a:t> or </a:t>
            </a:r>
            <a:r>
              <a:rPr lang="en-US" sz="2400" dirty="0" err="1" smtClean="0">
                <a:solidFill>
                  <a:srgbClr val="002060"/>
                </a:solidFill>
                <a:latin typeface="Times New Roman" pitchFamily="18" charset="0"/>
                <a:cs typeface="Times New Roman" pitchFamily="18" charset="0"/>
              </a:rPr>
              <a:t>generalisation</a:t>
            </a:r>
            <a:r>
              <a:rPr lang="en-US" sz="2400" dirty="0" smtClean="0">
                <a:solidFill>
                  <a:srgbClr val="002060"/>
                </a:solidFill>
                <a:latin typeface="Times New Roman" pitchFamily="18" charset="0"/>
                <a:cs typeface="Times New Roman" pitchFamily="18" charset="0"/>
              </a:rPr>
              <a:t>. </a:t>
            </a:r>
          </a:p>
          <a:p>
            <a:pPr marL="111125" indent="-111125" eaLnBrk="1" hangingPunct="1">
              <a:buClr>
                <a:srgbClr val="002060"/>
              </a:buClr>
              <a:buFont typeface="Arial" charset="0"/>
              <a:buNone/>
              <a:defRPr/>
            </a:pPr>
            <a:endParaRPr lang="en-US" sz="1600" dirty="0" smtClean="0">
              <a:solidFill>
                <a:srgbClr val="002060"/>
              </a:solidFill>
              <a:latin typeface="Times New Roman" pitchFamily="18" charset="0"/>
              <a:cs typeface="Times New Roman" pitchFamily="18" charset="0"/>
            </a:endParaRPr>
          </a:p>
          <a:p>
            <a:pPr marL="111125" indent="-111125" eaLnBrk="1" hangingPunct="1">
              <a:buClr>
                <a:srgbClr val="002060"/>
              </a:buClr>
              <a:buFont typeface="Arial" charset="0"/>
              <a:buNone/>
              <a:defRPr/>
            </a:pPr>
            <a:r>
              <a:rPr lang="en-US" sz="2400" b="1" u="sng" dirty="0" smtClean="0">
                <a:solidFill>
                  <a:schemeClr val="accent2">
                    <a:lumMod val="50000"/>
                  </a:schemeClr>
                </a:solidFill>
                <a:latin typeface="Times New Roman" pitchFamily="18" charset="0"/>
                <a:cs typeface="Times New Roman" pitchFamily="18" charset="0"/>
              </a:rPr>
              <a:t>Job Specialization </a:t>
            </a:r>
          </a:p>
          <a:p>
            <a:pPr marL="173038" indent="-173038"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The degree to which the overall task of the </a:t>
            </a:r>
            <a:r>
              <a:rPr lang="en-US" sz="2400" dirty="0" err="1" smtClean="0">
                <a:solidFill>
                  <a:srgbClr val="002060"/>
                </a:solidFill>
                <a:latin typeface="Times New Roman" pitchFamily="18" charset="0"/>
                <a:cs typeface="Times New Roman" pitchFamily="18" charset="0"/>
              </a:rPr>
              <a:t>organisation</a:t>
            </a:r>
            <a:r>
              <a:rPr lang="en-US" sz="2400" dirty="0" smtClean="0">
                <a:solidFill>
                  <a:srgbClr val="002060"/>
                </a:solidFill>
                <a:latin typeface="Times New Roman" pitchFamily="18" charset="0"/>
                <a:cs typeface="Times New Roman" pitchFamily="18" charset="0"/>
              </a:rPr>
              <a:t> is broken down and divided into smaller component parts. </a:t>
            </a:r>
          </a:p>
          <a:p>
            <a:pPr marL="173038" indent="-173038"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173038" indent="-173038"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Has evolved from the concept of division of </a:t>
            </a:r>
            <a:r>
              <a:rPr lang="en-US" sz="2400" dirty="0" err="1" smtClean="0">
                <a:solidFill>
                  <a:srgbClr val="002060"/>
                </a:solidFill>
                <a:latin typeface="Times New Roman" pitchFamily="18" charset="0"/>
                <a:cs typeface="Times New Roman" pitchFamily="18" charset="0"/>
              </a:rPr>
              <a:t>labour</a:t>
            </a:r>
            <a:r>
              <a:rPr lang="en-US" sz="2400" dirty="0" smtClean="0">
                <a:solidFill>
                  <a:srgbClr val="002060"/>
                </a:solidFill>
                <a:latin typeface="Times New Roman" pitchFamily="18" charset="0"/>
                <a:cs typeface="Times New Roman" pitchFamily="18" charset="0"/>
              </a:rPr>
              <a:t>. </a:t>
            </a:r>
          </a:p>
          <a:p>
            <a:pPr marL="173038" indent="-173038"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173038" indent="-173038"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 It is a normal extension of </a:t>
            </a:r>
            <a:r>
              <a:rPr lang="en-US" sz="2400" dirty="0" err="1" smtClean="0">
                <a:solidFill>
                  <a:srgbClr val="002060"/>
                </a:solidFill>
                <a:latin typeface="Times New Roman" pitchFamily="18" charset="0"/>
                <a:cs typeface="Times New Roman" pitchFamily="18" charset="0"/>
              </a:rPr>
              <a:t>organisational</a:t>
            </a:r>
            <a:r>
              <a:rPr lang="en-US" sz="2400" dirty="0" smtClean="0">
                <a:solidFill>
                  <a:srgbClr val="002060"/>
                </a:solidFill>
                <a:latin typeface="Times New Roman" pitchFamily="18" charset="0"/>
                <a:cs typeface="Times New Roman" pitchFamily="18" charset="0"/>
              </a:rPr>
              <a:t> growth. </a:t>
            </a:r>
          </a:p>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457200" y="152400"/>
            <a:ext cx="8229600" cy="990600"/>
          </a:xfrm>
        </p:spPr>
        <p:txBody>
          <a:bodyPr rtlCol="0">
            <a:noAutofit/>
          </a:bodyPr>
          <a:lstStyle/>
          <a:p>
            <a:pPr eaLnBrk="1" fontAlgn="auto" hangingPunct="1">
              <a:spcAft>
                <a:spcPts val="0"/>
              </a:spcAft>
              <a:defRPr/>
            </a:pPr>
            <a:r>
              <a:rPr lang="en-US" sz="3200" b="1" dirty="0" smtClean="0">
                <a:solidFill>
                  <a:schemeClr val="accent2">
                    <a:lumMod val="50000"/>
                  </a:schemeClr>
                </a:solidFill>
                <a:latin typeface="Times New Roman" pitchFamily="18" charset="0"/>
                <a:cs typeface="Times New Roman" pitchFamily="18" charset="0"/>
              </a:rPr>
              <a:t> </a:t>
            </a:r>
            <a:r>
              <a:rPr lang="en-US" sz="3200" b="1" u="sng" dirty="0" smtClean="0">
                <a:solidFill>
                  <a:schemeClr val="accent2">
                    <a:lumMod val="50000"/>
                  </a:schemeClr>
                </a:solidFill>
                <a:latin typeface="Times New Roman" pitchFamily="18" charset="0"/>
                <a:cs typeface="Times New Roman" pitchFamily="18" charset="0"/>
              </a:rPr>
              <a:t>Element  01</a:t>
            </a:r>
            <a:br>
              <a:rPr lang="en-US" sz="3200" b="1" u="sng" dirty="0" smtClean="0">
                <a:solidFill>
                  <a:schemeClr val="accent2">
                    <a:lumMod val="50000"/>
                  </a:schemeClr>
                </a:solidFill>
                <a:latin typeface="Times New Roman" pitchFamily="18" charset="0"/>
                <a:cs typeface="Times New Roman" pitchFamily="18" charset="0"/>
              </a:rPr>
            </a:br>
            <a:r>
              <a:rPr lang="en-US" sz="3200" b="1" dirty="0" smtClean="0">
                <a:solidFill>
                  <a:schemeClr val="accent2">
                    <a:lumMod val="50000"/>
                  </a:schemeClr>
                </a:solidFill>
                <a:latin typeface="Times New Roman" pitchFamily="18" charset="0"/>
                <a:cs typeface="Times New Roman" pitchFamily="18" charset="0"/>
              </a:rPr>
              <a:t>Designing Jobs </a:t>
            </a:r>
            <a:endParaRPr lang="en-US" sz="3200" b="1" dirty="0">
              <a:solidFill>
                <a:schemeClr val="accent2">
                  <a:lumMod val="50000"/>
                </a:schemeClr>
              </a:solidFill>
              <a:latin typeface="Times New Roman" pitchFamily="18" charset="0"/>
              <a:cs typeface="Times New Roman" pitchFamily="18" charset="0"/>
            </a:endParaRPr>
          </a:p>
        </p:txBody>
      </p:sp>
      <p:sp>
        <p:nvSpPr>
          <p:cNvPr id="10" name="Rectangle 9"/>
          <p:cNvSpPr/>
          <p:nvPr/>
        </p:nvSpPr>
        <p:spPr>
          <a:xfrm>
            <a:off x="6553200" y="4800600"/>
            <a:ext cx="2590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i="1" dirty="0">
                <a:solidFill>
                  <a:srgbClr val="002060"/>
                </a:solidFill>
                <a:latin typeface="Times New Roman" pitchFamily="18" charset="0"/>
                <a:cs typeface="Times New Roman" pitchFamily="18" charset="0"/>
              </a:rPr>
              <a:t>(Griffin ,2012) </a:t>
            </a:r>
            <a:endParaRPr lang="en-US" sz="2000" b="1" i="1" dirty="0"/>
          </a:p>
        </p:txBody>
      </p:sp>
      <p:pic>
        <p:nvPicPr>
          <p:cNvPr id="17417" name="Picture 8" descr="http://cache.wists.com/thumbnails/e/a3/ea31d6c59ee0229dc7fd963efdd488f3-orig"/>
          <p:cNvPicPr>
            <a:picLocks noChangeAspect="1" noChangeArrowheads="1"/>
          </p:cNvPicPr>
          <p:nvPr/>
        </p:nvPicPr>
        <p:blipFill>
          <a:blip r:embed="rId2"/>
          <a:srcRect/>
          <a:stretch>
            <a:fillRect/>
          </a:stretch>
        </p:blipFill>
        <p:spPr bwMode="auto">
          <a:xfrm>
            <a:off x="2590800" y="5410200"/>
            <a:ext cx="1676400" cy="1143000"/>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17418" name="Picture 10" descr="https://fisher.osu.edu/blogs/opex/files/2012/01/Blog_33-assembly-line.jpg"/>
          <p:cNvPicPr>
            <a:picLocks noChangeAspect="1" noChangeArrowheads="1"/>
          </p:cNvPicPr>
          <p:nvPr/>
        </p:nvPicPr>
        <p:blipFill>
          <a:blip r:embed="rId3"/>
          <a:srcRect/>
          <a:stretch>
            <a:fillRect/>
          </a:stretch>
        </p:blipFill>
        <p:spPr bwMode="auto">
          <a:xfrm>
            <a:off x="609600" y="5410200"/>
            <a:ext cx="1828800" cy="1206500"/>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17419" name="Picture 16" descr="http://t0.gstatic.com/images?q=tbn:ANd9GcTWoqQh5feL-FxckjIqNIUk0j8Jt3gLKSXlrbi4CcKtG5ql08UATA"/>
          <p:cNvPicPr>
            <a:picLocks noChangeAspect="1" noChangeArrowheads="1"/>
          </p:cNvPicPr>
          <p:nvPr/>
        </p:nvPicPr>
        <p:blipFill>
          <a:blip r:embed="rId4"/>
          <a:srcRect/>
          <a:stretch>
            <a:fillRect/>
          </a:stretch>
        </p:blipFill>
        <p:spPr bwMode="auto">
          <a:xfrm>
            <a:off x="4419600" y="5410200"/>
            <a:ext cx="1752600" cy="1143000"/>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17420" name="Picture 18" descr="http://www.econedlink.org/img/lesson-images/EconEdLink-195-Kennel-Specialization.jpg"/>
          <p:cNvPicPr>
            <a:picLocks noChangeAspect="1" noChangeArrowheads="1"/>
          </p:cNvPicPr>
          <p:nvPr/>
        </p:nvPicPr>
        <p:blipFill>
          <a:blip r:embed="rId5"/>
          <a:srcRect/>
          <a:stretch>
            <a:fillRect/>
          </a:stretch>
        </p:blipFill>
        <p:spPr bwMode="auto">
          <a:xfrm>
            <a:off x="6248400" y="5410200"/>
            <a:ext cx="1828800" cy="1143000"/>
          </a:xfrm>
          <a:prstGeom prst="rect">
            <a:avLst/>
          </a:prstGeom>
          <a:noFill/>
          <a:ln w="9525">
            <a:noFill/>
            <a:miter lim="800000"/>
            <a:headEnd/>
            <a:tailEnd/>
          </a:ln>
          <a:effectLst>
            <a:outerShdw blurRad="63500" sx="102000" sy="102000" algn="ctr" rotWithShape="0">
              <a:prstClr val="black">
                <a:alpha val="40000"/>
              </a:prstClr>
            </a:outerShdw>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686800" cy="5334000"/>
          </a:xfrm>
        </p:spPr>
        <p:txBody>
          <a:bodyPr rtlCol="0">
            <a:normAutofit fontScale="92500" lnSpcReduction="10000"/>
          </a:bodyPr>
          <a:lstStyle/>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111125" indent="-111125" eaLnBrk="1" hangingPunct="1">
              <a:buClr>
                <a:srgbClr val="002060"/>
              </a:buClr>
              <a:buFont typeface="Arial" charset="0"/>
              <a:buNone/>
              <a:defRPr/>
            </a:pPr>
            <a:r>
              <a:rPr lang="en-US" sz="3000" b="1" u="sng" dirty="0" smtClean="0">
                <a:solidFill>
                  <a:schemeClr val="accent2">
                    <a:lumMod val="50000"/>
                  </a:schemeClr>
                </a:solidFill>
                <a:latin typeface="Times New Roman" pitchFamily="18" charset="0"/>
                <a:cs typeface="Times New Roman" pitchFamily="18" charset="0"/>
              </a:rPr>
              <a:t>Job Specialization (Cont…) </a:t>
            </a:r>
          </a:p>
          <a:p>
            <a:pPr marL="111125" indent="-111125" eaLnBrk="1" hangingPunct="1">
              <a:buClr>
                <a:srgbClr val="002060"/>
              </a:buClr>
              <a:buFont typeface="Arial" charset="0"/>
              <a:buNone/>
              <a:defRPr/>
            </a:pPr>
            <a:endParaRPr lang="en-US" sz="1500" b="1" u="sng" dirty="0" smtClean="0">
              <a:solidFill>
                <a:schemeClr val="accent2">
                  <a:lumMod val="50000"/>
                </a:schemeClr>
              </a:solidFill>
              <a:latin typeface="Times New Roman" pitchFamily="18" charset="0"/>
              <a:cs typeface="Times New Roman" pitchFamily="18" charset="0"/>
            </a:endParaRPr>
          </a:p>
          <a:p>
            <a:pPr marL="111125" indent="-111125" eaLnBrk="1" hangingPunct="1">
              <a:buClr>
                <a:srgbClr val="002060"/>
              </a:buClr>
              <a:buFont typeface="Arial" charset="0"/>
              <a:buNone/>
              <a:defRPr/>
            </a:pPr>
            <a:r>
              <a:rPr lang="en-US" sz="2400" b="1" dirty="0" smtClean="0">
                <a:solidFill>
                  <a:schemeClr val="accent2">
                    <a:lumMod val="50000"/>
                  </a:schemeClr>
                </a:solidFill>
                <a:latin typeface="Times New Roman" pitchFamily="18" charset="0"/>
                <a:cs typeface="Times New Roman" pitchFamily="18" charset="0"/>
              </a:rPr>
              <a:t>Benefits of  Specialization </a:t>
            </a: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Workers become very proficient at the task they perform</a:t>
            </a: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The transfer time between tasks decrease</a:t>
            </a: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 Easy to develop specialized equipment to assist jobs</a:t>
            </a: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 Easy replacement of employees</a:t>
            </a:r>
          </a:p>
          <a:p>
            <a:pPr marL="111125" indent="-111125" eaLnBrk="1" hangingPunct="1">
              <a:buClr>
                <a:srgbClr val="002060"/>
              </a:buClr>
              <a:buFont typeface="Wingdings" pitchFamily="2" charset="2"/>
              <a:buChar char="§"/>
              <a:defRPr/>
            </a:pPr>
            <a:endParaRPr lang="en-US" sz="2400" dirty="0" smtClean="0">
              <a:solidFill>
                <a:srgbClr val="002060"/>
              </a:solidFill>
              <a:latin typeface="Times New Roman" pitchFamily="18" charset="0"/>
              <a:cs typeface="Times New Roman" pitchFamily="18" charset="0"/>
            </a:endParaRPr>
          </a:p>
          <a:p>
            <a:pPr marL="111125" indent="-111125" eaLnBrk="1" hangingPunct="1">
              <a:buClr>
                <a:srgbClr val="002060"/>
              </a:buClr>
              <a:buFont typeface="Arial" charset="0"/>
              <a:buNone/>
              <a:defRPr/>
            </a:pPr>
            <a:r>
              <a:rPr lang="en-US" sz="2400" b="1" dirty="0" smtClean="0">
                <a:solidFill>
                  <a:schemeClr val="accent2">
                    <a:lumMod val="50000"/>
                  </a:schemeClr>
                </a:solidFill>
                <a:latin typeface="Times New Roman" pitchFamily="18" charset="0"/>
                <a:cs typeface="Times New Roman" pitchFamily="18" charset="0"/>
              </a:rPr>
              <a:t>Limitations of  Specialization </a:t>
            </a: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Monotony and boredom</a:t>
            </a: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Fatigue and job stress </a:t>
            </a: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Job dissatisfaction</a:t>
            </a: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Higher levels of absenteeism and turnover </a:t>
            </a:r>
          </a:p>
          <a:p>
            <a:pPr marL="284163" indent="-284163" eaLnBrk="1" hangingPunct="1">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Vocational diseases</a:t>
            </a:r>
          </a:p>
          <a:p>
            <a:pPr marL="111125" indent="-111125" eaLnBrk="1" hangingPunct="1">
              <a:buClr>
                <a:srgbClr val="002060"/>
              </a:buClr>
              <a:buFont typeface="Wingdings" pitchFamily="2" charset="2"/>
              <a:buChar char="§"/>
              <a:defRPr/>
            </a:pPr>
            <a:endParaRPr lang="en-US" sz="2400" dirty="0" smtClean="0">
              <a:solidFill>
                <a:srgbClr val="002060"/>
              </a:solidFill>
              <a:latin typeface="Times New Roman" pitchFamily="18" charset="0"/>
              <a:cs typeface="Times New Roman" pitchFamily="18" charset="0"/>
            </a:endParaRPr>
          </a:p>
          <a:p>
            <a:pPr marL="111125" indent="-111125" eaLnBrk="1" hangingPunct="1">
              <a:buClr>
                <a:srgbClr val="002060"/>
              </a:buClr>
              <a:buFont typeface="Wingdings" pitchFamily="2" charset="2"/>
              <a:buChar char="§"/>
              <a:defRPr/>
            </a:pPr>
            <a:endParaRPr lang="en-US" sz="2400" dirty="0" smtClean="0">
              <a:solidFill>
                <a:schemeClr val="accent2">
                  <a:lumMod val="50000"/>
                </a:schemeClr>
              </a:solidFill>
              <a:latin typeface="Times New Roman" pitchFamily="18" charset="0"/>
              <a:cs typeface="Times New Roman" pitchFamily="18" charset="0"/>
            </a:endParaRPr>
          </a:p>
          <a:p>
            <a:pPr marL="111125" indent="-111125" eaLnBrk="1" hangingPunct="1">
              <a:buClr>
                <a:srgbClr val="002060"/>
              </a:buClr>
              <a:buFont typeface="Wingdings" pitchFamily="2" charset="2"/>
              <a:buChar char="§"/>
              <a:defRPr/>
            </a:pPr>
            <a:endParaRPr lang="en-US" sz="2400" dirty="0" smtClean="0">
              <a:solidFill>
                <a:schemeClr val="accent2">
                  <a:lumMod val="50000"/>
                </a:schemeClr>
              </a:solidFill>
              <a:latin typeface="Times New Roman" pitchFamily="18" charset="0"/>
              <a:cs typeface="Times New Roman" pitchFamily="18" charset="0"/>
            </a:endParaRPr>
          </a:p>
          <a:p>
            <a:pPr marL="111125" indent="-111125" eaLnBrk="1" hangingPunct="1">
              <a:buClr>
                <a:srgbClr val="002060"/>
              </a:buClr>
              <a:buFont typeface="Arial" charset="0"/>
              <a:buNone/>
              <a:defRPr/>
            </a:pPr>
            <a:endParaRPr lang="en-US" sz="2400" dirty="0" smtClean="0">
              <a:solidFill>
                <a:srgbClr val="002060"/>
              </a:solidFill>
              <a:latin typeface="Times New Roman" pitchFamily="18" charset="0"/>
              <a:cs typeface="Times New Roman" pitchFamily="18" charset="0"/>
            </a:endParaRPr>
          </a:p>
          <a:p>
            <a:pPr marL="111125" indent="-111125" eaLnBrk="1" hangingPunct="1">
              <a:buClr>
                <a:srgbClr val="002060"/>
              </a:buClr>
              <a:buFont typeface="Arial" charset="0"/>
              <a:buNone/>
              <a:defRPr/>
            </a:pPr>
            <a:endParaRPr lang="en-US" sz="2400" b="1" u="sng" dirty="0" smtClean="0">
              <a:solidFill>
                <a:schemeClr val="accent2">
                  <a:lumMod val="50000"/>
                </a:schemeClr>
              </a:solidFill>
              <a:latin typeface="Times New Roman" pitchFamily="18" charset="0"/>
              <a:cs typeface="Times New Roman" pitchFamily="18" charset="0"/>
            </a:endParaRPr>
          </a:p>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533400" y="304800"/>
            <a:ext cx="8229600" cy="762000"/>
          </a:xfrm>
        </p:spPr>
        <p:txBody>
          <a:bodyPr rtlCol="0">
            <a:norm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Designing Jobs (Cont…)</a:t>
            </a:r>
            <a:endParaRPr lang="en-US" sz="36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4495800" y="5791200"/>
            <a:ext cx="40386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dirty="0">
                <a:solidFill>
                  <a:srgbClr val="002060"/>
                </a:solidFill>
                <a:latin typeface="Times New Roman" pitchFamily="18" charset="0"/>
                <a:cs typeface="Times New Roman" pitchFamily="18" charset="0"/>
              </a:rPr>
              <a:t>(Robbins &amp; Coulter,2010 ; Griffin ,2012) </a:t>
            </a:r>
            <a:endParaRPr lang="en-US" b="1" i="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763000" cy="685800"/>
          </a:xfrm>
        </p:spPr>
        <p:txBody>
          <a:bodyPr rtlCol="0">
            <a:normAutofit/>
          </a:bodyPr>
          <a:lstStyle/>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111125" indent="-111125" eaLnBrk="1" hangingPunct="1">
              <a:buClr>
                <a:srgbClr val="002060"/>
              </a:buClr>
              <a:buFont typeface="Arial" charset="0"/>
              <a:buNone/>
              <a:defRPr/>
            </a:pPr>
            <a:r>
              <a:rPr lang="en-US" sz="2400" b="1" u="sng" dirty="0" smtClean="0">
                <a:solidFill>
                  <a:schemeClr val="accent2">
                    <a:lumMod val="50000"/>
                  </a:schemeClr>
                </a:solidFill>
                <a:latin typeface="Times New Roman" pitchFamily="18" charset="0"/>
                <a:cs typeface="Times New Roman" pitchFamily="18" charset="0"/>
              </a:rPr>
              <a:t>Job Specialization (Cont…) </a:t>
            </a:r>
          </a:p>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533400" y="152400"/>
            <a:ext cx="8229600" cy="762000"/>
          </a:xfrm>
        </p:spPr>
        <p:txBody>
          <a:bodyPr rtlCol="0">
            <a:norm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Designing Jobs (Cont …)  </a:t>
            </a:r>
            <a:endParaRPr lang="en-US" sz="3600" b="1" dirty="0">
              <a:solidFill>
                <a:schemeClr val="accent2">
                  <a:lumMod val="50000"/>
                </a:schemeClr>
              </a:solidFill>
              <a:latin typeface="Times New Roman" pitchFamily="18" charset="0"/>
              <a:cs typeface="Times New Roman" pitchFamily="18" charset="0"/>
            </a:endParaRPr>
          </a:p>
        </p:txBody>
      </p:sp>
      <p:grpSp>
        <p:nvGrpSpPr>
          <p:cNvPr id="14344" name="Group 21"/>
          <p:cNvGrpSpPr>
            <a:grpSpLocks/>
          </p:cNvGrpSpPr>
          <p:nvPr/>
        </p:nvGrpSpPr>
        <p:grpSpPr bwMode="auto">
          <a:xfrm>
            <a:off x="304800" y="1600200"/>
            <a:ext cx="8113713" cy="4748213"/>
            <a:chOff x="-85" y="1039"/>
            <a:chExt cx="5111" cy="2991"/>
          </a:xfrm>
        </p:grpSpPr>
        <p:grpSp>
          <p:nvGrpSpPr>
            <p:cNvPr id="14345" name="Group 7"/>
            <p:cNvGrpSpPr>
              <a:grpSpLocks/>
            </p:cNvGrpSpPr>
            <p:nvPr/>
          </p:nvGrpSpPr>
          <p:grpSpPr bwMode="auto">
            <a:xfrm>
              <a:off x="960" y="1344"/>
              <a:ext cx="2928" cy="2304"/>
              <a:chOff x="1728" y="1296"/>
              <a:chExt cx="2928" cy="2304"/>
            </a:xfrm>
          </p:grpSpPr>
          <p:sp>
            <p:nvSpPr>
              <p:cNvPr id="14356" name="Line 5"/>
              <p:cNvSpPr>
                <a:spLocks noChangeShapeType="1"/>
              </p:cNvSpPr>
              <p:nvPr/>
            </p:nvSpPr>
            <p:spPr bwMode="auto">
              <a:xfrm flipV="1">
                <a:off x="1728" y="1296"/>
                <a:ext cx="0" cy="230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57" name="Line 6"/>
              <p:cNvSpPr>
                <a:spLocks noChangeShapeType="1"/>
              </p:cNvSpPr>
              <p:nvPr/>
            </p:nvSpPr>
            <p:spPr bwMode="auto">
              <a:xfrm>
                <a:off x="1728" y="3600"/>
                <a:ext cx="29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4346" name="Freeform 8"/>
            <p:cNvSpPr>
              <a:spLocks/>
            </p:cNvSpPr>
            <p:nvPr/>
          </p:nvSpPr>
          <p:spPr bwMode="auto">
            <a:xfrm>
              <a:off x="1056" y="1920"/>
              <a:ext cx="2208" cy="944"/>
            </a:xfrm>
            <a:custGeom>
              <a:avLst/>
              <a:gdLst>
                <a:gd name="T0" fmla="*/ 0 w 2208"/>
                <a:gd name="T1" fmla="*/ 944 h 944"/>
                <a:gd name="T2" fmla="*/ 1344 w 2208"/>
                <a:gd name="T3" fmla="*/ 80 h 944"/>
                <a:gd name="T4" fmla="*/ 2208 w 2208"/>
                <a:gd name="T5" fmla="*/ 464 h 944"/>
                <a:gd name="T6" fmla="*/ 0 60000 65536"/>
                <a:gd name="T7" fmla="*/ 0 60000 65536"/>
                <a:gd name="T8" fmla="*/ 0 60000 65536"/>
                <a:gd name="T9" fmla="*/ 0 w 2208"/>
                <a:gd name="T10" fmla="*/ 0 h 944"/>
                <a:gd name="T11" fmla="*/ 2208 w 2208"/>
                <a:gd name="T12" fmla="*/ 944 h 944"/>
              </a:gdLst>
              <a:ahLst/>
              <a:cxnLst>
                <a:cxn ang="T6">
                  <a:pos x="T0" y="T1"/>
                </a:cxn>
                <a:cxn ang="T7">
                  <a:pos x="T2" y="T3"/>
                </a:cxn>
                <a:cxn ang="T8">
                  <a:pos x="T4" y="T5"/>
                </a:cxn>
              </a:cxnLst>
              <a:rect l="T9" t="T10" r="T11" b="T12"/>
              <a:pathLst>
                <a:path w="2208" h="944">
                  <a:moveTo>
                    <a:pt x="0" y="944"/>
                  </a:moveTo>
                  <a:cubicBezTo>
                    <a:pt x="488" y="552"/>
                    <a:pt x="976" y="160"/>
                    <a:pt x="1344" y="80"/>
                  </a:cubicBezTo>
                  <a:cubicBezTo>
                    <a:pt x="1712" y="0"/>
                    <a:pt x="2064" y="400"/>
                    <a:pt x="2208" y="464"/>
                  </a:cubicBezTo>
                </a:path>
              </a:pathLst>
            </a:custGeom>
            <a:noFill/>
            <a:ln w="38100">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4347" name="Group 11"/>
            <p:cNvGrpSpPr>
              <a:grpSpLocks/>
            </p:cNvGrpSpPr>
            <p:nvPr/>
          </p:nvGrpSpPr>
          <p:grpSpPr bwMode="auto">
            <a:xfrm>
              <a:off x="960" y="2000"/>
              <a:ext cx="1536" cy="1632"/>
              <a:chOff x="1008" y="2064"/>
              <a:chExt cx="1536" cy="1632"/>
            </a:xfrm>
          </p:grpSpPr>
          <p:sp>
            <p:nvSpPr>
              <p:cNvPr id="14354" name="Line 9"/>
              <p:cNvSpPr>
                <a:spLocks noChangeShapeType="1"/>
              </p:cNvSpPr>
              <p:nvPr/>
            </p:nvSpPr>
            <p:spPr bwMode="auto">
              <a:xfrm>
                <a:off x="2544" y="2064"/>
                <a:ext cx="0" cy="1632"/>
              </a:xfrm>
              <a:prstGeom prst="line">
                <a:avLst/>
              </a:prstGeom>
              <a:noFill/>
              <a:ln w="38100">
                <a:solidFill>
                  <a:srgbClr val="9900CC"/>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4355" name="Line 10"/>
              <p:cNvSpPr>
                <a:spLocks noChangeShapeType="1"/>
              </p:cNvSpPr>
              <p:nvPr/>
            </p:nvSpPr>
            <p:spPr bwMode="auto">
              <a:xfrm flipH="1">
                <a:off x="1008" y="2064"/>
                <a:ext cx="1536" cy="0"/>
              </a:xfrm>
              <a:prstGeom prst="line">
                <a:avLst/>
              </a:prstGeom>
              <a:noFill/>
              <a:ln w="38100">
                <a:solidFill>
                  <a:srgbClr val="9900CC"/>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348" name="Text Box 13"/>
            <p:cNvSpPr txBox="1">
              <a:spLocks noChangeArrowheads="1"/>
            </p:cNvSpPr>
            <p:nvPr/>
          </p:nvSpPr>
          <p:spPr bwMode="auto">
            <a:xfrm>
              <a:off x="910" y="3032"/>
              <a:ext cx="15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700" b="1">
                  <a:solidFill>
                    <a:srgbClr val="FF0000"/>
                  </a:solidFill>
                </a:rPr>
                <a:t>Under specialization</a:t>
              </a:r>
            </a:p>
          </p:txBody>
        </p:sp>
        <p:sp>
          <p:nvSpPr>
            <p:cNvPr id="14349" name="Text Box 14"/>
            <p:cNvSpPr txBox="1">
              <a:spLocks noChangeArrowheads="1"/>
            </p:cNvSpPr>
            <p:nvPr/>
          </p:nvSpPr>
          <p:spPr bwMode="auto">
            <a:xfrm>
              <a:off x="2496" y="3024"/>
              <a:ext cx="146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b="1">
                  <a:solidFill>
                    <a:srgbClr val="FF0000"/>
                  </a:solidFill>
                </a:rPr>
                <a:t>Over Specialization</a:t>
              </a:r>
            </a:p>
          </p:txBody>
        </p:sp>
        <p:sp>
          <p:nvSpPr>
            <p:cNvPr id="14350" name="Text Box 15"/>
            <p:cNvSpPr txBox="1">
              <a:spLocks noChangeArrowheads="1"/>
            </p:cNvSpPr>
            <p:nvPr/>
          </p:nvSpPr>
          <p:spPr bwMode="auto">
            <a:xfrm>
              <a:off x="382" y="1039"/>
              <a:ext cx="10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b="1">
                  <a:solidFill>
                    <a:srgbClr val="000099"/>
                  </a:solidFill>
                </a:rPr>
                <a:t>Productivity</a:t>
              </a:r>
            </a:p>
          </p:txBody>
        </p:sp>
        <p:sp>
          <p:nvSpPr>
            <p:cNvPr id="14351" name="Text Box 16"/>
            <p:cNvSpPr txBox="1">
              <a:spLocks noChangeArrowheads="1"/>
            </p:cNvSpPr>
            <p:nvPr/>
          </p:nvSpPr>
          <p:spPr bwMode="auto">
            <a:xfrm>
              <a:off x="3840" y="3433"/>
              <a:ext cx="118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80000"/>
                </a:lnSpc>
              </a:pPr>
              <a:r>
                <a:rPr lang="en-US" sz="2000" b="1">
                  <a:solidFill>
                    <a:srgbClr val="000099"/>
                  </a:solidFill>
                </a:rPr>
                <a:t>Level of </a:t>
              </a:r>
            </a:p>
            <a:p>
              <a:pPr eaLnBrk="1" hangingPunct="1">
                <a:lnSpc>
                  <a:spcPct val="80000"/>
                </a:lnSpc>
              </a:pPr>
              <a:r>
                <a:rPr lang="en-US" sz="2000" b="1">
                  <a:solidFill>
                    <a:srgbClr val="000099"/>
                  </a:solidFill>
                </a:rPr>
                <a:t>Specialization</a:t>
              </a:r>
            </a:p>
          </p:txBody>
        </p:sp>
        <p:sp>
          <p:nvSpPr>
            <p:cNvPr id="14352" name="Text Box 17"/>
            <p:cNvSpPr txBox="1">
              <a:spLocks noChangeArrowheads="1"/>
            </p:cNvSpPr>
            <p:nvPr/>
          </p:nvSpPr>
          <p:spPr bwMode="auto">
            <a:xfrm>
              <a:off x="1920" y="3696"/>
              <a:ext cx="1081"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80000"/>
                </a:lnSpc>
              </a:pPr>
              <a:r>
                <a:rPr lang="en-US" b="1">
                  <a:solidFill>
                    <a:srgbClr val="006600"/>
                  </a:solidFill>
                </a:rPr>
                <a:t>Best Level of </a:t>
              </a:r>
            </a:p>
            <a:p>
              <a:pPr eaLnBrk="1" hangingPunct="1">
                <a:lnSpc>
                  <a:spcPct val="80000"/>
                </a:lnSpc>
              </a:pPr>
              <a:r>
                <a:rPr lang="en-US" b="1">
                  <a:solidFill>
                    <a:srgbClr val="006600"/>
                  </a:solidFill>
                </a:rPr>
                <a:t>Specialization</a:t>
              </a:r>
            </a:p>
          </p:txBody>
        </p:sp>
        <p:sp>
          <p:nvSpPr>
            <p:cNvPr id="14353" name="Text Box 18"/>
            <p:cNvSpPr txBox="1">
              <a:spLocks noChangeArrowheads="1"/>
            </p:cNvSpPr>
            <p:nvPr/>
          </p:nvSpPr>
          <p:spPr bwMode="auto">
            <a:xfrm>
              <a:off x="-85" y="1764"/>
              <a:ext cx="10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US" b="1">
                  <a:solidFill>
                    <a:srgbClr val="006600"/>
                  </a:solidFill>
                </a:rPr>
                <a:t>Maximum </a:t>
              </a:r>
            </a:p>
            <a:p>
              <a:pPr algn="r" eaLnBrk="1" hangingPunct="1"/>
              <a:r>
                <a:rPr lang="en-US" b="1">
                  <a:solidFill>
                    <a:srgbClr val="006600"/>
                  </a:solidFill>
                </a:rPr>
                <a:t>Productivity</a:t>
              </a: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8610600" cy="5105400"/>
          </a:xfrm>
        </p:spPr>
        <p:txBody>
          <a:bodyPr rtlCol="0">
            <a:normAutofit/>
          </a:bodyPr>
          <a:lstStyle/>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111125" indent="-111125" eaLnBrk="1" hangingPunct="1">
              <a:buClr>
                <a:srgbClr val="002060"/>
              </a:buClr>
              <a:buFont typeface="Arial" charset="0"/>
              <a:buNone/>
              <a:defRPr/>
            </a:pPr>
            <a:r>
              <a:rPr lang="en-US" sz="2600" b="1" u="sng" dirty="0" smtClean="0">
                <a:solidFill>
                  <a:schemeClr val="accent2">
                    <a:lumMod val="50000"/>
                  </a:schemeClr>
                </a:solidFill>
                <a:latin typeface="Times New Roman" pitchFamily="18" charset="0"/>
                <a:cs typeface="Times New Roman" pitchFamily="18" charset="0"/>
              </a:rPr>
              <a:t>Alternatives to Specialization </a:t>
            </a:r>
          </a:p>
          <a:p>
            <a:pPr marL="111125" indent="-111125" eaLnBrk="1" hangingPunct="1">
              <a:buClr>
                <a:srgbClr val="002060"/>
              </a:buClr>
              <a:buFont typeface="Arial" charset="0"/>
              <a:buNone/>
              <a:defRPr/>
            </a:pPr>
            <a:endParaRPr lang="en-US" sz="800" b="1" u="sng" dirty="0" smtClean="0">
              <a:solidFill>
                <a:schemeClr val="accent2">
                  <a:lumMod val="50000"/>
                </a:schemeClr>
              </a:solidFill>
              <a:latin typeface="Times New Roman" pitchFamily="18" charset="0"/>
              <a:cs typeface="Times New Roman" pitchFamily="18" charset="0"/>
            </a:endParaRPr>
          </a:p>
          <a:p>
            <a:pPr marL="111125" indent="-111125" eaLnBrk="1" hangingPunct="1">
              <a:buClr>
                <a:srgbClr val="002060"/>
              </a:buClr>
              <a:buFont typeface="Arial" charset="0"/>
              <a:buNone/>
              <a:defRPr/>
            </a:pPr>
            <a:r>
              <a:rPr lang="en-US" sz="2400" dirty="0" smtClean="0">
                <a:solidFill>
                  <a:srgbClr val="002060"/>
                </a:solidFill>
                <a:latin typeface="Times New Roman" pitchFamily="18" charset="0"/>
                <a:cs typeface="Times New Roman" pitchFamily="18" charset="0"/>
              </a:rPr>
              <a:t> </a:t>
            </a:r>
            <a:r>
              <a:rPr lang="en-US" sz="2400" b="1" dirty="0" smtClean="0">
                <a:solidFill>
                  <a:srgbClr val="002060"/>
                </a:solidFill>
                <a:latin typeface="Times New Roman" pitchFamily="18" charset="0"/>
                <a:cs typeface="Times New Roman" pitchFamily="18" charset="0"/>
              </a:rPr>
              <a:t>Job Rotation </a:t>
            </a:r>
          </a:p>
          <a:p>
            <a:pPr marL="346075" indent="-282575" eaLnBrk="1" hangingPunct="1">
              <a:buClr>
                <a:srgbClr val="002060"/>
              </a:buClr>
              <a:buFont typeface="Wingdings" pitchFamily="2" charset="2"/>
              <a:buChar char="§"/>
              <a:defRPr/>
            </a:pPr>
            <a:r>
              <a:rPr lang="en-US" sz="2000" dirty="0" smtClean="0">
                <a:solidFill>
                  <a:srgbClr val="002060"/>
                </a:solidFill>
                <a:latin typeface="Times New Roman" pitchFamily="18" charset="0"/>
                <a:cs typeface="Times New Roman" pitchFamily="18" charset="0"/>
              </a:rPr>
              <a:t>Involves systematically moving employees from one job to another. </a:t>
            </a:r>
          </a:p>
          <a:p>
            <a:pPr marL="346075" indent="-282575" eaLnBrk="1" hangingPunct="1">
              <a:buClr>
                <a:srgbClr val="002060"/>
              </a:buClr>
              <a:buFont typeface="Wingdings" pitchFamily="2" charset="2"/>
              <a:buChar char="§"/>
              <a:defRPr/>
            </a:pPr>
            <a:r>
              <a:rPr lang="en-US" sz="2000" dirty="0" smtClean="0">
                <a:solidFill>
                  <a:srgbClr val="002060"/>
                </a:solidFill>
                <a:latin typeface="Times New Roman" pitchFamily="18" charset="0"/>
                <a:cs typeface="Times New Roman" pitchFamily="18" charset="0"/>
              </a:rPr>
              <a:t>Has not been very successful in enhancing employee motivation or satisfaction. </a:t>
            </a:r>
          </a:p>
          <a:p>
            <a:pPr marL="346075" indent="-282575" eaLnBrk="1" hangingPunct="1">
              <a:buClr>
                <a:srgbClr val="002060"/>
              </a:buClr>
              <a:buFont typeface="Wingdings" pitchFamily="2" charset="2"/>
              <a:buChar char="§"/>
              <a:defRPr/>
            </a:pPr>
            <a:r>
              <a:rPr lang="en-US" sz="2000" dirty="0" smtClean="0">
                <a:solidFill>
                  <a:srgbClr val="002060"/>
                </a:solidFill>
                <a:latin typeface="Times New Roman" pitchFamily="18" charset="0"/>
                <a:cs typeface="Times New Roman" pitchFamily="18" charset="0"/>
              </a:rPr>
              <a:t>More often used today as a training device to improve worker skills and flexibility. </a:t>
            </a:r>
          </a:p>
          <a:p>
            <a:pPr marL="111125" indent="-111125" eaLnBrk="1" hangingPunct="1">
              <a:buClr>
                <a:srgbClr val="002060"/>
              </a:buClr>
              <a:buFont typeface="Wingdings" pitchFamily="2" charset="2"/>
              <a:buChar char="§"/>
              <a:defRPr/>
            </a:pPr>
            <a:endParaRPr lang="en-US" sz="2400" dirty="0" smtClean="0">
              <a:solidFill>
                <a:schemeClr val="accent2">
                  <a:lumMod val="50000"/>
                </a:schemeClr>
              </a:solidFill>
              <a:latin typeface="Times New Roman" pitchFamily="18" charset="0"/>
              <a:cs typeface="Times New Roman" pitchFamily="18" charset="0"/>
            </a:endParaRPr>
          </a:p>
          <a:p>
            <a:pPr marL="111125" indent="-111125" eaLnBrk="1" hangingPunct="1">
              <a:buClr>
                <a:srgbClr val="002060"/>
              </a:buClr>
              <a:buFont typeface="Arial" charset="0"/>
              <a:buNone/>
              <a:defRPr/>
            </a:pPr>
            <a:r>
              <a:rPr lang="en-US" sz="2400" b="1" dirty="0" smtClean="0">
                <a:solidFill>
                  <a:srgbClr val="002060"/>
                </a:solidFill>
                <a:latin typeface="Times New Roman" pitchFamily="18" charset="0"/>
                <a:cs typeface="Times New Roman" pitchFamily="18" charset="0"/>
              </a:rPr>
              <a:t>Job Enlargement </a:t>
            </a:r>
          </a:p>
          <a:p>
            <a:pPr marL="346075" indent="-346075" eaLnBrk="1" hangingPunct="1">
              <a:buClr>
                <a:srgbClr val="002060"/>
              </a:buClr>
              <a:buFont typeface="Wingdings" pitchFamily="2" charset="2"/>
              <a:buChar char="§"/>
              <a:defRPr/>
            </a:pPr>
            <a:r>
              <a:rPr lang="en-US" sz="2000" dirty="0" smtClean="0">
                <a:solidFill>
                  <a:srgbClr val="002060"/>
                </a:solidFill>
                <a:latin typeface="Times New Roman" pitchFamily="18" charset="0"/>
                <a:cs typeface="Times New Roman" pitchFamily="18" charset="0"/>
              </a:rPr>
              <a:t>Involves giving the employee more tasks to perform ( horizontal expansion).</a:t>
            </a:r>
          </a:p>
          <a:p>
            <a:pPr marL="346075" indent="-346075" eaLnBrk="1" hangingPunct="1">
              <a:buClr>
                <a:srgbClr val="002060"/>
              </a:buClr>
              <a:buFont typeface="Wingdings" pitchFamily="2" charset="2"/>
              <a:buChar char="§"/>
              <a:defRPr/>
            </a:pPr>
            <a:r>
              <a:rPr lang="en-US" sz="2000" dirty="0" smtClean="0">
                <a:solidFill>
                  <a:srgbClr val="002060"/>
                </a:solidFill>
                <a:latin typeface="Times New Roman" pitchFamily="18" charset="0"/>
                <a:cs typeface="Times New Roman" pitchFamily="18" charset="0"/>
              </a:rPr>
              <a:t>Disadvantages include: (1) High training cost , (2) Demand for higher pay , (3) Work remain boring and routine.   </a:t>
            </a:r>
          </a:p>
          <a:p>
            <a:pPr marL="111125" indent="-111125" eaLnBrk="1" hangingPunct="1">
              <a:buClr>
                <a:srgbClr val="002060"/>
              </a:buClr>
              <a:buFont typeface="Arial" charset="0"/>
              <a:buNone/>
              <a:defRPr/>
            </a:pPr>
            <a:endParaRPr lang="en-US" sz="2400" dirty="0" smtClean="0">
              <a:solidFill>
                <a:srgbClr val="002060"/>
              </a:solidFill>
              <a:latin typeface="Times New Roman" pitchFamily="18" charset="0"/>
              <a:cs typeface="Times New Roman" pitchFamily="18" charset="0"/>
            </a:endParaRPr>
          </a:p>
          <a:p>
            <a:pPr marL="111125" indent="-111125" eaLnBrk="1" hangingPunct="1">
              <a:buClr>
                <a:srgbClr val="002060"/>
              </a:buClr>
              <a:buFont typeface="Arial" charset="0"/>
              <a:buNone/>
              <a:defRPr/>
            </a:pPr>
            <a:endParaRPr lang="en-US" sz="2400" b="1" u="sng" dirty="0" smtClean="0">
              <a:solidFill>
                <a:schemeClr val="accent2">
                  <a:lumMod val="50000"/>
                </a:schemeClr>
              </a:solidFill>
              <a:latin typeface="Times New Roman" pitchFamily="18" charset="0"/>
              <a:cs typeface="Times New Roman" pitchFamily="18" charset="0"/>
            </a:endParaRPr>
          </a:p>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533400" y="381000"/>
            <a:ext cx="8229600" cy="762000"/>
          </a:xfrm>
        </p:spPr>
        <p:txBody>
          <a:bodyPr rtlCol="0">
            <a:norm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Designing Jobs (Cont…)</a:t>
            </a:r>
            <a:endParaRPr lang="en-US" sz="36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5867400" y="5715000"/>
            <a:ext cx="2590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i="1" dirty="0">
                <a:solidFill>
                  <a:srgbClr val="002060"/>
                </a:solidFill>
                <a:latin typeface="Times New Roman" pitchFamily="18" charset="0"/>
                <a:cs typeface="Times New Roman" pitchFamily="18" charset="0"/>
              </a:rPr>
              <a:t>(Griffin ,2012) </a:t>
            </a:r>
            <a:endParaRPr lang="en-US" sz="2000" b="1" i="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8610600" cy="5257800"/>
          </a:xfrm>
        </p:spPr>
        <p:txBody>
          <a:bodyPr rtlCol="0">
            <a:normAutofit/>
          </a:bodyPr>
          <a:lstStyle/>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111125" indent="-111125" eaLnBrk="1" hangingPunct="1">
              <a:buClr>
                <a:srgbClr val="002060"/>
              </a:buClr>
              <a:buFont typeface="Arial" charset="0"/>
              <a:buNone/>
              <a:defRPr/>
            </a:pPr>
            <a:r>
              <a:rPr lang="en-US" sz="2600" b="1" u="sng" dirty="0" smtClean="0">
                <a:solidFill>
                  <a:schemeClr val="accent2">
                    <a:lumMod val="50000"/>
                  </a:schemeClr>
                </a:solidFill>
                <a:latin typeface="Times New Roman" pitchFamily="18" charset="0"/>
                <a:cs typeface="Times New Roman" pitchFamily="18" charset="0"/>
              </a:rPr>
              <a:t>Alternatives to Specialization(Cont…) </a:t>
            </a:r>
          </a:p>
          <a:p>
            <a:pPr marL="111125" indent="-111125" eaLnBrk="1" hangingPunct="1">
              <a:buClr>
                <a:srgbClr val="002060"/>
              </a:buClr>
              <a:buFont typeface="Arial" charset="0"/>
              <a:buNone/>
              <a:defRPr/>
            </a:pPr>
            <a:endParaRPr lang="en-US" sz="800" b="1" u="sng" dirty="0" smtClean="0">
              <a:solidFill>
                <a:schemeClr val="accent2">
                  <a:lumMod val="50000"/>
                </a:schemeClr>
              </a:solidFill>
              <a:latin typeface="Times New Roman" pitchFamily="18" charset="0"/>
              <a:cs typeface="Times New Roman" pitchFamily="18" charset="0"/>
            </a:endParaRPr>
          </a:p>
          <a:p>
            <a:pPr marL="111125" indent="-111125" eaLnBrk="1" hangingPunct="1">
              <a:buClr>
                <a:srgbClr val="002060"/>
              </a:buClr>
              <a:buFont typeface="Arial" charset="0"/>
              <a:buNone/>
              <a:defRPr/>
            </a:pPr>
            <a:r>
              <a:rPr lang="en-US" sz="2400" b="1" dirty="0" smtClean="0">
                <a:solidFill>
                  <a:srgbClr val="002060"/>
                </a:solidFill>
                <a:latin typeface="Times New Roman" pitchFamily="18" charset="0"/>
                <a:cs typeface="Times New Roman" pitchFamily="18" charset="0"/>
              </a:rPr>
              <a:t>Job Enrichment </a:t>
            </a:r>
          </a:p>
          <a:p>
            <a:pPr marL="236538" indent="-236538" eaLnBrk="1" hangingPunct="1">
              <a:buClr>
                <a:srgbClr val="002060"/>
              </a:buClr>
              <a:buFont typeface="Wingdings" pitchFamily="2" charset="2"/>
              <a:buChar char="§"/>
              <a:defRPr/>
            </a:pPr>
            <a:r>
              <a:rPr lang="en-US" sz="2000" dirty="0" smtClean="0">
                <a:solidFill>
                  <a:srgbClr val="002060"/>
                </a:solidFill>
                <a:latin typeface="Times New Roman" pitchFamily="18" charset="0"/>
                <a:cs typeface="Times New Roman" pitchFamily="18" charset="0"/>
              </a:rPr>
              <a:t>Attempts to increase both the number of tasks a worker does and his controlling power over the job. </a:t>
            </a:r>
          </a:p>
          <a:p>
            <a:pPr marL="236538" indent="-236538" eaLnBrk="1" hangingPunct="1">
              <a:buClr>
                <a:srgbClr val="002060"/>
              </a:buClr>
              <a:buFont typeface="Wingdings" pitchFamily="2" charset="2"/>
              <a:buChar char="§"/>
              <a:defRPr/>
            </a:pPr>
            <a:r>
              <a:rPr lang="en-US" sz="2000" dirty="0" smtClean="0">
                <a:solidFill>
                  <a:srgbClr val="002060"/>
                </a:solidFill>
                <a:latin typeface="Times New Roman" pitchFamily="18" charset="0"/>
                <a:cs typeface="Times New Roman" pitchFamily="18" charset="0"/>
              </a:rPr>
              <a:t>To implement this managers remove some controls from the job, delegate more authority to employees and give him complete work unit. </a:t>
            </a:r>
          </a:p>
          <a:p>
            <a:pPr marL="236538" indent="-236538" eaLnBrk="1" hangingPunct="1">
              <a:buClr>
                <a:srgbClr val="002060"/>
              </a:buClr>
              <a:buFont typeface="Wingdings" pitchFamily="2" charset="2"/>
              <a:buChar char="§"/>
              <a:defRPr/>
            </a:pPr>
            <a:r>
              <a:rPr lang="en-US" sz="2000" dirty="0" smtClean="0">
                <a:solidFill>
                  <a:srgbClr val="002060"/>
                </a:solidFill>
                <a:latin typeface="Times New Roman" pitchFamily="18" charset="0"/>
                <a:cs typeface="Times New Roman" pitchFamily="18" charset="0"/>
              </a:rPr>
              <a:t>In this approach continually new and challenging tasks are assigned to increase employees’ opportunity for growth and advancement. </a:t>
            </a:r>
          </a:p>
          <a:p>
            <a:pPr marL="236538" indent="-236538" eaLnBrk="1" hangingPunct="1">
              <a:buClr>
                <a:srgbClr val="002060"/>
              </a:buClr>
              <a:buFont typeface="Arial" charset="0"/>
              <a:buNone/>
              <a:defRPr/>
            </a:pPr>
            <a:endParaRPr lang="en-US" sz="1800" dirty="0" smtClean="0">
              <a:solidFill>
                <a:srgbClr val="002060"/>
              </a:solidFill>
              <a:latin typeface="Times New Roman" pitchFamily="18" charset="0"/>
              <a:cs typeface="Times New Roman" pitchFamily="18" charset="0"/>
            </a:endParaRPr>
          </a:p>
          <a:p>
            <a:pPr marL="236538" indent="-236538" eaLnBrk="1" hangingPunct="1">
              <a:buClr>
                <a:srgbClr val="002060"/>
              </a:buClr>
              <a:buFont typeface="Arial" charset="0"/>
              <a:buNone/>
              <a:defRPr/>
            </a:pPr>
            <a:r>
              <a:rPr lang="en-US" sz="2400" b="1" dirty="0" smtClean="0">
                <a:solidFill>
                  <a:srgbClr val="002060"/>
                </a:solidFill>
                <a:latin typeface="Times New Roman" pitchFamily="18" charset="0"/>
                <a:cs typeface="Times New Roman" pitchFamily="18" charset="0"/>
              </a:rPr>
              <a:t>Work Team </a:t>
            </a:r>
          </a:p>
          <a:p>
            <a:pPr marL="236538" indent="-236538" eaLnBrk="1" hangingPunct="1">
              <a:buClr>
                <a:srgbClr val="002060"/>
              </a:buClr>
              <a:buFont typeface="Wingdings" pitchFamily="2" charset="2"/>
              <a:buChar char="§"/>
              <a:defRPr/>
            </a:pPr>
            <a:r>
              <a:rPr lang="en-US" sz="2000" dirty="0" smtClean="0">
                <a:solidFill>
                  <a:srgbClr val="002060"/>
                </a:solidFill>
                <a:latin typeface="Times New Roman" pitchFamily="18" charset="0"/>
                <a:cs typeface="Times New Roman" pitchFamily="18" charset="0"/>
              </a:rPr>
              <a:t>Allows an entire group to design the work system it will use to perform an interrelated set of task. </a:t>
            </a:r>
          </a:p>
          <a:p>
            <a:pPr marL="236538" indent="-236538" eaLnBrk="1" hangingPunct="1">
              <a:buClr>
                <a:srgbClr val="002060"/>
              </a:buClr>
              <a:buFont typeface="Wingdings" pitchFamily="2" charset="2"/>
              <a:buChar char="§"/>
              <a:defRPr/>
            </a:pPr>
            <a:r>
              <a:rPr lang="en-US" sz="2000" dirty="0" smtClean="0">
                <a:solidFill>
                  <a:srgbClr val="002060"/>
                </a:solidFill>
                <a:latin typeface="Times New Roman" pitchFamily="18" charset="0"/>
                <a:cs typeface="Times New Roman" pitchFamily="18" charset="0"/>
              </a:rPr>
              <a:t>The group itself decides how jobs will be allocated among the group members. </a:t>
            </a:r>
          </a:p>
          <a:p>
            <a:pPr marL="111125" indent="-111125" eaLnBrk="1" hangingPunct="1">
              <a:buClr>
                <a:srgbClr val="002060"/>
              </a:buClr>
              <a:buFont typeface="Arial" charset="0"/>
              <a:buNone/>
              <a:defRPr/>
            </a:pPr>
            <a:endParaRPr lang="en-US" sz="2400" dirty="0" smtClean="0">
              <a:solidFill>
                <a:srgbClr val="002060"/>
              </a:solidFill>
              <a:latin typeface="Times New Roman" pitchFamily="18" charset="0"/>
              <a:cs typeface="Times New Roman" pitchFamily="18" charset="0"/>
            </a:endParaRPr>
          </a:p>
          <a:p>
            <a:pPr marL="111125" indent="-111125" eaLnBrk="1" hangingPunct="1">
              <a:buClr>
                <a:srgbClr val="002060"/>
              </a:buClr>
              <a:buFont typeface="Arial" charset="0"/>
              <a:buNone/>
              <a:defRPr/>
            </a:pPr>
            <a:endParaRPr lang="en-US" sz="2400" b="1" u="sng" dirty="0" smtClean="0">
              <a:solidFill>
                <a:schemeClr val="accent2">
                  <a:lumMod val="50000"/>
                </a:schemeClr>
              </a:solidFill>
              <a:latin typeface="Times New Roman" pitchFamily="18" charset="0"/>
              <a:cs typeface="Times New Roman" pitchFamily="18" charset="0"/>
            </a:endParaRPr>
          </a:p>
          <a:p>
            <a:pPr marL="508000" indent="-508000" eaLnBrk="1" hangingPunct="1">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533400" y="228600"/>
            <a:ext cx="8229600" cy="762000"/>
          </a:xfrm>
        </p:spPr>
        <p:txBody>
          <a:bodyPr rtlCol="0">
            <a:norm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Designing Jobs (Cont…)</a:t>
            </a:r>
            <a:endParaRPr lang="en-US" sz="3600" b="1" dirty="0">
              <a:solidFill>
                <a:schemeClr val="accent2">
                  <a:lumMod val="5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0"/>
            <a:ext cx="8610600" cy="5334000"/>
          </a:xfrm>
        </p:spPr>
        <p:txBody>
          <a:bodyPr rtlCol="0">
            <a:noAutofit/>
          </a:bodyPr>
          <a:lstStyle/>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It is the process of grouping  jobs according to some logical arrangement. </a:t>
            </a:r>
          </a:p>
          <a:p>
            <a:pPr marL="346075" lvl="1" indent="-346075" eaLnBrk="1" fontAlgn="auto" hangingPunct="1">
              <a:spcAft>
                <a:spcPts val="0"/>
              </a:spcAft>
              <a:buClr>
                <a:srgbClr val="002060"/>
              </a:buClr>
              <a:buFont typeface="Wingdings" pitchFamily="2" charset="2"/>
              <a:buChar char="§"/>
              <a:defRPr/>
            </a:pPr>
            <a:endParaRPr lang="en-US" sz="16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The four most common bases for departmentalization are ; </a:t>
            </a:r>
          </a:p>
          <a:p>
            <a:pPr marL="746125" lvl="2" indent="-346075" eaLnBrk="1" fontAlgn="auto" hangingPunct="1">
              <a:spcAft>
                <a:spcPts val="0"/>
              </a:spcAft>
              <a:buClr>
                <a:srgbClr val="002060"/>
              </a:buClr>
              <a:buFont typeface="Wingdings" pitchFamily="2" charset="2"/>
              <a:buChar char="§"/>
              <a:defRPr/>
            </a:pPr>
            <a:r>
              <a:rPr lang="en-US" dirty="0" smtClean="0">
                <a:solidFill>
                  <a:srgbClr val="002060"/>
                </a:solidFill>
                <a:latin typeface="Times New Roman" pitchFamily="18" charset="0"/>
                <a:cs typeface="Times New Roman" pitchFamily="18" charset="0"/>
              </a:rPr>
              <a:t>Functional Base</a:t>
            </a:r>
          </a:p>
          <a:p>
            <a:pPr marL="746125" lvl="2" indent="-346075" eaLnBrk="1" fontAlgn="auto" hangingPunct="1">
              <a:spcAft>
                <a:spcPts val="0"/>
              </a:spcAft>
              <a:buClr>
                <a:srgbClr val="002060"/>
              </a:buClr>
              <a:buFont typeface="Wingdings" pitchFamily="2" charset="2"/>
              <a:buChar char="§"/>
              <a:defRPr/>
            </a:pPr>
            <a:r>
              <a:rPr lang="en-US" dirty="0" smtClean="0">
                <a:solidFill>
                  <a:srgbClr val="002060"/>
                </a:solidFill>
                <a:latin typeface="Times New Roman" pitchFamily="18" charset="0"/>
                <a:cs typeface="Times New Roman" pitchFamily="18" charset="0"/>
              </a:rPr>
              <a:t>Product Base </a:t>
            </a:r>
          </a:p>
          <a:p>
            <a:pPr marL="746125" lvl="2" indent="-346075" eaLnBrk="1" fontAlgn="auto" hangingPunct="1">
              <a:spcAft>
                <a:spcPts val="0"/>
              </a:spcAft>
              <a:buClr>
                <a:srgbClr val="002060"/>
              </a:buClr>
              <a:buFont typeface="Wingdings" pitchFamily="2" charset="2"/>
              <a:buChar char="§"/>
              <a:defRPr/>
            </a:pPr>
            <a:r>
              <a:rPr lang="en-US" dirty="0" smtClean="0">
                <a:solidFill>
                  <a:srgbClr val="002060"/>
                </a:solidFill>
                <a:latin typeface="Times New Roman" pitchFamily="18" charset="0"/>
                <a:cs typeface="Times New Roman" pitchFamily="18" charset="0"/>
              </a:rPr>
              <a:t>Customer Base</a:t>
            </a:r>
          </a:p>
          <a:p>
            <a:pPr marL="746125" lvl="2" indent="-346075" eaLnBrk="1" fontAlgn="auto" hangingPunct="1">
              <a:spcAft>
                <a:spcPts val="0"/>
              </a:spcAft>
              <a:buClr>
                <a:srgbClr val="002060"/>
              </a:buClr>
              <a:buFont typeface="Wingdings" pitchFamily="2" charset="2"/>
              <a:buChar char="§"/>
              <a:defRPr/>
            </a:pPr>
            <a:r>
              <a:rPr lang="en-US" dirty="0" smtClean="0">
                <a:solidFill>
                  <a:srgbClr val="002060"/>
                </a:solidFill>
                <a:latin typeface="Times New Roman" pitchFamily="18" charset="0"/>
                <a:cs typeface="Times New Roman" pitchFamily="18" charset="0"/>
              </a:rPr>
              <a:t>Geographical Base</a:t>
            </a:r>
          </a:p>
          <a:p>
            <a:pPr marL="284163" lvl="2" indent="-284163" eaLnBrk="1" fontAlgn="auto" hangingPunct="1">
              <a:spcAft>
                <a:spcPts val="0"/>
              </a:spcAft>
              <a:buClr>
                <a:srgbClr val="002060"/>
              </a:buClr>
              <a:buFont typeface="Wingdings" pitchFamily="2" charset="2"/>
              <a:buChar char="§"/>
              <a:defRPr/>
            </a:pPr>
            <a:endParaRPr lang="en-US" sz="1600" dirty="0" smtClean="0">
              <a:solidFill>
                <a:srgbClr val="002060"/>
              </a:solidFill>
              <a:latin typeface="Times New Roman" pitchFamily="18" charset="0"/>
              <a:cs typeface="Times New Roman" pitchFamily="18" charset="0"/>
            </a:endParaRPr>
          </a:p>
          <a:p>
            <a:pPr marL="284163" lvl="2" indent="-284163" eaLnBrk="1" fontAlgn="auto" hangingPunct="1">
              <a:spcAft>
                <a:spcPts val="0"/>
              </a:spcAft>
              <a:buClr>
                <a:srgbClr val="002060"/>
              </a:buClr>
              <a:buFont typeface="Wingdings" pitchFamily="2" charset="2"/>
              <a:buChar char="§"/>
              <a:defRPr/>
            </a:pPr>
            <a:r>
              <a:rPr lang="en-US" dirty="0" err="1" smtClean="0">
                <a:solidFill>
                  <a:schemeClr val="tx2">
                    <a:lumMod val="75000"/>
                  </a:schemeClr>
                </a:solidFill>
                <a:latin typeface="Times New Roman" pitchFamily="18" charset="0"/>
                <a:cs typeface="Times New Roman" pitchFamily="18" charset="0"/>
              </a:rPr>
              <a:t>Organisations</a:t>
            </a:r>
            <a:r>
              <a:rPr lang="en-US" dirty="0" smtClean="0">
                <a:solidFill>
                  <a:schemeClr val="tx2">
                    <a:lumMod val="75000"/>
                  </a:schemeClr>
                </a:solidFill>
                <a:latin typeface="Times New Roman" pitchFamily="18" charset="0"/>
                <a:cs typeface="Times New Roman" pitchFamily="18" charset="0"/>
              </a:rPr>
              <a:t> are </a:t>
            </a:r>
            <a:r>
              <a:rPr lang="en-US" dirty="0" smtClean="0">
                <a:solidFill>
                  <a:srgbClr val="002060"/>
                </a:solidFill>
                <a:latin typeface="Times New Roman" pitchFamily="18" charset="0"/>
                <a:cs typeface="Times New Roman" pitchFamily="18" charset="0"/>
              </a:rPr>
              <a:t>likely to employ multiple bases of </a:t>
            </a:r>
            <a:r>
              <a:rPr lang="en-US" dirty="0" err="1" smtClean="0">
                <a:solidFill>
                  <a:srgbClr val="002060"/>
                </a:solidFill>
                <a:latin typeface="Times New Roman" pitchFamily="18" charset="0"/>
                <a:cs typeface="Times New Roman" pitchFamily="18" charset="0"/>
              </a:rPr>
              <a:t>departmentalisation</a:t>
            </a:r>
            <a:r>
              <a:rPr lang="en-US" dirty="0" smtClean="0">
                <a:solidFill>
                  <a:srgbClr val="002060"/>
                </a:solidFill>
                <a:latin typeface="Times New Roman" pitchFamily="18" charset="0"/>
                <a:cs typeface="Times New Roman" pitchFamily="18" charset="0"/>
              </a:rPr>
              <a:t> depending on the context of the organisation. </a:t>
            </a:r>
          </a:p>
          <a:p>
            <a:pPr marL="746125" lvl="2" indent="-346075" eaLnBrk="1" fontAlgn="auto" hangingPunct="1">
              <a:spcAft>
                <a:spcPts val="0"/>
              </a:spcAft>
              <a:buClr>
                <a:srgbClr val="002060"/>
              </a:buClr>
              <a:buFont typeface="Arial" charset="0"/>
              <a:buNone/>
              <a:defRPr/>
            </a:pPr>
            <a:r>
              <a:rPr lang="en-US" sz="2000" dirty="0" smtClean="0">
                <a:solidFill>
                  <a:srgbClr val="002060"/>
                </a:solidFill>
                <a:latin typeface="Times New Roman" pitchFamily="18" charset="0"/>
                <a:cs typeface="Times New Roman" pitchFamily="18" charset="0"/>
              </a:rPr>
              <a:t>      </a:t>
            </a:r>
            <a:endParaRPr lang="en-US" b="1"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304800" y="228600"/>
            <a:ext cx="8458200" cy="609600"/>
          </a:xfrm>
        </p:spPr>
        <p:txBody>
          <a:bodyPr rtlCol="0">
            <a:no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
            </a:r>
            <a:br>
              <a:rPr lang="en-US" sz="3600" b="1" dirty="0" smtClean="0">
                <a:solidFill>
                  <a:schemeClr val="accent2">
                    <a:lumMod val="50000"/>
                  </a:schemeClr>
                </a:solidFill>
                <a:latin typeface="Times New Roman" pitchFamily="18" charset="0"/>
                <a:cs typeface="Times New Roman" pitchFamily="18" charset="0"/>
              </a:rPr>
            </a:br>
            <a:r>
              <a:rPr lang="en-US" sz="3600" b="1" u="sng" dirty="0" smtClean="0">
                <a:solidFill>
                  <a:schemeClr val="accent2">
                    <a:lumMod val="50000"/>
                  </a:schemeClr>
                </a:solidFill>
                <a:latin typeface="Times New Roman" pitchFamily="18" charset="0"/>
                <a:cs typeface="Times New Roman" pitchFamily="18" charset="0"/>
              </a:rPr>
              <a:t> Element  02</a:t>
            </a:r>
            <a:r>
              <a:rPr lang="en-US" sz="3600" b="1" dirty="0" smtClean="0">
                <a:solidFill>
                  <a:schemeClr val="accent2">
                    <a:lumMod val="50000"/>
                  </a:schemeClr>
                </a:solidFill>
                <a:latin typeface="Times New Roman" pitchFamily="18" charset="0"/>
                <a:cs typeface="Times New Roman" pitchFamily="18" charset="0"/>
              </a:rPr>
              <a:t/>
            </a:r>
            <a:br>
              <a:rPr lang="en-US" sz="3600" b="1" dirty="0" smtClean="0">
                <a:solidFill>
                  <a:schemeClr val="accent2">
                    <a:lumMod val="50000"/>
                  </a:schemeClr>
                </a:solidFill>
                <a:latin typeface="Times New Roman" pitchFamily="18" charset="0"/>
                <a:cs typeface="Times New Roman" pitchFamily="18" charset="0"/>
              </a:rPr>
            </a:br>
            <a:r>
              <a:rPr lang="en-US" sz="3600" b="1" dirty="0" smtClean="0">
                <a:solidFill>
                  <a:schemeClr val="accent2">
                    <a:lumMod val="50000"/>
                  </a:schemeClr>
                </a:solidFill>
                <a:latin typeface="Times New Roman" pitchFamily="18" charset="0"/>
                <a:cs typeface="Times New Roman" pitchFamily="18" charset="0"/>
              </a:rPr>
              <a:t> Grouping Jobs : </a:t>
            </a:r>
            <a:r>
              <a:rPr lang="en-US" sz="3600" b="1" dirty="0" err="1" smtClean="0">
                <a:solidFill>
                  <a:schemeClr val="accent2">
                    <a:lumMod val="50000"/>
                  </a:schemeClr>
                </a:solidFill>
                <a:latin typeface="Times New Roman" pitchFamily="18" charset="0"/>
                <a:cs typeface="Times New Roman" pitchFamily="18" charset="0"/>
              </a:rPr>
              <a:t>Departmentalisation</a:t>
            </a:r>
            <a:r>
              <a:rPr lang="en-US" sz="3600" b="1" dirty="0" smtClean="0">
                <a:solidFill>
                  <a:schemeClr val="accent2">
                    <a:lumMod val="50000"/>
                  </a:schemeClr>
                </a:solidFill>
                <a:latin typeface="Times New Roman" pitchFamily="18" charset="0"/>
                <a:cs typeface="Times New Roman" pitchFamily="18" charset="0"/>
              </a:rPr>
              <a:t> </a:t>
            </a:r>
            <a:endParaRPr lang="en-US" sz="3600" b="1" dirty="0">
              <a:solidFill>
                <a:schemeClr val="accent2">
                  <a:lumMod val="5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057400"/>
            <a:ext cx="6781800"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165100" y="1219200"/>
            <a:ext cx="8686800" cy="4724400"/>
          </a:xfrm>
        </p:spPr>
        <p:txBody>
          <a:bodyPr rtlCol="0">
            <a:noAutofit/>
          </a:bodyPr>
          <a:lstStyle/>
          <a:p>
            <a:pPr marL="284163" lvl="2" indent="-173038" eaLnBrk="1" fontAlgn="auto" hangingPunct="1">
              <a:spcAft>
                <a:spcPts val="0"/>
              </a:spcAft>
              <a:buClr>
                <a:srgbClr val="002060"/>
              </a:buClr>
              <a:buFont typeface="Wingdings" pitchFamily="2" charset="2"/>
              <a:buChar char="§"/>
              <a:defRPr/>
            </a:pPr>
            <a:r>
              <a:rPr lang="en-US" sz="2200" b="1" dirty="0" err="1" smtClean="0">
                <a:solidFill>
                  <a:srgbClr val="002060"/>
                </a:solidFill>
                <a:latin typeface="Times New Roman" pitchFamily="18" charset="0"/>
                <a:cs typeface="Times New Roman" pitchFamily="18" charset="0"/>
              </a:rPr>
              <a:t>Departmentalisation</a:t>
            </a:r>
            <a:r>
              <a:rPr lang="en-US" sz="2200" b="1" dirty="0" smtClean="0">
                <a:solidFill>
                  <a:srgbClr val="002060"/>
                </a:solidFill>
                <a:latin typeface="Times New Roman" pitchFamily="18" charset="0"/>
                <a:cs typeface="Times New Roman" pitchFamily="18" charset="0"/>
              </a:rPr>
              <a:t> according to Functional Base</a:t>
            </a:r>
            <a:endParaRPr lang="en-US" sz="2200" dirty="0" smtClean="0">
              <a:solidFill>
                <a:srgbClr val="002060"/>
              </a:solidFill>
              <a:latin typeface="Times New Roman" pitchFamily="18" charset="0"/>
              <a:cs typeface="Times New Roman" pitchFamily="18" charset="0"/>
            </a:endParaRPr>
          </a:p>
          <a:p>
            <a:pPr marL="346075" lvl="2" indent="-282575"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    </a:t>
            </a:r>
          </a:p>
          <a:p>
            <a:pPr marL="346075" lvl="2" indent="-282575"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346075" lvl="2" indent="-282575"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346075" lvl="2" indent="-282575"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346075" lvl="2" indent="-282575"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346075" lvl="2" indent="-282575"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346075" lvl="2" indent="-282575"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55563" lvl="2" indent="7938"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Here the departments are formed  by grouping the jobs involving the same or similar activities. </a:t>
            </a:r>
            <a:endParaRPr lang="en-US" sz="800" dirty="0" smtClean="0">
              <a:solidFill>
                <a:srgbClr val="002060"/>
              </a:solidFill>
              <a:latin typeface="Times New Roman" pitchFamily="18" charset="0"/>
              <a:cs typeface="Times New Roman" pitchFamily="18" charset="0"/>
            </a:endParaRPr>
          </a:p>
          <a:p>
            <a:pPr marL="346075" lvl="2" indent="-173038"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   </a:t>
            </a:r>
          </a:p>
          <a:p>
            <a:pPr marL="346075" lvl="2" indent="-173038" eaLnBrk="1" fontAlgn="auto" hangingPunct="1">
              <a:spcAft>
                <a:spcPts val="0"/>
              </a:spcAft>
              <a:buClr>
                <a:srgbClr val="002060"/>
              </a:buClr>
              <a:buFont typeface="Arial" charset="0"/>
              <a:buNone/>
              <a:defRPr/>
            </a:pPr>
            <a:r>
              <a:rPr lang="en-US" sz="2000" dirty="0" smtClean="0">
                <a:solidFill>
                  <a:srgbClr val="002060"/>
                </a:solidFill>
                <a:latin typeface="Times New Roman" pitchFamily="18" charset="0"/>
                <a:cs typeface="Times New Roman" pitchFamily="18" charset="0"/>
              </a:rPr>
              <a:t>    </a:t>
            </a:r>
            <a:endParaRPr lang="en-US" sz="2000" b="1" dirty="0">
              <a:solidFill>
                <a:srgbClr val="002060"/>
              </a:solidFill>
              <a:latin typeface="Times New Roman" pitchFamily="18" charset="0"/>
              <a:ea typeface="+mj-ea"/>
              <a:cs typeface="Times New Roman" pitchFamily="18" charset="0"/>
            </a:endParaRPr>
          </a:p>
        </p:txBody>
      </p:sp>
      <p:sp>
        <p:nvSpPr>
          <p:cNvPr id="12" name="Title 10"/>
          <p:cNvSpPr>
            <a:spLocks noGrp="1"/>
          </p:cNvSpPr>
          <p:nvPr>
            <p:ph type="title"/>
          </p:nvPr>
        </p:nvSpPr>
        <p:spPr>
          <a:xfrm>
            <a:off x="76200" y="381000"/>
            <a:ext cx="9144000" cy="609600"/>
          </a:xfrm>
        </p:spPr>
        <p:txBody>
          <a:bodyPr rtlCol="0">
            <a:noAutofit/>
          </a:bodyPr>
          <a:lstStyle/>
          <a:p>
            <a:pPr eaLnBrk="1" fontAlgn="auto" hangingPunct="1">
              <a:spcAft>
                <a:spcPts val="0"/>
              </a:spcAft>
              <a:defRPr/>
            </a:pPr>
            <a:r>
              <a:rPr lang="en-US" sz="3200" b="1" dirty="0" smtClean="0">
                <a:solidFill>
                  <a:schemeClr val="accent2">
                    <a:lumMod val="50000"/>
                  </a:schemeClr>
                </a:solidFill>
                <a:latin typeface="Times New Roman" pitchFamily="18" charset="0"/>
                <a:cs typeface="Times New Roman" pitchFamily="18" charset="0"/>
              </a:rPr>
              <a:t>Grouping Jobs : </a:t>
            </a:r>
            <a:r>
              <a:rPr lang="en-US" sz="3200" b="1" dirty="0" err="1" smtClean="0">
                <a:solidFill>
                  <a:schemeClr val="accent2">
                    <a:lumMod val="50000"/>
                  </a:schemeClr>
                </a:solidFill>
                <a:latin typeface="Times New Roman" pitchFamily="18" charset="0"/>
                <a:cs typeface="Times New Roman" pitchFamily="18" charset="0"/>
              </a:rPr>
              <a:t>Departmentalisation</a:t>
            </a:r>
            <a:r>
              <a:rPr lang="en-US" sz="3200" b="1" dirty="0" smtClean="0">
                <a:solidFill>
                  <a:schemeClr val="accent2">
                    <a:lumMod val="50000"/>
                  </a:schemeClr>
                </a:solidFill>
                <a:latin typeface="Times New Roman" pitchFamily="18" charset="0"/>
                <a:cs typeface="Times New Roman" pitchFamily="18" charset="0"/>
              </a:rPr>
              <a:t>  (Cont…) </a:t>
            </a:r>
            <a:endParaRPr lang="en-US" sz="3200" b="1" dirty="0">
              <a:solidFill>
                <a:schemeClr val="accent2">
                  <a:lumMod val="50000"/>
                </a:schemeClr>
              </a:solidFill>
              <a:latin typeface="Times New Roman" pitchFamily="18" charset="0"/>
              <a:cs typeface="Times New Roman" pitchFamily="18" charset="0"/>
            </a:endParaRPr>
          </a:p>
        </p:txBody>
      </p:sp>
      <p:sp>
        <p:nvSpPr>
          <p:cNvPr id="10" name="Rectangle 9"/>
          <p:cNvSpPr/>
          <p:nvPr/>
        </p:nvSpPr>
        <p:spPr>
          <a:xfrm>
            <a:off x="5867400" y="5181600"/>
            <a:ext cx="2819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b="1" i="1" dirty="0">
                <a:solidFill>
                  <a:srgbClr val="002060"/>
                </a:solidFill>
                <a:latin typeface="Times New Roman" pitchFamily="18" charset="0"/>
                <a:cs typeface="Times New Roman" pitchFamily="18" charset="0"/>
              </a:rPr>
              <a:t>(Griffin ,2012) </a:t>
            </a:r>
            <a:endParaRPr lang="en-US" sz="1600" b="1" i="1" dirty="0"/>
          </a:p>
        </p:txBody>
      </p:sp>
      <p:sp>
        <p:nvSpPr>
          <p:cNvPr id="9" name="Rounded Rectangle 8"/>
          <p:cNvSpPr/>
          <p:nvPr/>
        </p:nvSpPr>
        <p:spPr>
          <a:xfrm>
            <a:off x="1069975" y="1905000"/>
            <a:ext cx="7083425" cy="2286000"/>
          </a:xfrm>
          <a:prstGeom prst="roundRect">
            <a:avLst/>
          </a:prstGeom>
          <a:solidFill>
            <a:srgbClr val="35BBF7">
              <a:alpha val="4000"/>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5100" y="1082675"/>
            <a:ext cx="8686800" cy="5394325"/>
          </a:xfrm>
        </p:spPr>
        <p:txBody>
          <a:bodyPr rtlCol="0">
            <a:noAutofit/>
          </a:bodyPr>
          <a:lstStyle/>
          <a:p>
            <a:pPr marL="284163" lvl="2" indent="-173038" eaLnBrk="1" fontAlgn="auto" hangingPunct="1">
              <a:spcAft>
                <a:spcPts val="0"/>
              </a:spcAft>
              <a:buClr>
                <a:srgbClr val="002060"/>
              </a:buClr>
              <a:buFont typeface="Wingdings" pitchFamily="2" charset="2"/>
              <a:buChar char="§"/>
              <a:defRPr/>
            </a:pPr>
            <a:r>
              <a:rPr lang="en-US" sz="2200" b="1" dirty="0" err="1" smtClean="0">
                <a:solidFill>
                  <a:srgbClr val="002060"/>
                </a:solidFill>
                <a:latin typeface="Times New Roman" pitchFamily="18" charset="0"/>
                <a:cs typeface="Times New Roman" pitchFamily="18" charset="0"/>
              </a:rPr>
              <a:t>Departmentalisation</a:t>
            </a:r>
            <a:r>
              <a:rPr lang="en-US" sz="2200" b="1" dirty="0" smtClean="0">
                <a:solidFill>
                  <a:srgbClr val="002060"/>
                </a:solidFill>
                <a:latin typeface="Times New Roman" pitchFamily="18" charset="0"/>
                <a:cs typeface="Times New Roman" pitchFamily="18" charset="0"/>
              </a:rPr>
              <a:t> according to Functional Base (Cont…) </a:t>
            </a:r>
            <a:endParaRPr lang="en-US" sz="2200" dirty="0" smtClean="0">
              <a:solidFill>
                <a:srgbClr val="002060"/>
              </a:solidFill>
              <a:latin typeface="Times New Roman" pitchFamily="18" charset="0"/>
              <a:cs typeface="Times New Roman" pitchFamily="18" charset="0"/>
            </a:endParaRPr>
          </a:p>
          <a:p>
            <a:pPr marL="346075" lvl="2" indent="-173038"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   The advantages; </a:t>
            </a:r>
          </a:p>
          <a:p>
            <a:pPr marL="520700" lvl="2" indent="0" eaLnBrk="1" fontAlgn="auto" hangingPunct="1">
              <a:spcAft>
                <a:spcPts val="0"/>
              </a:spcAft>
              <a:buClr>
                <a:srgbClr val="002060"/>
              </a:buClr>
              <a:buFont typeface="Arial" charset="0"/>
              <a:buNone/>
              <a:defRPr/>
            </a:pPr>
            <a:r>
              <a:rPr lang="en-US" dirty="0" smtClean="0">
                <a:solidFill>
                  <a:srgbClr val="002060"/>
                </a:solidFill>
                <a:latin typeface="Times New Roman" pitchFamily="18" charset="0"/>
                <a:cs typeface="Times New Roman" pitchFamily="18" charset="0"/>
              </a:rPr>
              <a:t>     1) </a:t>
            </a:r>
            <a:r>
              <a:rPr lang="en-US" sz="2100" dirty="0" smtClean="0">
                <a:solidFill>
                  <a:srgbClr val="002060"/>
                </a:solidFill>
                <a:latin typeface="Times New Roman" pitchFamily="18" charset="0"/>
                <a:cs typeface="Times New Roman" pitchFamily="18" charset="0"/>
              </a:rPr>
              <a:t>Efficient use of resources </a:t>
            </a:r>
          </a:p>
          <a:p>
            <a:pPr marL="520700" lvl="2" indent="0" eaLnBrk="1" fontAlgn="auto" hangingPunct="1">
              <a:spcAft>
                <a:spcPts val="0"/>
              </a:spcAft>
              <a:buClr>
                <a:srgbClr val="002060"/>
              </a:buClr>
              <a:buFont typeface="Arial" charset="0"/>
              <a:buNone/>
              <a:defRPr/>
            </a:pPr>
            <a:r>
              <a:rPr lang="en-US" sz="2100" dirty="0" smtClean="0">
                <a:solidFill>
                  <a:srgbClr val="002060"/>
                </a:solidFill>
                <a:latin typeface="Times New Roman" pitchFamily="18" charset="0"/>
                <a:cs typeface="Times New Roman" pitchFamily="18" charset="0"/>
              </a:rPr>
              <a:t>      2) Each department can be staffed by experts in that functional area</a:t>
            </a:r>
          </a:p>
          <a:p>
            <a:pPr marL="520700" lvl="2" indent="0" eaLnBrk="1" fontAlgn="auto" hangingPunct="1">
              <a:spcAft>
                <a:spcPts val="0"/>
              </a:spcAft>
              <a:buClr>
                <a:srgbClr val="002060"/>
              </a:buClr>
              <a:buFont typeface="Arial" charset="0"/>
              <a:buNone/>
              <a:defRPr/>
            </a:pPr>
            <a:r>
              <a:rPr lang="en-US" sz="2100" dirty="0" smtClean="0">
                <a:solidFill>
                  <a:srgbClr val="002060"/>
                </a:solidFill>
                <a:latin typeface="Times New Roman" pitchFamily="18" charset="0"/>
                <a:cs typeface="Times New Roman" pitchFamily="18" charset="0"/>
              </a:rPr>
              <a:t>      3) Supervision is facilitated with focused set of skills</a:t>
            </a:r>
          </a:p>
          <a:p>
            <a:pPr marL="520700" lvl="2" indent="0" eaLnBrk="1" fontAlgn="auto" hangingPunct="1">
              <a:spcAft>
                <a:spcPts val="0"/>
              </a:spcAft>
              <a:buClr>
                <a:srgbClr val="002060"/>
              </a:buClr>
              <a:buFont typeface="Arial" charset="0"/>
              <a:buNone/>
              <a:defRPr/>
            </a:pPr>
            <a:r>
              <a:rPr lang="en-US" sz="2100" dirty="0" smtClean="0">
                <a:solidFill>
                  <a:srgbClr val="002060"/>
                </a:solidFill>
                <a:latin typeface="Times New Roman" pitchFamily="18" charset="0"/>
                <a:cs typeface="Times New Roman" pitchFamily="18" charset="0"/>
              </a:rPr>
              <a:t>      4) Coordinating activities inside each department is easier</a:t>
            </a:r>
          </a:p>
          <a:p>
            <a:pPr marL="520700" lvl="2" indent="0" eaLnBrk="1" fontAlgn="auto" hangingPunct="1">
              <a:spcAft>
                <a:spcPts val="0"/>
              </a:spcAft>
              <a:buClr>
                <a:srgbClr val="002060"/>
              </a:buClr>
              <a:buFont typeface="Arial" charset="0"/>
              <a:buNone/>
              <a:defRPr/>
            </a:pPr>
            <a:r>
              <a:rPr lang="en-US" sz="2100" dirty="0" smtClean="0">
                <a:solidFill>
                  <a:srgbClr val="002060"/>
                </a:solidFill>
                <a:latin typeface="Times New Roman" pitchFamily="18" charset="0"/>
                <a:cs typeface="Times New Roman" pitchFamily="18" charset="0"/>
              </a:rPr>
              <a:t>      5) In-depth skill specialization and development </a:t>
            </a:r>
          </a:p>
          <a:p>
            <a:pPr marL="520700" lvl="2" indent="0" eaLnBrk="1" fontAlgn="auto" hangingPunct="1">
              <a:spcAft>
                <a:spcPts val="0"/>
              </a:spcAft>
              <a:buClr>
                <a:srgbClr val="002060"/>
              </a:buClr>
              <a:buFont typeface="Arial" charset="0"/>
              <a:buNone/>
              <a:defRPr/>
            </a:pPr>
            <a:endParaRPr lang="en-US" sz="800" dirty="0" smtClean="0">
              <a:solidFill>
                <a:srgbClr val="002060"/>
              </a:solidFill>
              <a:latin typeface="Times New Roman" pitchFamily="18" charset="0"/>
              <a:cs typeface="Times New Roman" pitchFamily="18" charset="0"/>
            </a:endParaRPr>
          </a:p>
          <a:p>
            <a:pPr marL="346075" lvl="2" indent="-282575"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      The disadvantages ;</a:t>
            </a:r>
          </a:p>
          <a:p>
            <a:pPr marL="977900" lvl="2" indent="-409575"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      1) Decision making tends to become slower and bureaucratic</a:t>
            </a:r>
          </a:p>
          <a:p>
            <a:pPr marL="977900" lvl="2" indent="-409575"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      2) Poor communication across functional departments </a:t>
            </a:r>
          </a:p>
          <a:p>
            <a:pPr marL="977900" lvl="2" indent="-409575"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      3) Lose sight of the  total </a:t>
            </a:r>
            <a:r>
              <a:rPr lang="en-US" sz="2200" dirty="0" err="1" smtClean="0">
                <a:solidFill>
                  <a:srgbClr val="002060"/>
                </a:solidFill>
                <a:latin typeface="Times New Roman" pitchFamily="18" charset="0"/>
                <a:cs typeface="Times New Roman" pitchFamily="18" charset="0"/>
              </a:rPr>
              <a:t>organisational</a:t>
            </a:r>
            <a:r>
              <a:rPr lang="en-US" sz="2200" dirty="0" smtClean="0">
                <a:solidFill>
                  <a:srgbClr val="002060"/>
                </a:solidFill>
                <a:latin typeface="Times New Roman" pitchFamily="18" charset="0"/>
                <a:cs typeface="Times New Roman" pitchFamily="18" charset="0"/>
              </a:rPr>
              <a:t> system </a:t>
            </a:r>
          </a:p>
          <a:p>
            <a:pPr marL="1260475" lvl="2" indent="-346075"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 4) Accountability and performance become increasingly difficult   to monitor  in the </a:t>
            </a:r>
            <a:r>
              <a:rPr lang="en-US" sz="2200" dirty="0" err="1" smtClean="0">
                <a:solidFill>
                  <a:srgbClr val="002060"/>
                </a:solidFill>
                <a:latin typeface="Times New Roman" pitchFamily="18" charset="0"/>
                <a:cs typeface="Times New Roman" pitchFamily="18" charset="0"/>
              </a:rPr>
              <a:t>organisation</a:t>
            </a:r>
            <a:endParaRPr lang="en-US" sz="2200" dirty="0" smtClean="0">
              <a:solidFill>
                <a:srgbClr val="002060"/>
              </a:solidFill>
              <a:latin typeface="Times New Roman" pitchFamily="18" charset="0"/>
              <a:cs typeface="Times New Roman" pitchFamily="18" charset="0"/>
            </a:endParaRPr>
          </a:p>
          <a:p>
            <a:pPr marL="520700" lvl="2" indent="0"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346075" lvl="2" indent="-173038" eaLnBrk="1" fontAlgn="auto" hangingPunct="1">
              <a:spcAft>
                <a:spcPts val="0"/>
              </a:spcAft>
              <a:buClr>
                <a:srgbClr val="002060"/>
              </a:buClr>
              <a:buFont typeface="Arial" charset="0"/>
              <a:buNone/>
              <a:defRPr/>
            </a:pPr>
            <a:r>
              <a:rPr lang="en-US" sz="2000" dirty="0" smtClean="0">
                <a:solidFill>
                  <a:srgbClr val="002060"/>
                </a:solidFill>
                <a:latin typeface="Times New Roman" pitchFamily="18" charset="0"/>
                <a:cs typeface="Times New Roman" pitchFamily="18" charset="0"/>
              </a:rPr>
              <a:t>    </a:t>
            </a:r>
            <a:endParaRPr lang="en-US" sz="2000" b="1" dirty="0">
              <a:solidFill>
                <a:srgbClr val="002060"/>
              </a:solidFill>
              <a:latin typeface="Times New Roman" pitchFamily="18" charset="0"/>
              <a:ea typeface="+mj-ea"/>
              <a:cs typeface="Times New Roman" pitchFamily="18" charset="0"/>
            </a:endParaRPr>
          </a:p>
        </p:txBody>
      </p:sp>
      <p:sp>
        <p:nvSpPr>
          <p:cNvPr id="12" name="Title 10"/>
          <p:cNvSpPr>
            <a:spLocks noGrp="1"/>
          </p:cNvSpPr>
          <p:nvPr>
            <p:ph type="title"/>
          </p:nvPr>
        </p:nvSpPr>
        <p:spPr>
          <a:xfrm>
            <a:off x="76200" y="354013"/>
            <a:ext cx="9144000" cy="609600"/>
          </a:xfrm>
        </p:spPr>
        <p:txBody>
          <a:bodyPr rtlCol="0">
            <a:noAutofit/>
          </a:bodyPr>
          <a:lstStyle/>
          <a:p>
            <a:pPr eaLnBrk="1" fontAlgn="auto" hangingPunct="1">
              <a:spcAft>
                <a:spcPts val="0"/>
              </a:spcAft>
              <a:defRPr/>
            </a:pPr>
            <a:r>
              <a:rPr lang="en-US" sz="3200" b="1" dirty="0" smtClean="0">
                <a:solidFill>
                  <a:schemeClr val="accent2">
                    <a:lumMod val="50000"/>
                  </a:schemeClr>
                </a:solidFill>
                <a:latin typeface="Times New Roman" pitchFamily="18" charset="0"/>
                <a:cs typeface="Times New Roman" pitchFamily="18" charset="0"/>
              </a:rPr>
              <a:t>Grouping Jobs : </a:t>
            </a:r>
            <a:r>
              <a:rPr lang="en-US" sz="3200" b="1" dirty="0" err="1" smtClean="0">
                <a:solidFill>
                  <a:schemeClr val="accent2">
                    <a:lumMod val="50000"/>
                  </a:schemeClr>
                </a:solidFill>
                <a:latin typeface="Times New Roman" pitchFamily="18" charset="0"/>
                <a:cs typeface="Times New Roman" pitchFamily="18" charset="0"/>
              </a:rPr>
              <a:t>Departmentalisation</a:t>
            </a:r>
            <a:r>
              <a:rPr lang="en-US" sz="3200" b="1" dirty="0" smtClean="0">
                <a:solidFill>
                  <a:schemeClr val="accent2">
                    <a:lumMod val="50000"/>
                  </a:schemeClr>
                </a:solidFill>
                <a:latin typeface="Times New Roman" pitchFamily="18" charset="0"/>
                <a:cs typeface="Times New Roman" pitchFamily="18" charset="0"/>
              </a:rPr>
              <a:t>  (Cont…) </a:t>
            </a:r>
            <a:endParaRPr lang="en-US" sz="3200" b="1" dirty="0">
              <a:solidFill>
                <a:schemeClr val="accent2">
                  <a:lumMod val="50000"/>
                </a:schemeClr>
              </a:solidFill>
              <a:latin typeface="Times New Roman" pitchFamily="18" charset="0"/>
              <a:cs typeface="Times New Roman" pitchFamily="18" charset="0"/>
            </a:endParaRPr>
          </a:p>
        </p:txBody>
      </p:sp>
      <p:sp>
        <p:nvSpPr>
          <p:cNvPr id="10" name="Rectangle 9"/>
          <p:cNvSpPr/>
          <p:nvPr/>
        </p:nvSpPr>
        <p:spPr>
          <a:xfrm>
            <a:off x="5715000" y="6096000"/>
            <a:ext cx="2819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b="1" i="1" dirty="0">
                <a:solidFill>
                  <a:srgbClr val="002060"/>
                </a:solidFill>
                <a:latin typeface="Times New Roman" pitchFamily="18" charset="0"/>
                <a:cs typeface="Times New Roman" pitchFamily="18" charset="0"/>
              </a:rPr>
              <a:t>(Daft ,2012 ; Griffin ,2012) </a:t>
            </a:r>
            <a:endParaRPr lang="en-US" sz="1600" b="1" i="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566150" cy="5410200"/>
          </a:xfrm>
        </p:spPr>
        <p:txBody>
          <a:bodyPr rtlCol="0">
            <a:noAutofit/>
          </a:bodyPr>
          <a:lstStyle/>
          <a:p>
            <a:pPr marL="236538" lvl="2" indent="-236538" eaLnBrk="1" fontAlgn="auto" hangingPunct="1">
              <a:spcAft>
                <a:spcPts val="0"/>
              </a:spcAft>
              <a:buClr>
                <a:srgbClr val="002060"/>
              </a:buClr>
              <a:buFont typeface="Wingdings" pitchFamily="2" charset="2"/>
              <a:buChar char="§"/>
              <a:tabLst>
                <a:tab pos="236538" algn="l"/>
              </a:tabLst>
              <a:defRPr/>
            </a:pPr>
            <a:r>
              <a:rPr lang="en-US" sz="2200" b="1" dirty="0" err="1" smtClean="0">
                <a:solidFill>
                  <a:srgbClr val="002060"/>
                </a:solidFill>
                <a:latin typeface="Times New Roman" pitchFamily="18" charset="0"/>
                <a:cs typeface="Times New Roman" pitchFamily="18" charset="0"/>
              </a:rPr>
              <a:t>Departmentalisation</a:t>
            </a:r>
            <a:r>
              <a:rPr lang="en-US" sz="2200" b="1" dirty="0" smtClean="0">
                <a:solidFill>
                  <a:srgbClr val="002060"/>
                </a:solidFill>
                <a:latin typeface="Times New Roman" pitchFamily="18" charset="0"/>
                <a:cs typeface="Times New Roman" pitchFamily="18" charset="0"/>
              </a:rPr>
              <a:t> according to Product Base</a:t>
            </a:r>
            <a:endParaRPr lang="en-US" sz="22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r>
              <a:rPr lang="en-US" sz="2200" dirty="0" smtClean="0">
                <a:solidFill>
                  <a:srgbClr val="002060"/>
                </a:solidFill>
                <a:latin typeface="Times New Roman" pitchFamily="18" charset="0"/>
                <a:cs typeface="Times New Roman" pitchFamily="18" charset="0"/>
              </a:rPr>
              <a:t>   </a:t>
            </a:r>
          </a:p>
          <a:p>
            <a:pPr marL="236538" lvl="2" indent="-236538" eaLnBrk="1" fontAlgn="auto" hangingPunct="1">
              <a:spcAft>
                <a:spcPts val="0"/>
              </a:spcAft>
              <a:buClr>
                <a:srgbClr val="002060"/>
              </a:buClr>
              <a:buFont typeface="Arial" charset="0"/>
              <a:buNone/>
              <a:tabLst>
                <a:tab pos="236538" algn="l"/>
              </a:tabLst>
              <a:defRPr/>
            </a:pPr>
            <a:endParaRPr lang="en-US" sz="22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endParaRPr lang="en-US" sz="22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endParaRPr lang="en-US" sz="22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endParaRPr lang="en-US" sz="22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endParaRPr lang="en-US" sz="22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endParaRPr lang="en-US" sz="22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endParaRPr lang="en-US" sz="22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endParaRPr lang="en-US" sz="2200" dirty="0" smtClean="0">
              <a:solidFill>
                <a:srgbClr val="002060"/>
              </a:solidFill>
              <a:latin typeface="Times New Roman" pitchFamily="18" charset="0"/>
              <a:cs typeface="Times New Roman" pitchFamily="18" charset="0"/>
            </a:endParaRPr>
          </a:p>
          <a:p>
            <a:pPr marL="0" lvl="2" indent="0" eaLnBrk="1" fontAlgn="auto" hangingPunct="1">
              <a:spcAft>
                <a:spcPts val="0"/>
              </a:spcAft>
              <a:buClr>
                <a:srgbClr val="002060"/>
              </a:buClr>
              <a:buFont typeface="Arial" charset="0"/>
              <a:buNone/>
              <a:tabLst>
                <a:tab pos="236538" algn="l"/>
              </a:tabLst>
              <a:defRPr/>
            </a:pPr>
            <a:r>
              <a:rPr lang="en-US" sz="2200" dirty="0" smtClean="0">
                <a:solidFill>
                  <a:srgbClr val="002060"/>
                </a:solidFill>
                <a:latin typeface="Times New Roman" pitchFamily="18" charset="0"/>
                <a:cs typeface="Times New Roman" pitchFamily="18" charset="0"/>
              </a:rPr>
              <a:t>Grouping and arranging activities around products or product groups. Generally multi product large organisations adopt this form of departmentalization for grouping activities at the business or corporate level. </a:t>
            </a:r>
          </a:p>
          <a:p>
            <a:pPr marL="236538" lvl="2" indent="-236538" eaLnBrk="1" fontAlgn="auto" hangingPunct="1">
              <a:spcAft>
                <a:spcPts val="0"/>
              </a:spcAft>
              <a:buClr>
                <a:srgbClr val="002060"/>
              </a:buClr>
              <a:buFont typeface="Arial" charset="0"/>
              <a:buNone/>
              <a:tabLst>
                <a:tab pos="236538" algn="l"/>
              </a:tabLst>
              <a:defRPr/>
            </a:pPr>
            <a:endParaRPr lang="en-US" sz="12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r>
              <a:rPr lang="en-US" sz="2200" dirty="0" smtClean="0">
                <a:solidFill>
                  <a:srgbClr val="002060"/>
                </a:solidFill>
                <a:latin typeface="Times New Roman" pitchFamily="18" charset="0"/>
                <a:cs typeface="Times New Roman" pitchFamily="18" charset="0"/>
              </a:rPr>
              <a:t>    </a:t>
            </a:r>
            <a:endParaRPr lang="en-US" sz="8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0" y="228600"/>
            <a:ext cx="9144000" cy="609600"/>
          </a:xfrm>
        </p:spPr>
        <p:txBody>
          <a:bodyPr rtlCol="0">
            <a:noAutofit/>
          </a:bodyPr>
          <a:lstStyle/>
          <a:p>
            <a:pPr eaLnBrk="1" fontAlgn="auto" hangingPunct="1">
              <a:spcAft>
                <a:spcPts val="0"/>
              </a:spcAft>
              <a:defRPr/>
            </a:pPr>
            <a:r>
              <a:rPr lang="en-US" sz="3200" b="1" dirty="0" smtClean="0">
                <a:solidFill>
                  <a:schemeClr val="accent2">
                    <a:lumMod val="50000"/>
                  </a:schemeClr>
                </a:solidFill>
                <a:latin typeface="Times New Roman" pitchFamily="18" charset="0"/>
                <a:cs typeface="Times New Roman" pitchFamily="18" charset="0"/>
              </a:rPr>
              <a:t>Grouping Jobs : </a:t>
            </a:r>
            <a:r>
              <a:rPr lang="en-US" sz="3200" b="1" dirty="0" err="1" smtClean="0">
                <a:solidFill>
                  <a:schemeClr val="accent2">
                    <a:lumMod val="50000"/>
                  </a:schemeClr>
                </a:solidFill>
                <a:latin typeface="Times New Roman" pitchFamily="18" charset="0"/>
                <a:cs typeface="Times New Roman" pitchFamily="18" charset="0"/>
              </a:rPr>
              <a:t>Departmentalisation</a:t>
            </a:r>
            <a:r>
              <a:rPr lang="en-US" sz="3200" b="1" dirty="0" smtClean="0">
                <a:solidFill>
                  <a:schemeClr val="accent2">
                    <a:lumMod val="50000"/>
                  </a:schemeClr>
                </a:solidFill>
                <a:latin typeface="Times New Roman" pitchFamily="18" charset="0"/>
                <a:cs typeface="Times New Roman" pitchFamily="18" charset="0"/>
              </a:rPr>
              <a:t>  (Cont…) </a:t>
            </a:r>
            <a:endParaRPr lang="en-US" sz="32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6096000" y="6172200"/>
            <a:ext cx="2590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i="1" dirty="0">
                <a:solidFill>
                  <a:srgbClr val="002060"/>
                </a:solidFill>
                <a:latin typeface="Times New Roman" pitchFamily="18" charset="0"/>
                <a:cs typeface="Times New Roman" pitchFamily="18" charset="0"/>
              </a:rPr>
              <a:t>(</a:t>
            </a:r>
            <a:r>
              <a:rPr lang="en-US" b="1" i="1" dirty="0">
                <a:solidFill>
                  <a:srgbClr val="002060"/>
                </a:solidFill>
                <a:latin typeface="Times New Roman" pitchFamily="18" charset="0"/>
                <a:cs typeface="Times New Roman" pitchFamily="18" charset="0"/>
              </a:rPr>
              <a:t>Griffin ,2012) </a:t>
            </a:r>
            <a:endParaRPr lang="en-US" b="1" i="1" dirty="0"/>
          </a:p>
        </p:txBody>
      </p:sp>
      <p:pic>
        <p:nvPicPr>
          <p:cNvPr id="1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828800"/>
            <a:ext cx="68580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2" name="Rectangle 10"/>
          <p:cNvSpPr>
            <a:spLocks noChangeArrowheads="1"/>
          </p:cNvSpPr>
          <p:nvPr/>
        </p:nvSpPr>
        <p:spPr bwMode="auto">
          <a:xfrm>
            <a:off x="1089025" y="4648200"/>
            <a:ext cx="69119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600" b="1" i="1">
                <a:solidFill>
                  <a:srgbClr val="002060"/>
                </a:solidFill>
                <a:latin typeface="Times New Roman" pitchFamily="18" charset="0"/>
                <a:cs typeface="Times New Roman" pitchFamily="18" charset="0"/>
              </a:rPr>
              <a:t>(Adopted from Bombardier Annual Report cited in Robbins &amp; Coulter , 2010) )</a:t>
            </a:r>
          </a:p>
        </p:txBody>
      </p:sp>
      <p:sp>
        <p:nvSpPr>
          <p:cNvPr id="13" name="Rounded Rectangle 12"/>
          <p:cNvSpPr/>
          <p:nvPr/>
        </p:nvSpPr>
        <p:spPr>
          <a:xfrm>
            <a:off x="838200" y="1749425"/>
            <a:ext cx="7543800" cy="3279775"/>
          </a:xfrm>
          <a:prstGeom prst="roundRect">
            <a:avLst/>
          </a:prstGeom>
          <a:solidFill>
            <a:srgbClr val="35BBF7">
              <a:alpha val="4000"/>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6550" y="1054100"/>
            <a:ext cx="8610600" cy="5194300"/>
          </a:xfrm>
        </p:spPr>
        <p:txBody>
          <a:bodyPr rtlCol="0">
            <a:noAutofit/>
          </a:bodyPr>
          <a:lstStyle/>
          <a:p>
            <a:pPr marL="236538" lvl="2" indent="-236538" eaLnBrk="1" fontAlgn="auto" hangingPunct="1">
              <a:spcAft>
                <a:spcPts val="0"/>
              </a:spcAft>
              <a:buClr>
                <a:srgbClr val="002060"/>
              </a:buClr>
              <a:buFont typeface="Wingdings" pitchFamily="2" charset="2"/>
              <a:buChar char="§"/>
              <a:tabLst>
                <a:tab pos="236538" algn="l"/>
              </a:tabLst>
              <a:defRPr/>
            </a:pPr>
            <a:r>
              <a:rPr lang="en-US" sz="2200" b="1" dirty="0" err="1" smtClean="0">
                <a:solidFill>
                  <a:srgbClr val="002060"/>
                </a:solidFill>
                <a:latin typeface="Times New Roman" pitchFamily="18" charset="0"/>
                <a:cs typeface="Times New Roman" pitchFamily="18" charset="0"/>
              </a:rPr>
              <a:t>Departmentalisation</a:t>
            </a:r>
            <a:r>
              <a:rPr lang="en-US" sz="2200" b="1" dirty="0" smtClean="0">
                <a:solidFill>
                  <a:srgbClr val="002060"/>
                </a:solidFill>
                <a:latin typeface="Times New Roman" pitchFamily="18" charset="0"/>
                <a:cs typeface="Times New Roman" pitchFamily="18" charset="0"/>
              </a:rPr>
              <a:t> according to Product Base (Cont…) </a:t>
            </a:r>
            <a:endParaRPr lang="en-US" sz="22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endParaRPr lang="en-US" sz="8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r>
              <a:rPr lang="en-US" sz="2200" dirty="0" smtClean="0">
                <a:solidFill>
                  <a:srgbClr val="002060"/>
                </a:solidFill>
                <a:latin typeface="Times New Roman" pitchFamily="18" charset="0"/>
                <a:cs typeface="Times New Roman" pitchFamily="18" charset="0"/>
              </a:rPr>
              <a:t>    The advantages ;</a:t>
            </a:r>
          </a:p>
          <a:p>
            <a:pPr marL="803275" lvl="2" indent="-346075" eaLnBrk="1" fontAlgn="auto" hangingPunct="1">
              <a:spcAft>
                <a:spcPts val="0"/>
              </a:spcAft>
              <a:buClr>
                <a:srgbClr val="002060"/>
              </a:buClr>
              <a:buFont typeface="Arial" charset="0"/>
              <a:buNone/>
              <a:tabLst>
                <a:tab pos="236538" algn="l"/>
              </a:tabLst>
              <a:defRPr/>
            </a:pPr>
            <a:r>
              <a:rPr lang="en-US" sz="2200" dirty="0" smtClean="0">
                <a:solidFill>
                  <a:srgbClr val="002060"/>
                </a:solidFill>
                <a:latin typeface="Times New Roman" pitchFamily="18" charset="0"/>
                <a:cs typeface="Times New Roman" pitchFamily="18" charset="0"/>
              </a:rPr>
              <a:t> 1) All activities associated with one product/ product group can be easily integrated and coordinated</a:t>
            </a:r>
          </a:p>
          <a:p>
            <a:pPr marL="803275" lvl="2" indent="-346075" eaLnBrk="1" fontAlgn="auto" hangingPunct="1">
              <a:spcAft>
                <a:spcPts val="0"/>
              </a:spcAft>
              <a:buClr>
                <a:srgbClr val="002060"/>
              </a:buClr>
              <a:buFont typeface="Arial" charset="0"/>
              <a:buNone/>
              <a:tabLst>
                <a:tab pos="236538" algn="l"/>
              </a:tabLst>
              <a:defRPr/>
            </a:pPr>
            <a:endParaRPr lang="en-US" sz="8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r>
              <a:rPr lang="en-US" sz="2200" dirty="0" smtClean="0">
                <a:solidFill>
                  <a:srgbClr val="002060"/>
                </a:solidFill>
                <a:latin typeface="Times New Roman" pitchFamily="18" charset="0"/>
                <a:cs typeface="Times New Roman" pitchFamily="18" charset="0"/>
              </a:rPr>
              <a:t>       2) Speed and effectiveness of decision making is enhanced</a:t>
            </a:r>
          </a:p>
          <a:p>
            <a:pPr marL="236538" lvl="2" indent="-236538" eaLnBrk="1" fontAlgn="auto" hangingPunct="1">
              <a:spcAft>
                <a:spcPts val="0"/>
              </a:spcAft>
              <a:buClr>
                <a:srgbClr val="002060"/>
              </a:buClr>
              <a:buFont typeface="Arial" charset="0"/>
              <a:buNone/>
              <a:tabLst>
                <a:tab pos="236538" algn="l"/>
              </a:tabLst>
              <a:defRPr/>
            </a:pPr>
            <a:endParaRPr lang="en-US" sz="800" dirty="0" smtClean="0">
              <a:solidFill>
                <a:srgbClr val="002060"/>
              </a:solidFill>
              <a:latin typeface="Times New Roman" pitchFamily="18" charset="0"/>
              <a:cs typeface="Times New Roman" pitchFamily="18" charset="0"/>
            </a:endParaRPr>
          </a:p>
          <a:p>
            <a:pPr marL="803275" lvl="2" indent="-803275" eaLnBrk="1" fontAlgn="auto" hangingPunct="1">
              <a:spcAft>
                <a:spcPts val="0"/>
              </a:spcAft>
              <a:buClr>
                <a:srgbClr val="002060"/>
              </a:buClr>
              <a:buFont typeface="Arial" charset="0"/>
              <a:buNone/>
              <a:tabLst>
                <a:tab pos="741363" algn="l"/>
              </a:tabLst>
              <a:defRPr/>
            </a:pPr>
            <a:r>
              <a:rPr lang="en-US" sz="2200" dirty="0" smtClean="0">
                <a:solidFill>
                  <a:srgbClr val="002060"/>
                </a:solidFill>
                <a:latin typeface="Times New Roman" pitchFamily="18" charset="0"/>
                <a:cs typeface="Times New Roman" pitchFamily="18" charset="0"/>
              </a:rPr>
              <a:t>       3) Performance of individual products/ product groups can be assessed easily and objectively </a:t>
            </a:r>
          </a:p>
          <a:p>
            <a:pPr marL="803275" lvl="2" indent="-803275" eaLnBrk="1" fontAlgn="auto" hangingPunct="1">
              <a:spcAft>
                <a:spcPts val="0"/>
              </a:spcAft>
              <a:buClr>
                <a:srgbClr val="002060"/>
              </a:buClr>
              <a:buFont typeface="Arial" charset="0"/>
              <a:buNone/>
              <a:tabLst>
                <a:tab pos="741363" algn="l"/>
              </a:tabLst>
              <a:defRPr/>
            </a:pPr>
            <a:endParaRPr lang="en-US" sz="2200" dirty="0" smtClean="0">
              <a:solidFill>
                <a:srgbClr val="002060"/>
              </a:solidFill>
              <a:latin typeface="Times New Roman" pitchFamily="18" charset="0"/>
              <a:cs typeface="Times New Roman" pitchFamily="18" charset="0"/>
            </a:endParaRPr>
          </a:p>
          <a:p>
            <a:pPr marL="236538" lvl="2" indent="-236538" fontAlgn="auto">
              <a:spcAft>
                <a:spcPts val="0"/>
              </a:spcAft>
              <a:buClr>
                <a:srgbClr val="002060"/>
              </a:buClr>
              <a:buFont typeface="Arial" charset="0"/>
              <a:buNone/>
              <a:tabLst>
                <a:tab pos="236538" algn="l"/>
              </a:tabLst>
              <a:defRPr/>
            </a:pPr>
            <a:r>
              <a:rPr lang="en-US" sz="2200" dirty="0" smtClean="0">
                <a:solidFill>
                  <a:srgbClr val="002060"/>
                </a:solidFill>
                <a:latin typeface="Times New Roman" pitchFamily="18" charset="0"/>
                <a:cs typeface="Times New Roman" pitchFamily="18" charset="0"/>
              </a:rPr>
              <a:t>The disadvantage;</a:t>
            </a:r>
          </a:p>
          <a:p>
            <a:pPr marL="236538" lvl="2" indent="-236538" fontAlgn="auto">
              <a:spcAft>
                <a:spcPts val="0"/>
              </a:spcAft>
              <a:buClr>
                <a:srgbClr val="002060"/>
              </a:buClr>
              <a:buFont typeface="Arial" charset="0"/>
              <a:buNone/>
              <a:tabLst>
                <a:tab pos="236538" algn="l"/>
              </a:tabLst>
              <a:defRPr/>
            </a:pPr>
            <a:r>
              <a:rPr lang="en-US" sz="2200" dirty="0" smtClean="0">
                <a:solidFill>
                  <a:srgbClr val="002060"/>
                </a:solidFill>
                <a:latin typeface="Times New Roman" pitchFamily="18" charset="0"/>
                <a:cs typeface="Times New Roman" pitchFamily="18" charset="0"/>
              </a:rPr>
              <a:t>       1) Managers may focus on their own product or product group only</a:t>
            </a:r>
          </a:p>
          <a:p>
            <a:pPr marL="236538" lvl="2" indent="-236538" fontAlgn="auto">
              <a:spcAft>
                <a:spcPts val="0"/>
              </a:spcAft>
              <a:buClr>
                <a:srgbClr val="002060"/>
              </a:buClr>
              <a:buFont typeface="Arial" charset="0"/>
              <a:buNone/>
              <a:tabLst>
                <a:tab pos="236538" algn="l"/>
              </a:tabLst>
              <a:defRPr/>
            </a:pPr>
            <a:endParaRPr lang="en-US" sz="800" dirty="0" smtClean="0">
              <a:solidFill>
                <a:srgbClr val="002060"/>
              </a:solidFill>
              <a:latin typeface="Times New Roman" pitchFamily="18" charset="0"/>
              <a:cs typeface="Times New Roman" pitchFamily="18" charset="0"/>
            </a:endParaRPr>
          </a:p>
          <a:p>
            <a:pPr marL="236538" lvl="2" indent="-236538" fontAlgn="auto">
              <a:spcAft>
                <a:spcPts val="0"/>
              </a:spcAft>
              <a:buClr>
                <a:srgbClr val="002060"/>
              </a:buClr>
              <a:buFont typeface="Arial" charset="0"/>
              <a:buNone/>
              <a:tabLst>
                <a:tab pos="236538" algn="l"/>
              </a:tabLst>
              <a:defRPr/>
            </a:pPr>
            <a:r>
              <a:rPr lang="en-US" sz="2200" dirty="0" smtClean="0">
                <a:solidFill>
                  <a:srgbClr val="002060"/>
                </a:solidFill>
                <a:latin typeface="Times New Roman" pitchFamily="18" charset="0"/>
                <a:cs typeface="Times New Roman" pitchFamily="18" charset="0"/>
              </a:rPr>
              <a:t>        2) Higher administrative costs</a:t>
            </a:r>
            <a:endParaRPr lang="en-US" sz="2200" b="1" dirty="0" smtClean="0">
              <a:solidFill>
                <a:srgbClr val="002060"/>
              </a:solidFill>
              <a:latin typeface="Times New Roman" pitchFamily="18" charset="0"/>
              <a:cs typeface="Times New Roman" pitchFamily="18" charset="0"/>
            </a:endParaRPr>
          </a:p>
          <a:p>
            <a:pPr marL="803275" lvl="2" indent="-803275" eaLnBrk="1" fontAlgn="auto" hangingPunct="1">
              <a:spcAft>
                <a:spcPts val="0"/>
              </a:spcAft>
              <a:buClr>
                <a:srgbClr val="002060"/>
              </a:buClr>
              <a:buFont typeface="Arial" charset="0"/>
              <a:buNone/>
              <a:tabLst>
                <a:tab pos="741363" algn="l"/>
              </a:tabLst>
              <a:defRPr/>
            </a:pPr>
            <a:endParaRPr lang="en-US" sz="22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Arial" charset="0"/>
              <a:buNone/>
              <a:tabLst>
                <a:tab pos="236538" algn="l"/>
              </a:tabLst>
              <a:defRPr/>
            </a:pPr>
            <a:endParaRPr lang="en-US" sz="8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0" y="228600"/>
            <a:ext cx="9144000" cy="609600"/>
          </a:xfrm>
        </p:spPr>
        <p:txBody>
          <a:bodyPr rtlCol="0">
            <a:noAutofit/>
          </a:bodyPr>
          <a:lstStyle/>
          <a:p>
            <a:pPr eaLnBrk="1" fontAlgn="auto" hangingPunct="1">
              <a:spcAft>
                <a:spcPts val="0"/>
              </a:spcAft>
              <a:defRPr/>
            </a:pPr>
            <a:r>
              <a:rPr lang="en-US" sz="3200" b="1" dirty="0" smtClean="0">
                <a:solidFill>
                  <a:schemeClr val="accent2">
                    <a:lumMod val="50000"/>
                  </a:schemeClr>
                </a:solidFill>
                <a:latin typeface="Times New Roman" pitchFamily="18" charset="0"/>
                <a:cs typeface="Times New Roman" pitchFamily="18" charset="0"/>
              </a:rPr>
              <a:t>Grouping Jobs : </a:t>
            </a:r>
            <a:r>
              <a:rPr lang="en-US" sz="3200" b="1" dirty="0" err="1" smtClean="0">
                <a:solidFill>
                  <a:schemeClr val="accent2">
                    <a:lumMod val="50000"/>
                  </a:schemeClr>
                </a:solidFill>
                <a:latin typeface="Times New Roman" pitchFamily="18" charset="0"/>
                <a:cs typeface="Times New Roman" pitchFamily="18" charset="0"/>
              </a:rPr>
              <a:t>Departmentalisation</a:t>
            </a:r>
            <a:r>
              <a:rPr lang="en-US" sz="3200" b="1" dirty="0" smtClean="0">
                <a:solidFill>
                  <a:schemeClr val="accent2">
                    <a:lumMod val="50000"/>
                  </a:schemeClr>
                </a:solidFill>
                <a:latin typeface="Times New Roman" pitchFamily="18" charset="0"/>
                <a:cs typeface="Times New Roman" pitchFamily="18" charset="0"/>
              </a:rPr>
              <a:t>  (Cont…) </a:t>
            </a:r>
            <a:endParaRPr lang="en-US" sz="32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5867400" y="5943600"/>
            <a:ext cx="2590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i="1" dirty="0">
                <a:solidFill>
                  <a:srgbClr val="002060"/>
                </a:solidFill>
                <a:latin typeface="Times New Roman" pitchFamily="18" charset="0"/>
                <a:cs typeface="Times New Roman" pitchFamily="18" charset="0"/>
              </a:rPr>
              <a:t>(</a:t>
            </a:r>
            <a:r>
              <a:rPr lang="en-US" b="1" i="1" dirty="0">
                <a:solidFill>
                  <a:srgbClr val="002060"/>
                </a:solidFill>
                <a:latin typeface="Times New Roman" pitchFamily="18" charset="0"/>
                <a:cs typeface="Times New Roman" pitchFamily="18" charset="0"/>
              </a:rPr>
              <a:t>Griffin ,2012) </a:t>
            </a:r>
            <a:endParaRPr lang="en-US" b="1" i="1"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90600"/>
            <a:ext cx="8610600" cy="2590800"/>
          </a:xfrm>
        </p:spPr>
        <p:txBody>
          <a:bodyPr rtlCol="0">
            <a:noAutofit/>
          </a:bodyPr>
          <a:lstStyle/>
          <a:p>
            <a:pPr marL="746125" lvl="2" indent="-346075" eaLnBrk="1" fontAlgn="auto" hangingPunct="1">
              <a:spcAft>
                <a:spcPts val="0"/>
              </a:spcAft>
              <a:buClr>
                <a:srgbClr val="002060"/>
              </a:buClr>
              <a:buFont typeface="Wingdings" pitchFamily="2" charset="2"/>
              <a:buChar char="§"/>
              <a:defRPr/>
            </a:pPr>
            <a:r>
              <a:rPr lang="en-US" sz="2200" b="1" dirty="0" err="1" smtClean="0">
                <a:solidFill>
                  <a:srgbClr val="002060"/>
                </a:solidFill>
                <a:latin typeface="Times New Roman" pitchFamily="18" charset="0"/>
                <a:cs typeface="Times New Roman" pitchFamily="18" charset="0"/>
              </a:rPr>
              <a:t>Departmentalisation</a:t>
            </a:r>
            <a:r>
              <a:rPr lang="en-US" sz="2200" b="1" dirty="0" smtClean="0">
                <a:solidFill>
                  <a:srgbClr val="002060"/>
                </a:solidFill>
                <a:latin typeface="Times New Roman" pitchFamily="18" charset="0"/>
                <a:cs typeface="Times New Roman" pitchFamily="18" charset="0"/>
              </a:rPr>
              <a:t> according to Customer Base</a:t>
            </a:r>
            <a:endParaRPr lang="en-US" sz="2200" dirty="0" smtClean="0">
              <a:solidFill>
                <a:srgbClr val="002060"/>
              </a:solidFill>
              <a:latin typeface="Times New Roman" pitchFamily="18" charset="0"/>
              <a:cs typeface="Times New Roman" pitchFamily="18" charset="0"/>
            </a:endParaRPr>
          </a:p>
          <a:p>
            <a:pPr marL="746125" lvl="2" indent="-346075" algn="just"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     Structures its activities to respond to and interact with specific customers or customer groups. Generally can be seen in the service sector. The basic advantage of this approach is the ability to use skilled specialists to deal with unique customers or customer groups. However in this approach a fairly large administrative staff is required to integrate the activities of the various departments. </a:t>
            </a:r>
          </a:p>
          <a:p>
            <a:pPr marL="746125" lvl="2" indent="-346075" eaLnBrk="1" fontAlgn="auto" hangingPunct="1">
              <a:spcAft>
                <a:spcPts val="0"/>
              </a:spcAft>
              <a:buClr>
                <a:srgbClr val="002060"/>
              </a:buClr>
              <a:buFont typeface="Arial" charset="0"/>
              <a:buNone/>
              <a:defRPr/>
            </a:pPr>
            <a:endParaRPr lang="en-US" sz="800" b="1" dirty="0" smtClean="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0" y="228600"/>
            <a:ext cx="9144000" cy="609600"/>
          </a:xfrm>
        </p:spPr>
        <p:txBody>
          <a:bodyPr rtlCol="0">
            <a:noAutofit/>
          </a:bodyPr>
          <a:lstStyle/>
          <a:p>
            <a:pPr eaLnBrk="1" fontAlgn="auto" hangingPunct="1">
              <a:spcAft>
                <a:spcPts val="0"/>
              </a:spcAft>
              <a:defRPr/>
            </a:pPr>
            <a:r>
              <a:rPr lang="en-US" sz="3200" b="1" dirty="0" smtClean="0">
                <a:solidFill>
                  <a:schemeClr val="accent2">
                    <a:lumMod val="50000"/>
                  </a:schemeClr>
                </a:solidFill>
                <a:latin typeface="Times New Roman" pitchFamily="18" charset="0"/>
                <a:cs typeface="Times New Roman" pitchFamily="18" charset="0"/>
              </a:rPr>
              <a:t>Grouping Jobs : </a:t>
            </a:r>
            <a:r>
              <a:rPr lang="en-US" sz="3200" b="1" dirty="0" err="1" smtClean="0">
                <a:solidFill>
                  <a:schemeClr val="accent2">
                    <a:lumMod val="50000"/>
                  </a:schemeClr>
                </a:solidFill>
                <a:latin typeface="Times New Roman" pitchFamily="18" charset="0"/>
                <a:cs typeface="Times New Roman" pitchFamily="18" charset="0"/>
              </a:rPr>
              <a:t>Departmentalisation</a:t>
            </a:r>
            <a:r>
              <a:rPr lang="en-US" sz="3200" b="1" dirty="0" smtClean="0">
                <a:solidFill>
                  <a:schemeClr val="accent2">
                    <a:lumMod val="50000"/>
                  </a:schemeClr>
                </a:solidFill>
                <a:latin typeface="Times New Roman" pitchFamily="18" charset="0"/>
                <a:cs typeface="Times New Roman" pitchFamily="18" charset="0"/>
              </a:rPr>
              <a:t>  (Cont…) </a:t>
            </a:r>
            <a:endParaRPr lang="en-US" sz="32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6553200" y="3505200"/>
            <a:ext cx="2590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b="1" i="1" dirty="0">
                <a:solidFill>
                  <a:srgbClr val="002060"/>
                </a:solidFill>
                <a:latin typeface="Times New Roman" pitchFamily="18" charset="0"/>
                <a:cs typeface="Times New Roman" pitchFamily="18" charset="0"/>
              </a:rPr>
              <a:t>(Griffin ,2012) </a:t>
            </a:r>
            <a:endParaRPr lang="en-US" sz="1600" b="1" i="1" dirty="0"/>
          </a:p>
        </p:txBody>
      </p:sp>
      <p:pic>
        <p:nvPicPr>
          <p:cNvPr id="1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4038600"/>
            <a:ext cx="72199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ounded Rectangle 11"/>
          <p:cNvSpPr/>
          <p:nvPr/>
        </p:nvSpPr>
        <p:spPr>
          <a:xfrm>
            <a:off x="942975" y="3781425"/>
            <a:ext cx="7407275" cy="2466975"/>
          </a:xfrm>
          <a:prstGeom prst="roundRect">
            <a:avLst/>
          </a:prstGeom>
          <a:solidFill>
            <a:srgbClr val="35BBF7">
              <a:alpha val="4000"/>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066800"/>
            <a:ext cx="8763000" cy="2514600"/>
          </a:xfrm>
        </p:spPr>
        <p:txBody>
          <a:bodyPr rtlCol="0">
            <a:noAutofit/>
          </a:bodyPr>
          <a:lstStyle/>
          <a:p>
            <a:pPr marL="746125" lvl="2" indent="-346075" eaLnBrk="1" fontAlgn="auto" hangingPunct="1">
              <a:spcAft>
                <a:spcPts val="0"/>
              </a:spcAft>
              <a:buClr>
                <a:srgbClr val="002060"/>
              </a:buClr>
              <a:buFont typeface="Wingdings" pitchFamily="2" charset="2"/>
              <a:buChar char="§"/>
              <a:defRPr/>
            </a:pPr>
            <a:r>
              <a:rPr lang="en-US" sz="2200" b="1" dirty="0" err="1" smtClean="0">
                <a:solidFill>
                  <a:srgbClr val="002060"/>
                </a:solidFill>
                <a:latin typeface="Times New Roman" pitchFamily="18" charset="0"/>
                <a:cs typeface="Times New Roman" pitchFamily="18" charset="0"/>
              </a:rPr>
              <a:t>Departmentalisation</a:t>
            </a:r>
            <a:r>
              <a:rPr lang="en-US" sz="2200" b="1" dirty="0" smtClean="0">
                <a:solidFill>
                  <a:srgbClr val="002060"/>
                </a:solidFill>
                <a:latin typeface="Times New Roman" pitchFamily="18" charset="0"/>
                <a:cs typeface="Times New Roman" pitchFamily="18" charset="0"/>
              </a:rPr>
              <a:t> according to Geographical Base</a:t>
            </a:r>
            <a:endParaRPr lang="en-US" sz="2200" dirty="0" smtClean="0">
              <a:solidFill>
                <a:srgbClr val="002060"/>
              </a:solidFill>
              <a:latin typeface="Times New Roman" pitchFamily="18" charset="0"/>
              <a:cs typeface="Times New Roman" pitchFamily="18" charset="0"/>
            </a:endParaRPr>
          </a:p>
          <a:p>
            <a:pPr marL="746125" lvl="2" indent="-346075"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ea typeface="+mj-ea"/>
                <a:cs typeface="Times New Roman" pitchFamily="18" charset="0"/>
              </a:rPr>
              <a:t>     It involves grouping jobs on the basis of defined geographic site or areas. The primary advantage in this approach is that it enables the </a:t>
            </a:r>
            <a:r>
              <a:rPr lang="en-US" sz="2200" dirty="0" err="1" smtClean="0">
                <a:solidFill>
                  <a:srgbClr val="002060"/>
                </a:solidFill>
                <a:latin typeface="Times New Roman" pitchFamily="18" charset="0"/>
                <a:ea typeface="+mj-ea"/>
                <a:cs typeface="Times New Roman" pitchFamily="18" charset="0"/>
              </a:rPr>
              <a:t>organisation</a:t>
            </a:r>
            <a:r>
              <a:rPr lang="en-US" sz="2200" dirty="0" smtClean="0">
                <a:solidFill>
                  <a:srgbClr val="002060"/>
                </a:solidFill>
                <a:latin typeface="Times New Roman" pitchFamily="18" charset="0"/>
                <a:ea typeface="+mj-ea"/>
                <a:cs typeface="Times New Roman" pitchFamily="18" charset="0"/>
              </a:rPr>
              <a:t> to respond easily to unique customer and environmental characteristics in various regions. On the negative side, a larger administrative staff may be required if the </a:t>
            </a:r>
            <a:r>
              <a:rPr lang="en-US" sz="2200" dirty="0" err="1" smtClean="0">
                <a:solidFill>
                  <a:srgbClr val="002060"/>
                </a:solidFill>
                <a:latin typeface="Times New Roman" pitchFamily="18" charset="0"/>
                <a:ea typeface="+mj-ea"/>
                <a:cs typeface="Times New Roman" pitchFamily="18" charset="0"/>
              </a:rPr>
              <a:t>organisation</a:t>
            </a:r>
            <a:r>
              <a:rPr lang="en-US" sz="2200" dirty="0" smtClean="0">
                <a:solidFill>
                  <a:srgbClr val="002060"/>
                </a:solidFill>
                <a:latin typeface="Times New Roman" pitchFamily="18" charset="0"/>
                <a:ea typeface="+mj-ea"/>
                <a:cs typeface="Times New Roman" pitchFamily="18" charset="0"/>
              </a:rPr>
              <a:t> must keep track of units in scattered locations.   </a:t>
            </a:r>
            <a:endParaRPr lang="en-US" sz="2200"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76200" y="304800"/>
            <a:ext cx="9144000" cy="609600"/>
          </a:xfrm>
        </p:spPr>
        <p:txBody>
          <a:bodyPr rtlCol="0">
            <a:noAutofit/>
          </a:bodyPr>
          <a:lstStyle/>
          <a:p>
            <a:pPr eaLnBrk="1" fontAlgn="auto" hangingPunct="1">
              <a:spcAft>
                <a:spcPts val="0"/>
              </a:spcAft>
              <a:defRPr/>
            </a:pPr>
            <a:r>
              <a:rPr lang="en-US" sz="3200" b="1" dirty="0" smtClean="0">
                <a:solidFill>
                  <a:schemeClr val="accent2">
                    <a:lumMod val="50000"/>
                  </a:schemeClr>
                </a:solidFill>
                <a:latin typeface="Times New Roman" pitchFamily="18" charset="0"/>
                <a:cs typeface="Times New Roman" pitchFamily="18" charset="0"/>
              </a:rPr>
              <a:t>Grouping Jobs : </a:t>
            </a:r>
            <a:r>
              <a:rPr lang="en-US" sz="3200" b="1" dirty="0" err="1" smtClean="0">
                <a:solidFill>
                  <a:schemeClr val="accent2">
                    <a:lumMod val="50000"/>
                  </a:schemeClr>
                </a:solidFill>
                <a:latin typeface="Times New Roman" pitchFamily="18" charset="0"/>
                <a:cs typeface="Times New Roman" pitchFamily="18" charset="0"/>
              </a:rPr>
              <a:t>Departmentalisation</a:t>
            </a:r>
            <a:r>
              <a:rPr lang="en-US" sz="3200" b="1" dirty="0" smtClean="0">
                <a:solidFill>
                  <a:schemeClr val="accent2">
                    <a:lumMod val="50000"/>
                  </a:schemeClr>
                </a:solidFill>
                <a:latin typeface="Times New Roman" pitchFamily="18" charset="0"/>
                <a:cs typeface="Times New Roman" pitchFamily="18" charset="0"/>
              </a:rPr>
              <a:t>  (Cont…) </a:t>
            </a:r>
            <a:endParaRPr lang="en-US" sz="32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6553200" y="3352800"/>
            <a:ext cx="2590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b="1" i="1" dirty="0">
                <a:solidFill>
                  <a:srgbClr val="002060"/>
                </a:solidFill>
                <a:latin typeface="Times New Roman" pitchFamily="18" charset="0"/>
                <a:cs typeface="Times New Roman" pitchFamily="18" charset="0"/>
              </a:rPr>
              <a:t>(Griffin ,2012) </a:t>
            </a:r>
            <a:endParaRPr lang="en-US" sz="1600" b="1" i="1" dirty="0"/>
          </a:p>
        </p:txBody>
      </p:sp>
      <p:pic>
        <p:nvPicPr>
          <p:cNvPr id="1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4191000"/>
            <a:ext cx="73152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ounded Rectangle 12"/>
          <p:cNvSpPr/>
          <p:nvPr/>
        </p:nvSpPr>
        <p:spPr>
          <a:xfrm>
            <a:off x="822325" y="3902075"/>
            <a:ext cx="7556500" cy="2346325"/>
          </a:xfrm>
          <a:prstGeom prst="roundRect">
            <a:avLst/>
          </a:prstGeom>
          <a:solidFill>
            <a:srgbClr val="35BBF7">
              <a:alpha val="4000"/>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686800" cy="5562600"/>
          </a:xfrm>
        </p:spPr>
        <p:txBody>
          <a:bodyPr rtlCol="0">
            <a:noAutofit/>
          </a:bodyPr>
          <a:lstStyle/>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This involves clarifying the </a:t>
            </a:r>
            <a:r>
              <a:rPr lang="en-US" sz="2400" b="1" i="1" dirty="0" smtClean="0">
                <a:solidFill>
                  <a:srgbClr val="002060"/>
                </a:solidFill>
                <a:latin typeface="Times New Roman" pitchFamily="18" charset="0"/>
                <a:cs typeface="Times New Roman" pitchFamily="18" charset="0"/>
              </a:rPr>
              <a:t>chain of command </a:t>
            </a:r>
            <a:r>
              <a:rPr lang="en-US" sz="2400" dirty="0" smtClean="0">
                <a:solidFill>
                  <a:srgbClr val="002060"/>
                </a:solidFill>
                <a:latin typeface="Times New Roman" pitchFamily="18" charset="0"/>
                <a:cs typeface="Times New Roman" pitchFamily="18" charset="0"/>
              </a:rPr>
              <a:t>and the </a:t>
            </a:r>
            <a:r>
              <a:rPr lang="en-US" sz="2400" b="1" i="1" dirty="0" smtClean="0">
                <a:solidFill>
                  <a:srgbClr val="002060"/>
                </a:solidFill>
                <a:latin typeface="Times New Roman" pitchFamily="18" charset="0"/>
                <a:cs typeface="Times New Roman" pitchFamily="18" charset="0"/>
              </a:rPr>
              <a:t>span of management / span of control </a:t>
            </a:r>
            <a:r>
              <a:rPr lang="en-US" sz="2400" dirty="0" smtClean="0">
                <a:solidFill>
                  <a:srgbClr val="002060"/>
                </a:solidFill>
                <a:latin typeface="Times New Roman" pitchFamily="18" charset="0"/>
                <a:cs typeface="Times New Roman" pitchFamily="18" charset="0"/>
              </a:rPr>
              <a:t>in the </a:t>
            </a:r>
            <a:r>
              <a:rPr lang="en-US" sz="2400" dirty="0" err="1" smtClean="0">
                <a:solidFill>
                  <a:srgbClr val="002060"/>
                </a:solidFill>
                <a:latin typeface="Times New Roman" pitchFamily="18" charset="0"/>
                <a:cs typeface="Times New Roman" pitchFamily="18" charset="0"/>
              </a:rPr>
              <a:t>organisation</a:t>
            </a:r>
            <a:r>
              <a:rPr lang="en-US" sz="2400" dirty="0" smtClean="0">
                <a:solidFill>
                  <a:srgbClr val="002060"/>
                </a:solidFill>
                <a:latin typeface="Times New Roman" pitchFamily="18" charset="0"/>
                <a:cs typeface="Times New Roman" pitchFamily="18" charset="0"/>
              </a:rPr>
              <a:t>. </a:t>
            </a:r>
          </a:p>
          <a:p>
            <a:pPr marL="346075" lvl="1" indent="-346075" eaLnBrk="1" fontAlgn="auto" hangingPunct="1">
              <a:spcAft>
                <a:spcPts val="0"/>
              </a:spcAft>
              <a:buClr>
                <a:srgbClr val="002060"/>
              </a:buClr>
              <a:buFont typeface="Wingdings" pitchFamily="2" charset="2"/>
              <a:buChar char="§"/>
              <a:defRPr/>
            </a:pPr>
            <a:endParaRPr lang="en-US" sz="12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Arial" charset="0"/>
              <a:buNone/>
              <a:defRPr/>
            </a:pPr>
            <a:r>
              <a:rPr lang="en-US" sz="2400" b="1" u="sng" dirty="0" smtClean="0">
                <a:solidFill>
                  <a:schemeClr val="accent2">
                    <a:lumMod val="50000"/>
                  </a:schemeClr>
                </a:solidFill>
                <a:latin typeface="Times New Roman" pitchFamily="18" charset="0"/>
                <a:cs typeface="Times New Roman" pitchFamily="18" charset="0"/>
              </a:rPr>
              <a:t>Chain of Command</a:t>
            </a: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A clear and distinct line of authority among the positions in an </a:t>
            </a:r>
            <a:r>
              <a:rPr lang="en-US" sz="2400" dirty="0" err="1" smtClean="0">
                <a:solidFill>
                  <a:srgbClr val="002060"/>
                </a:solidFill>
                <a:latin typeface="Times New Roman" pitchFamily="18" charset="0"/>
                <a:cs typeface="Times New Roman" pitchFamily="18" charset="0"/>
              </a:rPr>
              <a:t>organisation</a:t>
            </a:r>
            <a:r>
              <a:rPr lang="en-US" sz="2400" dirty="0" smtClean="0">
                <a:solidFill>
                  <a:srgbClr val="002060"/>
                </a:solidFill>
                <a:latin typeface="Times New Roman" pitchFamily="18" charset="0"/>
                <a:cs typeface="Times New Roman" pitchFamily="18" charset="0"/>
              </a:rPr>
              <a:t> which shows who reports to whom. </a:t>
            </a:r>
          </a:p>
          <a:p>
            <a:pPr marL="346075" lvl="1" indent="-346075" eaLnBrk="1" fontAlgn="auto" hangingPunct="1">
              <a:spcAft>
                <a:spcPts val="0"/>
              </a:spcAft>
              <a:buClr>
                <a:srgbClr val="002060"/>
              </a:buClr>
              <a:buFont typeface="Wingdings" pitchFamily="2" charset="2"/>
              <a:buChar char="§"/>
              <a:defRPr/>
            </a:pPr>
            <a:endParaRPr lang="en-US" sz="12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Consist of two (02) components ; </a:t>
            </a:r>
          </a:p>
          <a:p>
            <a:pPr marL="803275" lvl="1" indent="-409575" eaLnBrk="1" fontAlgn="auto" hangingPunct="1">
              <a:spcAft>
                <a:spcPts val="0"/>
              </a:spcAft>
              <a:buClr>
                <a:srgbClr val="002060"/>
              </a:buClr>
              <a:buFont typeface="Arial" charset="0"/>
              <a:buNone/>
              <a:defRPr/>
            </a:pPr>
            <a:r>
              <a:rPr lang="en-US" sz="2400" dirty="0" smtClean="0">
                <a:solidFill>
                  <a:srgbClr val="002060"/>
                </a:solidFill>
                <a:latin typeface="Times New Roman" pitchFamily="18" charset="0"/>
                <a:cs typeface="Times New Roman" pitchFamily="18" charset="0"/>
              </a:rPr>
              <a:t> 1) Unity of Command – Each person within an </a:t>
            </a:r>
            <a:r>
              <a:rPr lang="en-US" sz="2400" dirty="0" err="1" smtClean="0">
                <a:solidFill>
                  <a:srgbClr val="002060"/>
                </a:solidFill>
                <a:latin typeface="Times New Roman" pitchFamily="18" charset="0"/>
                <a:cs typeface="Times New Roman" pitchFamily="18" charset="0"/>
              </a:rPr>
              <a:t>organisation</a:t>
            </a:r>
            <a:r>
              <a:rPr lang="en-US" sz="2400" dirty="0" smtClean="0">
                <a:solidFill>
                  <a:srgbClr val="002060"/>
                </a:solidFill>
                <a:latin typeface="Times New Roman" pitchFamily="18" charset="0"/>
                <a:cs typeface="Times New Roman" pitchFamily="18" charset="0"/>
              </a:rPr>
              <a:t> must have a clear reporting relationship to one superior.</a:t>
            </a:r>
          </a:p>
          <a:p>
            <a:pPr marL="803275" lvl="1" indent="-409575" eaLnBrk="1" fontAlgn="auto" hangingPunct="1">
              <a:spcAft>
                <a:spcPts val="0"/>
              </a:spcAft>
              <a:buClr>
                <a:srgbClr val="002060"/>
              </a:buClr>
              <a:buFont typeface="Arial" charset="0"/>
              <a:buNone/>
              <a:defRPr/>
            </a:pPr>
            <a:endParaRPr lang="en-US" sz="1200" dirty="0" smtClean="0">
              <a:solidFill>
                <a:srgbClr val="002060"/>
              </a:solidFill>
              <a:latin typeface="Times New Roman" pitchFamily="18" charset="0"/>
              <a:cs typeface="Times New Roman" pitchFamily="18" charset="0"/>
            </a:endParaRPr>
          </a:p>
          <a:p>
            <a:pPr marL="803275" lvl="1" indent="-409575" eaLnBrk="1" fontAlgn="auto" hangingPunct="1">
              <a:spcAft>
                <a:spcPts val="0"/>
              </a:spcAft>
              <a:buClr>
                <a:srgbClr val="002060"/>
              </a:buClr>
              <a:buFont typeface="Arial" charset="0"/>
              <a:buNone/>
              <a:defRPr/>
            </a:pPr>
            <a:r>
              <a:rPr lang="en-US" sz="2400" dirty="0" smtClean="0">
                <a:solidFill>
                  <a:srgbClr val="002060"/>
                </a:solidFill>
                <a:latin typeface="Times New Roman" pitchFamily="18" charset="0"/>
                <a:cs typeface="Times New Roman" pitchFamily="18" charset="0"/>
              </a:rPr>
              <a:t>2) Scalar Principle – There must be a clear and unbroken line of authority that extends from the highest to the lowest position in the </a:t>
            </a:r>
            <a:r>
              <a:rPr lang="en-US" sz="2400" dirty="0" err="1" smtClean="0">
                <a:solidFill>
                  <a:srgbClr val="002060"/>
                </a:solidFill>
                <a:latin typeface="Times New Roman" pitchFamily="18" charset="0"/>
                <a:cs typeface="Times New Roman" pitchFamily="18" charset="0"/>
              </a:rPr>
              <a:t>organisation</a:t>
            </a:r>
            <a:r>
              <a:rPr lang="en-US" sz="2400" dirty="0" smtClean="0">
                <a:solidFill>
                  <a:srgbClr val="002060"/>
                </a:solidFill>
                <a:latin typeface="Times New Roman" pitchFamily="18" charset="0"/>
                <a:cs typeface="Times New Roman" pitchFamily="18" charset="0"/>
              </a:rPr>
              <a:t>.  </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304800" y="228600"/>
            <a:ext cx="8458200" cy="609600"/>
          </a:xfrm>
        </p:spPr>
        <p:txBody>
          <a:bodyPr rtlCol="0">
            <a:no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
            </a:r>
            <a:br>
              <a:rPr lang="en-US" sz="3600" b="1" dirty="0" smtClean="0">
                <a:solidFill>
                  <a:schemeClr val="accent2">
                    <a:lumMod val="50000"/>
                  </a:schemeClr>
                </a:solidFill>
                <a:latin typeface="Times New Roman" pitchFamily="18" charset="0"/>
                <a:cs typeface="Times New Roman" pitchFamily="18" charset="0"/>
              </a:rPr>
            </a:br>
            <a:r>
              <a:rPr lang="en-US" sz="3600" b="1" dirty="0" smtClean="0">
                <a:solidFill>
                  <a:schemeClr val="accent2">
                    <a:lumMod val="50000"/>
                  </a:schemeClr>
                </a:solidFill>
                <a:latin typeface="Times New Roman" pitchFamily="18" charset="0"/>
                <a:cs typeface="Times New Roman" pitchFamily="18" charset="0"/>
              </a:rPr>
              <a:t> </a:t>
            </a:r>
            <a:r>
              <a:rPr lang="en-US" sz="3600" b="1" u="sng" dirty="0" smtClean="0">
                <a:solidFill>
                  <a:schemeClr val="accent2">
                    <a:lumMod val="50000"/>
                  </a:schemeClr>
                </a:solidFill>
                <a:latin typeface="Times New Roman" pitchFamily="18" charset="0"/>
                <a:cs typeface="Times New Roman" pitchFamily="18" charset="0"/>
              </a:rPr>
              <a:t>Element  03</a:t>
            </a:r>
            <a:r>
              <a:rPr lang="en-US" sz="3600" b="1" dirty="0" smtClean="0">
                <a:solidFill>
                  <a:schemeClr val="accent2">
                    <a:lumMod val="50000"/>
                  </a:schemeClr>
                </a:solidFill>
                <a:latin typeface="Times New Roman" pitchFamily="18" charset="0"/>
                <a:cs typeface="Times New Roman" pitchFamily="18" charset="0"/>
              </a:rPr>
              <a:t/>
            </a:r>
            <a:br>
              <a:rPr lang="en-US" sz="3600" b="1" dirty="0" smtClean="0">
                <a:solidFill>
                  <a:schemeClr val="accent2">
                    <a:lumMod val="50000"/>
                  </a:schemeClr>
                </a:solidFill>
                <a:latin typeface="Times New Roman" pitchFamily="18" charset="0"/>
                <a:cs typeface="Times New Roman" pitchFamily="18" charset="0"/>
              </a:rPr>
            </a:br>
            <a:r>
              <a:rPr lang="en-US" sz="3600" b="1" dirty="0" smtClean="0">
                <a:solidFill>
                  <a:schemeClr val="accent2">
                    <a:lumMod val="50000"/>
                  </a:schemeClr>
                </a:solidFill>
                <a:latin typeface="Times New Roman" pitchFamily="18" charset="0"/>
                <a:cs typeface="Times New Roman" pitchFamily="18" charset="0"/>
              </a:rPr>
              <a:t>Establishing Reporting Relationships </a:t>
            </a:r>
            <a:endParaRPr lang="en-US" sz="36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6019800" y="6248400"/>
            <a:ext cx="2590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i="1" dirty="0">
                <a:solidFill>
                  <a:srgbClr val="002060"/>
                </a:solidFill>
                <a:latin typeface="Times New Roman" pitchFamily="18" charset="0"/>
                <a:cs typeface="Times New Roman" pitchFamily="18" charset="0"/>
              </a:rPr>
              <a:t>(Griffin ,2012) </a:t>
            </a:r>
            <a:endParaRPr lang="en-US" sz="2000" b="1" i="1"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534400" cy="5029200"/>
          </a:xfrm>
        </p:spPr>
        <p:txBody>
          <a:bodyPr rtlCol="0">
            <a:noAutofit/>
          </a:bodyPr>
          <a:lstStyle/>
          <a:p>
            <a:pPr marL="346075" lvl="1" indent="-346075" eaLnBrk="1" fontAlgn="auto" hangingPunct="1">
              <a:spcAft>
                <a:spcPts val="0"/>
              </a:spcAft>
              <a:buClr>
                <a:srgbClr val="002060"/>
              </a:buClr>
              <a:buFont typeface="Arial" charset="0"/>
              <a:buNone/>
              <a:defRPr/>
            </a:pPr>
            <a:r>
              <a:rPr lang="en-US" sz="2400" b="1" u="sng" dirty="0" smtClean="0">
                <a:solidFill>
                  <a:schemeClr val="accent2">
                    <a:lumMod val="50000"/>
                  </a:schemeClr>
                </a:solidFill>
                <a:latin typeface="Times New Roman" pitchFamily="18" charset="0"/>
                <a:cs typeface="Times New Roman" pitchFamily="18" charset="0"/>
              </a:rPr>
              <a:t>Span of Management / Span of Control </a:t>
            </a:r>
          </a:p>
          <a:p>
            <a:pPr marL="346075" lvl="1" indent="-346075" eaLnBrk="1" fontAlgn="auto" hangingPunct="1">
              <a:spcAft>
                <a:spcPts val="0"/>
              </a:spcAft>
              <a:buClr>
                <a:srgbClr val="002060"/>
              </a:buClr>
              <a:buFont typeface="Arial" charset="0"/>
              <a:buNone/>
              <a:defRPr/>
            </a:pPr>
            <a:endParaRPr lang="en-US" sz="800" b="1" u="sng" dirty="0" smtClean="0">
              <a:solidFill>
                <a:schemeClr val="accent2">
                  <a:lumMod val="50000"/>
                </a:schemeClr>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The number of employees who directly report to a particular manager. </a:t>
            </a:r>
          </a:p>
          <a:p>
            <a:pPr marL="346075" lvl="1" indent="-346075" eaLnBrk="1" fontAlgn="auto" hangingPunct="1">
              <a:spcAft>
                <a:spcPts val="0"/>
              </a:spcAft>
              <a:buClr>
                <a:srgbClr val="002060"/>
              </a:buClr>
              <a:buFont typeface="Arial" charset="0"/>
              <a:buNone/>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The average span of control used in an </a:t>
            </a:r>
            <a:r>
              <a:rPr lang="en-US" sz="2400" dirty="0" err="1" smtClean="0">
                <a:solidFill>
                  <a:srgbClr val="002060"/>
                </a:solidFill>
                <a:latin typeface="Times New Roman" pitchFamily="18" charset="0"/>
                <a:cs typeface="Times New Roman" pitchFamily="18" charset="0"/>
              </a:rPr>
              <a:t>organisation</a:t>
            </a:r>
            <a:r>
              <a:rPr lang="en-US" sz="2400" dirty="0" smtClean="0">
                <a:solidFill>
                  <a:srgbClr val="002060"/>
                </a:solidFill>
                <a:latin typeface="Times New Roman" pitchFamily="18" charset="0"/>
                <a:cs typeface="Times New Roman" pitchFamily="18" charset="0"/>
              </a:rPr>
              <a:t> determines whether the </a:t>
            </a:r>
            <a:r>
              <a:rPr lang="en-US" sz="2400" dirty="0" err="1" smtClean="0">
                <a:solidFill>
                  <a:srgbClr val="002060"/>
                </a:solidFill>
                <a:latin typeface="Times New Roman" pitchFamily="18" charset="0"/>
                <a:cs typeface="Times New Roman" pitchFamily="18" charset="0"/>
              </a:rPr>
              <a:t>organisational</a:t>
            </a:r>
            <a:r>
              <a:rPr lang="en-US" sz="2400" dirty="0" smtClean="0">
                <a:solidFill>
                  <a:srgbClr val="002060"/>
                </a:solidFill>
                <a:latin typeface="Times New Roman" pitchFamily="18" charset="0"/>
                <a:cs typeface="Times New Roman" pitchFamily="18" charset="0"/>
              </a:rPr>
              <a:t> structure is </a:t>
            </a:r>
            <a:r>
              <a:rPr lang="en-US" sz="2400" b="1" i="1" dirty="0" smtClean="0">
                <a:solidFill>
                  <a:srgbClr val="002060"/>
                </a:solidFill>
                <a:latin typeface="Times New Roman" pitchFamily="18" charset="0"/>
                <a:cs typeface="Times New Roman" pitchFamily="18" charset="0"/>
              </a:rPr>
              <a:t>tall</a:t>
            </a:r>
            <a:r>
              <a:rPr lang="en-US" sz="2400" dirty="0" smtClean="0">
                <a:solidFill>
                  <a:srgbClr val="002060"/>
                </a:solidFill>
                <a:latin typeface="Times New Roman" pitchFamily="18" charset="0"/>
                <a:cs typeface="Times New Roman" pitchFamily="18" charset="0"/>
              </a:rPr>
              <a:t> or </a:t>
            </a:r>
            <a:r>
              <a:rPr lang="en-US" sz="2400" b="1" i="1" dirty="0" smtClean="0">
                <a:solidFill>
                  <a:srgbClr val="002060"/>
                </a:solidFill>
                <a:latin typeface="Times New Roman" pitchFamily="18" charset="0"/>
                <a:cs typeface="Times New Roman" pitchFamily="18" charset="0"/>
              </a:rPr>
              <a:t>flat</a:t>
            </a:r>
            <a:r>
              <a:rPr lang="en-US" sz="2400" dirty="0" smtClean="0">
                <a:solidFill>
                  <a:srgbClr val="002060"/>
                </a:solidFill>
                <a:latin typeface="Times New Roman" pitchFamily="18" charset="0"/>
                <a:cs typeface="Times New Roman" pitchFamily="18" charset="0"/>
              </a:rPr>
              <a:t>.  </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A tall structure has an overall narrow span and more hierarchical levels. </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A flat structure has a wide span of control and is horizontally dispersed with a fewer hierarchical levels. </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152400" y="304800"/>
            <a:ext cx="8763000" cy="609600"/>
          </a:xfrm>
        </p:spPr>
        <p:txBody>
          <a:bodyPr rtlCol="0">
            <a:noAutofit/>
          </a:bodyPr>
          <a:lstStyle/>
          <a:p>
            <a:pPr eaLnBrk="1" fontAlgn="auto" hangingPunct="1">
              <a:spcAft>
                <a:spcPts val="0"/>
              </a:spcAft>
              <a:defRPr/>
            </a:pPr>
            <a:r>
              <a:rPr lang="en-US" sz="3300" b="1" dirty="0" smtClean="0">
                <a:solidFill>
                  <a:schemeClr val="accent2">
                    <a:lumMod val="50000"/>
                  </a:schemeClr>
                </a:solidFill>
                <a:latin typeface="Times New Roman" pitchFamily="18" charset="0"/>
                <a:cs typeface="Times New Roman" pitchFamily="18" charset="0"/>
              </a:rPr>
              <a:t>Establishing Reporting Relationships (Cont…)  </a:t>
            </a:r>
            <a:endParaRPr lang="en-US" sz="33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6019800" y="5943600"/>
            <a:ext cx="2590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i="1" dirty="0">
                <a:solidFill>
                  <a:srgbClr val="002060"/>
                </a:solidFill>
                <a:latin typeface="Times New Roman" pitchFamily="18" charset="0"/>
                <a:cs typeface="Times New Roman" pitchFamily="18" charset="0"/>
              </a:rPr>
              <a:t>(Griffin ,2012) </a:t>
            </a:r>
            <a:endParaRPr lang="en-US" sz="2000" b="1" i="1"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229600" cy="533400"/>
          </a:xfrm>
        </p:spPr>
        <p:txBody>
          <a:bodyPr rtlCol="0">
            <a:noAutofit/>
          </a:bodyPr>
          <a:lstStyle/>
          <a:p>
            <a:pPr marL="346075" lvl="1" indent="-346075" eaLnBrk="1" fontAlgn="auto" hangingPunct="1">
              <a:spcAft>
                <a:spcPts val="0"/>
              </a:spcAft>
              <a:buClr>
                <a:srgbClr val="002060"/>
              </a:buClr>
              <a:buFont typeface="Arial" charset="0"/>
              <a:buNone/>
              <a:defRPr/>
            </a:pPr>
            <a:r>
              <a:rPr lang="en-US" sz="2400" b="1" u="sng" dirty="0" smtClean="0">
                <a:solidFill>
                  <a:schemeClr val="accent2">
                    <a:lumMod val="50000"/>
                  </a:schemeClr>
                </a:solidFill>
                <a:latin typeface="Times New Roman" pitchFamily="18" charset="0"/>
                <a:cs typeface="Times New Roman" pitchFamily="18" charset="0"/>
              </a:rPr>
              <a:t>Span of Management / Span of Control (Cont…) </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152400" y="152400"/>
            <a:ext cx="8763000" cy="609600"/>
          </a:xfrm>
        </p:spPr>
        <p:txBody>
          <a:bodyPr rtlCol="0">
            <a:noAutofit/>
          </a:bodyPr>
          <a:lstStyle/>
          <a:p>
            <a:pPr eaLnBrk="1" fontAlgn="auto" hangingPunct="1">
              <a:spcAft>
                <a:spcPts val="0"/>
              </a:spcAft>
              <a:defRPr/>
            </a:pPr>
            <a:r>
              <a:rPr lang="en-US" sz="3200" b="1" dirty="0" smtClean="0">
                <a:solidFill>
                  <a:schemeClr val="accent2">
                    <a:lumMod val="50000"/>
                  </a:schemeClr>
                </a:solidFill>
                <a:latin typeface="Times New Roman" pitchFamily="18" charset="0"/>
                <a:cs typeface="Times New Roman" pitchFamily="18" charset="0"/>
              </a:rPr>
              <a:t>Establishing Reporting Relationships (Cont…)  </a:t>
            </a:r>
            <a:endParaRPr lang="en-US" sz="3200" b="1" dirty="0">
              <a:solidFill>
                <a:schemeClr val="accent2">
                  <a:lumMod val="50000"/>
                </a:schemeClr>
              </a:solidFill>
              <a:latin typeface="Times New Roman" pitchFamily="18" charset="0"/>
              <a:cs typeface="Times New Roman" pitchFamily="18" charset="0"/>
            </a:endParaRPr>
          </a:p>
        </p:txBody>
      </p:sp>
      <p:graphicFrame>
        <p:nvGraphicFramePr>
          <p:cNvPr id="29704" name="Object 3"/>
          <p:cNvGraphicFramePr>
            <a:graphicFrameLocks noChangeAspect="1"/>
          </p:cNvGraphicFramePr>
          <p:nvPr/>
        </p:nvGraphicFramePr>
        <p:xfrm>
          <a:off x="1295400" y="1447800"/>
          <a:ext cx="6477000" cy="4657725"/>
        </p:xfrm>
        <a:graphic>
          <a:graphicData uri="http://schemas.openxmlformats.org/presentationml/2006/ole">
            <mc:AlternateContent xmlns:mc="http://schemas.openxmlformats.org/markup-compatibility/2006">
              <mc:Choice xmlns:v="urn:schemas-microsoft-com:vml" Requires="v">
                <p:oleObj spid="_x0000_s29715" name="Photo Editor Photo" r:id="rId4" imgW="11904762" imgH="6076190" progId="MSPhotoEd.3">
                  <p:embed/>
                </p:oleObj>
              </mc:Choice>
              <mc:Fallback>
                <p:oleObj name="Photo Editor Photo" r:id="rId4" imgW="11904762" imgH="6076190" progId="MSPhotoEd.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1447800"/>
                        <a:ext cx="6477000" cy="465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Rectangle 14"/>
          <p:cNvSpPr/>
          <p:nvPr/>
        </p:nvSpPr>
        <p:spPr>
          <a:xfrm>
            <a:off x="5486400" y="6019800"/>
            <a:ext cx="32766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b="1" i="1" dirty="0">
                <a:solidFill>
                  <a:srgbClr val="002060"/>
                </a:solidFill>
                <a:latin typeface="Times New Roman" pitchFamily="18" charset="0"/>
                <a:cs typeface="Times New Roman" pitchFamily="18" charset="0"/>
              </a:rPr>
              <a:t>(Schermerhorn, 2010) </a:t>
            </a:r>
            <a:endParaRPr lang="en-US" sz="1600" b="1" i="1" dirty="0">
              <a:latin typeface="Times New Roman" pitchFamily="18" charset="0"/>
              <a:cs typeface="Times New Roman" pitchFamily="18" charset="0"/>
            </a:endParaRPr>
          </a:p>
        </p:txBody>
      </p:sp>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534400" cy="5105400"/>
          </a:xfrm>
        </p:spPr>
        <p:txBody>
          <a:bodyPr rtlCol="0">
            <a:noAutofit/>
          </a:bodyPr>
          <a:lstStyle/>
          <a:p>
            <a:pPr marL="346075" lvl="1" indent="-346075" eaLnBrk="1" fontAlgn="auto" hangingPunct="1">
              <a:spcAft>
                <a:spcPts val="0"/>
              </a:spcAft>
              <a:buClr>
                <a:srgbClr val="002060"/>
              </a:buClr>
              <a:buFont typeface="Arial" charset="0"/>
              <a:buNone/>
              <a:defRPr/>
            </a:pPr>
            <a:r>
              <a:rPr lang="en-US" sz="2400" b="1" u="sng" dirty="0" smtClean="0">
                <a:solidFill>
                  <a:schemeClr val="accent2">
                    <a:lumMod val="50000"/>
                  </a:schemeClr>
                </a:solidFill>
                <a:latin typeface="Times New Roman" pitchFamily="18" charset="0"/>
                <a:cs typeface="Times New Roman" pitchFamily="18" charset="0"/>
              </a:rPr>
              <a:t>Factors Influencing the Span of Management / Span of Control</a:t>
            </a:r>
          </a:p>
          <a:p>
            <a:pPr marL="346075" lvl="1" indent="-346075" eaLnBrk="1" fontAlgn="auto" hangingPunct="1">
              <a:spcAft>
                <a:spcPts val="0"/>
              </a:spcAft>
              <a:buClr>
                <a:srgbClr val="002060"/>
              </a:buClr>
              <a:buFont typeface="Arial" charset="0"/>
              <a:buNone/>
              <a:defRPr/>
            </a:pPr>
            <a:endParaRPr lang="en-US" sz="800" b="1" u="sng" dirty="0" smtClean="0">
              <a:solidFill>
                <a:schemeClr val="accent2">
                  <a:lumMod val="50000"/>
                </a:schemeClr>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Competence of supervisor and subordinates</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Physical dispersion of subordinates</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Extent of nonsupervisory work in manager’s job</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Degree of required interaction </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Extent of standardized procedures</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Similarity of task being supervised</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Frequency of new problems</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Preference of supervisor and subordinates </a:t>
            </a:r>
          </a:p>
        </p:txBody>
      </p:sp>
      <p:sp>
        <p:nvSpPr>
          <p:cNvPr id="11" name="Title 10"/>
          <p:cNvSpPr>
            <a:spLocks noGrp="1"/>
          </p:cNvSpPr>
          <p:nvPr>
            <p:ph type="title"/>
          </p:nvPr>
        </p:nvSpPr>
        <p:spPr>
          <a:xfrm>
            <a:off x="152400" y="381000"/>
            <a:ext cx="8763000" cy="609600"/>
          </a:xfrm>
        </p:spPr>
        <p:txBody>
          <a:bodyPr rtlCol="0">
            <a:noAutofit/>
          </a:bodyPr>
          <a:lstStyle/>
          <a:p>
            <a:pPr eaLnBrk="1" fontAlgn="auto" hangingPunct="1">
              <a:spcAft>
                <a:spcPts val="0"/>
              </a:spcAft>
              <a:defRPr/>
            </a:pPr>
            <a:r>
              <a:rPr lang="en-US" sz="3300" b="1" dirty="0" smtClean="0">
                <a:solidFill>
                  <a:schemeClr val="accent2">
                    <a:lumMod val="50000"/>
                  </a:schemeClr>
                </a:solidFill>
                <a:latin typeface="Times New Roman" pitchFamily="18" charset="0"/>
                <a:cs typeface="Times New Roman" pitchFamily="18" charset="0"/>
              </a:rPr>
              <a:t>Establishing Reporting Relationships (Cont…)  </a:t>
            </a:r>
            <a:endParaRPr lang="en-US" sz="33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5943600" y="6096000"/>
            <a:ext cx="2590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i="1" dirty="0">
                <a:solidFill>
                  <a:srgbClr val="002060"/>
                </a:solidFill>
                <a:latin typeface="Times New Roman" pitchFamily="18" charset="0"/>
                <a:cs typeface="Times New Roman" pitchFamily="18" charset="0"/>
              </a:rPr>
              <a:t>(Griffin ,2012) </a:t>
            </a:r>
            <a:endParaRPr lang="en-US" sz="2000" b="1" i="1"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686800" cy="5410200"/>
          </a:xfrm>
        </p:spPr>
        <p:txBody>
          <a:bodyPr rtlCol="0">
            <a:noAutofit/>
          </a:bodyPr>
          <a:lstStyle/>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Authority is the power that has been </a:t>
            </a:r>
            <a:r>
              <a:rPr lang="en-US" sz="2400" dirty="0" err="1" smtClean="0">
                <a:solidFill>
                  <a:srgbClr val="002060"/>
                </a:solidFill>
                <a:latin typeface="Times New Roman" pitchFamily="18" charset="0"/>
                <a:cs typeface="Times New Roman" pitchFamily="18" charset="0"/>
              </a:rPr>
              <a:t>legitimised</a:t>
            </a:r>
            <a:r>
              <a:rPr lang="en-US" sz="2400" dirty="0" smtClean="0">
                <a:solidFill>
                  <a:srgbClr val="002060"/>
                </a:solidFill>
                <a:latin typeface="Times New Roman" pitchFamily="18" charset="0"/>
                <a:cs typeface="Times New Roman" pitchFamily="18" charset="0"/>
              </a:rPr>
              <a:t> by the </a:t>
            </a:r>
            <a:r>
              <a:rPr lang="en-US" sz="2400" dirty="0" err="1" smtClean="0">
                <a:solidFill>
                  <a:srgbClr val="002060"/>
                </a:solidFill>
                <a:latin typeface="Times New Roman" pitchFamily="18" charset="0"/>
                <a:cs typeface="Times New Roman" pitchFamily="18" charset="0"/>
              </a:rPr>
              <a:t>organisation</a:t>
            </a:r>
            <a:r>
              <a:rPr lang="en-US" sz="2400" dirty="0" smtClean="0">
                <a:solidFill>
                  <a:srgbClr val="002060"/>
                </a:solidFill>
                <a:latin typeface="Times New Roman" pitchFamily="18" charset="0"/>
                <a:cs typeface="Times New Roman" pitchFamily="18" charset="0"/>
              </a:rPr>
              <a:t>. </a:t>
            </a:r>
          </a:p>
          <a:p>
            <a:pPr marL="346075" lvl="1" indent="-346075" eaLnBrk="1" fontAlgn="auto" hangingPunct="1">
              <a:spcAft>
                <a:spcPts val="0"/>
              </a:spcAft>
              <a:buClr>
                <a:srgbClr val="002060"/>
              </a:buClr>
              <a:buFont typeface="Wingdings" pitchFamily="2" charset="2"/>
              <a:buChar char="§"/>
              <a:defRPr/>
            </a:pPr>
            <a:endParaRPr lang="en-US" sz="16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ea typeface="+mj-ea"/>
                <a:cs typeface="Times New Roman" pitchFamily="18" charset="0"/>
              </a:rPr>
              <a:t>It includes the formal and legitimate right of a manager to make decisions, issue orders, and allocate resources to achieve </a:t>
            </a:r>
            <a:r>
              <a:rPr lang="en-US" sz="2400" dirty="0" err="1" smtClean="0">
                <a:solidFill>
                  <a:srgbClr val="002060"/>
                </a:solidFill>
                <a:latin typeface="Times New Roman" pitchFamily="18" charset="0"/>
                <a:ea typeface="+mj-ea"/>
                <a:cs typeface="Times New Roman" pitchFamily="18" charset="0"/>
              </a:rPr>
              <a:t>organisational</a:t>
            </a:r>
            <a:r>
              <a:rPr lang="en-US" sz="2400" dirty="0" smtClean="0">
                <a:solidFill>
                  <a:srgbClr val="002060"/>
                </a:solidFill>
                <a:latin typeface="Times New Roman" pitchFamily="18" charset="0"/>
                <a:ea typeface="+mj-ea"/>
                <a:cs typeface="Times New Roman" pitchFamily="18" charset="0"/>
              </a:rPr>
              <a:t> desired outcomes. </a:t>
            </a:r>
          </a:p>
          <a:p>
            <a:pPr marL="346075" lvl="1" indent="-346075" eaLnBrk="1" fontAlgn="auto" hangingPunct="1">
              <a:spcAft>
                <a:spcPts val="0"/>
              </a:spcAft>
              <a:buClr>
                <a:srgbClr val="002060"/>
              </a:buClr>
              <a:buFont typeface="Wingdings" pitchFamily="2" charset="2"/>
              <a:buChar char="§"/>
              <a:defRPr/>
            </a:pPr>
            <a:endParaRPr lang="en-US" sz="1600" dirty="0" smtClean="0">
              <a:solidFill>
                <a:srgbClr val="002060"/>
              </a:solidFill>
              <a:latin typeface="Times New Roman" pitchFamily="18" charset="0"/>
              <a:ea typeface="+mj-ea"/>
              <a:cs typeface="Times New Roman" pitchFamily="18" charset="0"/>
            </a:endParaRPr>
          </a:p>
          <a:p>
            <a:pPr marL="803275" indent="-409575">
              <a:buFont typeface="Arial" charset="0"/>
              <a:buNone/>
              <a:defRPr/>
            </a:pPr>
            <a:endParaRPr lang="en-US" sz="1400" kern="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304800" y="304800"/>
            <a:ext cx="8458200" cy="533400"/>
          </a:xfrm>
        </p:spPr>
        <p:txBody>
          <a:bodyPr rtlCol="0">
            <a:no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
            </a:r>
            <a:br>
              <a:rPr lang="en-US" sz="3600" b="1" dirty="0" smtClean="0">
                <a:solidFill>
                  <a:schemeClr val="accent2">
                    <a:lumMod val="50000"/>
                  </a:schemeClr>
                </a:solidFill>
                <a:latin typeface="Times New Roman" pitchFamily="18" charset="0"/>
                <a:cs typeface="Times New Roman" pitchFamily="18" charset="0"/>
              </a:rPr>
            </a:br>
            <a:r>
              <a:rPr lang="en-US" sz="3600" b="1" dirty="0" smtClean="0">
                <a:solidFill>
                  <a:schemeClr val="accent2">
                    <a:lumMod val="50000"/>
                  </a:schemeClr>
                </a:solidFill>
                <a:latin typeface="Times New Roman" pitchFamily="18" charset="0"/>
                <a:cs typeface="Times New Roman" pitchFamily="18" charset="0"/>
              </a:rPr>
              <a:t> </a:t>
            </a:r>
            <a:r>
              <a:rPr lang="en-US" sz="3600" b="1" u="sng" dirty="0" smtClean="0">
                <a:solidFill>
                  <a:schemeClr val="accent2">
                    <a:lumMod val="50000"/>
                  </a:schemeClr>
                </a:solidFill>
                <a:latin typeface="Times New Roman" pitchFamily="18" charset="0"/>
                <a:cs typeface="Times New Roman" pitchFamily="18" charset="0"/>
              </a:rPr>
              <a:t>Element  04</a:t>
            </a:r>
            <a:r>
              <a:rPr lang="en-US" sz="3600" b="1" dirty="0" smtClean="0">
                <a:solidFill>
                  <a:schemeClr val="accent2">
                    <a:lumMod val="50000"/>
                  </a:schemeClr>
                </a:solidFill>
                <a:latin typeface="Times New Roman" pitchFamily="18" charset="0"/>
                <a:cs typeface="Times New Roman" pitchFamily="18" charset="0"/>
              </a:rPr>
              <a:t/>
            </a:r>
            <a:br>
              <a:rPr lang="en-US" sz="3600" b="1" dirty="0" smtClean="0">
                <a:solidFill>
                  <a:schemeClr val="accent2">
                    <a:lumMod val="50000"/>
                  </a:schemeClr>
                </a:solidFill>
                <a:latin typeface="Times New Roman" pitchFamily="18" charset="0"/>
                <a:cs typeface="Times New Roman" pitchFamily="18" charset="0"/>
              </a:rPr>
            </a:br>
            <a:r>
              <a:rPr lang="en-US" sz="3600" b="1" dirty="0" smtClean="0">
                <a:solidFill>
                  <a:schemeClr val="accent2">
                    <a:lumMod val="50000"/>
                  </a:schemeClr>
                </a:solidFill>
                <a:latin typeface="Times New Roman" pitchFamily="18" charset="0"/>
                <a:cs typeface="Times New Roman" pitchFamily="18" charset="0"/>
              </a:rPr>
              <a:t>Distributing Authority </a:t>
            </a:r>
            <a:endParaRPr lang="en-US" sz="36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3200400" y="3886200"/>
            <a:ext cx="51816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en-US" b="1" i="1" dirty="0">
                <a:solidFill>
                  <a:srgbClr val="002060"/>
                </a:solidFill>
                <a:latin typeface="Times New Roman" pitchFamily="18" charset="0"/>
                <a:cs typeface="Times New Roman" pitchFamily="18" charset="0"/>
              </a:rPr>
              <a:t>(Griffin , 2012) </a:t>
            </a:r>
            <a:endParaRPr lang="en-US" b="1" i="1"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914400"/>
            <a:ext cx="8915400" cy="5562600"/>
          </a:xfrm>
        </p:spPr>
        <p:txBody>
          <a:bodyPr rtlCol="0">
            <a:noAutofit/>
          </a:bodyPr>
          <a:lstStyle/>
          <a:p>
            <a:pPr marL="346075" indent="-346075">
              <a:buFont typeface="Wingdings" pitchFamily="2" charset="2"/>
              <a:buChar char="§"/>
              <a:tabLst>
                <a:tab pos="0" algn="l"/>
              </a:tabLst>
              <a:defRPr/>
            </a:pPr>
            <a:r>
              <a:rPr lang="en-US" sz="2400" kern="0" dirty="0" smtClean="0">
                <a:solidFill>
                  <a:srgbClr val="002060"/>
                </a:solidFill>
                <a:latin typeface="Times New Roman" pitchFamily="18" charset="0"/>
                <a:cs typeface="Times New Roman" pitchFamily="18" charset="0"/>
              </a:rPr>
              <a:t>Types of authority within an </a:t>
            </a:r>
            <a:r>
              <a:rPr lang="en-US" sz="2400" kern="0" dirty="0" err="1" smtClean="0">
                <a:solidFill>
                  <a:srgbClr val="002060"/>
                </a:solidFill>
                <a:latin typeface="Times New Roman" pitchFamily="18" charset="0"/>
                <a:cs typeface="Times New Roman" pitchFamily="18" charset="0"/>
              </a:rPr>
              <a:t>organisation</a:t>
            </a:r>
            <a:r>
              <a:rPr lang="en-US" sz="2400" kern="0" dirty="0" smtClean="0">
                <a:solidFill>
                  <a:srgbClr val="002060"/>
                </a:solidFill>
                <a:latin typeface="Times New Roman" pitchFamily="18" charset="0"/>
                <a:cs typeface="Times New Roman" pitchFamily="18" charset="0"/>
              </a:rPr>
              <a:t> ; </a:t>
            </a:r>
          </a:p>
          <a:p>
            <a:pPr marL="803275" indent="-346075">
              <a:buFont typeface="+mj-lt"/>
              <a:buAutoNum type="arabicParenR"/>
              <a:tabLst>
                <a:tab pos="0" algn="l"/>
              </a:tabLst>
              <a:defRPr/>
            </a:pPr>
            <a:r>
              <a:rPr lang="en-US" sz="2400" kern="0" dirty="0" smtClean="0">
                <a:solidFill>
                  <a:srgbClr val="002060"/>
                </a:solidFill>
                <a:latin typeface="Times New Roman" pitchFamily="18" charset="0"/>
                <a:cs typeface="Times New Roman" pitchFamily="18" charset="0"/>
              </a:rPr>
              <a:t>Line authority</a:t>
            </a:r>
          </a:p>
          <a:p>
            <a:pPr marL="803275" indent="-346075">
              <a:buFont typeface="Arial" charset="0"/>
              <a:buNone/>
              <a:tabLst>
                <a:tab pos="0" algn="l"/>
              </a:tabLst>
              <a:defRPr/>
            </a:pPr>
            <a:r>
              <a:rPr lang="en-US" sz="2400" kern="0" dirty="0" smtClean="0">
                <a:solidFill>
                  <a:srgbClr val="002060"/>
                </a:solidFill>
                <a:latin typeface="Times New Roman" pitchFamily="18" charset="0"/>
                <a:cs typeface="Times New Roman" pitchFamily="18" charset="0"/>
              </a:rPr>
              <a:t>     Reflects the existing superior –subordinate relationship.  It signifies that people in management positions have formal authority to direct and control immediate subordinates.</a:t>
            </a:r>
          </a:p>
          <a:p>
            <a:pPr marL="803275" indent="-346075">
              <a:buFont typeface="Arial" charset="0"/>
              <a:buNone/>
              <a:tabLst>
                <a:tab pos="0" algn="l"/>
              </a:tabLst>
              <a:defRPr/>
            </a:pPr>
            <a:r>
              <a:rPr lang="en-US" sz="2400" kern="0" dirty="0" smtClean="0">
                <a:solidFill>
                  <a:srgbClr val="002060"/>
                </a:solidFill>
                <a:latin typeface="Times New Roman" pitchFamily="18" charset="0"/>
                <a:cs typeface="Times New Roman" pitchFamily="18" charset="0"/>
              </a:rPr>
              <a:t>     </a:t>
            </a:r>
          </a:p>
          <a:p>
            <a:pPr marL="803275" indent="-346075">
              <a:buFont typeface="Arial" charset="0"/>
              <a:buNone/>
              <a:tabLst>
                <a:tab pos="0" algn="l"/>
              </a:tabLst>
              <a:defRPr/>
            </a:pPr>
            <a:endParaRPr lang="en-US" sz="900" kern="0" dirty="0" smtClean="0">
              <a:solidFill>
                <a:srgbClr val="002060"/>
              </a:solidFill>
              <a:latin typeface="Times New Roman" pitchFamily="18" charset="0"/>
              <a:cs typeface="Times New Roman" pitchFamily="18" charset="0"/>
            </a:endParaRPr>
          </a:p>
          <a:p>
            <a:pPr marL="803275" indent="-331788">
              <a:buFont typeface="+mj-lt"/>
              <a:buAutoNum type="arabicParenR" startAt="2"/>
              <a:tabLst>
                <a:tab pos="0" algn="l"/>
              </a:tabLst>
              <a:defRPr/>
            </a:pPr>
            <a:r>
              <a:rPr lang="en-US" sz="2400" kern="0" dirty="0" smtClean="0">
                <a:solidFill>
                  <a:srgbClr val="002060"/>
                </a:solidFill>
                <a:latin typeface="Times New Roman" pitchFamily="18" charset="0"/>
                <a:cs typeface="Times New Roman" pitchFamily="18" charset="0"/>
              </a:rPr>
              <a:t>Staff authority </a:t>
            </a:r>
          </a:p>
          <a:p>
            <a:pPr marL="803275" indent="-331788">
              <a:buFont typeface="Arial" charset="0"/>
              <a:buNone/>
              <a:tabLst>
                <a:tab pos="0" algn="l"/>
              </a:tabLst>
              <a:defRPr/>
            </a:pPr>
            <a:r>
              <a:rPr lang="en-US" sz="2400" kern="0" dirty="0" smtClean="0">
                <a:solidFill>
                  <a:srgbClr val="002060"/>
                </a:solidFill>
                <a:latin typeface="Times New Roman" pitchFamily="18" charset="0"/>
                <a:cs typeface="Times New Roman" pitchFamily="18" charset="0"/>
              </a:rPr>
              <a:t>     Includes the right to advise, recommend and counsel in the staff specialists’ area of expertise. This is a communication relationship where the staff specialist advise managers in technical areas. </a:t>
            </a:r>
          </a:p>
          <a:p>
            <a:pPr marL="568325" indent="0">
              <a:buFont typeface="Arial" charset="0"/>
              <a:buNone/>
              <a:tabLst>
                <a:tab pos="0" algn="l"/>
              </a:tabLst>
              <a:defRPr/>
            </a:pPr>
            <a:r>
              <a:rPr lang="en-US" sz="2400" kern="0" dirty="0" smtClean="0">
                <a:solidFill>
                  <a:srgbClr val="002060"/>
                </a:solidFill>
                <a:latin typeface="Times New Roman" pitchFamily="18" charset="0"/>
                <a:cs typeface="Times New Roman" pitchFamily="18" charset="0"/>
              </a:rPr>
              <a:t>    </a:t>
            </a:r>
          </a:p>
          <a:p>
            <a:pPr marL="803275" indent="-346075">
              <a:buFont typeface="Arial" charset="0"/>
              <a:buNone/>
              <a:tabLst>
                <a:tab pos="0" algn="l"/>
              </a:tabLst>
              <a:defRPr/>
            </a:pPr>
            <a:endParaRPr lang="en-US" sz="2400" kern="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228600" y="304800"/>
            <a:ext cx="8458200" cy="533400"/>
          </a:xfrm>
        </p:spPr>
        <p:txBody>
          <a:bodyPr rtlCol="0">
            <a:no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Distributing Authority (Cont…)</a:t>
            </a:r>
            <a:endParaRPr lang="en-US" sz="36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3352800" y="5562600"/>
            <a:ext cx="51816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en-US" b="1" i="1" dirty="0">
                <a:solidFill>
                  <a:srgbClr val="002060"/>
                </a:solidFill>
                <a:latin typeface="Times New Roman" pitchFamily="18" charset="0"/>
                <a:cs typeface="Times New Roman" pitchFamily="18" charset="0"/>
              </a:rPr>
              <a:t>(</a:t>
            </a:r>
            <a:r>
              <a:rPr lang="en-US" b="1" i="1" dirty="0" err="1">
                <a:solidFill>
                  <a:srgbClr val="002060"/>
                </a:solidFill>
                <a:latin typeface="Times New Roman" pitchFamily="18" charset="0"/>
                <a:cs typeface="Times New Roman" pitchFamily="18" charset="0"/>
              </a:rPr>
              <a:t>Certo</a:t>
            </a:r>
            <a:r>
              <a:rPr lang="en-US" b="1" i="1" dirty="0">
                <a:solidFill>
                  <a:srgbClr val="002060"/>
                </a:solidFill>
                <a:latin typeface="Times New Roman" pitchFamily="18" charset="0"/>
                <a:cs typeface="Times New Roman" pitchFamily="18" charset="0"/>
              </a:rPr>
              <a:t> &amp; </a:t>
            </a:r>
            <a:r>
              <a:rPr lang="en-US" b="1" i="1" dirty="0" err="1">
                <a:solidFill>
                  <a:srgbClr val="002060"/>
                </a:solidFill>
                <a:latin typeface="Times New Roman" pitchFamily="18" charset="0"/>
                <a:cs typeface="Times New Roman" pitchFamily="18" charset="0"/>
              </a:rPr>
              <a:t>Certo</a:t>
            </a:r>
            <a:r>
              <a:rPr lang="en-US" b="1" i="1" dirty="0">
                <a:solidFill>
                  <a:srgbClr val="002060"/>
                </a:solidFill>
                <a:latin typeface="Times New Roman" pitchFamily="18" charset="0"/>
                <a:cs typeface="Times New Roman" pitchFamily="18" charset="0"/>
              </a:rPr>
              <a:t> , 2010 ) </a:t>
            </a:r>
            <a:endParaRPr lang="en-US" b="1" i="1"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066800"/>
            <a:ext cx="8839200" cy="1600200"/>
          </a:xfrm>
        </p:spPr>
        <p:txBody>
          <a:bodyPr rtlCol="0">
            <a:noAutofit/>
          </a:bodyPr>
          <a:lstStyle/>
          <a:p>
            <a:pPr marL="850900" indent="-330200">
              <a:buFont typeface="+mj-lt"/>
              <a:buAutoNum type="arabicParenR" startAt="3"/>
              <a:tabLst>
                <a:tab pos="0" algn="l"/>
              </a:tabLst>
              <a:defRPr/>
            </a:pPr>
            <a:r>
              <a:rPr lang="en-US" sz="2400" kern="0" dirty="0" smtClean="0">
                <a:solidFill>
                  <a:srgbClr val="002060"/>
                </a:solidFill>
                <a:latin typeface="Times New Roman" pitchFamily="18" charset="0"/>
                <a:cs typeface="Times New Roman" pitchFamily="18" charset="0"/>
              </a:rPr>
              <a:t>Functional authority </a:t>
            </a:r>
          </a:p>
          <a:p>
            <a:pPr marL="849313" indent="1588">
              <a:buFont typeface="Arial" charset="0"/>
              <a:buNone/>
              <a:tabLst>
                <a:tab pos="0" algn="l"/>
              </a:tabLst>
              <a:defRPr/>
            </a:pPr>
            <a:r>
              <a:rPr lang="en-US" sz="2400" kern="0" dirty="0" smtClean="0">
                <a:solidFill>
                  <a:srgbClr val="002060"/>
                </a:solidFill>
                <a:latin typeface="Times New Roman" pitchFamily="18" charset="0"/>
                <a:cs typeface="Times New Roman" pitchFamily="18" charset="0"/>
              </a:rPr>
              <a:t>The authority that staff manager has right to give orders relevant to his/her area, to the line managers.</a:t>
            </a:r>
          </a:p>
          <a:p>
            <a:pPr marL="693737" indent="-457200">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457200" y="381000"/>
            <a:ext cx="8458200" cy="609600"/>
          </a:xfrm>
        </p:spPr>
        <p:txBody>
          <a:bodyPr rtlCol="0">
            <a:noAutofit/>
          </a:bodyPr>
          <a:lstStyle/>
          <a:p>
            <a:pPr eaLnBrk="1" fontAlgn="auto" hangingPunct="1">
              <a:spcAft>
                <a:spcPts val="0"/>
              </a:spcAft>
              <a:defRPr/>
            </a:pPr>
            <a:r>
              <a:rPr lang="en-US" sz="3500" b="1" dirty="0" smtClean="0">
                <a:solidFill>
                  <a:schemeClr val="accent2">
                    <a:lumMod val="50000"/>
                  </a:schemeClr>
                </a:solidFill>
                <a:latin typeface="Times New Roman" pitchFamily="18" charset="0"/>
                <a:cs typeface="Times New Roman" pitchFamily="18" charset="0"/>
              </a:rPr>
              <a:t>Distributing Authority (Cont…)  </a:t>
            </a:r>
            <a:endParaRPr lang="en-US" sz="3500" b="1" dirty="0">
              <a:solidFill>
                <a:schemeClr val="accent2">
                  <a:lumMod val="50000"/>
                </a:schemeClr>
              </a:solidFill>
              <a:latin typeface="Times New Roman" pitchFamily="18" charset="0"/>
              <a:cs typeface="Times New Roman" pitchFamily="18" charset="0"/>
            </a:endParaRPr>
          </a:p>
        </p:txBody>
      </p:sp>
      <p:sp>
        <p:nvSpPr>
          <p:cNvPr id="10" name="Content Placeholder 2"/>
          <p:cNvSpPr txBox="1">
            <a:spLocks/>
          </p:cNvSpPr>
          <p:nvPr/>
        </p:nvSpPr>
        <p:spPr bwMode="auto">
          <a:xfrm>
            <a:off x="609600" y="2743200"/>
            <a:ext cx="8534400" cy="1066800"/>
          </a:xfrm>
          <a:prstGeom prst="rect">
            <a:avLst/>
          </a:prstGeom>
          <a:noFill/>
          <a:ln w="9525">
            <a:noFill/>
            <a:miter lim="800000"/>
            <a:headEnd/>
            <a:tailEnd/>
          </a:ln>
        </p:spPr>
        <p:txBody>
          <a:bodyPr/>
          <a:lstStyle/>
          <a:p>
            <a:pPr marL="346075" lvl="1" indent="-346075" fontAlgn="auto">
              <a:spcBef>
                <a:spcPct val="20000"/>
              </a:spcBef>
              <a:spcAft>
                <a:spcPts val="0"/>
              </a:spcAft>
              <a:buClr>
                <a:srgbClr val="002060"/>
              </a:buClr>
              <a:buFont typeface="Wingdings" pitchFamily="2" charset="2"/>
              <a:buChar char="§"/>
              <a:defRPr/>
            </a:pPr>
            <a:r>
              <a:rPr lang="en-US" sz="2400" dirty="0">
                <a:solidFill>
                  <a:srgbClr val="002060"/>
                </a:solidFill>
                <a:latin typeface="Times New Roman" pitchFamily="18" charset="0"/>
                <a:cs typeface="Times New Roman" pitchFamily="18" charset="0"/>
              </a:rPr>
              <a:t>Two specific issues that managers must address when distributing authority are extent of </a:t>
            </a:r>
            <a:r>
              <a:rPr lang="en-US" sz="2400" b="1" i="1" dirty="0">
                <a:solidFill>
                  <a:srgbClr val="002060"/>
                </a:solidFill>
                <a:latin typeface="Times New Roman" pitchFamily="18" charset="0"/>
                <a:cs typeface="Times New Roman" pitchFamily="18" charset="0"/>
              </a:rPr>
              <a:t>delegation </a:t>
            </a:r>
            <a:r>
              <a:rPr lang="en-US" sz="2400" dirty="0">
                <a:solidFill>
                  <a:srgbClr val="002060"/>
                </a:solidFill>
                <a:latin typeface="Times New Roman" pitchFamily="18" charset="0"/>
                <a:cs typeface="Times New Roman" pitchFamily="18" charset="0"/>
              </a:rPr>
              <a:t>and  </a:t>
            </a:r>
            <a:r>
              <a:rPr lang="en-US" sz="2400" b="1" i="1" dirty="0">
                <a:solidFill>
                  <a:srgbClr val="002060"/>
                </a:solidFill>
                <a:latin typeface="Times New Roman" pitchFamily="18" charset="0"/>
                <a:cs typeface="Times New Roman" pitchFamily="18" charset="0"/>
              </a:rPr>
              <a:t>centralization</a:t>
            </a:r>
            <a:r>
              <a:rPr lang="en-US" sz="2200" b="1" i="1" dirty="0">
                <a:solidFill>
                  <a:srgbClr val="002060"/>
                </a:solidFill>
                <a:latin typeface="Times New Roman" pitchFamily="18" charset="0"/>
                <a:cs typeface="Times New Roman" pitchFamily="18" charset="0"/>
              </a:rPr>
              <a:t>.</a:t>
            </a:r>
            <a:endParaRPr lang="en-US" sz="2200" dirty="0">
              <a:solidFill>
                <a:srgbClr val="002060"/>
              </a:solidFill>
              <a:latin typeface="Times New Roman" pitchFamily="18" charset="0"/>
              <a:cs typeface="Times New Roman" pitchFamily="18" charset="0"/>
            </a:endParaRPr>
          </a:p>
          <a:p>
            <a:pPr marL="346075" lvl="1" indent="-346075" fontAlgn="auto">
              <a:spcBef>
                <a:spcPct val="20000"/>
              </a:spcBef>
              <a:spcAft>
                <a:spcPts val="0"/>
              </a:spcAft>
              <a:buClr>
                <a:srgbClr val="002060"/>
              </a:buClr>
              <a:buFont typeface="Arial" charset="0"/>
              <a:buNone/>
              <a:defRPr/>
            </a:pPr>
            <a:endParaRPr lang="en-US" sz="800" dirty="0">
              <a:solidFill>
                <a:srgbClr val="002060"/>
              </a:solidFill>
              <a:latin typeface="Times New Roman" pitchFamily="18" charset="0"/>
              <a:cs typeface="Times New Roman" pitchFamily="18" charset="0"/>
            </a:endParaRPr>
          </a:p>
          <a:p>
            <a:pPr marL="346075" lvl="1" indent="-346075" fontAlgn="auto">
              <a:spcBef>
                <a:spcPct val="20000"/>
              </a:spcBef>
              <a:spcAft>
                <a:spcPts val="0"/>
              </a:spcAft>
              <a:buClr>
                <a:srgbClr val="002060"/>
              </a:buClr>
              <a:buFont typeface="Arial" charset="0"/>
              <a:buNone/>
              <a:defRPr/>
            </a:pPr>
            <a:endParaRPr lang="en-US" sz="2000" dirty="0">
              <a:solidFill>
                <a:srgbClr val="002060"/>
              </a:solidFill>
              <a:latin typeface="Times New Roman" pitchFamily="18" charset="0"/>
              <a:cs typeface="Times New Roman" pitchFamily="18" charset="0"/>
            </a:endParaRPr>
          </a:p>
          <a:p>
            <a:pPr marL="393700" lvl="2" fontAlgn="auto">
              <a:spcBef>
                <a:spcPct val="20000"/>
              </a:spcBef>
              <a:spcAft>
                <a:spcPts val="0"/>
              </a:spcAft>
              <a:buClr>
                <a:srgbClr val="002060"/>
              </a:buClr>
              <a:buFont typeface="Wingdings" pitchFamily="2" charset="2"/>
              <a:buChar char="§"/>
              <a:defRPr/>
            </a:pPr>
            <a:endParaRPr lang="en-US" sz="2400" dirty="0">
              <a:solidFill>
                <a:srgbClr val="002060"/>
              </a:solidFill>
              <a:latin typeface="Times New Roman" pitchFamily="18" charset="0"/>
              <a:cs typeface="Times New Roman" pitchFamily="18" charset="0"/>
            </a:endParaRPr>
          </a:p>
          <a:p>
            <a:pPr marL="346075" lvl="1" indent="-346075" fontAlgn="auto">
              <a:spcBef>
                <a:spcPct val="20000"/>
              </a:spcBef>
              <a:spcAft>
                <a:spcPts val="0"/>
              </a:spcAft>
              <a:buClr>
                <a:srgbClr val="002060"/>
              </a:buClr>
              <a:buFont typeface="Wingdings" pitchFamily="2" charset="2"/>
              <a:buChar char="§"/>
              <a:defRPr/>
            </a:pPr>
            <a:endParaRPr lang="en-US" sz="500" dirty="0">
              <a:solidFill>
                <a:srgbClr val="002060"/>
              </a:solidFill>
              <a:latin typeface="Times New Roman" pitchFamily="18" charset="0"/>
              <a:cs typeface="Times New Roman" pitchFamily="18" charset="0"/>
            </a:endParaRPr>
          </a:p>
          <a:p>
            <a:pPr marL="803275" indent="-346075" eaLnBrk="0" hangingPunct="0">
              <a:spcBef>
                <a:spcPct val="20000"/>
              </a:spcBef>
              <a:buFont typeface="Arial" charset="0"/>
              <a:buNone/>
              <a:tabLst>
                <a:tab pos="0" algn="l"/>
              </a:tabLst>
              <a:defRPr/>
            </a:pPr>
            <a:endParaRPr lang="en-US" sz="2200" kern="0" dirty="0">
              <a:solidFill>
                <a:srgbClr val="002060"/>
              </a:solidFill>
              <a:latin typeface="Times New Roman" pitchFamily="18" charset="0"/>
              <a:cs typeface="Times New Roman" pitchFamily="18" charset="0"/>
            </a:endParaRPr>
          </a:p>
          <a:p>
            <a:pPr marL="803275" indent="-346075" eaLnBrk="0" hangingPunct="0">
              <a:spcBef>
                <a:spcPct val="20000"/>
              </a:spcBef>
              <a:buFont typeface="Arial" charset="0"/>
              <a:buNone/>
              <a:tabLst>
                <a:tab pos="0" algn="l"/>
              </a:tabLst>
              <a:defRPr/>
            </a:pPr>
            <a:endParaRPr lang="en-US" sz="2200" kern="0" dirty="0">
              <a:solidFill>
                <a:srgbClr val="002060"/>
              </a:solidFill>
              <a:latin typeface="Times New Roman" pitchFamily="18" charset="0"/>
              <a:cs typeface="Times New Roman" pitchFamily="18" charset="0"/>
            </a:endParaRPr>
          </a:p>
          <a:p>
            <a:pPr marL="346075" lvl="1" indent="-346075" fontAlgn="auto">
              <a:spcBef>
                <a:spcPct val="20000"/>
              </a:spcBef>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534400" cy="5257800"/>
          </a:xfrm>
        </p:spPr>
        <p:txBody>
          <a:bodyPr rtlCol="0">
            <a:noAutofit/>
          </a:bodyPr>
          <a:lstStyle/>
          <a:p>
            <a:pPr marL="346075" lvl="1" indent="-346075" eaLnBrk="1" fontAlgn="auto" hangingPunct="1">
              <a:spcAft>
                <a:spcPts val="0"/>
              </a:spcAft>
              <a:buClr>
                <a:srgbClr val="002060"/>
              </a:buClr>
              <a:buFont typeface="Arial" charset="0"/>
              <a:buNone/>
              <a:defRPr/>
            </a:pPr>
            <a:r>
              <a:rPr lang="en-US" sz="2500" b="1" dirty="0" smtClean="0">
                <a:solidFill>
                  <a:schemeClr val="accent2">
                    <a:lumMod val="50000"/>
                  </a:schemeClr>
                </a:solidFill>
                <a:latin typeface="Times New Roman" pitchFamily="18" charset="0"/>
                <a:cs typeface="Times New Roman" pitchFamily="18" charset="0"/>
              </a:rPr>
              <a:t>What is Delegation?</a:t>
            </a:r>
          </a:p>
          <a:p>
            <a:pPr marL="0" lvl="1" indent="-346075" eaLnBrk="1" fontAlgn="auto" hangingPunct="1">
              <a:spcAft>
                <a:spcPts val="0"/>
              </a:spcAft>
              <a:buClr>
                <a:srgbClr val="002060"/>
              </a:buClr>
              <a:buFont typeface="Arial" charset="0"/>
              <a:buNone/>
              <a:defRPr/>
            </a:pPr>
            <a:r>
              <a:rPr lang="en-US" sz="2500" dirty="0" smtClean="0">
                <a:solidFill>
                  <a:srgbClr val="002060"/>
                </a:solidFill>
                <a:latin typeface="Times New Roman" pitchFamily="18" charset="0"/>
                <a:cs typeface="Times New Roman" pitchFamily="18" charset="0"/>
              </a:rPr>
              <a:t>Is the act of assigning specific tasks  with authority and responsibility.</a:t>
            </a:r>
          </a:p>
          <a:p>
            <a:pPr marL="236538" lvl="1" indent="-236538" eaLnBrk="1" fontAlgn="auto" hangingPunct="1">
              <a:spcAft>
                <a:spcPts val="0"/>
              </a:spcAft>
              <a:buClr>
                <a:srgbClr val="002060"/>
              </a:buClr>
              <a:buFont typeface="Wingdings" pitchFamily="2" charset="2"/>
              <a:buChar char="§"/>
              <a:defRPr/>
            </a:pPr>
            <a:endParaRPr lang="en-US" sz="10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Wingdings" pitchFamily="2" charset="2"/>
              <a:buChar char="§"/>
              <a:defRPr/>
            </a:pPr>
            <a:r>
              <a:rPr lang="en-US" sz="2200" dirty="0" smtClean="0">
                <a:solidFill>
                  <a:srgbClr val="002060"/>
                </a:solidFill>
                <a:latin typeface="Times New Roman" pitchFamily="18" charset="0"/>
                <a:cs typeface="Times New Roman" pitchFamily="18" charset="0"/>
              </a:rPr>
              <a:t>Reasons for delegation are ; </a:t>
            </a:r>
          </a:p>
          <a:p>
            <a:pPr marL="636588" lvl="2" indent="-236538" eaLnBrk="1" fontAlgn="auto" hangingPunct="1">
              <a:spcAft>
                <a:spcPts val="0"/>
              </a:spcAft>
              <a:buClr>
                <a:srgbClr val="002060"/>
              </a:buClr>
              <a:buFont typeface="Wingdings" pitchFamily="2" charset="2"/>
              <a:buChar char="§"/>
              <a:defRPr/>
            </a:pPr>
            <a:r>
              <a:rPr lang="en-US" sz="2200" dirty="0" smtClean="0">
                <a:solidFill>
                  <a:srgbClr val="002060"/>
                </a:solidFill>
                <a:latin typeface="Times New Roman" pitchFamily="18" charset="0"/>
                <a:cs typeface="Times New Roman" pitchFamily="18" charset="0"/>
              </a:rPr>
              <a:t>It enables managers to get more work done </a:t>
            </a:r>
          </a:p>
          <a:p>
            <a:pPr marL="636588" lvl="2" indent="-236538" eaLnBrk="1" fontAlgn="auto" hangingPunct="1">
              <a:spcAft>
                <a:spcPts val="0"/>
              </a:spcAft>
              <a:buClr>
                <a:srgbClr val="002060"/>
              </a:buClr>
              <a:buFont typeface="Wingdings" pitchFamily="2" charset="2"/>
              <a:buChar char="§"/>
              <a:defRPr/>
            </a:pPr>
            <a:r>
              <a:rPr lang="en-US" sz="2200" dirty="0" smtClean="0">
                <a:solidFill>
                  <a:srgbClr val="002060"/>
                </a:solidFill>
                <a:latin typeface="Times New Roman" pitchFamily="18" charset="0"/>
                <a:cs typeface="Times New Roman" pitchFamily="18" charset="0"/>
              </a:rPr>
              <a:t>Diversified  and /or dispersed business activities </a:t>
            </a:r>
          </a:p>
          <a:p>
            <a:pPr marL="636588" lvl="2" indent="-236538" eaLnBrk="1" fontAlgn="auto" hangingPunct="1">
              <a:spcAft>
                <a:spcPts val="0"/>
              </a:spcAft>
              <a:buClr>
                <a:srgbClr val="002060"/>
              </a:buClr>
              <a:buFont typeface="Wingdings" pitchFamily="2" charset="2"/>
              <a:buChar char="§"/>
              <a:defRPr/>
            </a:pPr>
            <a:r>
              <a:rPr lang="en-US" sz="2200" dirty="0" smtClean="0">
                <a:solidFill>
                  <a:srgbClr val="002060"/>
                </a:solidFill>
                <a:latin typeface="Times New Roman" pitchFamily="18" charset="0"/>
                <a:cs typeface="Times New Roman" pitchFamily="18" charset="0"/>
              </a:rPr>
              <a:t>Helps develop subordinates</a:t>
            </a:r>
          </a:p>
          <a:p>
            <a:pPr marL="636588" lvl="2" indent="-236538" eaLnBrk="1" fontAlgn="auto" hangingPunct="1">
              <a:spcAft>
                <a:spcPts val="0"/>
              </a:spcAft>
              <a:buClr>
                <a:srgbClr val="002060"/>
              </a:buClr>
              <a:buFont typeface="Wingdings" pitchFamily="2" charset="2"/>
              <a:buChar char="§"/>
              <a:defRPr/>
            </a:pPr>
            <a:endParaRPr lang="en-US" sz="1000" dirty="0" smtClean="0">
              <a:solidFill>
                <a:srgbClr val="002060"/>
              </a:solidFill>
              <a:latin typeface="Times New Roman" pitchFamily="18" charset="0"/>
              <a:cs typeface="Times New Roman" pitchFamily="18" charset="0"/>
            </a:endParaRPr>
          </a:p>
          <a:p>
            <a:pPr marL="236538" lvl="2" indent="-236538" eaLnBrk="1" fontAlgn="auto" hangingPunct="1">
              <a:spcAft>
                <a:spcPts val="0"/>
              </a:spcAft>
              <a:buClr>
                <a:srgbClr val="002060"/>
              </a:buClr>
              <a:buFont typeface="Wingdings" pitchFamily="2" charset="2"/>
              <a:buChar char="§"/>
              <a:defRPr/>
            </a:pPr>
            <a:r>
              <a:rPr lang="en-US" sz="2200" dirty="0" smtClean="0">
                <a:solidFill>
                  <a:srgbClr val="002060"/>
                </a:solidFill>
                <a:latin typeface="Times New Roman" pitchFamily="18" charset="0"/>
                <a:cs typeface="Times New Roman" pitchFamily="18" charset="0"/>
              </a:rPr>
              <a:t>Problems in delegation are ;</a:t>
            </a:r>
          </a:p>
          <a:p>
            <a:pPr marL="393700" lvl="2" indent="0" eaLnBrk="1" fontAlgn="auto" hangingPunct="1">
              <a:spcAft>
                <a:spcPts val="0"/>
              </a:spcAft>
              <a:buClr>
                <a:srgbClr val="002060"/>
              </a:buClr>
              <a:buFont typeface="Wingdings" pitchFamily="2" charset="2"/>
              <a:buChar char="§"/>
              <a:defRPr/>
            </a:pPr>
            <a:r>
              <a:rPr lang="en-US" sz="2200" dirty="0" smtClean="0">
                <a:solidFill>
                  <a:srgbClr val="002060"/>
                </a:solidFill>
                <a:latin typeface="Times New Roman" pitchFamily="18" charset="0"/>
                <a:cs typeface="Times New Roman" pitchFamily="18" charset="0"/>
              </a:rPr>
              <a:t> Managers may be reluctant to delegate</a:t>
            </a:r>
          </a:p>
          <a:p>
            <a:pPr marL="393700" lvl="2" indent="0" eaLnBrk="1" fontAlgn="auto" hangingPunct="1">
              <a:spcAft>
                <a:spcPts val="0"/>
              </a:spcAft>
              <a:buClr>
                <a:srgbClr val="002060"/>
              </a:buClr>
              <a:buFont typeface="Wingdings" pitchFamily="2" charset="2"/>
              <a:buChar char="§"/>
              <a:defRPr/>
            </a:pPr>
            <a:r>
              <a:rPr lang="en-US" sz="2200" dirty="0" smtClean="0">
                <a:solidFill>
                  <a:srgbClr val="002060"/>
                </a:solidFill>
                <a:latin typeface="Times New Roman" pitchFamily="18" charset="0"/>
                <a:cs typeface="Times New Roman" pitchFamily="18" charset="0"/>
              </a:rPr>
              <a:t> Task cannot be delegated when  managers are </a:t>
            </a:r>
            <a:r>
              <a:rPr lang="en-US" sz="2200" dirty="0" err="1" smtClean="0">
                <a:solidFill>
                  <a:srgbClr val="002060"/>
                </a:solidFill>
                <a:latin typeface="Times New Roman" pitchFamily="18" charset="0"/>
                <a:cs typeface="Times New Roman" pitchFamily="18" charset="0"/>
              </a:rPr>
              <a:t>disorganised</a:t>
            </a:r>
            <a:r>
              <a:rPr lang="en-US" sz="2200" dirty="0" smtClean="0">
                <a:solidFill>
                  <a:srgbClr val="002060"/>
                </a:solidFill>
                <a:latin typeface="Times New Roman" pitchFamily="18" charset="0"/>
                <a:cs typeface="Times New Roman" pitchFamily="18" charset="0"/>
              </a:rPr>
              <a:t> </a:t>
            </a:r>
          </a:p>
          <a:p>
            <a:pPr marL="393700" lvl="2" indent="0" eaLnBrk="1" fontAlgn="auto" hangingPunct="1">
              <a:spcAft>
                <a:spcPts val="0"/>
              </a:spcAft>
              <a:buClr>
                <a:srgbClr val="002060"/>
              </a:buClr>
              <a:buFont typeface="Wingdings" pitchFamily="2" charset="2"/>
              <a:buChar char="§"/>
              <a:defRPr/>
            </a:pPr>
            <a:r>
              <a:rPr lang="en-US" sz="2200" dirty="0" smtClean="0">
                <a:solidFill>
                  <a:srgbClr val="002060"/>
                </a:solidFill>
                <a:latin typeface="Times New Roman" pitchFamily="18" charset="0"/>
                <a:cs typeface="Times New Roman" pitchFamily="18" charset="0"/>
              </a:rPr>
              <a:t> Low / no trust on the subordinates  </a:t>
            </a:r>
          </a:p>
          <a:p>
            <a:pPr marL="393700" lvl="2" indent="0" eaLnBrk="1" fontAlgn="auto" hangingPunct="1">
              <a:spcAft>
                <a:spcPts val="0"/>
              </a:spcAft>
              <a:buClr>
                <a:srgbClr val="002060"/>
              </a:buClr>
              <a:buFont typeface="Wingdings" pitchFamily="2" charset="2"/>
              <a:buChar char="§"/>
              <a:defRPr/>
            </a:pPr>
            <a:r>
              <a:rPr lang="en-US" sz="2200" dirty="0" smtClean="0">
                <a:solidFill>
                  <a:srgbClr val="002060"/>
                </a:solidFill>
                <a:latin typeface="Times New Roman" pitchFamily="18" charset="0"/>
                <a:cs typeface="Times New Roman" pitchFamily="18" charset="0"/>
              </a:rPr>
              <a:t> Subordinates are reluctant to accept delegation</a:t>
            </a:r>
          </a:p>
          <a:p>
            <a:pPr marL="393700" lvl="2" indent="0" eaLnBrk="1" fontAlgn="auto" hangingPunct="1">
              <a:spcAft>
                <a:spcPts val="0"/>
              </a:spcAft>
              <a:buClr>
                <a:srgbClr val="002060"/>
              </a:buClr>
              <a:buFont typeface="Wingdings" pitchFamily="2" charset="2"/>
              <a:buChar char="§"/>
              <a:defRPr/>
            </a:pPr>
            <a:endParaRPr lang="en-US"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50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533400" y="304800"/>
            <a:ext cx="8458200" cy="533400"/>
          </a:xfrm>
        </p:spPr>
        <p:txBody>
          <a:bodyPr rtlCol="0">
            <a:noAutofit/>
          </a:bodyPr>
          <a:lstStyle/>
          <a:p>
            <a:pPr eaLnBrk="1" fontAlgn="auto" hangingPunct="1">
              <a:spcAft>
                <a:spcPts val="0"/>
              </a:spcAft>
              <a:defRPr/>
            </a:pPr>
            <a:r>
              <a:rPr lang="en-US" sz="3500" b="1" dirty="0" smtClean="0">
                <a:solidFill>
                  <a:schemeClr val="accent2">
                    <a:lumMod val="50000"/>
                  </a:schemeClr>
                </a:solidFill>
                <a:latin typeface="Times New Roman" pitchFamily="18" charset="0"/>
                <a:cs typeface="Times New Roman" pitchFamily="18" charset="0"/>
              </a:rPr>
              <a:t>Distributing Authority (Cont…) </a:t>
            </a:r>
            <a:endParaRPr lang="en-US" sz="35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6400800" y="6096000"/>
            <a:ext cx="19812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dirty="0">
                <a:solidFill>
                  <a:srgbClr val="002060"/>
                </a:solidFill>
                <a:latin typeface="Times New Roman" pitchFamily="18" charset="0"/>
                <a:cs typeface="Times New Roman" pitchFamily="18" charset="0"/>
              </a:rPr>
              <a:t>(Griffin , 2012) </a:t>
            </a:r>
            <a:endParaRPr lang="en-US" b="1" i="1"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382000" cy="5105400"/>
          </a:xfrm>
        </p:spPr>
        <p:txBody>
          <a:bodyPr rtlCol="0">
            <a:noAutofit/>
          </a:bodyPr>
          <a:lstStyle/>
          <a:p>
            <a:pPr marL="346075" lvl="1" indent="-346075" eaLnBrk="1" fontAlgn="auto" hangingPunct="1">
              <a:spcAft>
                <a:spcPts val="0"/>
              </a:spcAft>
              <a:buClr>
                <a:srgbClr val="002060"/>
              </a:buClr>
              <a:buFont typeface="Arial" charset="0"/>
              <a:buNone/>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Arial" charset="0"/>
              <a:buNone/>
              <a:defRPr/>
            </a:pPr>
            <a:endParaRPr lang="en-US" sz="800" b="1" u="sng" dirty="0" smtClean="0">
              <a:solidFill>
                <a:schemeClr val="accent2">
                  <a:lumMod val="50000"/>
                </a:schemeClr>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The barriers to delegation could be overcome by ;</a:t>
            </a:r>
          </a:p>
          <a:p>
            <a:pPr marL="236538" lvl="1" indent="-236538" eaLnBrk="1" fontAlgn="auto" hangingPunct="1">
              <a:spcAft>
                <a:spcPts val="0"/>
              </a:spcAft>
              <a:buClr>
                <a:srgbClr val="002060"/>
              </a:buClr>
              <a:buFont typeface="Arial" charset="0"/>
              <a:buNone/>
              <a:defRPr/>
            </a:pPr>
            <a:endParaRPr lang="en-US" sz="800" dirty="0" smtClean="0">
              <a:solidFill>
                <a:srgbClr val="002060"/>
              </a:solidFill>
              <a:latin typeface="Times New Roman" pitchFamily="18" charset="0"/>
              <a:cs typeface="Times New Roman" pitchFamily="18" charset="0"/>
            </a:endParaRPr>
          </a:p>
          <a:p>
            <a:pPr marL="914400" lvl="1" indent="-284163"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Delegating the whole task</a:t>
            </a:r>
          </a:p>
          <a:p>
            <a:pPr marL="914400" lvl="1" indent="-284163"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914400" lvl="1" indent="-284163"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Selecting the right person</a:t>
            </a:r>
          </a:p>
          <a:p>
            <a:pPr marL="914400" lvl="1" indent="-284163"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914400" lvl="1" indent="-284163"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Ensuring that authority equals responsibility</a:t>
            </a:r>
          </a:p>
          <a:p>
            <a:pPr marL="914400" lvl="1" indent="-284163"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914400" lvl="1" indent="-284163"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Giving thorough instructions</a:t>
            </a:r>
          </a:p>
          <a:p>
            <a:pPr marL="914400" lvl="1" indent="-284163"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914400" lvl="1" indent="-284163"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Maintaining feedback</a:t>
            </a:r>
          </a:p>
          <a:p>
            <a:pPr marL="914400" lvl="1" indent="-284163"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914400" lvl="1" indent="-284163"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Evaluating and rewarding performance   </a:t>
            </a:r>
          </a:p>
          <a:p>
            <a:pPr marL="393700" lvl="2" indent="0" eaLnBrk="1" fontAlgn="auto" hangingPunct="1">
              <a:spcAft>
                <a:spcPts val="0"/>
              </a:spcAft>
              <a:buClr>
                <a:srgbClr val="002060"/>
              </a:buClr>
              <a:buFont typeface="Wingdings" pitchFamily="2" charset="2"/>
              <a:buChar char="§"/>
              <a:defRPr/>
            </a:pPr>
            <a:endParaRPr lang="en-US"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50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457200" y="457200"/>
            <a:ext cx="8458200" cy="533400"/>
          </a:xfrm>
        </p:spPr>
        <p:txBody>
          <a:bodyPr rtlCol="0">
            <a:no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Distributing Authority (Cont…) </a:t>
            </a:r>
            <a:endParaRPr lang="en-US" sz="3600" b="1" dirty="0">
              <a:solidFill>
                <a:schemeClr val="accent2">
                  <a:lumMod val="50000"/>
                </a:schemeClr>
              </a:solidFill>
              <a:latin typeface="Times New Roman" pitchFamily="18" charset="0"/>
              <a:cs typeface="Times New Roman" pitchFamily="18" charset="0"/>
            </a:endParaRPr>
          </a:p>
        </p:txBody>
      </p:sp>
      <p:sp>
        <p:nvSpPr>
          <p:cNvPr id="10" name="Rectangle 9"/>
          <p:cNvSpPr/>
          <p:nvPr/>
        </p:nvSpPr>
        <p:spPr>
          <a:xfrm>
            <a:off x="5410200" y="5562600"/>
            <a:ext cx="2971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dirty="0">
                <a:solidFill>
                  <a:srgbClr val="002060"/>
                </a:solidFill>
                <a:latin typeface="Times New Roman" pitchFamily="18" charset="0"/>
                <a:cs typeface="Times New Roman" pitchFamily="18" charset="0"/>
              </a:rPr>
              <a:t>(Daft , 2012) </a:t>
            </a:r>
            <a:endParaRPr lang="en-US" b="1" i="1"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8763000" cy="533400"/>
          </a:xfrm>
        </p:spPr>
        <p:txBody>
          <a:bodyPr rtlCol="0">
            <a:noAutofit/>
          </a:bodyPr>
          <a:lstStyle/>
          <a:p>
            <a:pPr marL="346075" lvl="1" indent="-346075" eaLnBrk="1" fontAlgn="auto" hangingPunct="1">
              <a:spcAft>
                <a:spcPts val="0"/>
              </a:spcAft>
              <a:buClr>
                <a:srgbClr val="002060"/>
              </a:buClr>
              <a:buFont typeface="Arial" charset="0"/>
              <a:buNone/>
              <a:defRPr/>
            </a:pPr>
            <a:r>
              <a:rPr lang="en-US" sz="2600" b="1" u="sng" dirty="0" smtClean="0">
                <a:solidFill>
                  <a:schemeClr val="accent2">
                    <a:lumMod val="50000"/>
                  </a:schemeClr>
                </a:solidFill>
                <a:latin typeface="Times New Roman" pitchFamily="18" charset="0"/>
                <a:cs typeface="Times New Roman" pitchFamily="18" charset="0"/>
              </a:rPr>
              <a:t>The Delegation Process</a:t>
            </a:r>
          </a:p>
          <a:p>
            <a:pPr marL="346075" lvl="1" indent="-346075" eaLnBrk="1" fontAlgn="auto" hangingPunct="1">
              <a:spcAft>
                <a:spcPts val="0"/>
              </a:spcAft>
              <a:buClr>
                <a:srgbClr val="002060"/>
              </a:buClr>
              <a:buFont typeface="Wingdings" pitchFamily="2" charset="2"/>
              <a:buChar char="§"/>
              <a:defRPr/>
            </a:pPr>
            <a:endParaRPr lang="en-US" sz="50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304800" y="228600"/>
            <a:ext cx="8458200" cy="533400"/>
          </a:xfrm>
        </p:spPr>
        <p:txBody>
          <a:bodyPr rtlCol="0">
            <a:no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Distributing Authority (Cont…) </a:t>
            </a:r>
            <a:endParaRPr lang="en-US" sz="36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5486400" y="6019800"/>
            <a:ext cx="2971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dirty="0">
                <a:solidFill>
                  <a:srgbClr val="002060"/>
                </a:solidFill>
                <a:latin typeface="Times New Roman" pitchFamily="18" charset="0"/>
                <a:cs typeface="Times New Roman" pitchFamily="18" charset="0"/>
              </a:rPr>
              <a:t>(Griffin , 2012) </a:t>
            </a:r>
            <a:endParaRPr lang="en-US" b="1" i="1" dirty="0"/>
          </a:p>
        </p:txBody>
      </p:sp>
      <p:grpSp>
        <p:nvGrpSpPr>
          <p:cNvPr id="2" name="Group 3"/>
          <p:cNvGrpSpPr>
            <a:grpSpLocks/>
          </p:cNvGrpSpPr>
          <p:nvPr/>
        </p:nvGrpSpPr>
        <p:grpSpPr bwMode="auto">
          <a:xfrm>
            <a:off x="914400" y="2286000"/>
            <a:ext cx="7315200" cy="3429000"/>
            <a:chOff x="588" y="926"/>
            <a:chExt cx="4458" cy="2722"/>
          </a:xfrm>
        </p:grpSpPr>
        <p:sp>
          <p:nvSpPr>
            <p:cNvPr id="36875" name="Rectangle 4"/>
            <p:cNvSpPr>
              <a:spLocks noChangeArrowheads="1"/>
            </p:cNvSpPr>
            <p:nvPr/>
          </p:nvSpPr>
          <p:spPr bwMode="auto">
            <a:xfrm>
              <a:off x="588" y="1559"/>
              <a:ext cx="1261" cy="732"/>
            </a:xfrm>
            <a:prstGeom prst="rect">
              <a:avLst/>
            </a:prstGeom>
            <a:solidFill>
              <a:srgbClr val="FED95E"/>
            </a:solidFill>
            <a:ln w="3175">
              <a:solidFill>
                <a:srgbClr val="FED95E"/>
              </a:solidFill>
              <a:miter lim="800000"/>
              <a:headEnd/>
              <a:tailEnd/>
            </a:ln>
          </p:spPr>
          <p:txBody>
            <a:bodyPr/>
            <a:lstStyle/>
            <a:p>
              <a:endParaRPr lang="en-US"/>
            </a:p>
          </p:txBody>
        </p:sp>
        <p:sp>
          <p:nvSpPr>
            <p:cNvPr id="36876" name="Rectangle 5"/>
            <p:cNvSpPr>
              <a:spLocks noChangeArrowheads="1"/>
            </p:cNvSpPr>
            <p:nvPr/>
          </p:nvSpPr>
          <p:spPr bwMode="auto">
            <a:xfrm>
              <a:off x="868" y="1839"/>
              <a:ext cx="565"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b="1">
                  <a:solidFill>
                    <a:srgbClr val="000000"/>
                  </a:solidFill>
                  <a:latin typeface="Times New Roman" pitchFamily="18" charset="0"/>
                  <a:cs typeface="Times New Roman" pitchFamily="18" charset="0"/>
                </a:rPr>
                <a:t>Manager</a:t>
              </a:r>
              <a:endParaRPr lang="en-US" b="1">
                <a:latin typeface="Times New Roman" pitchFamily="18" charset="0"/>
                <a:cs typeface="Times New Roman" pitchFamily="18" charset="0"/>
              </a:endParaRPr>
            </a:p>
          </p:txBody>
        </p:sp>
        <p:sp>
          <p:nvSpPr>
            <p:cNvPr id="36877" name="Rectangle 6"/>
            <p:cNvSpPr>
              <a:spLocks noChangeArrowheads="1"/>
            </p:cNvSpPr>
            <p:nvPr/>
          </p:nvSpPr>
          <p:spPr bwMode="auto">
            <a:xfrm>
              <a:off x="1056" y="926"/>
              <a:ext cx="341"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b="1">
                  <a:solidFill>
                    <a:srgbClr val="000000"/>
                  </a:solidFill>
                  <a:latin typeface="Times New Roman" pitchFamily="18" charset="0"/>
                  <a:cs typeface="Times New Roman" pitchFamily="18" charset="0"/>
                </a:rPr>
                <a:t>Step 1</a:t>
              </a:r>
              <a:endParaRPr lang="en-US" sz="1600" b="1">
                <a:latin typeface="Times New Roman" pitchFamily="18" charset="0"/>
                <a:cs typeface="Times New Roman" pitchFamily="18" charset="0"/>
              </a:endParaRPr>
            </a:p>
          </p:txBody>
        </p:sp>
        <p:sp>
          <p:nvSpPr>
            <p:cNvPr id="36878" name="Rectangle 7"/>
            <p:cNvSpPr>
              <a:spLocks noChangeArrowheads="1"/>
            </p:cNvSpPr>
            <p:nvPr/>
          </p:nvSpPr>
          <p:spPr bwMode="auto">
            <a:xfrm>
              <a:off x="726" y="1104"/>
              <a:ext cx="960"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600" b="1">
                  <a:solidFill>
                    <a:srgbClr val="000000"/>
                  </a:solidFill>
                  <a:latin typeface="Times New Roman" pitchFamily="18" charset="0"/>
                  <a:cs typeface="Times New Roman" pitchFamily="18" charset="0"/>
                </a:rPr>
                <a:t>Assigning</a:t>
              </a:r>
              <a:br>
                <a:rPr lang="en-US" sz="1600" b="1">
                  <a:solidFill>
                    <a:srgbClr val="000000"/>
                  </a:solidFill>
                  <a:latin typeface="Times New Roman" pitchFamily="18" charset="0"/>
                  <a:cs typeface="Times New Roman" pitchFamily="18" charset="0"/>
                </a:rPr>
              </a:br>
              <a:r>
                <a:rPr lang="en-US" sz="1600" b="1">
                  <a:solidFill>
                    <a:srgbClr val="000000"/>
                  </a:solidFill>
                  <a:latin typeface="Times New Roman" pitchFamily="18" charset="0"/>
                  <a:cs typeface="Times New Roman" pitchFamily="18" charset="0"/>
                </a:rPr>
                <a:t>responsibility</a:t>
              </a:r>
              <a:endParaRPr lang="en-US" sz="1600" b="1">
                <a:latin typeface="Times New Roman" pitchFamily="18" charset="0"/>
                <a:cs typeface="Times New Roman" pitchFamily="18" charset="0"/>
              </a:endParaRPr>
            </a:p>
          </p:txBody>
        </p:sp>
        <p:sp>
          <p:nvSpPr>
            <p:cNvPr id="36879" name="Rectangle 8"/>
            <p:cNvSpPr>
              <a:spLocks noChangeArrowheads="1"/>
            </p:cNvSpPr>
            <p:nvPr/>
          </p:nvSpPr>
          <p:spPr bwMode="auto">
            <a:xfrm>
              <a:off x="4128" y="926"/>
              <a:ext cx="341"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b="1">
                  <a:solidFill>
                    <a:srgbClr val="000000"/>
                  </a:solidFill>
                  <a:latin typeface="Times New Roman" pitchFamily="18" charset="0"/>
                  <a:cs typeface="Times New Roman" pitchFamily="18" charset="0"/>
                </a:rPr>
                <a:t>Step 3</a:t>
              </a:r>
              <a:endParaRPr lang="en-US" sz="1600" b="1">
                <a:latin typeface="Times New Roman" pitchFamily="18" charset="0"/>
                <a:cs typeface="Times New Roman" pitchFamily="18" charset="0"/>
              </a:endParaRPr>
            </a:p>
          </p:txBody>
        </p:sp>
        <p:sp>
          <p:nvSpPr>
            <p:cNvPr id="36880" name="Rectangle 9"/>
            <p:cNvSpPr>
              <a:spLocks noChangeArrowheads="1"/>
            </p:cNvSpPr>
            <p:nvPr/>
          </p:nvSpPr>
          <p:spPr bwMode="auto">
            <a:xfrm>
              <a:off x="3890" y="1104"/>
              <a:ext cx="785"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b="1">
                  <a:solidFill>
                    <a:srgbClr val="000000"/>
                  </a:solidFill>
                  <a:latin typeface="Times New Roman" pitchFamily="18" charset="0"/>
                  <a:cs typeface="Times New Roman" pitchFamily="18" charset="0"/>
                </a:rPr>
                <a:t>Creating</a:t>
              </a:r>
              <a:br>
                <a:rPr lang="en-US" sz="1600" b="1">
                  <a:solidFill>
                    <a:srgbClr val="000000"/>
                  </a:solidFill>
                  <a:latin typeface="Times New Roman" pitchFamily="18" charset="0"/>
                  <a:cs typeface="Times New Roman" pitchFamily="18" charset="0"/>
                </a:rPr>
              </a:br>
              <a:r>
                <a:rPr lang="en-US" sz="1600" b="1">
                  <a:solidFill>
                    <a:srgbClr val="000000"/>
                  </a:solidFill>
                  <a:latin typeface="Times New Roman" pitchFamily="18" charset="0"/>
                  <a:cs typeface="Times New Roman" pitchFamily="18" charset="0"/>
                </a:rPr>
                <a:t>accountability</a:t>
              </a:r>
              <a:endParaRPr lang="en-US" sz="1600" b="1">
                <a:latin typeface="Times New Roman" pitchFamily="18" charset="0"/>
                <a:cs typeface="Times New Roman" pitchFamily="18" charset="0"/>
              </a:endParaRPr>
            </a:p>
          </p:txBody>
        </p:sp>
        <p:sp>
          <p:nvSpPr>
            <p:cNvPr id="36881" name="Rectangle 10"/>
            <p:cNvSpPr>
              <a:spLocks noChangeArrowheads="1"/>
            </p:cNvSpPr>
            <p:nvPr/>
          </p:nvSpPr>
          <p:spPr bwMode="auto">
            <a:xfrm>
              <a:off x="2592" y="926"/>
              <a:ext cx="341"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b="1">
                  <a:solidFill>
                    <a:srgbClr val="000000"/>
                  </a:solidFill>
                  <a:latin typeface="Times New Roman" pitchFamily="18" charset="0"/>
                  <a:cs typeface="Times New Roman" pitchFamily="18" charset="0"/>
                </a:rPr>
                <a:t>Step 2</a:t>
              </a:r>
              <a:endParaRPr lang="en-US" sz="1600" b="1">
                <a:latin typeface="Times New Roman" pitchFamily="18" charset="0"/>
                <a:cs typeface="Times New Roman" pitchFamily="18" charset="0"/>
              </a:endParaRPr>
            </a:p>
          </p:txBody>
        </p:sp>
        <p:sp>
          <p:nvSpPr>
            <p:cNvPr id="36882" name="Rectangle 11"/>
            <p:cNvSpPr>
              <a:spLocks noChangeArrowheads="1"/>
            </p:cNvSpPr>
            <p:nvPr/>
          </p:nvSpPr>
          <p:spPr bwMode="auto">
            <a:xfrm>
              <a:off x="2406" y="1104"/>
              <a:ext cx="864"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600" b="1">
                  <a:solidFill>
                    <a:srgbClr val="000000"/>
                  </a:solidFill>
                  <a:latin typeface="Times New Roman" pitchFamily="18" charset="0"/>
                  <a:cs typeface="Times New Roman" pitchFamily="18" charset="0"/>
                </a:rPr>
                <a:t>Granting</a:t>
              </a:r>
              <a:br>
                <a:rPr lang="en-US" sz="1600" b="1">
                  <a:solidFill>
                    <a:srgbClr val="000000"/>
                  </a:solidFill>
                  <a:latin typeface="Times New Roman" pitchFamily="18" charset="0"/>
                  <a:cs typeface="Times New Roman" pitchFamily="18" charset="0"/>
                </a:rPr>
              </a:br>
              <a:r>
                <a:rPr lang="en-US" sz="1600" b="1">
                  <a:solidFill>
                    <a:srgbClr val="000000"/>
                  </a:solidFill>
                  <a:latin typeface="Times New Roman" pitchFamily="18" charset="0"/>
                  <a:cs typeface="Times New Roman" pitchFamily="18" charset="0"/>
                </a:rPr>
                <a:t>authority</a:t>
              </a:r>
              <a:endParaRPr lang="en-US" sz="1600" b="1">
                <a:latin typeface="Times New Roman" pitchFamily="18" charset="0"/>
                <a:cs typeface="Times New Roman" pitchFamily="18" charset="0"/>
              </a:endParaRPr>
            </a:p>
          </p:txBody>
        </p:sp>
        <p:sp>
          <p:nvSpPr>
            <p:cNvPr id="36883" name="Rectangle 12"/>
            <p:cNvSpPr>
              <a:spLocks noChangeArrowheads="1"/>
            </p:cNvSpPr>
            <p:nvPr/>
          </p:nvSpPr>
          <p:spPr bwMode="auto">
            <a:xfrm>
              <a:off x="2502" y="1839"/>
              <a:ext cx="45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400" b="1">
                  <a:solidFill>
                    <a:srgbClr val="000000"/>
                  </a:solidFill>
                </a:rPr>
                <a:t>Manager</a:t>
              </a:r>
              <a:endParaRPr lang="en-US" sz="1400" b="1"/>
            </a:p>
          </p:txBody>
        </p:sp>
        <p:sp>
          <p:nvSpPr>
            <p:cNvPr id="36884" name="Freeform 13"/>
            <p:cNvSpPr>
              <a:spLocks/>
            </p:cNvSpPr>
            <p:nvPr/>
          </p:nvSpPr>
          <p:spPr bwMode="auto">
            <a:xfrm>
              <a:off x="1849" y="1559"/>
              <a:ext cx="64" cy="808"/>
            </a:xfrm>
            <a:custGeom>
              <a:avLst/>
              <a:gdLst>
                <a:gd name="T0" fmla="*/ 3651535 w 38"/>
                <a:gd name="T1" fmla="*/ 2147483647 h 390"/>
                <a:gd name="T2" fmla="*/ 3651535 w 38"/>
                <a:gd name="T3" fmla="*/ 348337560 h 390"/>
                <a:gd name="T4" fmla="*/ 0 w 38"/>
                <a:gd name="T5" fmla="*/ 0 h 390"/>
                <a:gd name="T6" fmla="*/ 0 w 38"/>
                <a:gd name="T7" fmla="*/ 2147483647 h 390"/>
                <a:gd name="T8" fmla="*/ 3651535 w 38"/>
                <a:gd name="T9" fmla="*/ 2147483647 h 390"/>
                <a:gd name="T10" fmla="*/ 0 60000 65536"/>
                <a:gd name="T11" fmla="*/ 0 60000 65536"/>
                <a:gd name="T12" fmla="*/ 0 60000 65536"/>
                <a:gd name="T13" fmla="*/ 0 60000 65536"/>
                <a:gd name="T14" fmla="*/ 0 60000 65536"/>
                <a:gd name="T15" fmla="*/ 0 w 38"/>
                <a:gd name="T16" fmla="*/ 0 h 390"/>
                <a:gd name="T17" fmla="*/ 38 w 38"/>
                <a:gd name="T18" fmla="*/ 390 h 390"/>
              </a:gdLst>
              <a:ahLst/>
              <a:cxnLst>
                <a:cxn ang="T10">
                  <a:pos x="T0" y="T1"/>
                </a:cxn>
                <a:cxn ang="T11">
                  <a:pos x="T2" y="T3"/>
                </a:cxn>
                <a:cxn ang="T12">
                  <a:pos x="T4" y="T5"/>
                </a:cxn>
                <a:cxn ang="T13">
                  <a:pos x="T6" y="T7"/>
                </a:cxn>
                <a:cxn ang="T14">
                  <a:pos x="T8" y="T9"/>
                </a:cxn>
              </a:cxnLst>
              <a:rect l="T15" t="T16" r="T17" b="T18"/>
              <a:pathLst>
                <a:path w="38" h="390">
                  <a:moveTo>
                    <a:pt x="38" y="390"/>
                  </a:moveTo>
                  <a:lnTo>
                    <a:pt x="38" y="38"/>
                  </a:lnTo>
                  <a:lnTo>
                    <a:pt x="0" y="0"/>
                  </a:lnTo>
                  <a:lnTo>
                    <a:pt x="0" y="353"/>
                  </a:lnTo>
                  <a:lnTo>
                    <a:pt x="38" y="390"/>
                  </a:lnTo>
                  <a:close/>
                </a:path>
              </a:pathLst>
            </a:custGeom>
            <a:solidFill>
              <a:srgbClr val="D8B9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85" name="Freeform 14"/>
            <p:cNvSpPr>
              <a:spLocks/>
            </p:cNvSpPr>
            <p:nvPr/>
          </p:nvSpPr>
          <p:spPr bwMode="auto">
            <a:xfrm>
              <a:off x="588" y="2291"/>
              <a:ext cx="1325" cy="76"/>
            </a:xfrm>
            <a:custGeom>
              <a:avLst/>
              <a:gdLst>
                <a:gd name="T0" fmla="*/ 67406147 w 789"/>
                <a:gd name="T1" fmla="*/ 0 h 37"/>
                <a:gd name="T2" fmla="*/ 0 w 789"/>
                <a:gd name="T3" fmla="*/ 0 h 37"/>
                <a:gd name="T4" fmla="*/ 3405153 w 789"/>
                <a:gd name="T5" fmla="*/ 278446999 h 37"/>
                <a:gd name="T6" fmla="*/ 70826468 w 789"/>
                <a:gd name="T7" fmla="*/ 278446999 h 37"/>
                <a:gd name="T8" fmla="*/ 67406147 w 789"/>
                <a:gd name="T9" fmla="*/ 0 h 37"/>
                <a:gd name="T10" fmla="*/ 0 60000 65536"/>
                <a:gd name="T11" fmla="*/ 0 60000 65536"/>
                <a:gd name="T12" fmla="*/ 0 60000 65536"/>
                <a:gd name="T13" fmla="*/ 0 60000 65536"/>
                <a:gd name="T14" fmla="*/ 0 60000 65536"/>
                <a:gd name="T15" fmla="*/ 0 w 789"/>
                <a:gd name="T16" fmla="*/ 0 h 37"/>
                <a:gd name="T17" fmla="*/ 789 w 789"/>
                <a:gd name="T18" fmla="*/ 37 h 37"/>
              </a:gdLst>
              <a:ahLst/>
              <a:cxnLst>
                <a:cxn ang="T10">
                  <a:pos x="T0" y="T1"/>
                </a:cxn>
                <a:cxn ang="T11">
                  <a:pos x="T2" y="T3"/>
                </a:cxn>
                <a:cxn ang="T12">
                  <a:pos x="T4" y="T5"/>
                </a:cxn>
                <a:cxn ang="T13">
                  <a:pos x="T6" y="T7"/>
                </a:cxn>
                <a:cxn ang="T14">
                  <a:pos x="T8" y="T9"/>
                </a:cxn>
              </a:cxnLst>
              <a:rect l="T15" t="T16" r="T17" b="T18"/>
              <a:pathLst>
                <a:path w="789" h="37">
                  <a:moveTo>
                    <a:pt x="751" y="0"/>
                  </a:moveTo>
                  <a:lnTo>
                    <a:pt x="0" y="0"/>
                  </a:lnTo>
                  <a:lnTo>
                    <a:pt x="38" y="37"/>
                  </a:lnTo>
                  <a:lnTo>
                    <a:pt x="789" y="37"/>
                  </a:lnTo>
                  <a:lnTo>
                    <a:pt x="751" y="0"/>
                  </a:lnTo>
                  <a:close/>
                </a:path>
              </a:pathLst>
            </a:custGeom>
            <a:solidFill>
              <a:srgbClr val="B298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86" name="Rectangle 15"/>
            <p:cNvSpPr>
              <a:spLocks noChangeArrowheads="1"/>
            </p:cNvSpPr>
            <p:nvPr/>
          </p:nvSpPr>
          <p:spPr bwMode="auto">
            <a:xfrm>
              <a:off x="588" y="2838"/>
              <a:ext cx="1261" cy="731"/>
            </a:xfrm>
            <a:prstGeom prst="rect">
              <a:avLst/>
            </a:prstGeom>
            <a:solidFill>
              <a:srgbClr val="FFF2AE"/>
            </a:solidFill>
            <a:ln w="3175">
              <a:solidFill>
                <a:srgbClr val="FFF2AE"/>
              </a:solidFill>
              <a:miter lim="800000"/>
              <a:headEnd/>
              <a:tailEnd/>
            </a:ln>
          </p:spPr>
          <p:txBody>
            <a:bodyPr/>
            <a:lstStyle/>
            <a:p>
              <a:endParaRPr lang="en-US"/>
            </a:p>
          </p:txBody>
        </p:sp>
        <p:sp>
          <p:nvSpPr>
            <p:cNvPr id="36887" name="Rectangle 16"/>
            <p:cNvSpPr>
              <a:spLocks noChangeArrowheads="1"/>
            </p:cNvSpPr>
            <p:nvPr/>
          </p:nvSpPr>
          <p:spPr bwMode="auto">
            <a:xfrm>
              <a:off x="792" y="3113"/>
              <a:ext cx="76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b="1">
                  <a:solidFill>
                    <a:srgbClr val="000000"/>
                  </a:solidFill>
                  <a:latin typeface="Times New Roman" pitchFamily="18" charset="0"/>
                  <a:cs typeface="Times New Roman" pitchFamily="18" charset="0"/>
                </a:rPr>
                <a:t>Subordinate</a:t>
              </a:r>
              <a:endParaRPr lang="en-US" b="1">
                <a:latin typeface="Times New Roman" pitchFamily="18" charset="0"/>
                <a:cs typeface="Times New Roman" pitchFamily="18" charset="0"/>
              </a:endParaRPr>
            </a:p>
          </p:txBody>
        </p:sp>
        <p:sp>
          <p:nvSpPr>
            <p:cNvPr id="36888" name="Freeform 17"/>
            <p:cNvSpPr>
              <a:spLocks/>
            </p:cNvSpPr>
            <p:nvPr/>
          </p:nvSpPr>
          <p:spPr bwMode="auto">
            <a:xfrm>
              <a:off x="1849" y="2838"/>
              <a:ext cx="64" cy="810"/>
            </a:xfrm>
            <a:custGeom>
              <a:avLst/>
              <a:gdLst>
                <a:gd name="T0" fmla="*/ 3651535 w 38"/>
                <a:gd name="T1" fmla="*/ 2147483647 h 391"/>
                <a:gd name="T2" fmla="*/ 3651535 w 38"/>
                <a:gd name="T3" fmla="*/ 347472986 h 391"/>
                <a:gd name="T4" fmla="*/ 0 w 38"/>
                <a:gd name="T5" fmla="*/ 0 h 391"/>
                <a:gd name="T6" fmla="*/ 0 w 38"/>
                <a:gd name="T7" fmla="*/ 2147483647 h 391"/>
                <a:gd name="T8" fmla="*/ 3651535 w 38"/>
                <a:gd name="T9" fmla="*/ 2147483647 h 391"/>
                <a:gd name="T10" fmla="*/ 0 60000 65536"/>
                <a:gd name="T11" fmla="*/ 0 60000 65536"/>
                <a:gd name="T12" fmla="*/ 0 60000 65536"/>
                <a:gd name="T13" fmla="*/ 0 60000 65536"/>
                <a:gd name="T14" fmla="*/ 0 60000 65536"/>
                <a:gd name="T15" fmla="*/ 0 w 38"/>
                <a:gd name="T16" fmla="*/ 0 h 391"/>
                <a:gd name="T17" fmla="*/ 38 w 38"/>
                <a:gd name="T18" fmla="*/ 391 h 391"/>
              </a:gdLst>
              <a:ahLst/>
              <a:cxnLst>
                <a:cxn ang="T10">
                  <a:pos x="T0" y="T1"/>
                </a:cxn>
                <a:cxn ang="T11">
                  <a:pos x="T2" y="T3"/>
                </a:cxn>
                <a:cxn ang="T12">
                  <a:pos x="T4" y="T5"/>
                </a:cxn>
                <a:cxn ang="T13">
                  <a:pos x="T6" y="T7"/>
                </a:cxn>
                <a:cxn ang="T14">
                  <a:pos x="T8" y="T9"/>
                </a:cxn>
              </a:cxnLst>
              <a:rect l="T15" t="T16" r="T17" b="T18"/>
              <a:pathLst>
                <a:path w="38" h="391">
                  <a:moveTo>
                    <a:pt x="38" y="391"/>
                  </a:moveTo>
                  <a:lnTo>
                    <a:pt x="38" y="38"/>
                  </a:lnTo>
                  <a:lnTo>
                    <a:pt x="0" y="0"/>
                  </a:lnTo>
                  <a:lnTo>
                    <a:pt x="0" y="353"/>
                  </a:lnTo>
                  <a:lnTo>
                    <a:pt x="38" y="391"/>
                  </a:lnTo>
                  <a:close/>
                </a:path>
              </a:pathLst>
            </a:custGeom>
            <a:solidFill>
              <a:srgbClr val="D9CE9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89" name="Freeform 18"/>
            <p:cNvSpPr>
              <a:spLocks/>
            </p:cNvSpPr>
            <p:nvPr/>
          </p:nvSpPr>
          <p:spPr bwMode="auto">
            <a:xfrm>
              <a:off x="588" y="3569"/>
              <a:ext cx="1325" cy="79"/>
            </a:xfrm>
            <a:custGeom>
              <a:avLst/>
              <a:gdLst>
                <a:gd name="T0" fmla="*/ 67406147 w 789"/>
                <a:gd name="T1" fmla="*/ 0 h 38"/>
                <a:gd name="T2" fmla="*/ 0 w 789"/>
                <a:gd name="T3" fmla="*/ 0 h 38"/>
                <a:gd name="T4" fmla="*/ 3405153 w 789"/>
                <a:gd name="T5" fmla="*/ 373064494 h 38"/>
                <a:gd name="T6" fmla="*/ 70826468 w 789"/>
                <a:gd name="T7" fmla="*/ 373064494 h 38"/>
                <a:gd name="T8" fmla="*/ 67406147 w 789"/>
                <a:gd name="T9" fmla="*/ 0 h 38"/>
                <a:gd name="T10" fmla="*/ 0 60000 65536"/>
                <a:gd name="T11" fmla="*/ 0 60000 65536"/>
                <a:gd name="T12" fmla="*/ 0 60000 65536"/>
                <a:gd name="T13" fmla="*/ 0 60000 65536"/>
                <a:gd name="T14" fmla="*/ 0 60000 65536"/>
                <a:gd name="T15" fmla="*/ 0 w 789"/>
                <a:gd name="T16" fmla="*/ 0 h 38"/>
                <a:gd name="T17" fmla="*/ 789 w 789"/>
                <a:gd name="T18" fmla="*/ 38 h 38"/>
              </a:gdLst>
              <a:ahLst/>
              <a:cxnLst>
                <a:cxn ang="T10">
                  <a:pos x="T0" y="T1"/>
                </a:cxn>
                <a:cxn ang="T11">
                  <a:pos x="T2" y="T3"/>
                </a:cxn>
                <a:cxn ang="T12">
                  <a:pos x="T4" y="T5"/>
                </a:cxn>
                <a:cxn ang="T13">
                  <a:pos x="T6" y="T7"/>
                </a:cxn>
                <a:cxn ang="T14">
                  <a:pos x="T8" y="T9"/>
                </a:cxn>
              </a:cxnLst>
              <a:rect l="T15" t="T16" r="T17" b="T18"/>
              <a:pathLst>
                <a:path w="789" h="38">
                  <a:moveTo>
                    <a:pt x="751" y="0"/>
                  </a:moveTo>
                  <a:lnTo>
                    <a:pt x="0" y="0"/>
                  </a:lnTo>
                  <a:lnTo>
                    <a:pt x="38" y="38"/>
                  </a:lnTo>
                  <a:lnTo>
                    <a:pt x="789" y="38"/>
                  </a:lnTo>
                  <a:lnTo>
                    <a:pt x="751" y="0"/>
                  </a:lnTo>
                  <a:close/>
                </a:path>
              </a:pathLst>
            </a:custGeom>
            <a:solidFill>
              <a:srgbClr val="B3AA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90" name="Freeform 19"/>
            <p:cNvSpPr>
              <a:spLocks/>
            </p:cNvSpPr>
            <p:nvPr/>
          </p:nvSpPr>
          <p:spPr bwMode="auto">
            <a:xfrm>
              <a:off x="2551" y="2740"/>
              <a:ext cx="87" cy="98"/>
            </a:xfrm>
            <a:custGeom>
              <a:avLst/>
              <a:gdLst>
                <a:gd name="T0" fmla="*/ 4307338 w 52"/>
                <a:gd name="T1" fmla="*/ 0 h 47"/>
                <a:gd name="T2" fmla="*/ 2182571 w 52"/>
                <a:gd name="T3" fmla="*/ 491618209 h 47"/>
                <a:gd name="T4" fmla="*/ 0 w 52"/>
                <a:gd name="T5" fmla="*/ 0 h 47"/>
                <a:gd name="T6" fmla="*/ 4307338 w 52"/>
                <a:gd name="T7" fmla="*/ 0 h 47"/>
                <a:gd name="T8" fmla="*/ 0 60000 65536"/>
                <a:gd name="T9" fmla="*/ 0 60000 65536"/>
                <a:gd name="T10" fmla="*/ 0 60000 65536"/>
                <a:gd name="T11" fmla="*/ 0 60000 65536"/>
                <a:gd name="T12" fmla="*/ 0 w 52"/>
                <a:gd name="T13" fmla="*/ 0 h 47"/>
                <a:gd name="T14" fmla="*/ 52 w 52"/>
                <a:gd name="T15" fmla="*/ 47 h 47"/>
              </a:gdLst>
              <a:ahLst/>
              <a:cxnLst>
                <a:cxn ang="T8">
                  <a:pos x="T0" y="T1"/>
                </a:cxn>
                <a:cxn ang="T9">
                  <a:pos x="T2" y="T3"/>
                </a:cxn>
                <a:cxn ang="T10">
                  <a:pos x="T4" y="T5"/>
                </a:cxn>
                <a:cxn ang="T11">
                  <a:pos x="T6" y="T7"/>
                </a:cxn>
              </a:cxnLst>
              <a:rect l="T12" t="T13" r="T14" b="T15"/>
              <a:pathLst>
                <a:path w="52" h="47">
                  <a:moveTo>
                    <a:pt x="52" y="0"/>
                  </a:moveTo>
                  <a:lnTo>
                    <a:pt x="26" y="47"/>
                  </a:lnTo>
                  <a:lnTo>
                    <a:pt x="0" y="0"/>
                  </a:lnTo>
                  <a:lnTo>
                    <a:pt x="52"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91" name="Line 20"/>
            <p:cNvSpPr>
              <a:spLocks noChangeShapeType="1"/>
            </p:cNvSpPr>
            <p:nvPr/>
          </p:nvSpPr>
          <p:spPr bwMode="auto">
            <a:xfrm>
              <a:off x="2594" y="2328"/>
              <a:ext cx="2" cy="433"/>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2" name="Freeform 21"/>
            <p:cNvSpPr>
              <a:spLocks/>
            </p:cNvSpPr>
            <p:nvPr/>
          </p:nvSpPr>
          <p:spPr bwMode="auto">
            <a:xfrm>
              <a:off x="986" y="2740"/>
              <a:ext cx="87" cy="98"/>
            </a:xfrm>
            <a:custGeom>
              <a:avLst/>
              <a:gdLst>
                <a:gd name="T0" fmla="*/ 4307338 w 52"/>
                <a:gd name="T1" fmla="*/ 0 h 47"/>
                <a:gd name="T2" fmla="*/ 2182571 w 52"/>
                <a:gd name="T3" fmla="*/ 491618209 h 47"/>
                <a:gd name="T4" fmla="*/ 0 w 52"/>
                <a:gd name="T5" fmla="*/ 0 h 47"/>
                <a:gd name="T6" fmla="*/ 4307338 w 52"/>
                <a:gd name="T7" fmla="*/ 0 h 47"/>
                <a:gd name="T8" fmla="*/ 0 60000 65536"/>
                <a:gd name="T9" fmla="*/ 0 60000 65536"/>
                <a:gd name="T10" fmla="*/ 0 60000 65536"/>
                <a:gd name="T11" fmla="*/ 0 60000 65536"/>
                <a:gd name="T12" fmla="*/ 0 w 52"/>
                <a:gd name="T13" fmla="*/ 0 h 47"/>
                <a:gd name="T14" fmla="*/ 52 w 52"/>
                <a:gd name="T15" fmla="*/ 47 h 47"/>
              </a:gdLst>
              <a:ahLst/>
              <a:cxnLst>
                <a:cxn ang="T8">
                  <a:pos x="T0" y="T1"/>
                </a:cxn>
                <a:cxn ang="T9">
                  <a:pos x="T2" y="T3"/>
                </a:cxn>
                <a:cxn ang="T10">
                  <a:pos x="T4" y="T5"/>
                </a:cxn>
                <a:cxn ang="T11">
                  <a:pos x="T6" y="T7"/>
                </a:cxn>
              </a:cxnLst>
              <a:rect l="T12" t="T13" r="T14" b="T15"/>
              <a:pathLst>
                <a:path w="52" h="47">
                  <a:moveTo>
                    <a:pt x="52" y="0"/>
                  </a:moveTo>
                  <a:lnTo>
                    <a:pt x="26" y="47"/>
                  </a:lnTo>
                  <a:lnTo>
                    <a:pt x="0" y="0"/>
                  </a:lnTo>
                  <a:lnTo>
                    <a:pt x="52"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93" name="Line 22"/>
            <p:cNvSpPr>
              <a:spLocks noChangeShapeType="1"/>
            </p:cNvSpPr>
            <p:nvPr/>
          </p:nvSpPr>
          <p:spPr bwMode="auto">
            <a:xfrm>
              <a:off x="1029" y="2328"/>
              <a:ext cx="2" cy="433"/>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4" name="Line 23"/>
            <p:cNvSpPr>
              <a:spLocks noChangeShapeType="1"/>
            </p:cNvSpPr>
            <p:nvPr/>
          </p:nvSpPr>
          <p:spPr bwMode="auto">
            <a:xfrm>
              <a:off x="1029" y="2328"/>
              <a:ext cx="2" cy="433"/>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5" name="Rectangle 24"/>
            <p:cNvSpPr>
              <a:spLocks noChangeArrowheads="1"/>
            </p:cNvSpPr>
            <p:nvPr/>
          </p:nvSpPr>
          <p:spPr bwMode="auto">
            <a:xfrm>
              <a:off x="2151" y="1559"/>
              <a:ext cx="1263" cy="732"/>
            </a:xfrm>
            <a:prstGeom prst="rect">
              <a:avLst/>
            </a:prstGeom>
            <a:solidFill>
              <a:srgbClr val="FED95E"/>
            </a:solidFill>
            <a:ln w="3175">
              <a:solidFill>
                <a:srgbClr val="FED95E"/>
              </a:solidFill>
              <a:miter lim="800000"/>
              <a:headEnd/>
              <a:tailEnd/>
            </a:ln>
          </p:spPr>
          <p:txBody>
            <a:bodyPr/>
            <a:lstStyle/>
            <a:p>
              <a:endParaRPr lang="en-US"/>
            </a:p>
          </p:txBody>
        </p:sp>
        <p:sp>
          <p:nvSpPr>
            <p:cNvPr id="36896" name="Rectangle 25"/>
            <p:cNvSpPr>
              <a:spLocks noChangeArrowheads="1"/>
            </p:cNvSpPr>
            <p:nvPr/>
          </p:nvSpPr>
          <p:spPr bwMode="auto">
            <a:xfrm>
              <a:off x="2436" y="1839"/>
              <a:ext cx="565"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b="1">
                  <a:solidFill>
                    <a:srgbClr val="000000"/>
                  </a:solidFill>
                  <a:latin typeface="Times New Roman" pitchFamily="18" charset="0"/>
                  <a:cs typeface="Times New Roman" pitchFamily="18" charset="0"/>
                </a:rPr>
                <a:t>Manager</a:t>
              </a:r>
              <a:endParaRPr lang="en-US" b="1">
                <a:latin typeface="Times New Roman" pitchFamily="18" charset="0"/>
                <a:cs typeface="Times New Roman" pitchFamily="18" charset="0"/>
              </a:endParaRPr>
            </a:p>
          </p:txBody>
        </p:sp>
        <p:sp>
          <p:nvSpPr>
            <p:cNvPr id="36897" name="Freeform 26"/>
            <p:cNvSpPr>
              <a:spLocks/>
            </p:cNvSpPr>
            <p:nvPr/>
          </p:nvSpPr>
          <p:spPr bwMode="auto">
            <a:xfrm>
              <a:off x="3414" y="1559"/>
              <a:ext cx="64" cy="808"/>
            </a:xfrm>
            <a:custGeom>
              <a:avLst/>
              <a:gdLst>
                <a:gd name="T0" fmla="*/ 3651535 w 38"/>
                <a:gd name="T1" fmla="*/ 2147483647 h 390"/>
                <a:gd name="T2" fmla="*/ 3651535 w 38"/>
                <a:gd name="T3" fmla="*/ 348337560 h 390"/>
                <a:gd name="T4" fmla="*/ 0 w 38"/>
                <a:gd name="T5" fmla="*/ 0 h 390"/>
                <a:gd name="T6" fmla="*/ 0 w 38"/>
                <a:gd name="T7" fmla="*/ 2147483647 h 390"/>
                <a:gd name="T8" fmla="*/ 3651535 w 38"/>
                <a:gd name="T9" fmla="*/ 2147483647 h 390"/>
                <a:gd name="T10" fmla="*/ 0 60000 65536"/>
                <a:gd name="T11" fmla="*/ 0 60000 65536"/>
                <a:gd name="T12" fmla="*/ 0 60000 65536"/>
                <a:gd name="T13" fmla="*/ 0 60000 65536"/>
                <a:gd name="T14" fmla="*/ 0 60000 65536"/>
                <a:gd name="T15" fmla="*/ 0 w 38"/>
                <a:gd name="T16" fmla="*/ 0 h 390"/>
                <a:gd name="T17" fmla="*/ 38 w 38"/>
                <a:gd name="T18" fmla="*/ 390 h 390"/>
              </a:gdLst>
              <a:ahLst/>
              <a:cxnLst>
                <a:cxn ang="T10">
                  <a:pos x="T0" y="T1"/>
                </a:cxn>
                <a:cxn ang="T11">
                  <a:pos x="T2" y="T3"/>
                </a:cxn>
                <a:cxn ang="T12">
                  <a:pos x="T4" y="T5"/>
                </a:cxn>
                <a:cxn ang="T13">
                  <a:pos x="T6" y="T7"/>
                </a:cxn>
                <a:cxn ang="T14">
                  <a:pos x="T8" y="T9"/>
                </a:cxn>
              </a:cxnLst>
              <a:rect l="T15" t="T16" r="T17" b="T18"/>
              <a:pathLst>
                <a:path w="38" h="390">
                  <a:moveTo>
                    <a:pt x="38" y="390"/>
                  </a:moveTo>
                  <a:lnTo>
                    <a:pt x="38" y="38"/>
                  </a:lnTo>
                  <a:lnTo>
                    <a:pt x="0" y="0"/>
                  </a:lnTo>
                  <a:lnTo>
                    <a:pt x="0" y="353"/>
                  </a:lnTo>
                  <a:lnTo>
                    <a:pt x="38" y="390"/>
                  </a:lnTo>
                  <a:close/>
                </a:path>
              </a:pathLst>
            </a:custGeom>
            <a:solidFill>
              <a:srgbClr val="D8B9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98" name="Freeform 27"/>
            <p:cNvSpPr>
              <a:spLocks/>
            </p:cNvSpPr>
            <p:nvPr/>
          </p:nvSpPr>
          <p:spPr bwMode="auto">
            <a:xfrm>
              <a:off x="2151" y="2291"/>
              <a:ext cx="1327" cy="76"/>
            </a:xfrm>
            <a:custGeom>
              <a:avLst/>
              <a:gdLst>
                <a:gd name="T0" fmla="*/ 67857994 w 790"/>
                <a:gd name="T1" fmla="*/ 0 h 37"/>
                <a:gd name="T2" fmla="*/ 0 w 790"/>
                <a:gd name="T3" fmla="*/ 0 h 37"/>
                <a:gd name="T4" fmla="*/ 3447197 w 790"/>
                <a:gd name="T5" fmla="*/ 278446999 h 37"/>
                <a:gd name="T6" fmla="*/ 71281413 w 790"/>
                <a:gd name="T7" fmla="*/ 278446999 h 37"/>
                <a:gd name="T8" fmla="*/ 67857994 w 790"/>
                <a:gd name="T9" fmla="*/ 0 h 37"/>
                <a:gd name="T10" fmla="*/ 0 60000 65536"/>
                <a:gd name="T11" fmla="*/ 0 60000 65536"/>
                <a:gd name="T12" fmla="*/ 0 60000 65536"/>
                <a:gd name="T13" fmla="*/ 0 60000 65536"/>
                <a:gd name="T14" fmla="*/ 0 60000 65536"/>
                <a:gd name="T15" fmla="*/ 0 w 790"/>
                <a:gd name="T16" fmla="*/ 0 h 37"/>
                <a:gd name="T17" fmla="*/ 790 w 790"/>
                <a:gd name="T18" fmla="*/ 37 h 37"/>
              </a:gdLst>
              <a:ahLst/>
              <a:cxnLst>
                <a:cxn ang="T10">
                  <a:pos x="T0" y="T1"/>
                </a:cxn>
                <a:cxn ang="T11">
                  <a:pos x="T2" y="T3"/>
                </a:cxn>
                <a:cxn ang="T12">
                  <a:pos x="T4" y="T5"/>
                </a:cxn>
                <a:cxn ang="T13">
                  <a:pos x="T6" y="T7"/>
                </a:cxn>
                <a:cxn ang="T14">
                  <a:pos x="T8" y="T9"/>
                </a:cxn>
              </a:cxnLst>
              <a:rect l="T15" t="T16" r="T17" b="T18"/>
              <a:pathLst>
                <a:path w="790" h="37">
                  <a:moveTo>
                    <a:pt x="752" y="0"/>
                  </a:moveTo>
                  <a:lnTo>
                    <a:pt x="0" y="0"/>
                  </a:lnTo>
                  <a:lnTo>
                    <a:pt x="38" y="37"/>
                  </a:lnTo>
                  <a:lnTo>
                    <a:pt x="790" y="37"/>
                  </a:lnTo>
                  <a:lnTo>
                    <a:pt x="752" y="0"/>
                  </a:lnTo>
                  <a:close/>
                </a:path>
              </a:pathLst>
            </a:custGeom>
            <a:solidFill>
              <a:srgbClr val="B298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99" name="Rectangle 28"/>
            <p:cNvSpPr>
              <a:spLocks noChangeArrowheads="1"/>
            </p:cNvSpPr>
            <p:nvPr/>
          </p:nvSpPr>
          <p:spPr bwMode="auto">
            <a:xfrm>
              <a:off x="2151" y="2838"/>
              <a:ext cx="1263" cy="731"/>
            </a:xfrm>
            <a:prstGeom prst="rect">
              <a:avLst/>
            </a:prstGeom>
            <a:solidFill>
              <a:srgbClr val="FFF2AE"/>
            </a:solidFill>
            <a:ln w="3175">
              <a:solidFill>
                <a:srgbClr val="FFF2AE"/>
              </a:solidFill>
              <a:miter lim="800000"/>
              <a:headEnd/>
              <a:tailEnd/>
            </a:ln>
          </p:spPr>
          <p:txBody>
            <a:bodyPr/>
            <a:lstStyle/>
            <a:p>
              <a:endParaRPr lang="en-US"/>
            </a:p>
          </p:txBody>
        </p:sp>
        <p:sp>
          <p:nvSpPr>
            <p:cNvPr id="36900" name="Rectangle 29"/>
            <p:cNvSpPr>
              <a:spLocks noChangeArrowheads="1"/>
            </p:cNvSpPr>
            <p:nvPr/>
          </p:nvSpPr>
          <p:spPr bwMode="auto">
            <a:xfrm>
              <a:off x="2374" y="3113"/>
              <a:ext cx="76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b="1">
                  <a:solidFill>
                    <a:srgbClr val="000000"/>
                  </a:solidFill>
                  <a:latin typeface="Times New Roman" pitchFamily="18" charset="0"/>
                  <a:cs typeface="Times New Roman" pitchFamily="18" charset="0"/>
                </a:rPr>
                <a:t>Subordinate</a:t>
              </a:r>
              <a:endParaRPr lang="en-US" b="1">
                <a:latin typeface="Times New Roman" pitchFamily="18" charset="0"/>
                <a:cs typeface="Times New Roman" pitchFamily="18" charset="0"/>
              </a:endParaRPr>
            </a:p>
          </p:txBody>
        </p:sp>
        <p:sp>
          <p:nvSpPr>
            <p:cNvPr id="36901" name="Freeform 30"/>
            <p:cNvSpPr>
              <a:spLocks/>
            </p:cNvSpPr>
            <p:nvPr/>
          </p:nvSpPr>
          <p:spPr bwMode="auto">
            <a:xfrm>
              <a:off x="3414" y="2838"/>
              <a:ext cx="64" cy="810"/>
            </a:xfrm>
            <a:custGeom>
              <a:avLst/>
              <a:gdLst>
                <a:gd name="T0" fmla="*/ 3651535 w 38"/>
                <a:gd name="T1" fmla="*/ 2147483647 h 391"/>
                <a:gd name="T2" fmla="*/ 3651535 w 38"/>
                <a:gd name="T3" fmla="*/ 347472986 h 391"/>
                <a:gd name="T4" fmla="*/ 0 w 38"/>
                <a:gd name="T5" fmla="*/ 0 h 391"/>
                <a:gd name="T6" fmla="*/ 0 w 38"/>
                <a:gd name="T7" fmla="*/ 2147483647 h 391"/>
                <a:gd name="T8" fmla="*/ 3651535 w 38"/>
                <a:gd name="T9" fmla="*/ 2147483647 h 391"/>
                <a:gd name="T10" fmla="*/ 0 60000 65536"/>
                <a:gd name="T11" fmla="*/ 0 60000 65536"/>
                <a:gd name="T12" fmla="*/ 0 60000 65536"/>
                <a:gd name="T13" fmla="*/ 0 60000 65536"/>
                <a:gd name="T14" fmla="*/ 0 60000 65536"/>
                <a:gd name="T15" fmla="*/ 0 w 38"/>
                <a:gd name="T16" fmla="*/ 0 h 391"/>
                <a:gd name="T17" fmla="*/ 38 w 38"/>
                <a:gd name="T18" fmla="*/ 391 h 391"/>
              </a:gdLst>
              <a:ahLst/>
              <a:cxnLst>
                <a:cxn ang="T10">
                  <a:pos x="T0" y="T1"/>
                </a:cxn>
                <a:cxn ang="T11">
                  <a:pos x="T2" y="T3"/>
                </a:cxn>
                <a:cxn ang="T12">
                  <a:pos x="T4" y="T5"/>
                </a:cxn>
                <a:cxn ang="T13">
                  <a:pos x="T6" y="T7"/>
                </a:cxn>
                <a:cxn ang="T14">
                  <a:pos x="T8" y="T9"/>
                </a:cxn>
              </a:cxnLst>
              <a:rect l="T15" t="T16" r="T17" b="T18"/>
              <a:pathLst>
                <a:path w="38" h="391">
                  <a:moveTo>
                    <a:pt x="38" y="391"/>
                  </a:moveTo>
                  <a:lnTo>
                    <a:pt x="38" y="38"/>
                  </a:lnTo>
                  <a:lnTo>
                    <a:pt x="0" y="0"/>
                  </a:lnTo>
                  <a:lnTo>
                    <a:pt x="0" y="353"/>
                  </a:lnTo>
                  <a:lnTo>
                    <a:pt x="38" y="391"/>
                  </a:lnTo>
                  <a:close/>
                </a:path>
              </a:pathLst>
            </a:custGeom>
            <a:solidFill>
              <a:srgbClr val="D9CE9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02" name="Freeform 31"/>
            <p:cNvSpPr>
              <a:spLocks/>
            </p:cNvSpPr>
            <p:nvPr/>
          </p:nvSpPr>
          <p:spPr bwMode="auto">
            <a:xfrm>
              <a:off x="2151" y="3569"/>
              <a:ext cx="1327" cy="79"/>
            </a:xfrm>
            <a:custGeom>
              <a:avLst/>
              <a:gdLst>
                <a:gd name="T0" fmla="*/ 67857994 w 790"/>
                <a:gd name="T1" fmla="*/ 0 h 38"/>
                <a:gd name="T2" fmla="*/ 0 w 790"/>
                <a:gd name="T3" fmla="*/ 0 h 38"/>
                <a:gd name="T4" fmla="*/ 3447197 w 790"/>
                <a:gd name="T5" fmla="*/ 373064494 h 38"/>
                <a:gd name="T6" fmla="*/ 71281413 w 790"/>
                <a:gd name="T7" fmla="*/ 373064494 h 38"/>
                <a:gd name="T8" fmla="*/ 67857994 w 790"/>
                <a:gd name="T9" fmla="*/ 0 h 38"/>
                <a:gd name="T10" fmla="*/ 0 60000 65536"/>
                <a:gd name="T11" fmla="*/ 0 60000 65536"/>
                <a:gd name="T12" fmla="*/ 0 60000 65536"/>
                <a:gd name="T13" fmla="*/ 0 60000 65536"/>
                <a:gd name="T14" fmla="*/ 0 60000 65536"/>
                <a:gd name="T15" fmla="*/ 0 w 790"/>
                <a:gd name="T16" fmla="*/ 0 h 38"/>
                <a:gd name="T17" fmla="*/ 790 w 790"/>
                <a:gd name="T18" fmla="*/ 38 h 38"/>
              </a:gdLst>
              <a:ahLst/>
              <a:cxnLst>
                <a:cxn ang="T10">
                  <a:pos x="T0" y="T1"/>
                </a:cxn>
                <a:cxn ang="T11">
                  <a:pos x="T2" y="T3"/>
                </a:cxn>
                <a:cxn ang="T12">
                  <a:pos x="T4" y="T5"/>
                </a:cxn>
                <a:cxn ang="T13">
                  <a:pos x="T6" y="T7"/>
                </a:cxn>
                <a:cxn ang="T14">
                  <a:pos x="T8" y="T9"/>
                </a:cxn>
              </a:cxnLst>
              <a:rect l="T15" t="T16" r="T17" b="T18"/>
              <a:pathLst>
                <a:path w="790" h="38">
                  <a:moveTo>
                    <a:pt x="752" y="0"/>
                  </a:moveTo>
                  <a:lnTo>
                    <a:pt x="0" y="0"/>
                  </a:lnTo>
                  <a:lnTo>
                    <a:pt x="38" y="38"/>
                  </a:lnTo>
                  <a:lnTo>
                    <a:pt x="790" y="38"/>
                  </a:lnTo>
                  <a:lnTo>
                    <a:pt x="752" y="0"/>
                  </a:lnTo>
                  <a:close/>
                </a:path>
              </a:pathLst>
            </a:custGeom>
            <a:solidFill>
              <a:srgbClr val="B3AA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03" name="Freeform 32"/>
            <p:cNvSpPr>
              <a:spLocks/>
            </p:cNvSpPr>
            <p:nvPr/>
          </p:nvSpPr>
          <p:spPr bwMode="auto">
            <a:xfrm>
              <a:off x="2551" y="2740"/>
              <a:ext cx="87" cy="98"/>
            </a:xfrm>
            <a:custGeom>
              <a:avLst/>
              <a:gdLst>
                <a:gd name="T0" fmla="*/ 4307338 w 52"/>
                <a:gd name="T1" fmla="*/ 0 h 47"/>
                <a:gd name="T2" fmla="*/ 2182571 w 52"/>
                <a:gd name="T3" fmla="*/ 491618209 h 47"/>
                <a:gd name="T4" fmla="*/ 0 w 52"/>
                <a:gd name="T5" fmla="*/ 0 h 47"/>
                <a:gd name="T6" fmla="*/ 4307338 w 52"/>
                <a:gd name="T7" fmla="*/ 0 h 47"/>
                <a:gd name="T8" fmla="*/ 0 60000 65536"/>
                <a:gd name="T9" fmla="*/ 0 60000 65536"/>
                <a:gd name="T10" fmla="*/ 0 60000 65536"/>
                <a:gd name="T11" fmla="*/ 0 60000 65536"/>
                <a:gd name="T12" fmla="*/ 0 w 52"/>
                <a:gd name="T13" fmla="*/ 0 h 47"/>
                <a:gd name="T14" fmla="*/ 52 w 52"/>
                <a:gd name="T15" fmla="*/ 47 h 47"/>
              </a:gdLst>
              <a:ahLst/>
              <a:cxnLst>
                <a:cxn ang="T8">
                  <a:pos x="T0" y="T1"/>
                </a:cxn>
                <a:cxn ang="T9">
                  <a:pos x="T2" y="T3"/>
                </a:cxn>
                <a:cxn ang="T10">
                  <a:pos x="T4" y="T5"/>
                </a:cxn>
                <a:cxn ang="T11">
                  <a:pos x="T6" y="T7"/>
                </a:cxn>
              </a:cxnLst>
              <a:rect l="T12" t="T13" r="T14" b="T15"/>
              <a:pathLst>
                <a:path w="52" h="47">
                  <a:moveTo>
                    <a:pt x="52" y="0"/>
                  </a:moveTo>
                  <a:lnTo>
                    <a:pt x="26" y="47"/>
                  </a:lnTo>
                  <a:lnTo>
                    <a:pt x="0" y="0"/>
                  </a:lnTo>
                  <a:lnTo>
                    <a:pt x="52"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04" name="Line 33"/>
            <p:cNvSpPr>
              <a:spLocks noChangeShapeType="1"/>
            </p:cNvSpPr>
            <p:nvPr/>
          </p:nvSpPr>
          <p:spPr bwMode="auto">
            <a:xfrm>
              <a:off x="2594" y="2328"/>
              <a:ext cx="2" cy="433"/>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5" name="Freeform 34"/>
            <p:cNvSpPr>
              <a:spLocks/>
            </p:cNvSpPr>
            <p:nvPr/>
          </p:nvSpPr>
          <p:spPr bwMode="auto">
            <a:xfrm>
              <a:off x="2932" y="2740"/>
              <a:ext cx="87" cy="98"/>
            </a:xfrm>
            <a:custGeom>
              <a:avLst/>
              <a:gdLst>
                <a:gd name="T0" fmla="*/ 4307338 w 52"/>
                <a:gd name="T1" fmla="*/ 0 h 47"/>
                <a:gd name="T2" fmla="*/ 2182571 w 52"/>
                <a:gd name="T3" fmla="*/ 491618209 h 47"/>
                <a:gd name="T4" fmla="*/ 0 w 52"/>
                <a:gd name="T5" fmla="*/ 0 h 47"/>
                <a:gd name="T6" fmla="*/ 4307338 w 52"/>
                <a:gd name="T7" fmla="*/ 0 h 47"/>
                <a:gd name="T8" fmla="*/ 0 60000 65536"/>
                <a:gd name="T9" fmla="*/ 0 60000 65536"/>
                <a:gd name="T10" fmla="*/ 0 60000 65536"/>
                <a:gd name="T11" fmla="*/ 0 60000 65536"/>
                <a:gd name="T12" fmla="*/ 0 w 52"/>
                <a:gd name="T13" fmla="*/ 0 h 47"/>
                <a:gd name="T14" fmla="*/ 52 w 52"/>
                <a:gd name="T15" fmla="*/ 47 h 47"/>
              </a:gdLst>
              <a:ahLst/>
              <a:cxnLst>
                <a:cxn ang="T8">
                  <a:pos x="T0" y="T1"/>
                </a:cxn>
                <a:cxn ang="T9">
                  <a:pos x="T2" y="T3"/>
                </a:cxn>
                <a:cxn ang="T10">
                  <a:pos x="T4" y="T5"/>
                </a:cxn>
                <a:cxn ang="T11">
                  <a:pos x="T6" y="T7"/>
                </a:cxn>
              </a:cxnLst>
              <a:rect l="T12" t="T13" r="T14" b="T15"/>
              <a:pathLst>
                <a:path w="52" h="47">
                  <a:moveTo>
                    <a:pt x="52" y="0"/>
                  </a:moveTo>
                  <a:lnTo>
                    <a:pt x="26" y="47"/>
                  </a:lnTo>
                  <a:lnTo>
                    <a:pt x="0" y="0"/>
                  </a:lnTo>
                  <a:lnTo>
                    <a:pt x="52"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06" name="Rectangle 35"/>
            <p:cNvSpPr>
              <a:spLocks noChangeArrowheads="1"/>
            </p:cNvSpPr>
            <p:nvPr/>
          </p:nvSpPr>
          <p:spPr bwMode="auto">
            <a:xfrm>
              <a:off x="4062" y="1839"/>
              <a:ext cx="45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400" b="1">
                  <a:solidFill>
                    <a:srgbClr val="000000"/>
                  </a:solidFill>
                </a:rPr>
                <a:t>Manager</a:t>
              </a:r>
              <a:endParaRPr lang="en-US" sz="1400" b="1"/>
            </a:p>
          </p:txBody>
        </p:sp>
        <p:sp>
          <p:nvSpPr>
            <p:cNvPr id="36907" name="Rectangle 36"/>
            <p:cNvSpPr>
              <a:spLocks noChangeArrowheads="1"/>
            </p:cNvSpPr>
            <p:nvPr/>
          </p:nvSpPr>
          <p:spPr bwMode="auto">
            <a:xfrm>
              <a:off x="3716" y="1559"/>
              <a:ext cx="1266" cy="732"/>
            </a:xfrm>
            <a:prstGeom prst="rect">
              <a:avLst/>
            </a:prstGeom>
            <a:solidFill>
              <a:srgbClr val="FED95E"/>
            </a:solidFill>
            <a:ln w="3175">
              <a:solidFill>
                <a:srgbClr val="FED95E"/>
              </a:solidFill>
              <a:miter lim="800000"/>
              <a:headEnd/>
              <a:tailEnd/>
            </a:ln>
          </p:spPr>
          <p:txBody>
            <a:bodyPr/>
            <a:lstStyle/>
            <a:p>
              <a:endParaRPr lang="en-US"/>
            </a:p>
          </p:txBody>
        </p:sp>
        <p:sp>
          <p:nvSpPr>
            <p:cNvPr id="36908" name="Rectangle 37"/>
            <p:cNvSpPr>
              <a:spLocks noChangeArrowheads="1"/>
            </p:cNvSpPr>
            <p:nvPr/>
          </p:nvSpPr>
          <p:spPr bwMode="auto">
            <a:xfrm>
              <a:off x="3996" y="1839"/>
              <a:ext cx="565"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b="1">
                  <a:solidFill>
                    <a:srgbClr val="000000"/>
                  </a:solidFill>
                  <a:latin typeface="Times New Roman" pitchFamily="18" charset="0"/>
                  <a:cs typeface="Times New Roman" pitchFamily="18" charset="0"/>
                </a:rPr>
                <a:t>Manager</a:t>
              </a:r>
              <a:endParaRPr lang="en-US" b="1">
                <a:latin typeface="Times New Roman" pitchFamily="18" charset="0"/>
                <a:cs typeface="Times New Roman" pitchFamily="18" charset="0"/>
              </a:endParaRPr>
            </a:p>
          </p:txBody>
        </p:sp>
        <p:sp>
          <p:nvSpPr>
            <p:cNvPr id="36909" name="Freeform 38"/>
            <p:cNvSpPr>
              <a:spLocks/>
            </p:cNvSpPr>
            <p:nvPr/>
          </p:nvSpPr>
          <p:spPr bwMode="auto">
            <a:xfrm>
              <a:off x="4982" y="1559"/>
              <a:ext cx="64" cy="808"/>
            </a:xfrm>
            <a:custGeom>
              <a:avLst/>
              <a:gdLst>
                <a:gd name="T0" fmla="*/ 3651535 w 38"/>
                <a:gd name="T1" fmla="*/ 2147483647 h 390"/>
                <a:gd name="T2" fmla="*/ 3651535 w 38"/>
                <a:gd name="T3" fmla="*/ 348337560 h 390"/>
                <a:gd name="T4" fmla="*/ 0 w 38"/>
                <a:gd name="T5" fmla="*/ 0 h 390"/>
                <a:gd name="T6" fmla="*/ 0 w 38"/>
                <a:gd name="T7" fmla="*/ 2147483647 h 390"/>
                <a:gd name="T8" fmla="*/ 3651535 w 38"/>
                <a:gd name="T9" fmla="*/ 2147483647 h 390"/>
                <a:gd name="T10" fmla="*/ 0 60000 65536"/>
                <a:gd name="T11" fmla="*/ 0 60000 65536"/>
                <a:gd name="T12" fmla="*/ 0 60000 65536"/>
                <a:gd name="T13" fmla="*/ 0 60000 65536"/>
                <a:gd name="T14" fmla="*/ 0 60000 65536"/>
                <a:gd name="T15" fmla="*/ 0 w 38"/>
                <a:gd name="T16" fmla="*/ 0 h 390"/>
                <a:gd name="T17" fmla="*/ 38 w 38"/>
                <a:gd name="T18" fmla="*/ 390 h 390"/>
              </a:gdLst>
              <a:ahLst/>
              <a:cxnLst>
                <a:cxn ang="T10">
                  <a:pos x="T0" y="T1"/>
                </a:cxn>
                <a:cxn ang="T11">
                  <a:pos x="T2" y="T3"/>
                </a:cxn>
                <a:cxn ang="T12">
                  <a:pos x="T4" y="T5"/>
                </a:cxn>
                <a:cxn ang="T13">
                  <a:pos x="T6" y="T7"/>
                </a:cxn>
                <a:cxn ang="T14">
                  <a:pos x="T8" y="T9"/>
                </a:cxn>
              </a:cxnLst>
              <a:rect l="T15" t="T16" r="T17" b="T18"/>
              <a:pathLst>
                <a:path w="38" h="390">
                  <a:moveTo>
                    <a:pt x="38" y="390"/>
                  </a:moveTo>
                  <a:lnTo>
                    <a:pt x="38" y="38"/>
                  </a:lnTo>
                  <a:lnTo>
                    <a:pt x="0" y="0"/>
                  </a:lnTo>
                  <a:lnTo>
                    <a:pt x="0" y="353"/>
                  </a:lnTo>
                  <a:lnTo>
                    <a:pt x="38" y="390"/>
                  </a:lnTo>
                  <a:close/>
                </a:path>
              </a:pathLst>
            </a:custGeom>
            <a:solidFill>
              <a:srgbClr val="D8B9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10" name="Freeform 39"/>
            <p:cNvSpPr>
              <a:spLocks/>
            </p:cNvSpPr>
            <p:nvPr/>
          </p:nvSpPr>
          <p:spPr bwMode="auto">
            <a:xfrm>
              <a:off x="3716" y="2291"/>
              <a:ext cx="1330" cy="76"/>
            </a:xfrm>
            <a:custGeom>
              <a:avLst/>
              <a:gdLst>
                <a:gd name="T0" fmla="*/ 67613230 w 792"/>
                <a:gd name="T1" fmla="*/ 0 h 37"/>
                <a:gd name="T2" fmla="*/ 0 w 792"/>
                <a:gd name="T3" fmla="*/ 0 h 37"/>
                <a:gd name="T4" fmla="*/ 3403767 w 792"/>
                <a:gd name="T5" fmla="*/ 278446999 h 37"/>
                <a:gd name="T6" fmla="*/ 71031280 w 792"/>
                <a:gd name="T7" fmla="*/ 278446999 h 37"/>
                <a:gd name="T8" fmla="*/ 67613230 w 792"/>
                <a:gd name="T9" fmla="*/ 0 h 37"/>
                <a:gd name="T10" fmla="*/ 0 60000 65536"/>
                <a:gd name="T11" fmla="*/ 0 60000 65536"/>
                <a:gd name="T12" fmla="*/ 0 60000 65536"/>
                <a:gd name="T13" fmla="*/ 0 60000 65536"/>
                <a:gd name="T14" fmla="*/ 0 60000 65536"/>
                <a:gd name="T15" fmla="*/ 0 w 792"/>
                <a:gd name="T16" fmla="*/ 0 h 37"/>
                <a:gd name="T17" fmla="*/ 792 w 792"/>
                <a:gd name="T18" fmla="*/ 37 h 37"/>
              </a:gdLst>
              <a:ahLst/>
              <a:cxnLst>
                <a:cxn ang="T10">
                  <a:pos x="T0" y="T1"/>
                </a:cxn>
                <a:cxn ang="T11">
                  <a:pos x="T2" y="T3"/>
                </a:cxn>
                <a:cxn ang="T12">
                  <a:pos x="T4" y="T5"/>
                </a:cxn>
                <a:cxn ang="T13">
                  <a:pos x="T6" y="T7"/>
                </a:cxn>
                <a:cxn ang="T14">
                  <a:pos x="T8" y="T9"/>
                </a:cxn>
              </a:cxnLst>
              <a:rect l="T15" t="T16" r="T17" b="T18"/>
              <a:pathLst>
                <a:path w="792" h="37">
                  <a:moveTo>
                    <a:pt x="754" y="0"/>
                  </a:moveTo>
                  <a:lnTo>
                    <a:pt x="0" y="0"/>
                  </a:lnTo>
                  <a:lnTo>
                    <a:pt x="38" y="37"/>
                  </a:lnTo>
                  <a:lnTo>
                    <a:pt x="792" y="37"/>
                  </a:lnTo>
                  <a:lnTo>
                    <a:pt x="754" y="0"/>
                  </a:lnTo>
                  <a:close/>
                </a:path>
              </a:pathLst>
            </a:custGeom>
            <a:solidFill>
              <a:srgbClr val="B298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11" name="Rectangle 40"/>
            <p:cNvSpPr>
              <a:spLocks noChangeArrowheads="1"/>
            </p:cNvSpPr>
            <p:nvPr/>
          </p:nvSpPr>
          <p:spPr bwMode="auto">
            <a:xfrm>
              <a:off x="3716" y="2838"/>
              <a:ext cx="1266" cy="731"/>
            </a:xfrm>
            <a:prstGeom prst="rect">
              <a:avLst/>
            </a:prstGeom>
            <a:solidFill>
              <a:srgbClr val="FFF2AE"/>
            </a:solidFill>
            <a:ln w="3175">
              <a:solidFill>
                <a:srgbClr val="FFF2AE"/>
              </a:solidFill>
              <a:miter lim="800000"/>
              <a:headEnd/>
              <a:tailEnd/>
            </a:ln>
          </p:spPr>
          <p:txBody>
            <a:bodyPr/>
            <a:lstStyle/>
            <a:p>
              <a:endParaRPr lang="en-US"/>
            </a:p>
          </p:txBody>
        </p:sp>
        <p:sp>
          <p:nvSpPr>
            <p:cNvPr id="36912" name="Rectangle 41"/>
            <p:cNvSpPr>
              <a:spLocks noChangeArrowheads="1"/>
            </p:cNvSpPr>
            <p:nvPr/>
          </p:nvSpPr>
          <p:spPr bwMode="auto">
            <a:xfrm>
              <a:off x="3938" y="3113"/>
              <a:ext cx="76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b="1">
                  <a:solidFill>
                    <a:srgbClr val="000000"/>
                  </a:solidFill>
                  <a:latin typeface="Times New Roman" pitchFamily="18" charset="0"/>
                  <a:cs typeface="Times New Roman" pitchFamily="18" charset="0"/>
                </a:rPr>
                <a:t>Subordinate</a:t>
              </a:r>
              <a:endParaRPr lang="en-US" b="1">
                <a:latin typeface="Times New Roman" pitchFamily="18" charset="0"/>
                <a:cs typeface="Times New Roman" pitchFamily="18" charset="0"/>
              </a:endParaRPr>
            </a:p>
          </p:txBody>
        </p:sp>
        <p:sp>
          <p:nvSpPr>
            <p:cNvPr id="36913" name="Freeform 42"/>
            <p:cNvSpPr>
              <a:spLocks/>
            </p:cNvSpPr>
            <p:nvPr/>
          </p:nvSpPr>
          <p:spPr bwMode="auto">
            <a:xfrm>
              <a:off x="4982" y="2838"/>
              <a:ext cx="64" cy="810"/>
            </a:xfrm>
            <a:custGeom>
              <a:avLst/>
              <a:gdLst>
                <a:gd name="T0" fmla="*/ 3651535 w 38"/>
                <a:gd name="T1" fmla="*/ 2147483647 h 391"/>
                <a:gd name="T2" fmla="*/ 3651535 w 38"/>
                <a:gd name="T3" fmla="*/ 347472986 h 391"/>
                <a:gd name="T4" fmla="*/ 0 w 38"/>
                <a:gd name="T5" fmla="*/ 0 h 391"/>
                <a:gd name="T6" fmla="*/ 0 w 38"/>
                <a:gd name="T7" fmla="*/ 2147483647 h 391"/>
                <a:gd name="T8" fmla="*/ 3651535 w 38"/>
                <a:gd name="T9" fmla="*/ 2147483647 h 391"/>
                <a:gd name="T10" fmla="*/ 0 60000 65536"/>
                <a:gd name="T11" fmla="*/ 0 60000 65536"/>
                <a:gd name="T12" fmla="*/ 0 60000 65536"/>
                <a:gd name="T13" fmla="*/ 0 60000 65536"/>
                <a:gd name="T14" fmla="*/ 0 60000 65536"/>
                <a:gd name="T15" fmla="*/ 0 w 38"/>
                <a:gd name="T16" fmla="*/ 0 h 391"/>
                <a:gd name="T17" fmla="*/ 38 w 38"/>
                <a:gd name="T18" fmla="*/ 391 h 391"/>
              </a:gdLst>
              <a:ahLst/>
              <a:cxnLst>
                <a:cxn ang="T10">
                  <a:pos x="T0" y="T1"/>
                </a:cxn>
                <a:cxn ang="T11">
                  <a:pos x="T2" y="T3"/>
                </a:cxn>
                <a:cxn ang="T12">
                  <a:pos x="T4" y="T5"/>
                </a:cxn>
                <a:cxn ang="T13">
                  <a:pos x="T6" y="T7"/>
                </a:cxn>
                <a:cxn ang="T14">
                  <a:pos x="T8" y="T9"/>
                </a:cxn>
              </a:cxnLst>
              <a:rect l="T15" t="T16" r="T17" b="T18"/>
              <a:pathLst>
                <a:path w="38" h="391">
                  <a:moveTo>
                    <a:pt x="38" y="391"/>
                  </a:moveTo>
                  <a:lnTo>
                    <a:pt x="38" y="38"/>
                  </a:lnTo>
                  <a:lnTo>
                    <a:pt x="0" y="0"/>
                  </a:lnTo>
                  <a:lnTo>
                    <a:pt x="0" y="353"/>
                  </a:lnTo>
                  <a:lnTo>
                    <a:pt x="38" y="391"/>
                  </a:lnTo>
                  <a:close/>
                </a:path>
              </a:pathLst>
            </a:custGeom>
            <a:solidFill>
              <a:srgbClr val="D9CE9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14" name="Freeform 43"/>
            <p:cNvSpPr>
              <a:spLocks/>
            </p:cNvSpPr>
            <p:nvPr/>
          </p:nvSpPr>
          <p:spPr bwMode="auto">
            <a:xfrm>
              <a:off x="3716" y="3569"/>
              <a:ext cx="1330" cy="79"/>
            </a:xfrm>
            <a:custGeom>
              <a:avLst/>
              <a:gdLst>
                <a:gd name="T0" fmla="*/ 67613230 w 792"/>
                <a:gd name="T1" fmla="*/ 0 h 38"/>
                <a:gd name="T2" fmla="*/ 0 w 792"/>
                <a:gd name="T3" fmla="*/ 0 h 38"/>
                <a:gd name="T4" fmla="*/ 3403767 w 792"/>
                <a:gd name="T5" fmla="*/ 373064494 h 38"/>
                <a:gd name="T6" fmla="*/ 71031280 w 792"/>
                <a:gd name="T7" fmla="*/ 373064494 h 38"/>
                <a:gd name="T8" fmla="*/ 67613230 w 792"/>
                <a:gd name="T9" fmla="*/ 0 h 38"/>
                <a:gd name="T10" fmla="*/ 0 60000 65536"/>
                <a:gd name="T11" fmla="*/ 0 60000 65536"/>
                <a:gd name="T12" fmla="*/ 0 60000 65536"/>
                <a:gd name="T13" fmla="*/ 0 60000 65536"/>
                <a:gd name="T14" fmla="*/ 0 60000 65536"/>
                <a:gd name="T15" fmla="*/ 0 w 792"/>
                <a:gd name="T16" fmla="*/ 0 h 38"/>
                <a:gd name="T17" fmla="*/ 792 w 792"/>
                <a:gd name="T18" fmla="*/ 38 h 38"/>
              </a:gdLst>
              <a:ahLst/>
              <a:cxnLst>
                <a:cxn ang="T10">
                  <a:pos x="T0" y="T1"/>
                </a:cxn>
                <a:cxn ang="T11">
                  <a:pos x="T2" y="T3"/>
                </a:cxn>
                <a:cxn ang="T12">
                  <a:pos x="T4" y="T5"/>
                </a:cxn>
                <a:cxn ang="T13">
                  <a:pos x="T6" y="T7"/>
                </a:cxn>
                <a:cxn ang="T14">
                  <a:pos x="T8" y="T9"/>
                </a:cxn>
              </a:cxnLst>
              <a:rect l="T15" t="T16" r="T17" b="T18"/>
              <a:pathLst>
                <a:path w="792" h="38">
                  <a:moveTo>
                    <a:pt x="754" y="0"/>
                  </a:moveTo>
                  <a:lnTo>
                    <a:pt x="0" y="0"/>
                  </a:lnTo>
                  <a:lnTo>
                    <a:pt x="38" y="38"/>
                  </a:lnTo>
                  <a:lnTo>
                    <a:pt x="792" y="38"/>
                  </a:lnTo>
                  <a:lnTo>
                    <a:pt x="754" y="0"/>
                  </a:lnTo>
                  <a:close/>
                </a:path>
              </a:pathLst>
            </a:custGeom>
            <a:solidFill>
              <a:srgbClr val="B3AA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15" name="Freeform 44"/>
            <p:cNvSpPr>
              <a:spLocks/>
            </p:cNvSpPr>
            <p:nvPr/>
          </p:nvSpPr>
          <p:spPr bwMode="auto">
            <a:xfrm>
              <a:off x="4114" y="2740"/>
              <a:ext cx="87" cy="98"/>
            </a:xfrm>
            <a:custGeom>
              <a:avLst/>
              <a:gdLst>
                <a:gd name="T0" fmla="*/ 4307338 w 52"/>
                <a:gd name="T1" fmla="*/ 0 h 47"/>
                <a:gd name="T2" fmla="*/ 2182571 w 52"/>
                <a:gd name="T3" fmla="*/ 491618209 h 47"/>
                <a:gd name="T4" fmla="*/ 0 w 52"/>
                <a:gd name="T5" fmla="*/ 0 h 47"/>
                <a:gd name="T6" fmla="*/ 4307338 w 52"/>
                <a:gd name="T7" fmla="*/ 0 h 47"/>
                <a:gd name="T8" fmla="*/ 0 60000 65536"/>
                <a:gd name="T9" fmla="*/ 0 60000 65536"/>
                <a:gd name="T10" fmla="*/ 0 60000 65536"/>
                <a:gd name="T11" fmla="*/ 0 60000 65536"/>
                <a:gd name="T12" fmla="*/ 0 w 52"/>
                <a:gd name="T13" fmla="*/ 0 h 47"/>
                <a:gd name="T14" fmla="*/ 52 w 52"/>
                <a:gd name="T15" fmla="*/ 47 h 47"/>
              </a:gdLst>
              <a:ahLst/>
              <a:cxnLst>
                <a:cxn ang="T8">
                  <a:pos x="T0" y="T1"/>
                </a:cxn>
                <a:cxn ang="T9">
                  <a:pos x="T2" y="T3"/>
                </a:cxn>
                <a:cxn ang="T10">
                  <a:pos x="T4" y="T5"/>
                </a:cxn>
                <a:cxn ang="T11">
                  <a:pos x="T6" y="T7"/>
                </a:cxn>
              </a:cxnLst>
              <a:rect l="T12" t="T13" r="T14" b="T15"/>
              <a:pathLst>
                <a:path w="52" h="47">
                  <a:moveTo>
                    <a:pt x="52" y="0"/>
                  </a:moveTo>
                  <a:lnTo>
                    <a:pt x="26" y="47"/>
                  </a:lnTo>
                  <a:lnTo>
                    <a:pt x="0" y="0"/>
                  </a:lnTo>
                  <a:lnTo>
                    <a:pt x="52"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16" name="Line 45"/>
            <p:cNvSpPr>
              <a:spLocks noChangeShapeType="1"/>
            </p:cNvSpPr>
            <p:nvPr/>
          </p:nvSpPr>
          <p:spPr bwMode="auto">
            <a:xfrm>
              <a:off x="4158" y="2328"/>
              <a:ext cx="1" cy="433"/>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7" name="Line 46"/>
            <p:cNvSpPr>
              <a:spLocks noChangeShapeType="1"/>
            </p:cNvSpPr>
            <p:nvPr/>
          </p:nvSpPr>
          <p:spPr bwMode="auto">
            <a:xfrm>
              <a:off x="4541" y="2328"/>
              <a:ext cx="1" cy="433"/>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8" name="Line 47"/>
            <p:cNvSpPr>
              <a:spLocks noChangeShapeType="1"/>
            </p:cNvSpPr>
            <p:nvPr/>
          </p:nvSpPr>
          <p:spPr bwMode="auto">
            <a:xfrm flipV="1">
              <a:off x="4349" y="2407"/>
              <a:ext cx="2" cy="431"/>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9" name="Line 48"/>
            <p:cNvSpPr>
              <a:spLocks noChangeShapeType="1"/>
            </p:cNvSpPr>
            <p:nvPr/>
          </p:nvSpPr>
          <p:spPr bwMode="auto">
            <a:xfrm>
              <a:off x="2594" y="2328"/>
              <a:ext cx="2" cy="433"/>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0" name="Line 49"/>
            <p:cNvSpPr>
              <a:spLocks noChangeShapeType="1"/>
            </p:cNvSpPr>
            <p:nvPr/>
          </p:nvSpPr>
          <p:spPr bwMode="auto">
            <a:xfrm>
              <a:off x="2976" y="2328"/>
              <a:ext cx="1" cy="433"/>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1" name="Line 50"/>
            <p:cNvSpPr>
              <a:spLocks noChangeShapeType="1"/>
            </p:cNvSpPr>
            <p:nvPr/>
          </p:nvSpPr>
          <p:spPr bwMode="auto">
            <a:xfrm>
              <a:off x="4158" y="2328"/>
              <a:ext cx="1" cy="433"/>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2" name="Line 51"/>
            <p:cNvSpPr>
              <a:spLocks noChangeShapeType="1"/>
            </p:cNvSpPr>
            <p:nvPr/>
          </p:nvSpPr>
          <p:spPr bwMode="auto">
            <a:xfrm>
              <a:off x="4541" y="2328"/>
              <a:ext cx="1" cy="433"/>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3" name="Line 52"/>
            <p:cNvSpPr>
              <a:spLocks noChangeShapeType="1"/>
            </p:cNvSpPr>
            <p:nvPr/>
          </p:nvSpPr>
          <p:spPr bwMode="auto">
            <a:xfrm flipV="1">
              <a:off x="4349" y="2407"/>
              <a:ext cx="2" cy="431"/>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4" name="Freeform 53"/>
            <p:cNvSpPr>
              <a:spLocks/>
            </p:cNvSpPr>
            <p:nvPr/>
          </p:nvSpPr>
          <p:spPr bwMode="auto">
            <a:xfrm>
              <a:off x="4309" y="2334"/>
              <a:ext cx="80" cy="87"/>
            </a:xfrm>
            <a:custGeom>
              <a:avLst/>
              <a:gdLst>
                <a:gd name="T0" fmla="*/ 3642978 w 48"/>
                <a:gd name="T1" fmla="*/ 381018447 h 42"/>
                <a:gd name="T2" fmla="*/ 1843458 w 48"/>
                <a:gd name="T3" fmla="*/ 0 h 42"/>
                <a:gd name="T4" fmla="*/ 0 w 48"/>
                <a:gd name="T5" fmla="*/ 381018447 h 42"/>
                <a:gd name="T6" fmla="*/ 3642978 w 48"/>
                <a:gd name="T7" fmla="*/ 381018447 h 42"/>
                <a:gd name="T8" fmla="*/ 0 60000 65536"/>
                <a:gd name="T9" fmla="*/ 0 60000 65536"/>
                <a:gd name="T10" fmla="*/ 0 60000 65536"/>
                <a:gd name="T11" fmla="*/ 0 60000 65536"/>
                <a:gd name="T12" fmla="*/ 0 w 48"/>
                <a:gd name="T13" fmla="*/ 0 h 42"/>
                <a:gd name="T14" fmla="*/ 48 w 48"/>
                <a:gd name="T15" fmla="*/ 42 h 42"/>
              </a:gdLst>
              <a:ahLst/>
              <a:cxnLst>
                <a:cxn ang="T8">
                  <a:pos x="T0" y="T1"/>
                </a:cxn>
                <a:cxn ang="T9">
                  <a:pos x="T2" y="T3"/>
                </a:cxn>
                <a:cxn ang="T10">
                  <a:pos x="T4" y="T5"/>
                </a:cxn>
                <a:cxn ang="T11">
                  <a:pos x="T6" y="T7"/>
                </a:cxn>
              </a:cxnLst>
              <a:rect l="T12" t="T13" r="T14" b="T15"/>
              <a:pathLst>
                <a:path w="48" h="42">
                  <a:moveTo>
                    <a:pt x="48" y="42"/>
                  </a:moveTo>
                  <a:lnTo>
                    <a:pt x="24" y="0"/>
                  </a:lnTo>
                  <a:lnTo>
                    <a:pt x="0" y="42"/>
                  </a:lnTo>
                  <a:lnTo>
                    <a:pt x="48" y="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25" name="Freeform 54"/>
            <p:cNvSpPr>
              <a:spLocks/>
            </p:cNvSpPr>
            <p:nvPr/>
          </p:nvSpPr>
          <p:spPr bwMode="auto">
            <a:xfrm>
              <a:off x="4305" y="2328"/>
              <a:ext cx="88" cy="99"/>
            </a:xfrm>
            <a:custGeom>
              <a:avLst/>
              <a:gdLst>
                <a:gd name="T0" fmla="*/ 5523181 w 52"/>
                <a:gd name="T1" fmla="*/ 395903782 h 48"/>
                <a:gd name="T2" fmla="*/ 2751173 w 52"/>
                <a:gd name="T3" fmla="*/ 0 h 48"/>
                <a:gd name="T4" fmla="*/ 0 w 52"/>
                <a:gd name="T5" fmla="*/ 395903782 h 48"/>
                <a:gd name="T6" fmla="*/ 5523181 w 52"/>
                <a:gd name="T7" fmla="*/ 395903782 h 48"/>
                <a:gd name="T8" fmla="*/ 0 60000 65536"/>
                <a:gd name="T9" fmla="*/ 0 60000 65536"/>
                <a:gd name="T10" fmla="*/ 0 60000 65536"/>
                <a:gd name="T11" fmla="*/ 0 60000 65536"/>
                <a:gd name="T12" fmla="*/ 0 w 52"/>
                <a:gd name="T13" fmla="*/ 0 h 48"/>
                <a:gd name="T14" fmla="*/ 52 w 52"/>
                <a:gd name="T15" fmla="*/ 48 h 48"/>
              </a:gdLst>
              <a:ahLst/>
              <a:cxnLst>
                <a:cxn ang="T8">
                  <a:pos x="T0" y="T1"/>
                </a:cxn>
                <a:cxn ang="T9">
                  <a:pos x="T2" y="T3"/>
                </a:cxn>
                <a:cxn ang="T10">
                  <a:pos x="T4" y="T5"/>
                </a:cxn>
                <a:cxn ang="T11">
                  <a:pos x="T6" y="T7"/>
                </a:cxn>
              </a:cxnLst>
              <a:rect l="T12" t="T13" r="T14" b="T15"/>
              <a:pathLst>
                <a:path w="52" h="48">
                  <a:moveTo>
                    <a:pt x="52" y="48"/>
                  </a:moveTo>
                  <a:lnTo>
                    <a:pt x="26" y="0"/>
                  </a:lnTo>
                  <a:lnTo>
                    <a:pt x="0" y="48"/>
                  </a:lnTo>
                  <a:lnTo>
                    <a:pt x="52" y="4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26" name="Freeform 55"/>
            <p:cNvSpPr>
              <a:spLocks/>
            </p:cNvSpPr>
            <p:nvPr/>
          </p:nvSpPr>
          <p:spPr bwMode="auto">
            <a:xfrm>
              <a:off x="4497" y="2740"/>
              <a:ext cx="87" cy="98"/>
            </a:xfrm>
            <a:custGeom>
              <a:avLst/>
              <a:gdLst>
                <a:gd name="T0" fmla="*/ 4307338 w 52"/>
                <a:gd name="T1" fmla="*/ 0 h 47"/>
                <a:gd name="T2" fmla="*/ 2182571 w 52"/>
                <a:gd name="T3" fmla="*/ 491618209 h 47"/>
                <a:gd name="T4" fmla="*/ 0 w 52"/>
                <a:gd name="T5" fmla="*/ 0 h 47"/>
                <a:gd name="T6" fmla="*/ 4307338 w 52"/>
                <a:gd name="T7" fmla="*/ 0 h 47"/>
                <a:gd name="T8" fmla="*/ 0 60000 65536"/>
                <a:gd name="T9" fmla="*/ 0 60000 65536"/>
                <a:gd name="T10" fmla="*/ 0 60000 65536"/>
                <a:gd name="T11" fmla="*/ 0 60000 65536"/>
                <a:gd name="T12" fmla="*/ 0 w 52"/>
                <a:gd name="T13" fmla="*/ 0 h 47"/>
                <a:gd name="T14" fmla="*/ 52 w 52"/>
                <a:gd name="T15" fmla="*/ 47 h 47"/>
              </a:gdLst>
              <a:ahLst/>
              <a:cxnLst>
                <a:cxn ang="T8">
                  <a:pos x="T0" y="T1"/>
                </a:cxn>
                <a:cxn ang="T9">
                  <a:pos x="T2" y="T3"/>
                </a:cxn>
                <a:cxn ang="T10">
                  <a:pos x="T4" y="T5"/>
                </a:cxn>
                <a:cxn ang="T11">
                  <a:pos x="T6" y="T7"/>
                </a:cxn>
              </a:cxnLst>
              <a:rect l="T12" t="T13" r="T14" b="T15"/>
              <a:pathLst>
                <a:path w="52" h="47">
                  <a:moveTo>
                    <a:pt x="52" y="0"/>
                  </a:moveTo>
                  <a:lnTo>
                    <a:pt x="26" y="47"/>
                  </a:lnTo>
                  <a:lnTo>
                    <a:pt x="0" y="0"/>
                  </a:lnTo>
                  <a:lnTo>
                    <a:pt x="52"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4" name="Content Placeholder 2"/>
          <p:cNvSpPr txBox="1">
            <a:spLocks/>
          </p:cNvSpPr>
          <p:nvPr/>
        </p:nvSpPr>
        <p:spPr bwMode="auto">
          <a:xfrm>
            <a:off x="2438400" y="1524000"/>
            <a:ext cx="4343400" cy="533400"/>
          </a:xfrm>
          <a:prstGeom prst="rect">
            <a:avLst/>
          </a:prstGeom>
          <a:solidFill>
            <a:srgbClr val="92D050"/>
          </a:solidFill>
          <a:ln w="9525">
            <a:noFill/>
            <a:miter lim="800000"/>
            <a:headEnd/>
            <a:tailEnd/>
          </a:ln>
          <a:effectLst>
            <a:outerShdw blurRad="63500" sx="102000" sy="102000" algn="ctr" rotWithShape="0">
              <a:prstClr val="black">
                <a:alpha val="40000"/>
              </a:prstClr>
            </a:outerShdw>
          </a:effectLst>
        </p:spPr>
        <p:txBody>
          <a:bodyPr/>
          <a:lstStyle/>
          <a:p>
            <a:pPr marL="346075" lvl="1" indent="-346075" algn="ctr" fontAlgn="auto">
              <a:spcBef>
                <a:spcPct val="20000"/>
              </a:spcBef>
              <a:spcAft>
                <a:spcPts val="0"/>
              </a:spcAft>
              <a:buClr>
                <a:srgbClr val="002060"/>
              </a:buClr>
              <a:defRPr/>
            </a:pPr>
            <a:r>
              <a:rPr lang="en-US" sz="2400" b="1" dirty="0">
                <a:solidFill>
                  <a:srgbClr val="002060"/>
                </a:solidFill>
                <a:latin typeface="Times New Roman" pitchFamily="18" charset="0"/>
                <a:cs typeface="Times New Roman" pitchFamily="18" charset="0"/>
              </a:rPr>
              <a:t>Steps in the Delegation Process </a:t>
            </a:r>
          </a:p>
          <a:p>
            <a:pPr marL="803275" indent="-346075" eaLnBrk="0" hangingPunct="0">
              <a:spcBef>
                <a:spcPct val="20000"/>
              </a:spcBef>
              <a:buFont typeface="Arial" charset="0"/>
              <a:buNone/>
              <a:tabLst>
                <a:tab pos="0" algn="l"/>
              </a:tabLst>
              <a:defRPr/>
            </a:pPr>
            <a:endParaRPr lang="en-US" sz="2200" kern="0" dirty="0">
              <a:solidFill>
                <a:srgbClr val="002060"/>
              </a:solidFill>
              <a:latin typeface="Times New Roman" pitchFamily="18" charset="0"/>
              <a:cs typeface="Times New Roman" pitchFamily="18" charset="0"/>
            </a:endParaRPr>
          </a:p>
          <a:p>
            <a:pPr marL="803275" indent="-346075" eaLnBrk="0" hangingPunct="0">
              <a:spcBef>
                <a:spcPct val="20000"/>
              </a:spcBef>
              <a:buFont typeface="Arial" charset="0"/>
              <a:buNone/>
              <a:tabLst>
                <a:tab pos="0" algn="l"/>
              </a:tabLst>
              <a:defRPr/>
            </a:pPr>
            <a:endParaRPr lang="en-US" sz="2200" kern="0" dirty="0">
              <a:solidFill>
                <a:srgbClr val="002060"/>
              </a:solidFill>
              <a:latin typeface="Times New Roman" pitchFamily="18" charset="0"/>
              <a:cs typeface="Times New Roman" pitchFamily="18" charset="0"/>
            </a:endParaRPr>
          </a:p>
          <a:p>
            <a:pPr marL="346075" lvl="1" indent="-346075" fontAlgn="auto">
              <a:spcBef>
                <a:spcPct val="20000"/>
              </a:spcBef>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8610600" cy="4648200"/>
          </a:xfrm>
        </p:spPr>
        <p:txBody>
          <a:bodyPr rtlCol="0">
            <a:noAutofit/>
          </a:bodyPr>
          <a:lstStyle/>
          <a:p>
            <a:pPr marL="346075" lvl="1" indent="-346075" eaLnBrk="1" fontAlgn="auto" hangingPunct="1">
              <a:spcAft>
                <a:spcPts val="0"/>
              </a:spcAft>
              <a:buClr>
                <a:srgbClr val="002060"/>
              </a:buClr>
              <a:buFont typeface="Arial" charset="0"/>
              <a:buNone/>
              <a:defRPr/>
            </a:pPr>
            <a:r>
              <a:rPr lang="en-US" sz="2500" b="1" u="sng" dirty="0" smtClean="0">
                <a:solidFill>
                  <a:schemeClr val="accent2">
                    <a:lumMod val="50000"/>
                  </a:schemeClr>
                </a:solidFill>
                <a:latin typeface="Times New Roman" pitchFamily="18" charset="0"/>
                <a:cs typeface="Times New Roman" pitchFamily="18" charset="0"/>
              </a:rPr>
              <a:t>Centralization and Decentralization  </a:t>
            </a:r>
          </a:p>
          <a:p>
            <a:pPr marL="346075" lvl="1" indent="-346075" eaLnBrk="1" fontAlgn="auto" hangingPunct="1">
              <a:spcAft>
                <a:spcPts val="0"/>
              </a:spcAft>
              <a:buClr>
                <a:srgbClr val="002060"/>
              </a:buClr>
              <a:buFont typeface="Arial" charset="0"/>
              <a:buNone/>
              <a:defRPr/>
            </a:pPr>
            <a:endParaRPr lang="en-US" sz="800" b="1" u="sng" dirty="0" smtClean="0">
              <a:solidFill>
                <a:schemeClr val="accent2">
                  <a:lumMod val="50000"/>
                </a:schemeClr>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Centralization and decentralization pertain to the hierarchical level at which decisions are made. </a:t>
            </a:r>
          </a:p>
          <a:p>
            <a:pPr marL="236538" lvl="1" indent="-236538" eaLnBrk="1" fontAlgn="auto" hangingPunct="1">
              <a:spcAft>
                <a:spcPts val="0"/>
              </a:spcAft>
              <a:buClr>
                <a:srgbClr val="002060"/>
              </a:buClr>
              <a:buFont typeface="Wingdings" pitchFamily="2" charset="2"/>
              <a:buChar char="§"/>
              <a:defRPr/>
            </a:pPr>
            <a:endParaRPr lang="en-US" sz="12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Wingdings" pitchFamily="2" charset="2"/>
              <a:buChar char="§"/>
              <a:defRPr/>
            </a:pPr>
            <a:r>
              <a:rPr lang="en-US" sz="2400" b="1" dirty="0" smtClean="0">
                <a:solidFill>
                  <a:srgbClr val="002060"/>
                </a:solidFill>
                <a:latin typeface="Times New Roman" pitchFamily="18" charset="0"/>
                <a:cs typeface="Times New Roman" pitchFamily="18" charset="0"/>
              </a:rPr>
              <a:t>Centralization</a:t>
            </a:r>
            <a:r>
              <a:rPr lang="en-US" sz="2400" dirty="0" smtClean="0">
                <a:solidFill>
                  <a:srgbClr val="002060"/>
                </a:solidFill>
                <a:latin typeface="Times New Roman" pitchFamily="18" charset="0"/>
                <a:cs typeface="Times New Roman" pitchFamily="18" charset="0"/>
              </a:rPr>
              <a:t> </a:t>
            </a:r>
          </a:p>
          <a:p>
            <a:pPr marL="236538" lvl="1" indent="-236538" eaLnBrk="1" fontAlgn="auto" hangingPunct="1">
              <a:spcAft>
                <a:spcPts val="0"/>
              </a:spcAft>
              <a:buClr>
                <a:srgbClr val="002060"/>
              </a:buClr>
              <a:buFont typeface="Arial" charset="0"/>
              <a:buNone/>
              <a:defRPr/>
            </a:pPr>
            <a:r>
              <a:rPr lang="en-US" sz="2400" dirty="0" smtClean="0">
                <a:solidFill>
                  <a:srgbClr val="002060"/>
                </a:solidFill>
                <a:latin typeface="Times New Roman" pitchFamily="18" charset="0"/>
                <a:cs typeface="Times New Roman" pitchFamily="18" charset="0"/>
              </a:rPr>
              <a:t>   The process of systematically retaining decision authority in the hand of the higher level managers. </a:t>
            </a:r>
          </a:p>
          <a:p>
            <a:pPr marL="236538" lvl="1" indent="-236538" eaLnBrk="1" fontAlgn="auto" hangingPunct="1">
              <a:spcAft>
                <a:spcPts val="0"/>
              </a:spcAft>
              <a:buClr>
                <a:srgbClr val="002060"/>
              </a:buClr>
              <a:buFont typeface="Arial" charset="0"/>
              <a:buNone/>
              <a:defRPr/>
            </a:pPr>
            <a:endParaRPr lang="en-US" sz="12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Wingdings" pitchFamily="2" charset="2"/>
              <a:buChar char="§"/>
              <a:defRPr/>
            </a:pPr>
            <a:r>
              <a:rPr lang="en-US" sz="2400" b="1" dirty="0" smtClean="0">
                <a:solidFill>
                  <a:srgbClr val="002060"/>
                </a:solidFill>
                <a:latin typeface="Times New Roman" pitchFamily="18" charset="0"/>
                <a:cs typeface="Times New Roman" pitchFamily="18" charset="0"/>
              </a:rPr>
              <a:t>Decentralization </a:t>
            </a:r>
          </a:p>
          <a:p>
            <a:pPr marL="236538" lvl="1" indent="-236538" eaLnBrk="1" fontAlgn="auto" hangingPunct="1">
              <a:spcAft>
                <a:spcPts val="0"/>
              </a:spcAft>
              <a:buClr>
                <a:srgbClr val="002060"/>
              </a:buClr>
              <a:buFont typeface="Arial" charset="0"/>
              <a:buNone/>
              <a:defRPr/>
            </a:pPr>
            <a:r>
              <a:rPr lang="en-US" sz="2400" dirty="0" smtClean="0">
                <a:solidFill>
                  <a:srgbClr val="002060"/>
                </a:solidFill>
                <a:latin typeface="Times New Roman" pitchFamily="18" charset="0"/>
                <a:cs typeface="Times New Roman" pitchFamily="18" charset="0"/>
              </a:rPr>
              <a:t>   The process of systematically pushing down and delegating  the decision  authority throughout the </a:t>
            </a:r>
            <a:r>
              <a:rPr lang="en-US" sz="2400" dirty="0" err="1" smtClean="0">
                <a:solidFill>
                  <a:srgbClr val="002060"/>
                </a:solidFill>
                <a:latin typeface="Times New Roman" pitchFamily="18" charset="0"/>
                <a:cs typeface="Times New Roman" pitchFamily="18" charset="0"/>
              </a:rPr>
              <a:t>organisation</a:t>
            </a:r>
            <a:r>
              <a:rPr lang="en-US" sz="2400" dirty="0" smtClean="0">
                <a:solidFill>
                  <a:srgbClr val="002060"/>
                </a:solidFill>
                <a:latin typeface="Times New Roman" pitchFamily="18" charset="0"/>
                <a:cs typeface="Times New Roman" pitchFamily="18" charset="0"/>
              </a:rPr>
              <a:t> to middle and lower levels. </a:t>
            </a:r>
          </a:p>
          <a:p>
            <a:pPr marL="236538" lvl="1" indent="-236538"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Wingdings" pitchFamily="2" charset="2"/>
              <a:buChar char="§"/>
              <a:defRPr/>
            </a:pPr>
            <a:endParaRPr lang="en-US" sz="2200" dirty="0" smtClean="0">
              <a:solidFill>
                <a:srgbClr val="002060"/>
              </a:solidFill>
              <a:latin typeface="Times New Roman" pitchFamily="18" charset="0"/>
              <a:cs typeface="Times New Roman" pitchFamily="18" charset="0"/>
            </a:endParaRPr>
          </a:p>
          <a:p>
            <a:pPr marL="393700" lvl="2" indent="0" eaLnBrk="1" fontAlgn="auto" hangingPunct="1">
              <a:spcAft>
                <a:spcPts val="0"/>
              </a:spcAft>
              <a:buClr>
                <a:srgbClr val="002060"/>
              </a:buClr>
              <a:buFont typeface="Wingdings" pitchFamily="2" charset="2"/>
              <a:buChar char="§"/>
              <a:defRPr/>
            </a:pPr>
            <a:endParaRPr lang="en-US"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50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381000" y="228600"/>
            <a:ext cx="8458200" cy="533400"/>
          </a:xfrm>
        </p:spPr>
        <p:txBody>
          <a:bodyPr rtlCol="0">
            <a:noAutofit/>
          </a:bodyPr>
          <a:lstStyle/>
          <a:p>
            <a:pPr eaLnBrk="1" fontAlgn="auto" hangingPunct="1">
              <a:spcAft>
                <a:spcPts val="0"/>
              </a:spcAft>
              <a:defRPr/>
            </a:pPr>
            <a:r>
              <a:rPr lang="en-US" sz="3500" b="1" dirty="0" smtClean="0">
                <a:solidFill>
                  <a:schemeClr val="accent2">
                    <a:lumMod val="50000"/>
                  </a:schemeClr>
                </a:solidFill>
                <a:latin typeface="Times New Roman" pitchFamily="18" charset="0"/>
                <a:cs typeface="Times New Roman" pitchFamily="18" charset="0"/>
              </a:rPr>
              <a:t>Distributing Authority (Cont…) </a:t>
            </a:r>
            <a:endParaRPr lang="en-US" sz="35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5181600" y="5943600"/>
            <a:ext cx="30480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dirty="0">
                <a:solidFill>
                  <a:srgbClr val="002060"/>
                </a:solidFill>
                <a:latin typeface="Times New Roman" pitchFamily="18" charset="0"/>
                <a:cs typeface="Times New Roman" pitchFamily="18" charset="0"/>
              </a:rPr>
              <a:t>(Daft ,2012 ; Griffin , 2012) </a:t>
            </a:r>
            <a:endParaRPr lang="en-US" b="1" i="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77900"/>
            <a:ext cx="8534400" cy="4876800"/>
          </a:xfrm>
        </p:spPr>
        <p:txBody>
          <a:bodyPr rtlCol="0">
            <a:noAutofit/>
          </a:bodyPr>
          <a:lstStyle/>
          <a:p>
            <a:pPr marL="346075" lvl="1" indent="-346075" eaLnBrk="1" fontAlgn="auto" hangingPunct="1">
              <a:spcAft>
                <a:spcPts val="0"/>
              </a:spcAft>
              <a:buClr>
                <a:srgbClr val="002060"/>
              </a:buClr>
              <a:buFont typeface="Arial" charset="0"/>
              <a:buNone/>
              <a:defRPr/>
            </a:pPr>
            <a:r>
              <a:rPr lang="en-US" sz="2400" b="1" u="sng" dirty="0" smtClean="0">
                <a:solidFill>
                  <a:schemeClr val="accent2">
                    <a:lumMod val="50000"/>
                  </a:schemeClr>
                </a:solidFill>
                <a:latin typeface="Times New Roman" pitchFamily="18" charset="0"/>
                <a:cs typeface="Times New Roman" pitchFamily="18" charset="0"/>
              </a:rPr>
              <a:t>Centralization and Decentralization (Cont…)</a:t>
            </a:r>
          </a:p>
          <a:p>
            <a:pPr marL="236538" lvl="1" indent="-236538" eaLnBrk="1" fontAlgn="auto" hangingPunct="1">
              <a:spcAft>
                <a:spcPts val="0"/>
              </a:spcAft>
              <a:buClr>
                <a:srgbClr val="002060"/>
              </a:buClr>
              <a:buFont typeface="Wingdings" pitchFamily="2" charset="2"/>
              <a:buChar char="§"/>
              <a:defRPr/>
            </a:pPr>
            <a:r>
              <a:rPr lang="en-US" sz="2400" dirty="0" smtClean="0">
                <a:solidFill>
                  <a:srgbClr val="002060"/>
                </a:solidFill>
                <a:latin typeface="Times New Roman" pitchFamily="18" charset="0"/>
                <a:cs typeface="Times New Roman" pitchFamily="18" charset="0"/>
              </a:rPr>
              <a:t>Factors that typically influence the extent of centralization and decentralization are ;</a:t>
            </a:r>
          </a:p>
          <a:p>
            <a:pPr marL="236538" lvl="1" indent="-236538"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Arial" charset="0"/>
              <a:buNone/>
              <a:defRPr/>
            </a:pPr>
            <a:r>
              <a:rPr lang="en-US" sz="2400" dirty="0" smtClean="0">
                <a:solidFill>
                  <a:srgbClr val="002060"/>
                </a:solidFill>
                <a:latin typeface="Times New Roman" pitchFamily="18" charset="0"/>
                <a:cs typeface="Times New Roman" pitchFamily="18" charset="0"/>
              </a:rPr>
              <a:t>     1)  Greater change and uncertainty in the environment </a:t>
            </a:r>
          </a:p>
          <a:p>
            <a:pPr marL="236538" lvl="1" indent="-236538" eaLnBrk="1" fontAlgn="auto" hangingPunct="1">
              <a:spcAft>
                <a:spcPts val="0"/>
              </a:spcAft>
              <a:buClr>
                <a:srgbClr val="002060"/>
              </a:buClr>
              <a:buFont typeface="Arial" charset="0"/>
              <a:buNone/>
              <a:defRPr/>
            </a:pPr>
            <a:endParaRPr lang="en-US" sz="8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Arial" charset="0"/>
              <a:buNone/>
              <a:defRPr/>
            </a:pPr>
            <a:r>
              <a:rPr lang="en-US" sz="2400" dirty="0" smtClean="0">
                <a:solidFill>
                  <a:srgbClr val="002060"/>
                </a:solidFill>
                <a:latin typeface="Times New Roman" pitchFamily="18" charset="0"/>
                <a:cs typeface="Times New Roman" pitchFamily="18" charset="0"/>
              </a:rPr>
              <a:t>     2)  The history of the </a:t>
            </a:r>
            <a:r>
              <a:rPr lang="en-US" sz="2400" dirty="0" err="1" smtClean="0">
                <a:solidFill>
                  <a:srgbClr val="002060"/>
                </a:solidFill>
                <a:latin typeface="Times New Roman" pitchFamily="18" charset="0"/>
                <a:cs typeface="Times New Roman" pitchFamily="18" charset="0"/>
              </a:rPr>
              <a:t>organisation</a:t>
            </a:r>
            <a:r>
              <a:rPr lang="en-US" sz="2400" dirty="0" smtClean="0">
                <a:solidFill>
                  <a:srgbClr val="002060"/>
                </a:solidFill>
                <a:latin typeface="Times New Roman" pitchFamily="18" charset="0"/>
                <a:cs typeface="Times New Roman" pitchFamily="18" charset="0"/>
              </a:rPr>
              <a:t> </a:t>
            </a:r>
          </a:p>
          <a:p>
            <a:pPr marL="236538" lvl="1" indent="-236538" eaLnBrk="1" fontAlgn="auto" hangingPunct="1">
              <a:spcAft>
                <a:spcPts val="0"/>
              </a:spcAft>
              <a:buClr>
                <a:srgbClr val="002060"/>
              </a:buClr>
              <a:buFont typeface="Arial" charset="0"/>
              <a:buNone/>
              <a:defRPr/>
            </a:pPr>
            <a:endParaRPr lang="en-US" sz="8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Arial" charset="0"/>
              <a:buNone/>
              <a:defRPr/>
            </a:pPr>
            <a:r>
              <a:rPr lang="en-US" sz="2400" dirty="0" smtClean="0">
                <a:solidFill>
                  <a:srgbClr val="002060"/>
                </a:solidFill>
                <a:latin typeface="Times New Roman" pitchFamily="18" charset="0"/>
                <a:cs typeface="Times New Roman" pitchFamily="18" charset="0"/>
              </a:rPr>
              <a:t>     3)  The </a:t>
            </a:r>
            <a:r>
              <a:rPr lang="en-US" sz="2400" dirty="0" err="1" smtClean="0">
                <a:solidFill>
                  <a:srgbClr val="002060"/>
                </a:solidFill>
                <a:latin typeface="Times New Roman" pitchFamily="18" charset="0"/>
                <a:cs typeface="Times New Roman" pitchFamily="18" charset="0"/>
              </a:rPr>
              <a:t>organisation’s</a:t>
            </a:r>
            <a:r>
              <a:rPr lang="en-US" sz="2400" dirty="0" smtClean="0">
                <a:solidFill>
                  <a:srgbClr val="002060"/>
                </a:solidFill>
                <a:latin typeface="Times New Roman" pitchFamily="18" charset="0"/>
                <a:cs typeface="Times New Roman" pitchFamily="18" charset="0"/>
              </a:rPr>
              <a:t> strategy </a:t>
            </a:r>
          </a:p>
          <a:p>
            <a:pPr marL="236538" lvl="1" indent="-236538" eaLnBrk="1" fontAlgn="auto" hangingPunct="1">
              <a:spcAft>
                <a:spcPts val="0"/>
              </a:spcAft>
              <a:buClr>
                <a:srgbClr val="002060"/>
              </a:buClr>
              <a:buFont typeface="Arial" charset="0"/>
              <a:buNone/>
              <a:defRPr/>
            </a:pPr>
            <a:endParaRPr lang="en-US" sz="8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Arial" charset="0"/>
              <a:buNone/>
              <a:defRPr/>
            </a:pPr>
            <a:r>
              <a:rPr lang="en-US" sz="2400" dirty="0" smtClean="0">
                <a:solidFill>
                  <a:srgbClr val="002060"/>
                </a:solidFill>
                <a:latin typeface="Times New Roman" pitchFamily="18" charset="0"/>
                <a:cs typeface="Times New Roman" pitchFamily="18" charset="0"/>
              </a:rPr>
              <a:t>     4)  The nature of the decision </a:t>
            </a:r>
          </a:p>
          <a:p>
            <a:pPr marL="236538" lvl="1" indent="-236538" eaLnBrk="1" fontAlgn="auto" hangingPunct="1">
              <a:spcAft>
                <a:spcPts val="0"/>
              </a:spcAft>
              <a:buClr>
                <a:srgbClr val="002060"/>
              </a:buClr>
              <a:buFont typeface="Arial" charset="0"/>
              <a:buNone/>
              <a:defRPr/>
            </a:pPr>
            <a:endParaRPr lang="en-US" sz="8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Arial" charset="0"/>
              <a:buNone/>
              <a:defRPr/>
            </a:pPr>
            <a:r>
              <a:rPr lang="en-US" sz="2400" dirty="0" smtClean="0">
                <a:solidFill>
                  <a:srgbClr val="002060"/>
                </a:solidFill>
                <a:latin typeface="Times New Roman" pitchFamily="18" charset="0"/>
                <a:cs typeface="Times New Roman" pitchFamily="18" charset="0"/>
              </a:rPr>
              <a:t>     5)  Abilities of lower level managers </a:t>
            </a:r>
          </a:p>
          <a:p>
            <a:pPr marL="236538" lvl="1" indent="-236538"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 </a:t>
            </a:r>
          </a:p>
          <a:p>
            <a:pPr marL="236538" lvl="1" indent="-236538"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Wingdings" pitchFamily="2" charset="2"/>
              <a:buChar char="§"/>
              <a:defRPr/>
            </a:pPr>
            <a:endParaRPr lang="en-US" sz="2200" dirty="0" smtClean="0">
              <a:solidFill>
                <a:srgbClr val="002060"/>
              </a:solidFill>
              <a:latin typeface="Times New Roman" pitchFamily="18" charset="0"/>
              <a:cs typeface="Times New Roman" pitchFamily="18" charset="0"/>
            </a:endParaRPr>
          </a:p>
          <a:p>
            <a:pPr marL="393700" lvl="2" indent="0" eaLnBrk="1" fontAlgn="auto" hangingPunct="1">
              <a:spcAft>
                <a:spcPts val="0"/>
              </a:spcAft>
              <a:buClr>
                <a:srgbClr val="002060"/>
              </a:buClr>
              <a:buFont typeface="Wingdings" pitchFamily="2" charset="2"/>
              <a:buChar char="§"/>
              <a:defRPr/>
            </a:pPr>
            <a:endParaRPr lang="en-US"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50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307975" y="263525"/>
            <a:ext cx="8458200" cy="533400"/>
          </a:xfrm>
        </p:spPr>
        <p:txBody>
          <a:bodyPr rtlCol="0">
            <a:noAutofit/>
          </a:bodyPr>
          <a:lstStyle/>
          <a:p>
            <a:pPr eaLnBrk="1" fontAlgn="auto" hangingPunct="1">
              <a:spcAft>
                <a:spcPts val="0"/>
              </a:spcAft>
              <a:defRPr/>
            </a:pPr>
            <a:r>
              <a:rPr lang="en-US" sz="3500" b="1" dirty="0" smtClean="0">
                <a:solidFill>
                  <a:schemeClr val="accent2">
                    <a:lumMod val="50000"/>
                  </a:schemeClr>
                </a:solidFill>
                <a:latin typeface="Times New Roman" pitchFamily="18" charset="0"/>
                <a:cs typeface="Times New Roman" pitchFamily="18" charset="0"/>
              </a:rPr>
              <a:t>Distributing Authority (Cont…) </a:t>
            </a:r>
            <a:endParaRPr lang="en-US" sz="35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5410200" y="5334000"/>
            <a:ext cx="30480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dirty="0">
                <a:solidFill>
                  <a:srgbClr val="002060"/>
                </a:solidFill>
                <a:latin typeface="Times New Roman" pitchFamily="18" charset="0"/>
                <a:cs typeface="Times New Roman" pitchFamily="18" charset="0"/>
              </a:rPr>
              <a:t>(Daft ,2012 ; Griffin , 2012) </a:t>
            </a:r>
            <a:endParaRPr lang="en-US" b="1" i="1"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19200"/>
            <a:ext cx="8839200" cy="1752600"/>
          </a:xfrm>
        </p:spPr>
        <p:txBody>
          <a:bodyPr rtlCol="0">
            <a:noAutofit/>
          </a:bodyPr>
          <a:lstStyle/>
          <a:p>
            <a:pPr marL="346075" lvl="1" indent="-346075" eaLnBrk="1" fontAlgn="auto" hangingPunct="1">
              <a:spcAft>
                <a:spcPts val="0"/>
              </a:spcAft>
              <a:buClr>
                <a:srgbClr val="002060"/>
              </a:buClr>
              <a:buFont typeface="Arial" charset="0"/>
              <a:buNone/>
              <a:defRPr/>
            </a:pPr>
            <a:r>
              <a:rPr lang="en-US" b="1" dirty="0" smtClean="0">
                <a:solidFill>
                  <a:schemeClr val="accent2">
                    <a:lumMod val="50000"/>
                  </a:schemeClr>
                </a:solidFill>
                <a:latin typeface="Times New Roman" pitchFamily="18" charset="0"/>
                <a:cs typeface="Times New Roman" pitchFamily="18" charset="0"/>
              </a:rPr>
              <a:t>What is Responsibility?</a:t>
            </a:r>
          </a:p>
          <a:p>
            <a:pPr marL="346075" lvl="1" indent="-346075" eaLnBrk="1" fontAlgn="auto" hangingPunct="1">
              <a:spcAft>
                <a:spcPts val="0"/>
              </a:spcAft>
              <a:buClr>
                <a:srgbClr val="002060"/>
              </a:buClr>
              <a:buFont typeface="Arial" charset="0"/>
              <a:buNone/>
              <a:defRPr/>
            </a:pPr>
            <a:endParaRPr lang="en-US" sz="800" b="1" u="sng" dirty="0" smtClean="0">
              <a:solidFill>
                <a:schemeClr val="accent2">
                  <a:lumMod val="50000"/>
                </a:schemeClr>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r>
              <a:rPr lang="en-US" sz="2300" dirty="0" smtClean="0">
                <a:solidFill>
                  <a:srgbClr val="002060"/>
                </a:solidFill>
                <a:latin typeface="Times New Roman" pitchFamily="18" charset="0"/>
                <a:cs typeface="Times New Roman" pitchFamily="18" charset="0"/>
              </a:rPr>
              <a:t>Responsibility is the moral and legal obligation to perform the assigned tasks to the satisfaction of the superiors. </a:t>
            </a:r>
          </a:p>
          <a:p>
            <a:pPr marL="346075" lvl="1" indent="-346075"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2400" b="1" u="sng" dirty="0" smtClean="0">
              <a:solidFill>
                <a:schemeClr val="accent2">
                  <a:lumMod val="50000"/>
                </a:schemeClr>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Arial" charset="0"/>
              <a:buNone/>
              <a:defRPr/>
            </a:pPr>
            <a:endParaRPr lang="en-US" sz="2200" kern="0" dirty="0" smtClean="0">
              <a:solidFill>
                <a:srgbClr val="002060"/>
              </a:solidFill>
              <a:latin typeface="Times New Roman" pitchFamily="18" charset="0"/>
              <a:cs typeface="Times New Roman" pitchFamily="18" charset="0"/>
            </a:endParaRPr>
          </a:p>
          <a:p>
            <a:pPr marL="803275" indent="-346075">
              <a:buFont typeface="Arial" charset="0"/>
              <a:buNone/>
              <a:tabLst>
                <a:tab pos="0" algn="l"/>
              </a:tabLst>
              <a:defRPr/>
            </a:pPr>
            <a:endParaRPr lang="en-US" sz="2200" kern="0" dirty="0" smtClean="0">
              <a:solidFill>
                <a:srgbClr val="002060"/>
              </a:solidFill>
              <a:latin typeface="Times New Roman" pitchFamily="18" charset="0"/>
              <a:cs typeface="Times New Roman" pitchFamily="18" charset="0"/>
            </a:endParaRPr>
          </a:p>
          <a:p>
            <a:pPr marL="346075" lvl="1" indent="-346075" eaLnBrk="1" fontAlgn="auto" hangingPunct="1">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
        <p:nvSpPr>
          <p:cNvPr id="11" name="Title 10"/>
          <p:cNvSpPr>
            <a:spLocks noGrp="1"/>
          </p:cNvSpPr>
          <p:nvPr>
            <p:ph type="title"/>
          </p:nvPr>
        </p:nvSpPr>
        <p:spPr>
          <a:xfrm>
            <a:off x="381000" y="304800"/>
            <a:ext cx="8458200" cy="533400"/>
          </a:xfrm>
        </p:spPr>
        <p:txBody>
          <a:bodyPr rtlCol="0">
            <a:noAutofit/>
          </a:bodyPr>
          <a:lstStyle/>
          <a:p>
            <a:pPr eaLnBrk="1" fontAlgn="auto" hangingPunct="1">
              <a:spcAft>
                <a:spcPts val="0"/>
              </a:spcAft>
              <a:defRPr/>
            </a:pPr>
            <a:r>
              <a:rPr lang="en-US" sz="3600" b="1" dirty="0" smtClean="0">
                <a:solidFill>
                  <a:schemeClr val="accent2">
                    <a:lumMod val="50000"/>
                  </a:schemeClr>
                </a:solidFill>
                <a:latin typeface="Times New Roman" pitchFamily="18" charset="0"/>
                <a:cs typeface="Times New Roman" pitchFamily="18" charset="0"/>
              </a:rPr>
              <a:t>Distributing Authority (Cont…)  </a:t>
            </a:r>
            <a:endParaRPr lang="en-US" sz="3600" b="1" dirty="0">
              <a:solidFill>
                <a:schemeClr val="accent2">
                  <a:lumMod val="50000"/>
                </a:schemeClr>
              </a:solidFill>
              <a:latin typeface="Times New Roman" pitchFamily="18" charset="0"/>
              <a:cs typeface="Times New Roman" pitchFamily="18" charset="0"/>
            </a:endParaRPr>
          </a:p>
        </p:txBody>
      </p:sp>
      <p:sp>
        <p:nvSpPr>
          <p:cNvPr id="9" name="Content Placeholder 2"/>
          <p:cNvSpPr txBox="1">
            <a:spLocks/>
          </p:cNvSpPr>
          <p:nvPr/>
        </p:nvSpPr>
        <p:spPr bwMode="auto">
          <a:xfrm>
            <a:off x="304800" y="3505200"/>
            <a:ext cx="8839200" cy="1524000"/>
          </a:xfrm>
          <a:prstGeom prst="rect">
            <a:avLst/>
          </a:prstGeom>
          <a:noFill/>
          <a:ln w="9525">
            <a:noFill/>
            <a:miter lim="800000"/>
            <a:headEnd/>
            <a:tailEnd/>
          </a:ln>
        </p:spPr>
        <p:txBody>
          <a:bodyPr/>
          <a:lstStyle/>
          <a:p>
            <a:pPr marL="346075" lvl="1" indent="-346075" fontAlgn="auto">
              <a:spcBef>
                <a:spcPct val="20000"/>
              </a:spcBef>
              <a:spcAft>
                <a:spcPts val="0"/>
              </a:spcAft>
              <a:buClr>
                <a:srgbClr val="002060"/>
              </a:buClr>
              <a:buFont typeface="Arial" charset="0"/>
              <a:buNone/>
              <a:defRPr/>
            </a:pPr>
            <a:r>
              <a:rPr lang="en-US" sz="2800" b="1" dirty="0">
                <a:solidFill>
                  <a:schemeClr val="accent2">
                    <a:lumMod val="50000"/>
                  </a:schemeClr>
                </a:solidFill>
                <a:latin typeface="Times New Roman" pitchFamily="18" charset="0"/>
                <a:cs typeface="Times New Roman" pitchFamily="18" charset="0"/>
              </a:rPr>
              <a:t>What is Accountability?</a:t>
            </a:r>
          </a:p>
          <a:p>
            <a:pPr marL="346075" lvl="1" indent="-346075" fontAlgn="auto">
              <a:spcBef>
                <a:spcPct val="20000"/>
              </a:spcBef>
              <a:spcAft>
                <a:spcPts val="0"/>
              </a:spcAft>
              <a:buClr>
                <a:srgbClr val="002060"/>
              </a:buClr>
              <a:buFont typeface="Arial" charset="0"/>
              <a:buNone/>
              <a:defRPr/>
            </a:pPr>
            <a:endParaRPr lang="en-US" sz="800" b="1" u="sng" dirty="0">
              <a:solidFill>
                <a:schemeClr val="accent2">
                  <a:lumMod val="50000"/>
                </a:schemeClr>
              </a:solidFill>
              <a:latin typeface="Times New Roman" pitchFamily="18" charset="0"/>
              <a:cs typeface="Times New Roman" pitchFamily="18" charset="0"/>
            </a:endParaRPr>
          </a:p>
          <a:p>
            <a:pPr marL="346075" lvl="1" indent="-346075" fontAlgn="auto">
              <a:spcBef>
                <a:spcPct val="20000"/>
              </a:spcBef>
              <a:spcAft>
                <a:spcPts val="0"/>
              </a:spcAft>
              <a:buClr>
                <a:srgbClr val="002060"/>
              </a:buClr>
              <a:buFont typeface="Wingdings" pitchFamily="2" charset="2"/>
              <a:buChar char="§"/>
              <a:defRPr/>
            </a:pPr>
            <a:r>
              <a:rPr lang="en-US" sz="2200" dirty="0">
                <a:solidFill>
                  <a:srgbClr val="002060"/>
                </a:solidFill>
                <a:latin typeface="Times New Roman" pitchFamily="18" charset="0"/>
                <a:cs typeface="Times New Roman" pitchFamily="18" charset="0"/>
              </a:rPr>
              <a:t>Accountability is answering for the result of one's actions or omissions and is the final act in the establishment of one's credibility.</a:t>
            </a:r>
          </a:p>
          <a:p>
            <a:pPr marL="346075" lvl="1" indent="-346075" fontAlgn="auto">
              <a:spcBef>
                <a:spcPct val="20000"/>
              </a:spcBef>
              <a:spcAft>
                <a:spcPts val="0"/>
              </a:spcAft>
              <a:buClr>
                <a:srgbClr val="002060"/>
              </a:buClr>
              <a:buFont typeface="Wingdings" pitchFamily="2" charset="2"/>
              <a:buChar char="§"/>
              <a:defRPr/>
            </a:pPr>
            <a:endParaRPr lang="en-US" sz="1200" dirty="0">
              <a:solidFill>
                <a:srgbClr val="002060"/>
              </a:solidFill>
              <a:latin typeface="Times New Roman" pitchFamily="18" charset="0"/>
              <a:cs typeface="Times New Roman" pitchFamily="18" charset="0"/>
            </a:endParaRPr>
          </a:p>
          <a:p>
            <a:pPr marL="346075" lvl="1" indent="-346075" fontAlgn="auto">
              <a:spcBef>
                <a:spcPct val="20000"/>
              </a:spcBef>
              <a:spcAft>
                <a:spcPts val="0"/>
              </a:spcAft>
              <a:buClr>
                <a:srgbClr val="002060"/>
              </a:buClr>
              <a:buFont typeface="Wingdings" pitchFamily="2" charset="2"/>
              <a:buChar char="§"/>
              <a:defRPr/>
            </a:pPr>
            <a:endParaRPr lang="en-US" sz="2400" b="1" u="sng" dirty="0">
              <a:solidFill>
                <a:schemeClr val="accent2">
                  <a:lumMod val="50000"/>
                </a:schemeClr>
              </a:solidFill>
              <a:latin typeface="Times New Roman" pitchFamily="18" charset="0"/>
              <a:cs typeface="Times New Roman" pitchFamily="18" charset="0"/>
            </a:endParaRPr>
          </a:p>
          <a:p>
            <a:pPr marL="346075" lvl="1" indent="-346075" fontAlgn="auto">
              <a:spcBef>
                <a:spcPct val="20000"/>
              </a:spcBef>
              <a:spcAft>
                <a:spcPts val="0"/>
              </a:spcAft>
              <a:buClr>
                <a:srgbClr val="002060"/>
              </a:buClr>
              <a:buFont typeface="Arial" charset="0"/>
              <a:buNone/>
              <a:defRPr/>
            </a:pPr>
            <a:endParaRPr lang="en-US" sz="2200" kern="0" dirty="0">
              <a:solidFill>
                <a:srgbClr val="002060"/>
              </a:solidFill>
              <a:latin typeface="Times New Roman" pitchFamily="18" charset="0"/>
              <a:cs typeface="Times New Roman" pitchFamily="18" charset="0"/>
            </a:endParaRPr>
          </a:p>
          <a:p>
            <a:pPr marL="803275" indent="-346075" eaLnBrk="0" hangingPunct="0">
              <a:spcBef>
                <a:spcPct val="20000"/>
              </a:spcBef>
              <a:buFont typeface="Arial" charset="0"/>
              <a:buNone/>
              <a:tabLst>
                <a:tab pos="0" algn="l"/>
              </a:tabLst>
              <a:defRPr/>
            </a:pPr>
            <a:endParaRPr lang="en-US" sz="2200" kern="0" dirty="0">
              <a:solidFill>
                <a:srgbClr val="002060"/>
              </a:solidFill>
              <a:latin typeface="Times New Roman" pitchFamily="18" charset="0"/>
              <a:cs typeface="Times New Roman" pitchFamily="18" charset="0"/>
            </a:endParaRPr>
          </a:p>
          <a:p>
            <a:pPr marL="346075" lvl="1" indent="-346075" fontAlgn="auto">
              <a:spcBef>
                <a:spcPct val="20000"/>
              </a:spcBef>
              <a:spcAft>
                <a:spcPts val="0"/>
              </a:spcAft>
              <a:buClr>
                <a:srgbClr val="002060"/>
              </a:buClr>
              <a:buFont typeface="Wingdings" pitchFamily="2" charset="2"/>
              <a:buChar char="§"/>
              <a:defRPr/>
            </a:pPr>
            <a:endParaRPr lang="en-US" sz="2200" dirty="0">
              <a:solidFill>
                <a:srgbClr val="002060"/>
              </a:solidFill>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0"/>
            <a:ext cx="8534400" cy="5029200"/>
          </a:xfrm>
        </p:spPr>
        <p:txBody>
          <a:bodyPr rtlCol="0">
            <a:noAutofit/>
          </a:bodyPr>
          <a:lstStyle/>
          <a:p>
            <a:pPr marL="236538" lvl="1" indent="-236538" eaLnBrk="1" fontAlgn="auto" hangingPunct="1">
              <a:spcAft>
                <a:spcPts val="0"/>
              </a:spcAft>
              <a:buClr>
                <a:srgbClr val="002060"/>
              </a:buClr>
              <a:buFont typeface="Wingdings" pitchFamily="2" charset="2"/>
              <a:buChar char="§"/>
              <a:defRPr/>
            </a:pPr>
            <a:r>
              <a:rPr lang="en-US" sz="2300" dirty="0" smtClean="0">
                <a:solidFill>
                  <a:srgbClr val="002060"/>
                </a:solidFill>
                <a:latin typeface="Times New Roman" pitchFamily="18" charset="0"/>
                <a:cs typeface="Times New Roman" pitchFamily="18" charset="0"/>
              </a:rPr>
              <a:t>The process of linking the activities of the various departments of the </a:t>
            </a:r>
            <a:r>
              <a:rPr lang="en-US" sz="2300" dirty="0" err="1" smtClean="0">
                <a:solidFill>
                  <a:srgbClr val="002060"/>
                </a:solidFill>
                <a:latin typeface="Times New Roman" pitchFamily="18" charset="0"/>
                <a:cs typeface="Times New Roman" pitchFamily="18" charset="0"/>
              </a:rPr>
              <a:t>organisation</a:t>
            </a:r>
            <a:r>
              <a:rPr lang="en-US" sz="2300" dirty="0" smtClean="0">
                <a:solidFill>
                  <a:srgbClr val="002060"/>
                </a:solidFill>
                <a:latin typeface="Times New Roman" pitchFamily="18" charset="0"/>
                <a:cs typeface="Times New Roman" pitchFamily="18" charset="0"/>
              </a:rPr>
              <a:t>. </a:t>
            </a:r>
          </a:p>
          <a:p>
            <a:pPr marL="236538" lvl="1" indent="-236538" eaLnBrk="1" fontAlgn="auto" hangingPunct="1">
              <a:spcAft>
                <a:spcPts val="0"/>
              </a:spcAft>
              <a:buClr>
                <a:srgbClr val="002060"/>
              </a:buClr>
              <a:buFont typeface="Wingdings" pitchFamily="2" charset="2"/>
              <a:buChar char="§"/>
              <a:defRPr/>
            </a:pPr>
            <a:endParaRPr lang="en-US" sz="18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Wingdings" pitchFamily="2" charset="2"/>
              <a:buChar char="§"/>
              <a:defRPr/>
            </a:pPr>
            <a:r>
              <a:rPr lang="en-US" sz="2300" dirty="0" smtClean="0">
                <a:solidFill>
                  <a:srgbClr val="002060"/>
                </a:solidFill>
                <a:latin typeface="Times New Roman" pitchFamily="18" charset="0"/>
                <a:cs typeface="Times New Roman" pitchFamily="18" charset="0"/>
              </a:rPr>
              <a:t>The primary reason for coordination is that departments and work groups should be interdependent to achieve the common objectives of the </a:t>
            </a:r>
            <a:r>
              <a:rPr lang="en-US" sz="2300" dirty="0" err="1" smtClean="0">
                <a:solidFill>
                  <a:srgbClr val="002060"/>
                </a:solidFill>
                <a:latin typeface="Times New Roman" pitchFamily="18" charset="0"/>
                <a:cs typeface="Times New Roman" pitchFamily="18" charset="0"/>
              </a:rPr>
              <a:t>organisation</a:t>
            </a:r>
            <a:r>
              <a:rPr lang="en-US" sz="2300" dirty="0" smtClean="0">
                <a:solidFill>
                  <a:srgbClr val="002060"/>
                </a:solidFill>
                <a:latin typeface="Times New Roman" pitchFamily="18" charset="0"/>
                <a:cs typeface="Times New Roman" pitchFamily="18" charset="0"/>
              </a:rPr>
              <a:t>. </a:t>
            </a:r>
          </a:p>
          <a:p>
            <a:pPr marL="236538" lvl="1" indent="-236538" eaLnBrk="1" fontAlgn="auto" hangingPunct="1">
              <a:spcAft>
                <a:spcPts val="0"/>
              </a:spcAft>
              <a:buClr>
                <a:srgbClr val="002060"/>
              </a:buClr>
              <a:buFont typeface="Wingdings" pitchFamily="2" charset="2"/>
              <a:buChar char="§"/>
              <a:defRPr/>
            </a:pPr>
            <a:endParaRPr lang="en-US" sz="18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Wingdings" pitchFamily="2" charset="2"/>
              <a:buChar char="§"/>
              <a:defRPr/>
            </a:pPr>
            <a:r>
              <a:rPr lang="en-US" sz="2300" dirty="0" smtClean="0">
                <a:solidFill>
                  <a:srgbClr val="002060"/>
                </a:solidFill>
                <a:latin typeface="Times New Roman" pitchFamily="18" charset="0"/>
                <a:cs typeface="Times New Roman" pitchFamily="18" charset="0"/>
              </a:rPr>
              <a:t>Commonly used coordination devices are; </a:t>
            </a:r>
          </a:p>
          <a:p>
            <a:pPr marL="1260475" lvl="1" indent="-282575" eaLnBrk="1" fontAlgn="auto" hangingPunct="1">
              <a:spcAft>
                <a:spcPts val="0"/>
              </a:spcAft>
              <a:buClr>
                <a:srgbClr val="002060"/>
              </a:buClr>
              <a:buFont typeface="Wingdings" pitchFamily="2" charset="2"/>
              <a:buChar char="§"/>
              <a:defRPr/>
            </a:pPr>
            <a:r>
              <a:rPr lang="en-US" sz="2300" dirty="0" smtClean="0">
                <a:solidFill>
                  <a:srgbClr val="002060"/>
                </a:solidFill>
                <a:latin typeface="Times New Roman" pitchFamily="18" charset="0"/>
                <a:cs typeface="Times New Roman" pitchFamily="18" charset="0"/>
              </a:rPr>
              <a:t>The Managerial Hierarchy</a:t>
            </a:r>
          </a:p>
          <a:p>
            <a:pPr marL="1260475" lvl="1" indent="-282575" eaLnBrk="1" fontAlgn="auto" hangingPunct="1">
              <a:spcAft>
                <a:spcPts val="0"/>
              </a:spcAft>
              <a:buClr>
                <a:srgbClr val="002060"/>
              </a:buClr>
              <a:buFont typeface="Wingdings" pitchFamily="2" charset="2"/>
              <a:buChar char="§"/>
              <a:defRPr/>
            </a:pPr>
            <a:r>
              <a:rPr lang="en-US" sz="2300" dirty="0" smtClean="0">
                <a:solidFill>
                  <a:srgbClr val="002060"/>
                </a:solidFill>
                <a:latin typeface="Times New Roman" pitchFamily="18" charset="0"/>
                <a:cs typeface="Times New Roman" pitchFamily="18" charset="0"/>
              </a:rPr>
              <a:t>Policies, Procedures, Rules and Regulations</a:t>
            </a:r>
          </a:p>
          <a:p>
            <a:pPr marL="1260475" lvl="1" indent="-282575" eaLnBrk="1" fontAlgn="auto" hangingPunct="1">
              <a:spcAft>
                <a:spcPts val="0"/>
              </a:spcAft>
              <a:buClr>
                <a:srgbClr val="002060"/>
              </a:buClr>
              <a:buFont typeface="Wingdings" pitchFamily="2" charset="2"/>
              <a:buChar char="§"/>
              <a:defRPr/>
            </a:pPr>
            <a:r>
              <a:rPr lang="en-US" sz="2300" dirty="0" smtClean="0">
                <a:solidFill>
                  <a:srgbClr val="002060"/>
                </a:solidFill>
                <a:latin typeface="Times New Roman" pitchFamily="18" charset="0"/>
                <a:cs typeface="Times New Roman" pitchFamily="18" charset="0"/>
              </a:rPr>
              <a:t>Liaison Roles</a:t>
            </a:r>
          </a:p>
          <a:p>
            <a:pPr marL="1260475" lvl="1" indent="-282575" eaLnBrk="1" fontAlgn="auto" hangingPunct="1">
              <a:spcAft>
                <a:spcPts val="0"/>
              </a:spcAft>
              <a:buClr>
                <a:srgbClr val="002060"/>
              </a:buClr>
              <a:buFont typeface="Wingdings" pitchFamily="2" charset="2"/>
              <a:buChar char="§"/>
              <a:defRPr/>
            </a:pPr>
            <a:r>
              <a:rPr lang="en-US" sz="2300" dirty="0" smtClean="0">
                <a:solidFill>
                  <a:srgbClr val="002060"/>
                </a:solidFill>
                <a:latin typeface="Times New Roman" pitchFamily="18" charset="0"/>
                <a:cs typeface="Times New Roman" pitchFamily="18" charset="0"/>
              </a:rPr>
              <a:t>Task Forces</a:t>
            </a:r>
          </a:p>
          <a:p>
            <a:pPr marL="236538" lvl="1" indent="-236538"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Arial" charset="0"/>
              <a:buNone/>
              <a:defRPr/>
            </a:pPr>
            <a:r>
              <a:rPr lang="en-US" sz="2200" dirty="0" smtClean="0">
                <a:solidFill>
                  <a:srgbClr val="002060"/>
                </a:solidFill>
                <a:latin typeface="Times New Roman" pitchFamily="18" charset="0"/>
                <a:cs typeface="Times New Roman" pitchFamily="18" charset="0"/>
              </a:rPr>
              <a:t> </a:t>
            </a:r>
          </a:p>
          <a:p>
            <a:pPr marL="236538" lvl="1" indent="-236538"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304800" y="304800"/>
            <a:ext cx="8458200" cy="533400"/>
          </a:xfrm>
        </p:spPr>
        <p:txBody>
          <a:bodyPr rtlCol="0">
            <a:noAutofit/>
          </a:bodyPr>
          <a:lstStyle/>
          <a:p>
            <a:pPr eaLnBrk="1" fontAlgn="auto" hangingPunct="1">
              <a:spcAft>
                <a:spcPts val="0"/>
              </a:spcAft>
              <a:defRPr/>
            </a:pPr>
            <a:r>
              <a:rPr lang="en-US" sz="3500" b="1" dirty="0" smtClean="0">
                <a:solidFill>
                  <a:schemeClr val="accent2">
                    <a:lumMod val="50000"/>
                  </a:schemeClr>
                </a:solidFill>
                <a:latin typeface="Times New Roman" pitchFamily="18" charset="0"/>
                <a:cs typeface="Times New Roman" pitchFamily="18" charset="0"/>
              </a:rPr>
              <a:t/>
            </a:r>
            <a:br>
              <a:rPr lang="en-US" sz="3500" b="1" dirty="0" smtClean="0">
                <a:solidFill>
                  <a:schemeClr val="accent2">
                    <a:lumMod val="50000"/>
                  </a:schemeClr>
                </a:solidFill>
                <a:latin typeface="Times New Roman" pitchFamily="18" charset="0"/>
                <a:cs typeface="Times New Roman" pitchFamily="18" charset="0"/>
              </a:rPr>
            </a:br>
            <a:r>
              <a:rPr lang="en-US" sz="3200" b="1" dirty="0" smtClean="0">
                <a:solidFill>
                  <a:schemeClr val="accent2">
                    <a:lumMod val="50000"/>
                  </a:schemeClr>
                </a:solidFill>
                <a:latin typeface="Times New Roman" pitchFamily="18" charset="0"/>
                <a:cs typeface="Times New Roman" pitchFamily="18" charset="0"/>
              </a:rPr>
              <a:t> </a:t>
            </a:r>
            <a:r>
              <a:rPr lang="en-US" sz="3600" b="1" u="sng" dirty="0" smtClean="0">
                <a:solidFill>
                  <a:schemeClr val="accent2">
                    <a:lumMod val="50000"/>
                  </a:schemeClr>
                </a:solidFill>
                <a:latin typeface="Times New Roman" pitchFamily="18" charset="0"/>
                <a:cs typeface="Times New Roman" pitchFamily="18" charset="0"/>
              </a:rPr>
              <a:t>Element  05</a:t>
            </a:r>
            <a:br>
              <a:rPr lang="en-US" sz="3600" b="1" u="sng" dirty="0" smtClean="0">
                <a:solidFill>
                  <a:schemeClr val="accent2">
                    <a:lumMod val="50000"/>
                  </a:schemeClr>
                </a:solidFill>
                <a:latin typeface="Times New Roman" pitchFamily="18" charset="0"/>
                <a:cs typeface="Times New Roman" pitchFamily="18" charset="0"/>
              </a:rPr>
            </a:br>
            <a:r>
              <a:rPr lang="en-US" sz="3500" b="1" dirty="0" smtClean="0">
                <a:solidFill>
                  <a:schemeClr val="accent2">
                    <a:lumMod val="50000"/>
                  </a:schemeClr>
                </a:solidFill>
                <a:latin typeface="Times New Roman" pitchFamily="18" charset="0"/>
                <a:cs typeface="Times New Roman" pitchFamily="18" charset="0"/>
              </a:rPr>
              <a:t>Coordinating Activities </a:t>
            </a:r>
            <a:endParaRPr lang="en-US" sz="35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5867400" y="6096000"/>
            <a:ext cx="30480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dirty="0">
                <a:solidFill>
                  <a:srgbClr val="002060"/>
                </a:solidFill>
                <a:latin typeface="Times New Roman" pitchFamily="18" charset="0"/>
                <a:cs typeface="Times New Roman" pitchFamily="18" charset="0"/>
              </a:rPr>
              <a:t>(Griffin , 2012) </a:t>
            </a:r>
            <a:endParaRPr lang="en-US" b="1" i="1"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95400"/>
            <a:ext cx="8763000" cy="5562600"/>
          </a:xfrm>
        </p:spPr>
        <p:txBody>
          <a:bodyPr rtlCol="0">
            <a:noAutofit/>
          </a:bodyPr>
          <a:lstStyle/>
          <a:p>
            <a:pPr marL="236538" lvl="1" indent="-236538" eaLnBrk="1" fontAlgn="auto" hangingPunct="1">
              <a:spcAft>
                <a:spcPts val="0"/>
              </a:spcAft>
              <a:buClr>
                <a:srgbClr val="002060"/>
              </a:buClr>
              <a:buFont typeface="Wingdings" pitchFamily="2" charset="2"/>
              <a:buChar char="§"/>
              <a:defRPr/>
            </a:pPr>
            <a:r>
              <a:rPr lang="en-US" sz="2200" dirty="0" smtClean="0">
                <a:solidFill>
                  <a:srgbClr val="002060"/>
                </a:solidFill>
                <a:latin typeface="Times New Roman" pitchFamily="18" charset="0"/>
                <a:cs typeface="Times New Roman" pitchFamily="18" charset="0"/>
              </a:rPr>
              <a:t>Involves  distinguishing between </a:t>
            </a:r>
            <a:r>
              <a:rPr lang="en-US" sz="2200" b="1" i="1" dirty="0" smtClean="0">
                <a:solidFill>
                  <a:srgbClr val="002060"/>
                </a:solidFill>
                <a:latin typeface="Times New Roman" pitchFamily="18" charset="0"/>
                <a:cs typeface="Times New Roman" pitchFamily="18" charset="0"/>
              </a:rPr>
              <a:t>line</a:t>
            </a:r>
            <a:r>
              <a:rPr lang="en-US" sz="2200" dirty="0" smtClean="0">
                <a:solidFill>
                  <a:srgbClr val="002060"/>
                </a:solidFill>
                <a:latin typeface="Times New Roman" pitchFamily="18" charset="0"/>
                <a:cs typeface="Times New Roman" pitchFamily="18" charset="0"/>
              </a:rPr>
              <a:t> </a:t>
            </a:r>
            <a:r>
              <a:rPr lang="en-US" sz="2200" b="1" i="1" dirty="0" smtClean="0">
                <a:solidFill>
                  <a:srgbClr val="002060"/>
                </a:solidFill>
                <a:latin typeface="Times New Roman" pitchFamily="18" charset="0"/>
                <a:cs typeface="Times New Roman" pitchFamily="18" charset="0"/>
              </a:rPr>
              <a:t>positions</a:t>
            </a:r>
            <a:r>
              <a:rPr lang="en-US" sz="2200" dirty="0" smtClean="0">
                <a:solidFill>
                  <a:srgbClr val="002060"/>
                </a:solidFill>
                <a:latin typeface="Times New Roman" pitchFamily="18" charset="0"/>
                <a:cs typeface="Times New Roman" pitchFamily="18" charset="0"/>
              </a:rPr>
              <a:t> and </a:t>
            </a:r>
            <a:r>
              <a:rPr lang="en-US" sz="2200" b="1" i="1" dirty="0" smtClean="0">
                <a:solidFill>
                  <a:srgbClr val="002060"/>
                </a:solidFill>
                <a:latin typeface="Times New Roman" pitchFamily="18" charset="0"/>
                <a:cs typeface="Times New Roman" pitchFamily="18" charset="0"/>
              </a:rPr>
              <a:t>staff positions </a:t>
            </a:r>
            <a:r>
              <a:rPr lang="en-US" sz="2200" dirty="0" smtClean="0">
                <a:solidFill>
                  <a:srgbClr val="002060"/>
                </a:solidFill>
                <a:latin typeface="Times New Roman" pitchFamily="18" charset="0"/>
                <a:cs typeface="Times New Roman" pitchFamily="18" charset="0"/>
              </a:rPr>
              <a:t>in the </a:t>
            </a:r>
            <a:r>
              <a:rPr lang="en-US" sz="2200" dirty="0" err="1" smtClean="0">
                <a:solidFill>
                  <a:srgbClr val="002060"/>
                </a:solidFill>
                <a:latin typeface="Times New Roman" pitchFamily="18" charset="0"/>
                <a:cs typeface="Times New Roman" pitchFamily="18" charset="0"/>
              </a:rPr>
              <a:t>organisation</a:t>
            </a:r>
            <a:r>
              <a:rPr lang="en-US" sz="2200" dirty="0" smtClean="0">
                <a:solidFill>
                  <a:srgbClr val="002060"/>
                </a:solidFill>
                <a:latin typeface="Times New Roman" pitchFamily="18" charset="0"/>
                <a:cs typeface="Times New Roman" pitchFamily="18" charset="0"/>
              </a:rPr>
              <a:t>. </a:t>
            </a:r>
          </a:p>
          <a:p>
            <a:pPr marL="236538" lvl="1" indent="-236538" eaLnBrk="1" fontAlgn="auto" hangingPunct="1">
              <a:spcAft>
                <a:spcPts val="0"/>
              </a:spcAft>
              <a:buClr>
                <a:srgbClr val="002060"/>
              </a:buClr>
              <a:buFont typeface="Wingdings" pitchFamily="2" charset="2"/>
              <a:buChar char="§"/>
              <a:defRPr/>
            </a:pPr>
            <a:endParaRPr lang="en-US" sz="12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Wingdings" pitchFamily="2" charset="2"/>
              <a:buChar char="§"/>
              <a:defRPr/>
            </a:pPr>
            <a:r>
              <a:rPr lang="en-US" sz="2200" b="1" dirty="0" smtClean="0">
                <a:solidFill>
                  <a:srgbClr val="002060"/>
                </a:solidFill>
                <a:latin typeface="Times New Roman" pitchFamily="18" charset="0"/>
                <a:cs typeface="Times New Roman" pitchFamily="18" charset="0"/>
              </a:rPr>
              <a:t>Line Position </a:t>
            </a:r>
          </a:p>
          <a:p>
            <a:pPr marL="693738" lvl="1" indent="-347663" eaLnBrk="1" fontAlgn="auto" hangingPunct="1">
              <a:spcAft>
                <a:spcPts val="0"/>
              </a:spcAft>
              <a:buClr>
                <a:srgbClr val="002060"/>
              </a:buClr>
              <a:buFont typeface="Wingdings" pitchFamily="2" charset="2"/>
              <a:buChar char="§"/>
              <a:defRPr/>
            </a:pPr>
            <a:r>
              <a:rPr lang="en-US" sz="2100" dirty="0" smtClean="0">
                <a:solidFill>
                  <a:srgbClr val="002060"/>
                </a:solidFill>
                <a:latin typeface="Times New Roman" pitchFamily="18" charset="0"/>
                <a:cs typeface="Times New Roman" pitchFamily="18" charset="0"/>
              </a:rPr>
              <a:t>A position in the direct chain of command that is responsible for the  direct achievement of an </a:t>
            </a:r>
            <a:r>
              <a:rPr lang="en-US" sz="2100" dirty="0" err="1" smtClean="0">
                <a:solidFill>
                  <a:srgbClr val="002060"/>
                </a:solidFill>
                <a:latin typeface="Times New Roman" pitchFamily="18" charset="0"/>
                <a:cs typeface="Times New Roman" pitchFamily="18" charset="0"/>
              </a:rPr>
              <a:t>organisation’s</a:t>
            </a:r>
            <a:r>
              <a:rPr lang="en-US" sz="2100" dirty="0" smtClean="0">
                <a:solidFill>
                  <a:srgbClr val="002060"/>
                </a:solidFill>
                <a:latin typeface="Times New Roman" pitchFamily="18" charset="0"/>
                <a:cs typeface="Times New Roman" pitchFamily="18" charset="0"/>
              </a:rPr>
              <a:t> goals. </a:t>
            </a:r>
          </a:p>
          <a:p>
            <a:pPr marL="693738" lvl="1" indent="-347663"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693738" lvl="1" indent="-347663" eaLnBrk="1" fontAlgn="auto" hangingPunct="1">
              <a:spcAft>
                <a:spcPts val="0"/>
              </a:spcAft>
              <a:buClr>
                <a:srgbClr val="002060"/>
              </a:buClr>
              <a:buFont typeface="Wingdings" pitchFamily="2" charset="2"/>
              <a:buChar char="§"/>
              <a:defRPr/>
            </a:pPr>
            <a:r>
              <a:rPr lang="en-US" sz="2100" dirty="0" smtClean="0">
                <a:solidFill>
                  <a:srgbClr val="002060"/>
                </a:solidFill>
                <a:latin typeface="Times New Roman" pitchFamily="18" charset="0"/>
                <a:cs typeface="Times New Roman" pitchFamily="18" charset="0"/>
              </a:rPr>
              <a:t>Consists of line authority which is generally considered as the formal/legitimate authority created by the </a:t>
            </a:r>
            <a:r>
              <a:rPr lang="en-US" sz="2100" dirty="0" err="1" smtClean="0">
                <a:solidFill>
                  <a:srgbClr val="002060"/>
                </a:solidFill>
                <a:latin typeface="Times New Roman" pitchFamily="18" charset="0"/>
                <a:cs typeface="Times New Roman" pitchFamily="18" charset="0"/>
              </a:rPr>
              <a:t>organisational</a:t>
            </a:r>
            <a:r>
              <a:rPr lang="en-US" sz="2100" dirty="0" smtClean="0">
                <a:solidFill>
                  <a:srgbClr val="002060"/>
                </a:solidFill>
                <a:latin typeface="Times New Roman" pitchFamily="18" charset="0"/>
                <a:cs typeface="Times New Roman" pitchFamily="18" charset="0"/>
              </a:rPr>
              <a:t> hierarchy.  </a:t>
            </a:r>
          </a:p>
          <a:p>
            <a:pPr marL="693738" lvl="1" indent="-347663" eaLnBrk="1" fontAlgn="auto" hangingPunct="1">
              <a:spcAft>
                <a:spcPts val="0"/>
              </a:spcAft>
              <a:buClr>
                <a:srgbClr val="002060"/>
              </a:buClr>
              <a:buFont typeface="Wingdings" pitchFamily="2" charset="2"/>
              <a:buChar char="§"/>
              <a:defRPr/>
            </a:pPr>
            <a:endParaRPr lang="en-US" sz="12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Wingdings" pitchFamily="2" charset="2"/>
              <a:buChar char="§"/>
              <a:defRPr/>
            </a:pPr>
            <a:r>
              <a:rPr lang="en-US" sz="2200" dirty="0" smtClean="0">
                <a:solidFill>
                  <a:srgbClr val="002060"/>
                </a:solidFill>
                <a:latin typeface="Times New Roman" pitchFamily="18" charset="0"/>
                <a:cs typeface="Times New Roman" pitchFamily="18" charset="0"/>
              </a:rPr>
              <a:t> </a:t>
            </a:r>
            <a:r>
              <a:rPr lang="en-US" sz="2200" b="1" dirty="0" smtClean="0">
                <a:solidFill>
                  <a:srgbClr val="002060"/>
                </a:solidFill>
                <a:latin typeface="Times New Roman" pitchFamily="18" charset="0"/>
                <a:cs typeface="Times New Roman" pitchFamily="18" charset="0"/>
              </a:rPr>
              <a:t>Staff  Position </a:t>
            </a:r>
          </a:p>
          <a:p>
            <a:pPr marL="693738" lvl="1" indent="-347663" eaLnBrk="1" fontAlgn="auto" hangingPunct="1">
              <a:spcAft>
                <a:spcPts val="0"/>
              </a:spcAft>
              <a:buClr>
                <a:srgbClr val="002060"/>
              </a:buClr>
              <a:buFont typeface="Wingdings" pitchFamily="2" charset="2"/>
              <a:buChar char="§"/>
              <a:defRPr/>
            </a:pPr>
            <a:r>
              <a:rPr lang="en-US" sz="2100" dirty="0" smtClean="0">
                <a:solidFill>
                  <a:srgbClr val="002060"/>
                </a:solidFill>
                <a:latin typeface="Times New Roman" pitchFamily="18" charset="0"/>
                <a:cs typeface="Times New Roman" pitchFamily="18" charset="0"/>
              </a:rPr>
              <a:t> A position intended to provide expertise, advice and support for line positions. </a:t>
            </a:r>
          </a:p>
          <a:p>
            <a:pPr marL="693738" lvl="1" indent="-347663" eaLnBrk="1" fontAlgn="auto" hangingPunct="1">
              <a:spcAft>
                <a:spcPts val="0"/>
              </a:spcAft>
              <a:buClr>
                <a:srgbClr val="002060"/>
              </a:buClr>
              <a:buFont typeface="Wingdings" pitchFamily="2" charset="2"/>
              <a:buChar char="§"/>
              <a:defRPr/>
            </a:pPr>
            <a:endParaRPr lang="en-US" sz="800" dirty="0" smtClean="0">
              <a:solidFill>
                <a:srgbClr val="002060"/>
              </a:solidFill>
              <a:latin typeface="Times New Roman" pitchFamily="18" charset="0"/>
              <a:cs typeface="Times New Roman" pitchFamily="18" charset="0"/>
            </a:endParaRPr>
          </a:p>
          <a:p>
            <a:pPr marL="693738" lvl="1" indent="-347663" eaLnBrk="1" fontAlgn="auto" hangingPunct="1">
              <a:spcAft>
                <a:spcPts val="0"/>
              </a:spcAft>
              <a:buClr>
                <a:srgbClr val="002060"/>
              </a:buClr>
              <a:buFont typeface="Wingdings" pitchFamily="2" charset="2"/>
              <a:buChar char="§"/>
              <a:defRPr/>
            </a:pPr>
            <a:r>
              <a:rPr lang="en-US" sz="2100" dirty="0" smtClean="0">
                <a:solidFill>
                  <a:srgbClr val="002060"/>
                </a:solidFill>
                <a:latin typeface="Times New Roman" pitchFamily="18" charset="0"/>
                <a:cs typeface="Times New Roman" pitchFamily="18" charset="0"/>
              </a:rPr>
              <a:t>Consists of staff authority which is less concrete  (in comparison to line authority) and take a variety of forms. </a:t>
            </a:r>
          </a:p>
          <a:p>
            <a:pPr marL="693738" lvl="1" indent="-347663" eaLnBrk="1" fontAlgn="auto" hangingPunct="1">
              <a:spcAft>
                <a:spcPts val="0"/>
              </a:spcAft>
              <a:buClr>
                <a:srgbClr val="002060"/>
              </a:buClr>
              <a:buFont typeface="Arial" charset="0"/>
              <a:buNone/>
              <a:defRPr/>
            </a:pPr>
            <a:endParaRPr lang="en-US" sz="2100" dirty="0" smtClean="0">
              <a:solidFill>
                <a:srgbClr val="002060"/>
              </a:solidFill>
              <a:latin typeface="Times New Roman" pitchFamily="18" charset="0"/>
              <a:cs typeface="Times New Roman" pitchFamily="18" charset="0"/>
            </a:endParaRPr>
          </a:p>
          <a:p>
            <a:pPr marL="236538" lvl="1" indent="-236538" eaLnBrk="1" fontAlgn="auto" hangingPunct="1">
              <a:spcAft>
                <a:spcPts val="0"/>
              </a:spcAft>
              <a:buClr>
                <a:srgbClr val="002060"/>
              </a:buClr>
              <a:buFont typeface="Arial" charset="0"/>
              <a:buNone/>
              <a:defRPr/>
            </a:pPr>
            <a:endParaRPr lang="en-US" sz="2200" dirty="0" smtClean="0">
              <a:solidFill>
                <a:srgbClr val="002060"/>
              </a:solidFill>
              <a:latin typeface="Times New Roman" pitchFamily="18" charset="0"/>
              <a:cs typeface="Times New Roman" pitchFamily="18" charset="0"/>
            </a:endParaRPr>
          </a:p>
        </p:txBody>
      </p:sp>
      <p:sp>
        <p:nvSpPr>
          <p:cNvPr id="11" name="Title 10"/>
          <p:cNvSpPr>
            <a:spLocks noGrp="1"/>
          </p:cNvSpPr>
          <p:nvPr>
            <p:ph type="title"/>
          </p:nvPr>
        </p:nvSpPr>
        <p:spPr>
          <a:xfrm>
            <a:off x="304800" y="228600"/>
            <a:ext cx="8458200" cy="533400"/>
          </a:xfrm>
        </p:spPr>
        <p:txBody>
          <a:bodyPr rtlCol="0">
            <a:noAutofit/>
          </a:bodyPr>
          <a:lstStyle/>
          <a:p>
            <a:pPr eaLnBrk="1" fontAlgn="auto" hangingPunct="1">
              <a:spcAft>
                <a:spcPts val="0"/>
              </a:spcAft>
              <a:defRPr/>
            </a:pPr>
            <a:r>
              <a:rPr lang="en-US" sz="3500" b="1" dirty="0" smtClean="0">
                <a:solidFill>
                  <a:schemeClr val="accent2">
                    <a:lumMod val="50000"/>
                  </a:schemeClr>
                </a:solidFill>
                <a:latin typeface="Times New Roman" pitchFamily="18" charset="0"/>
                <a:cs typeface="Times New Roman" pitchFamily="18" charset="0"/>
              </a:rPr>
              <a:t/>
            </a:r>
            <a:br>
              <a:rPr lang="en-US" sz="3500" b="1" dirty="0" smtClean="0">
                <a:solidFill>
                  <a:schemeClr val="accent2">
                    <a:lumMod val="50000"/>
                  </a:schemeClr>
                </a:solidFill>
                <a:latin typeface="Times New Roman" pitchFamily="18" charset="0"/>
                <a:cs typeface="Times New Roman" pitchFamily="18" charset="0"/>
              </a:rPr>
            </a:br>
            <a:r>
              <a:rPr lang="en-US" sz="3600" b="1" u="sng" dirty="0" smtClean="0">
                <a:solidFill>
                  <a:schemeClr val="accent2">
                    <a:lumMod val="50000"/>
                  </a:schemeClr>
                </a:solidFill>
                <a:latin typeface="Times New Roman" pitchFamily="18" charset="0"/>
                <a:cs typeface="Times New Roman" pitchFamily="18" charset="0"/>
              </a:rPr>
              <a:t> Element  06</a:t>
            </a:r>
            <a:r>
              <a:rPr lang="en-US" sz="3600" b="1" dirty="0" smtClean="0">
                <a:solidFill>
                  <a:schemeClr val="accent2">
                    <a:lumMod val="50000"/>
                  </a:schemeClr>
                </a:solidFill>
                <a:latin typeface="Times New Roman" pitchFamily="18" charset="0"/>
                <a:cs typeface="Times New Roman" pitchFamily="18" charset="0"/>
              </a:rPr>
              <a:t/>
            </a:r>
            <a:br>
              <a:rPr lang="en-US" sz="3600" b="1" dirty="0" smtClean="0">
                <a:solidFill>
                  <a:schemeClr val="accent2">
                    <a:lumMod val="50000"/>
                  </a:schemeClr>
                </a:solidFill>
                <a:latin typeface="Times New Roman" pitchFamily="18" charset="0"/>
                <a:cs typeface="Times New Roman" pitchFamily="18" charset="0"/>
              </a:rPr>
            </a:br>
            <a:r>
              <a:rPr lang="en-US" sz="3500" b="1" dirty="0" smtClean="0">
                <a:solidFill>
                  <a:schemeClr val="accent2">
                    <a:lumMod val="50000"/>
                  </a:schemeClr>
                </a:solidFill>
                <a:latin typeface="Times New Roman" pitchFamily="18" charset="0"/>
                <a:cs typeface="Times New Roman" pitchFamily="18" charset="0"/>
              </a:rPr>
              <a:t>Differentiating Between Positions </a:t>
            </a:r>
            <a:endParaRPr lang="en-US" sz="3500" b="1" dirty="0">
              <a:solidFill>
                <a:schemeClr val="accent2">
                  <a:lumMod val="50000"/>
                </a:schemeClr>
              </a:solidFill>
              <a:latin typeface="Times New Roman" pitchFamily="18" charset="0"/>
              <a:cs typeface="Times New Roman" pitchFamily="18" charset="0"/>
            </a:endParaRPr>
          </a:p>
        </p:txBody>
      </p:sp>
      <p:sp>
        <p:nvSpPr>
          <p:cNvPr id="9" name="Rectangle 8"/>
          <p:cNvSpPr/>
          <p:nvPr/>
        </p:nvSpPr>
        <p:spPr>
          <a:xfrm>
            <a:off x="5867400" y="6324600"/>
            <a:ext cx="30480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dirty="0">
                <a:solidFill>
                  <a:srgbClr val="002060"/>
                </a:solidFill>
                <a:latin typeface="Times New Roman" pitchFamily="18" charset="0"/>
                <a:cs typeface="Times New Roman" pitchFamily="18" charset="0"/>
              </a:rPr>
              <a:t>(Griffin , 2012) </a:t>
            </a:r>
            <a:endParaRPr lang="en-US" b="1" i="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4101</TotalTime>
  <Words>2202</Words>
  <Application>Microsoft Office PowerPoint</Application>
  <PresentationFormat>On-screen Show (4:3)</PresentationFormat>
  <Paragraphs>432</Paragraphs>
  <Slides>35</Slides>
  <Notes>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2" baseType="lpstr">
      <vt:lpstr>Arial Unicode MS</vt:lpstr>
      <vt:lpstr>Arial</vt:lpstr>
      <vt:lpstr>Calibri</vt:lpstr>
      <vt:lpstr>Times New Roman</vt:lpstr>
      <vt:lpstr>Wingdings</vt:lpstr>
      <vt:lpstr>Office Theme</vt:lpstr>
      <vt:lpstr>Photo Editor Photo</vt:lpstr>
      <vt:lpstr>PowerPoint Presentation</vt:lpstr>
      <vt:lpstr>What is Organising? </vt:lpstr>
      <vt:lpstr>The Process of Organising</vt:lpstr>
      <vt:lpstr>Basic Elements of Organising </vt:lpstr>
      <vt:lpstr>Organisational Structure  </vt:lpstr>
      <vt:lpstr>Organisational Chart </vt:lpstr>
      <vt:lpstr>Benefits of an Organisational Chart </vt:lpstr>
      <vt:lpstr>Limitations of an Organisational Chart </vt:lpstr>
      <vt:lpstr> Element  01 Designing Jobs </vt:lpstr>
      <vt:lpstr>Designing Jobs (Cont…)</vt:lpstr>
      <vt:lpstr>Designing Jobs (Cont …)  </vt:lpstr>
      <vt:lpstr>Designing Jobs (Cont…)</vt:lpstr>
      <vt:lpstr>Designing Jobs (Cont…)</vt:lpstr>
      <vt:lpstr>  Element  02  Grouping Jobs : Departmentalisation </vt:lpstr>
      <vt:lpstr>Grouping Jobs : Departmentalisation  (Cont…) </vt:lpstr>
      <vt:lpstr>Grouping Jobs : Departmentalisation  (Cont…) </vt:lpstr>
      <vt:lpstr>Grouping Jobs : Departmentalisation  (Cont…) </vt:lpstr>
      <vt:lpstr>Grouping Jobs : Departmentalisation  (Cont…) </vt:lpstr>
      <vt:lpstr>Grouping Jobs : Departmentalisation  (Cont…) </vt:lpstr>
      <vt:lpstr>Grouping Jobs : Departmentalisation  (Cont…) </vt:lpstr>
      <vt:lpstr>  Element  03 Establishing Reporting Relationships </vt:lpstr>
      <vt:lpstr>Establishing Reporting Relationships (Cont…)  </vt:lpstr>
      <vt:lpstr>Establishing Reporting Relationships (Cont…)  </vt:lpstr>
      <vt:lpstr>Establishing Reporting Relationships (Cont…)  </vt:lpstr>
      <vt:lpstr>  Element  04 Distributing Authority </vt:lpstr>
      <vt:lpstr>Distributing Authority (Cont…)</vt:lpstr>
      <vt:lpstr>Distributing Authority (Cont…)  </vt:lpstr>
      <vt:lpstr>Distributing Authority (Cont…) </vt:lpstr>
      <vt:lpstr>Distributing Authority (Cont…) </vt:lpstr>
      <vt:lpstr>Distributing Authority (Cont…) </vt:lpstr>
      <vt:lpstr>Distributing Authority (Cont…) </vt:lpstr>
      <vt:lpstr>Distributing Authority (Cont…) </vt:lpstr>
      <vt:lpstr>Distributing Authority (Cont…)  </vt:lpstr>
      <vt:lpstr>  Element  05 Coordinating Activities </vt:lpstr>
      <vt:lpstr>  Element  06 Differentiating Between Positions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 Motivating People</dc:title>
  <dc:creator>RSKPC</dc:creator>
  <cp:lastModifiedBy>HP</cp:lastModifiedBy>
  <cp:revision>417</cp:revision>
  <dcterms:created xsi:type="dcterms:W3CDTF">2013-01-20T12:40:58Z</dcterms:created>
  <dcterms:modified xsi:type="dcterms:W3CDTF">2021-07-02T19:53:14Z</dcterms:modified>
</cp:coreProperties>
</file>