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4" r:id="rId6"/>
    <p:sldId id="261" r:id="rId7"/>
    <p:sldId id="263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0FD36-3A72-4A79-ADCA-EF3AA135948A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3A243-FCE3-4E37-BA1F-148197937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71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2"/>
            <a:ext cx="9144000" cy="2566851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5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800" b="1" kern="12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8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4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2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4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83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9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9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7CD1D-9452-4E5E-9597-6D84984CD414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0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3700463"/>
          </a:xfrm>
        </p:spPr>
        <p:txBody>
          <a:bodyPr/>
          <a:lstStyle/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370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6FD55-3515-4F31-B754-C8050A997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3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CD1D-9452-4E5E-9597-6D84984CD414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BD6B-21C0-4966-837B-B4769B866E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572000"/>
            <a:ext cx="7086600" cy="1752600"/>
          </a:xfrm>
        </p:spPr>
        <p:txBody>
          <a:bodyPr>
            <a:noAutofit/>
          </a:bodyPr>
          <a:lstStyle/>
          <a:p>
            <a:endParaRPr lang="en-GB" sz="28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9</a:t>
            </a:r>
            <a:r>
              <a:rPr lang="en-GB" sz="40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. National Income</a:t>
            </a:r>
            <a:endParaRPr lang="en-US" sz="4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3C36-B616-4C75-B5E7-9AE4F3FA8C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7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</a:t>
            </a:r>
            <a:r>
              <a:rPr lang="en-US" sz="4400" dirty="0" smtClean="0"/>
              <a:t>National Income?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defRPr/>
            </a:pP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National income is the total value a country’s final output of all new goods and services produced in one year.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Arial Rounded MT Bold" pitchFamily="34" charset="0"/>
            </a:endParaRPr>
          </a:p>
          <a:p>
            <a:pPr algn="just">
              <a:defRPr/>
            </a:pPr>
            <a:r>
              <a:rPr lang="en-US" sz="35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This relationship is expressed in the national income </a:t>
            </a:r>
            <a:r>
              <a:rPr lang="en-US" sz="35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identity</a:t>
            </a:r>
            <a:r>
              <a:rPr lang="en-US" sz="35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, where the amount received as national </a:t>
            </a:r>
            <a:r>
              <a:rPr lang="en-US" sz="35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income</a:t>
            </a:r>
            <a:r>
              <a:rPr lang="en-US" sz="35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is identical to the amount spent as national </a:t>
            </a:r>
            <a:r>
              <a:rPr lang="en-US" sz="35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expenditure, </a:t>
            </a:r>
            <a:r>
              <a:rPr lang="en-US" sz="35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which is also identical to what is produced as national</a:t>
            </a:r>
            <a:r>
              <a:rPr lang="en-US" sz="35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output. </a:t>
            </a:r>
            <a:r>
              <a:rPr lang="en-US" sz="35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Throughout macroeconomics the terms income, output and expenditure are interchangeable.</a:t>
            </a:r>
            <a:r>
              <a:rPr lang="en-US" sz="35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sz="35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306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Calculating National Income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There are three methods of calculating national income:</a:t>
            </a:r>
            <a:endParaRPr lang="en-US" sz="2900" b="1" dirty="0">
              <a:effectLst>
                <a:outerShdw blurRad="38100" dist="38100" dir="2700000" algn="tl">
                  <a:srgbClr val="C0C0C0"/>
                </a:outerShdw>
              </a:effectLst>
              <a:latin typeface="Arial Rounded MT Bold" pitchFamily="34" charset="0"/>
            </a:endParaRPr>
          </a:p>
          <a:p>
            <a:pPr lvl="1"/>
            <a:r>
              <a:rPr lang="en-US" sz="4000" dirty="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Income Method</a:t>
            </a:r>
          </a:p>
          <a:p>
            <a:pPr lvl="1"/>
            <a:r>
              <a:rPr lang="en-US" sz="4000" dirty="0" smtClean="0">
                <a:ea typeface="Arial Unicode MS" panose="020B0604020202020204" pitchFamily="34" charset="-128"/>
                <a:cs typeface="Arial Unicode MS" panose="020B0604020202020204" pitchFamily="34" charset="-128"/>
              </a:rPr>
              <a:t>output </a:t>
            </a:r>
            <a:r>
              <a:rPr lang="en-US" sz="4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method</a:t>
            </a:r>
          </a:p>
          <a:p>
            <a:pPr lvl="1"/>
            <a:r>
              <a:rPr lang="en-US" sz="4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expenditure method</a:t>
            </a:r>
          </a:p>
        </p:txBody>
      </p:sp>
    </p:spTree>
    <p:extLst>
      <p:ext uri="{BB962C8B-B14F-4D97-AF65-F5344CB8AC3E}">
        <p14:creationId xmlns:p14="http://schemas.microsoft.com/office/powerpoint/2010/main" val="398392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Income Method</a:t>
            </a:r>
          </a:p>
          <a:p>
            <a:r>
              <a:rPr lang="en-US" i="1" dirty="0" smtClean="0"/>
              <a:t>The </a:t>
            </a:r>
            <a:r>
              <a:rPr lang="en-US" i="1" dirty="0"/>
              <a:t>income method</a:t>
            </a:r>
            <a:r>
              <a:rPr lang="en-US" dirty="0"/>
              <a:t>, which adds up all incomes received by the factors of production generated in the economy during a year. This includes wages from employment and self-employment, profits to firms, interest to lenders of capital and rents to owners of land.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2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Income Method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85599"/>
              </p:ext>
            </p:extLst>
          </p:nvPr>
        </p:nvGraphicFramePr>
        <p:xfrm>
          <a:off x="1676401" y="2286001"/>
          <a:ext cx="6096000" cy="36332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4800"/>
                <a:gridCol w="501200"/>
              </a:tblGrid>
              <a:tr h="304799">
                <a:tc gridSpan="2">
                  <a:txBody>
                    <a:bodyPr/>
                    <a:lstStyle/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</a:rPr>
                        <a:t>Income Method 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Myriad Pro"/>
                        <a:ea typeface="Calibri"/>
                        <a:cs typeface="Latha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1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Rs.m</a:t>
                      </a:r>
                      <a:endParaRPr lang="en-US" sz="1800">
                        <a:effectLst/>
                        <a:latin typeface="Myriad Pro"/>
                        <a:ea typeface="Calibri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17623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Income from Employment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Income from Self-employment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Gross Trading Profit of Co’s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Gross Trading profit of Pub: Corporations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Rent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GDY at Factor Cost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XX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  <a:tr h="11943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NFI from abroad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GNY @ factor cost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Depreciation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NNP @ Factor cost= (N. I) 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XX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90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Output Method</a:t>
            </a:r>
          </a:p>
          <a:p>
            <a:r>
              <a:rPr lang="en-US" i="1" dirty="0" smtClean="0"/>
              <a:t>The </a:t>
            </a:r>
            <a:r>
              <a:rPr lang="en-US" i="1" dirty="0"/>
              <a:t>output method</a:t>
            </a:r>
            <a:r>
              <a:rPr lang="en-US" dirty="0"/>
              <a:t>, which is the combined value of the new and final output produced in all sectors of the economy, including manufacturing, financial services, transport, leisure and agriculture.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91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Output Method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39845"/>
              </p:ext>
            </p:extLst>
          </p:nvPr>
        </p:nvGraphicFramePr>
        <p:xfrm>
          <a:off x="2209800" y="2370805"/>
          <a:ext cx="5181599" cy="3496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55579"/>
                <a:gridCol w="426020"/>
              </a:tblGrid>
              <a:tr h="395234">
                <a:tc gridSpan="2">
                  <a:txBody>
                    <a:bodyPr/>
                    <a:lstStyle/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Output Method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Rs.m</a:t>
                      </a:r>
                      <a:endParaRPr lang="en-US" sz="1100">
                        <a:effectLst/>
                        <a:latin typeface="Myriad Pro"/>
                        <a:ea typeface="Calibri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1812304"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* Agriculture, Forestry, Fishing	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* Industry (</a:t>
                      </a:r>
                      <a:r>
                        <a:rPr lang="en-US" sz="1100" dirty="0" err="1">
                          <a:effectLst/>
                        </a:rPr>
                        <a:t>Mfg</a:t>
                      </a:r>
                      <a:r>
                        <a:rPr lang="en-US" sz="1100" dirty="0">
                          <a:effectLst/>
                        </a:rPr>
                        <a:t>, construction)	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* Services			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Banking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Health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Education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Transport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- </a:t>
                      </a:r>
                      <a:r>
                        <a:rPr lang="en-US" sz="1100" dirty="0" err="1">
                          <a:effectLst/>
                        </a:rPr>
                        <a:t>Defence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GDP at Factor Cost 			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  <a:tr h="938098"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Net Factor Income  from Abroad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GNP @ Factor cost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Depreciation </a:t>
                      </a:r>
                    </a:p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NNP @ Factor cost= (NI) X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Myriad Pro"/>
                        <a:ea typeface="Calibri"/>
                        <a:cs typeface="Myriad Pro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X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0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Expenditure Method</a:t>
            </a:r>
          </a:p>
          <a:p>
            <a:r>
              <a:rPr lang="en-US" i="1" dirty="0" smtClean="0"/>
              <a:t>The </a:t>
            </a:r>
            <a:r>
              <a:rPr lang="en-US" i="1" dirty="0"/>
              <a:t>expenditure method</a:t>
            </a:r>
            <a:r>
              <a:rPr lang="en-US" dirty="0"/>
              <a:t>, which adds up all spending in the economy by households and firms on new and final goods and services by households and firms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2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Calculating National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9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Rounded MT Bold" pitchFamily="34" charset="0"/>
              </a:rPr>
              <a:t>Expenditure Method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975245"/>
              </p:ext>
            </p:extLst>
          </p:nvPr>
        </p:nvGraphicFramePr>
        <p:xfrm>
          <a:off x="2133600" y="2133600"/>
          <a:ext cx="5715000" cy="4350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45124"/>
                <a:gridCol w="469876"/>
              </a:tblGrid>
              <a:tr h="179453">
                <a:tc gridSpan="2">
                  <a:txBody>
                    <a:bodyPr/>
                    <a:lstStyle/>
                    <a:p>
                      <a:pPr marL="114300" marR="0" indent="-11430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Expenditure Method</a:t>
                      </a:r>
                      <a:endParaRPr lang="en-US" sz="1600">
                        <a:effectLst/>
                        <a:latin typeface="Myriad Pro"/>
                        <a:ea typeface="Calibri"/>
                        <a:cs typeface="Latha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70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Rs.m</a:t>
                      </a:r>
                      <a:endParaRPr lang="en-US" sz="1600">
                        <a:effectLst/>
                        <a:latin typeface="Myriad Pro"/>
                        <a:ea typeface="Calibri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27241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* </a:t>
                      </a:r>
                      <a:r>
                        <a:rPr lang="en-US" sz="1400">
                          <a:effectLst/>
                        </a:rPr>
                        <a:t>Consumption Expend: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 Investment (Pvt.) Expend.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 Government Expend.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* Physical Incr. /(Decrease)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 stock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+ Exports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 imports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Gross Domestic Expend: @ Mkt. prices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Factor Cost Adjustments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Less Expenditure Taxes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Add Subsidies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GDE at Factor Cost 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XX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  <a:tr h="9080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NFI from abroad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GNE @ Factor cost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Depreciation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NNP @ Factor cost= (NI) </a:t>
                      </a:r>
                      <a:endParaRPr lang="en-US" sz="140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XX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Iskoola Pot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36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403</Words>
  <Application>Microsoft Office PowerPoint</Application>
  <PresentationFormat>On-screen Show (4:3)</PresentationFormat>
  <Paragraphs>114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What is National Income?</vt:lpstr>
      <vt:lpstr>Calculating National Income</vt:lpstr>
      <vt:lpstr>Calculating National Income</vt:lpstr>
      <vt:lpstr>Calculating National Income</vt:lpstr>
      <vt:lpstr>Calculating National Income</vt:lpstr>
      <vt:lpstr>Calculating National Income</vt:lpstr>
      <vt:lpstr>Calculating National Income</vt:lpstr>
      <vt:lpstr>Calculating National Income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Management and Applied Economics</dc:title>
  <dc:creator>Acer</dc:creator>
  <cp:lastModifiedBy>admina</cp:lastModifiedBy>
  <cp:revision>15</cp:revision>
  <dcterms:created xsi:type="dcterms:W3CDTF">2015-05-13T17:12:32Z</dcterms:created>
  <dcterms:modified xsi:type="dcterms:W3CDTF">2018-08-11T18:32:58Z</dcterms:modified>
</cp:coreProperties>
</file>