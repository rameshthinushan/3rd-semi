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28"/>
  </p:notesMasterIdLst>
  <p:sldIdLst>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8" d="100"/>
          <a:sy n="68" d="100"/>
        </p:scale>
        <p:origin x="48" y="-4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AFDB93-032A-45CE-B95C-93D75D3144D4}" type="doc">
      <dgm:prSet loTypeId="urn:microsoft.com/office/officeart/2005/8/layout/funnel1" loCatId="process" qsTypeId="urn:microsoft.com/office/officeart/2005/8/quickstyle/simple1" qsCatId="simple" csTypeId="urn:microsoft.com/office/officeart/2005/8/colors/colorful2" csCatId="colorful" phldr="1"/>
      <dgm:spPr/>
      <dgm:t>
        <a:bodyPr/>
        <a:lstStyle/>
        <a:p>
          <a:endParaRPr lang="en-US"/>
        </a:p>
      </dgm:t>
    </dgm:pt>
    <dgm:pt modelId="{C5D30B07-81AC-43E5-986E-85AF8A3BE457}">
      <dgm:prSet phldrT="[Text]" custT="1">
        <dgm:style>
          <a:lnRef idx="2">
            <a:schemeClr val="accent1">
              <a:shade val="50000"/>
            </a:schemeClr>
          </a:lnRef>
          <a:fillRef idx="1">
            <a:schemeClr val="accent1"/>
          </a:fillRef>
          <a:effectRef idx="0">
            <a:schemeClr val="accent1"/>
          </a:effectRef>
          <a:fontRef idx="minor">
            <a:schemeClr val="lt1"/>
          </a:fontRef>
        </dgm:style>
      </dgm:prSet>
      <dgm:spPr>
        <a:solidFill>
          <a:srgbClr val="00B0F0"/>
        </a:solidFill>
      </dgm:spPr>
      <dgm:t>
        <a:bodyPr/>
        <a:lstStyle/>
        <a:p>
          <a:r>
            <a:rPr lang="en-US" sz="2000" dirty="0">
              <a:solidFill>
                <a:schemeClr val="bg1"/>
              </a:solidFill>
            </a:rPr>
            <a:t>Confidentiality </a:t>
          </a:r>
        </a:p>
      </dgm:t>
    </dgm:pt>
    <dgm:pt modelId="{174B6E49-45FE-419A-B6E1-7BC98028915C}" type="parTrans" cxnId="{EE916DA5-AFB0-4ECD-A539-6A7A0C6577AE}">
      <dgm:prSet/>
      <dgm:spPr/>
      <dgm:t>
        <a:bodyPr/>
        <a:lstStyle/>
        <a:p>
          <a:endParaRPr lang="en-US"/>
        </a:p>
      </dgm:t>
    </dgm:pt>
    <dgm:pt modelId="{C99ED700-B874-4F6E-9173-F8CCD042E557}" type="sibTrans" cxnId="{EE916DA5-AFB0-4ECD-A539-6A7A0C6577AE}">
      <dgm:prSet/>
      <dgm:spPr/>
      <dgm:t>
        <a:bodyPr/>
        <a:lstStyle/>
        <a:p>
          <a:endParaRPr lang="en-US"/>
        </a:p>
      </dgm:t>
    </dgm:pt>
    <dgm:pt modelId="{DD77863C-835A-41A6-8808-23A6336EE28D}">
      <dgm:prSet phldrT="[Text]" custT="1"/>
      <dgm:spPr/>
      <dgm:t>
        <a:bodyPr/>
        <a:lstStyle/>
        <a:p>
          <a:r>
            <a:rPr lang="en-US" sz="2400" dirty="0"/>
            <a:t>Integrity</a:t>
          </a:r>
        </a:p>
      </dgm:t>
    </dgm:pt>
    <dgm:pt modelId="{3C9B2BBA-4952-466D-836B-BE3CDC441689}" type="parTrans" cxnId="{CD9759D6-2687-44B6-BCE9-B8C52BA5B4E7}">
      <dgm:prSet/>
      <dgm:spPr/>
      <dgm:t>
        <a:bodyPr/>
        <a:lstStyle/>
        <a:p>
          <a:endParaRPr lang="en-US"/>
        </a:p>
      </dgm:t>
    </dgm:pt>
    <dgm:pt modelId="{EBD39B55-553F-4260-BCCD-A329068ED8DD}" type="sibTrans" cxnId="{CD9759D6-2687-44B6-BCE9-B8C52BA5B4E7}">
      <dgm:prSet/>
      <dgm:spPr/>
      <dgm:t>
        <a:bodyPr/>
        <a:lstStyle/>
        <a:p>
          <a:endParaRPr lang="en-US"/>
        </a:p>
      </dgm:t>
    </dgm:pt>
    <dgm:pt modelId="{31575291-C51B-4451-B19F-61DCE635F8E6}">
      <dgm:prSet phldrT="[Text]"/>
      <dgm:spPr/>
      <dgm:t>
        <a:bodyPr/>
        <a:lstStyle/>
        <a:p>
          <a:r>
            <a:rPr lang="en-US" dirty="0"/>
            <a:t>Availability </a:t>
          </a:r>
        </a:p>
      </dgm:t>
    </dgm:pt>
    <dgm:pt modelId="{C2BFBF74-287A-4FA1-87FA-FC69CDEA0A52}" type="parTrans" cxnId="{6EF9A066-1114-4BD6-AE81-5A34812AE2BC}">
      <dgm:prSet/>
      <dgm:spPr/>
      <dgm:t>
        <a:bodyPr/>
        <a:lstStyle/>
        <a:p>
          <a:endParaRPr lang="en-US"/>
        </a:p>
      </dgm:t>
    </dgm:pt>
    <dgm:pt modelId="{CCC15E90-4FBE-4F9E-B4EB-2E597AD3D167}" type="sibTrans" cxnId="{6EF9A066-1114-4BD6-AE81-5A34812AE2BC}">
      <dgm:prSet/>
      <dgm:spPr/>
      <dgm:t>
        <a:bodyPr/>
        <a:lstStyle/>
        <a:p>
          <a:endParaRPr lang="en-US"/>
        </a:p>
      </dgm:t>
    </dgm:pt>
    <dgm:pt modelId="{BE8A572C-7743-4CAB-8377-32F25F69F561}">
      <dgm:prSet phldrT="[Text]"/>
      <dgm:spPr/>
      <dgm:t>
        <a:bodyPr/>
        <a:lstStyle/>
        <a:p>
          <a:r>
            <a:rPr lang="en-US" dirty="0"/>
            <a:t>Information Security</a:t>
          </a:r>
        </a:p>
      </dgm:t>
    </dgm:pt>
    <dgm:pt modelId="{8E4593B4-CAA0-49A4-97AA-1DD5718BADF4}" type="parTrans" cxnId="{981B81A5-31B4-4C66-9E69-3458F2212587}">
      <dgm:prSet/>
      <dgm:spPr/>
      <dgm:t>
        <a:bodyPr/>
        <a:lstStyle/>
        <a:p>
          <a:endParaRPr lang="en-US"/>
        </a:p>
      </dgm:t>
    </dgm:pt>
    <dgm:pt modelId="{87D25A67-4FAF-4DEC-826B-B2396155FBE3}" type="sibTrans" cxnId="{981B81A5-31B4-4C66-9E69-3458F2212587}">
      <dgm:prSet/>
      <dgm:spPr/>
      <dgm:t>
        <a:bodyPr/>
        <a:lstStyle/>
        <a:p>
          <a:endParaRPr lang="en-US"/>
        </a:p>
      </dgm:t>
    </dgm:pt>
    <dgm:pt modelId="{2792D581-41D2-4045-BD93-91E30D49D6CD}" type="pres">
      <dgm:prSet presAssocID="{1FAFDB93-032A-45CE-B95C-93D75D3144D4}" presName="Name0" presStyleCnt="0">
        <dgm:presLayoutVars>
          <dgm:chMax val="4"/>
          <dgm:resizeHandles val="exact"/>
        </dgm:presLayoutVars>
      </dgm:prSet>
      <dgm:spPr/>
    </dgm:pt>
    <dgm:pt modelId="{CD660930-1A1B-4EBB-AD92-B18A9AF038B8}" type="pres">
      <dgm:prSet presAssocID="{1FAFDB93-032A-45CE-B95C-93D75D3144D4}" presName="ellipse" presStyleLbl="trBgShp" presStyleIdx="0" presStyleCnt="1"/>
      <dgm:spPr/>
    </dgm:pt>
    <dgm:pt modelId="{7667A299-0C47-4CA6-8C34-60C854B764BE}" type="pres">
      <dgm:prSet presAssocID="{1FAFDB93-032A-45CE-B95C-93D75D3144D4}" presName="arrow1" presStyleLbl="fgShp" presStyleIdx="0" presStyleCnt="1"/>
      <dgm:spPr>
        <a:solidFill>
          <a:srgbClr val="FF0000"/>
        </a:solidFill>
      </dgm:spPr>
    </dgm:pt>
    <dgm:pt modelId="{70A17E23-F781-4571-9DB1-9B5846C9C4D3}" type="pres">
      <dgm:prSet presAssocID="{1FAFDB93-032A-45CE-B95C-93D75D3144D4}" presName="rectangle" presStyleLbl="revTx" presStyleIdx="0" presStyleCnt="1">
        <dgm:presLayoutVars>
          <dgm:bulletEnabled val="1"/>
        </dgm:presLayoutVars>
      </dgm:prSet>
      <dgm:spPr/>
    </dgm:pt>
    <dgm:pt modelId="{2CA77D61-5BD1-4C75-B6C7-D09FD082187B}" type="pres">
      <dgm:prSet presAssocID="{DD77863C-835A-41A6-8808-23A6336EE28D}" presName="item1" presStyleLbl="node1" presStyleIdx="0" presStyleCnt="3">
        <dgm:presLayoutVars>
          <dgm:bulletEnabled val="1"/>
        </dgm:presLayoutVars>
      </dgm:prSet>
      <dgm:spPr/>
    </dgm:pt>
    <dgm:pt modelId="{9BF20CE5-D7AA-4D13-8542-2D550E7581C3}" type="pres">
      <dgm:prSet presAssocID="{31575291-C51B-4451-B19F-61DCE635F8E6}" presName="item2" presStyleLbl="node1" presStyleIdx="1" presStyleCnt="3">
        <dgm:presLayoutVars>
          <dgm:bulletEnabled val="1"/>
        </dgm:presLayoutVars>
      </dgm:prSet>
      <dgm:spPr/>
    </dgm:pt>
    <dgm:pt modelId="{65718A5C-74D7-42E1-9311-A306D66F95B5}" type="pres">
      <dgm:prSet presAssocID="{BE8A572C-7743-4CAB-8377-32F25F69F561}" presName="item3" presStyleLbl="node1" presStyleIdx="2" presStyleCnt="3">
        <dgm:presLayoutVars>
          <dgm:bulletEnabled val="1"/>
        </dgm:presLayoutVars>
      </dgm:prSet>
      <dgm:spPr/>
    </dgm:pt>
    <dgm:pt modelId="{44EB1D37-9303-4729-8C29-BDE94A97E4D8}" type="pres">
      <dgm:prSet presAssocID="{1FAFDB93-032A-45CE-B95C-93D75D3144D4}" presName="funnel" presStyleLbl="trAlignAcc1" presStyleIdx="0" presStyleCnt="1" custLinFactNeighborX="-2445" custLinFactNeighborY="-122"/>
      <dgm:spPr/>
    </dgm:pt>
  </dgm:ptLst>
  <dgm:cxnLst>
    <dgm:cxn modelId="{6EF9A066-1114-4BD6-AE81-5A34812AE2BC}" srcId="{1FAFDB93-032A-45CE-B95C-93D75D3144D4}" destId="{31575291-C51B-4451-B19F-61DCE635F8E6}" srcOrd="2" destOrd="0" parTransId="{C2BFBF74-287A-4FA1-87FA-FC69CDEA0A52}" sibTransId="{CCC15E90-4FBE-4F9E-B4EB-2E597AD3D167}"/>
    <dgm:cxn modelId="{348FF078-4EBA-47E1-AD75-0BCF6A49A378}" type="presOf" srcId="{1FAFDB93-032A-45CE-B95C-93D75D3144D4}" destId="{2792D581-41D2-4045-BD93-91E30D49D6CD}" srcOrd="0" destOrd="0" presId="urn:microsoft.com/office/officeart/2005/8/layout/funnel1"/>
    <dgm:cxn modelId="{53CB6E84-89D1-4601-BA67-4E32BD19DF4E}" type="presOf" srcId="{31575291-C51B-4451-B19F-61DCE635F8E6}" destId="{2CA77D61-5BD1-4C75-B6C7-D09FD082187B}" srcOrd="0" destOrd="0" presId="urn:microsoft.com/office/officeart/2005/8/layout/funnel1"/>
    <dgm:cxn modelId="{7C047992-CEEB-4357-89B7-0F3AD34F3416}" type="presOf" srcId="{DD77863C-835A-41A6-8808-23A6336EE28D}" destId="{9BF20CE5-D7AA-4D13-8542-2D550E7581C3}" srcOrd="0" destOrd="0" presId="urn:microsoft.com/office/officeart/2005/8/layout/funnel1"/>
    <dgm:cxn modelId="{EE916DA5-AFB0-4ECD-A539-6A7A0C6577AE}" srcId="{1FAFDB93-032A-45CE-B95C-93D75D3144D4}" destId="{C5D30B07-81AC-43E5-986E-85AF8A3BE457}" srcOrd="0" destOrd="0" parTransId="{174B6E49-45FE-419A-B6E1-7BC98028915C}" sibTransId="{C99ED700-B874-4F6E-9173-F8CCD042E557}"/>
    <dgm:cxn modelId="{981B81A5-31B4-4C66-9E69-3458F2212587}" srcId="{1FAFDB93-032A-45CE-B95C-93D75D3144D4}" destId="{BE8A572C-7743-4CAB-8377-32F25F69F561}" srcOrd="3" destOrd="0" parTransId="{8E4593B4-CAA0-49A4-97AA-1DD5718BADF4}" sibTransId="{87D25A67-4FAF-4DEC-826B-B2396155FBE3}"/>
    <dgm:cxn modelId="{C05877BB-C4BD-44AD-9EA4-538DBA53A36E}" type="presOf" srcId="{C5D30B07-81AC-43E5-986E-85AF8A3BE457}" destId="{65718A5C-74D7-42E1-9311-A306D66F95B5}" srcOrd="0" destOrd="0" presId="urn:microsoft.com/office/officeart/2005/8/layout/funnel1"/>
    <dgm:cxn modelId="{8BC932CB-1594-4D6A-B24A-464406D4CAD1}" type="presOf" srcId="{BE8A572C-7743-4CAB-8377-32F25F69F561}" destId="{70A17E23-F781-4571-9DB1-9B5846C9C4D3}" srcOrd="0" destOrd="0" presId="urn:microsoft.com/office/officeart/2005/8/layout/funnel1"/>
    <dgm:cxn modelId="{CD9759D6-2687-44B6-BCE9-B8C52BA5B4E7}" srcId="{1FAFDB93-032A-45CE-B95C-93D75D3144D4}" destId="{DD77863C-835A-41A6-8808-23A6336EE28D}" srcOrd="1" destOrd="0" parTransId="{3C9B2BBA-4952-466D-836B-BE3CDC441689}" sibTransId="{EBD39B55-553F-4260-BCCD-A329068ED8DD}"/>
    <dgm:cxn modelId="{101DEE90-4C7F-4195-9B6F-6CD0FCEB689C}" type="presParOf" srcId="{2792D581-41D2-4045-BD93-91E30D49D6CD}" destId="{CD660930-1A1B-4EBB-AD92-B18A9AF038B8}" srcOrd="0" destOrd="0" presId="urn:microsoft.com/office/officeart/2005/8/layout/funnel1"/>
    <dgm:cxn modelId="{AB7BE6E7-FBE8-4B75-B0B7-C197B98F39B2}" type="presParOf" srcId="{2792D581-41D2-4045-BD93-91E30D49D6CD}" destId="{7667A299-0C47-4CA6-8C34-60C854B764BE}" srcOrd="1" destOrd="0" presId="urn:microsoft.com/office/officeart/2005/8/layout/funnel1"/>
    <dgm:cxn modelId="{E18D1917-27B7-4FA5-8559-9FD2AE98B3CD}" type="presParOf" srcId="{2792D581-41D2-4045-BD93-91E30D49D6CD}" destId="{70A17E23-F781-4571-9DB1-9B5846C9C4D3}" srcOrd="2" destOrd="0" presId="urn:microsoft.com/office/officeart/2005/8/layout/funnel1"/>
    <dgm:cxn modelId="{3DD586E7-B8BF-4A61-B744-A53DC5C9440F}" type="presParOf" srcId="{2792D581-41D2-4045-BD93-91E30D49D6CD}" destId="{2CA77D61-5BD1-4C75-B6C7-D09FD082187B}" srcOrd="3" destOrd="0" presId="urn:microsoft.com/office/officeart/2005/8/layout/funnel1"/>
    <dgm:cxn modelId="{6578F30B-4270-4355-AFDD-81909AF52A98}" type="presParOf" srcId="{2792D581-41D2-4045-BD93-91E30D49D6CD}" destId="{9BF20CE5-D7AA-4D13-8542-2D550E7581C3}" srcOrd="4" destOrd="0" presId="urn:microsoft.com/office/officeart/2005/8/layout/funnel1"/>
    <dgm:cxn modelId="{7C9964C2-BC01-4BFC-9EF6-31B402BAE702}" type="presParOf" srcId="{2792D581-41D2-4045-BD93-91E30D49D6CD}" destId="{65718A5C-74D7-42E1-9311-A306D66F95B5}" srcOrd="5" destOrd="0" presId="urn:microsoft.com/office/officeart/2005/8/layout/funnel1"/>
    <dgm:cxn modelId="{512FDAE9-0E6B-4792-944A-A604C1B5E820}" type="presParOf" srcId="{2792D581-41D2-4045-BD93-91E30D49D6CD}" destId="{44EB1D37-9303-4729-8C29-BDE94A97E4D8}"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660930-1A1B-4EBB-AD92-B18A9AF038B8}">
      <dsp:nvSpPr>
        <dsp:cNvPr id="0" name=""/>
        <dsp:cNvSpPr/>
      </dsp:nvSpPr>
      <dsp:spPr>
        <a:xfrm>
          <a:off x="1464106" y="239267"/>
          <a:ext cx="4748531" cy="1649102"/>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67A299-0C47-4CA6-8C34-60C854B764BE}">
      <dsp:nvSpPr>
        <dsp:cNvPr id="0" name=""/>
        <dsp:cNvSpPr/>
      </dsp:nvSpPr>
      <dsp:spPr>
        <a:xfrm>
          <a:off x="3385605" y="4277359"/>
          <a:ext cx="920258" cy="588965"/>
        </a:xfrm>
        <a:prstGeom prst="downArrow">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A17E23-F781-4571-9DB1-9B5846C9C4D3}">
      <dsp:nvSpPr>
        <dsp:cNvPr id="0" name=""/>
        <dsp:cNvSpPr/>
      </dsp:nvSpPr>
      <dsp:spPr>
        <a:xfrm>
          <a:off x="1637115" y="4748531"/>
          <a:ext cx="4417239" cy="1104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Information Security</a:t>
          </a:r>
        </a:p>
      </dsp:txBody>
      <dsp:txXfrm>
        <a:off x="1637115" y="4748531"/>
        <a:ext cx="4417239" cy="1104309"/>
      </dsp:txXfrm>
    </dsp:sp>
    <dsp:sp modelId="{2CA77D61-5BD1-4C75-B6C7-D09FD082187B}">
      <dsp:nvSpPr>
        <dsp:cNvPr id="0" name=""/>
        <dsp:cNvSpPr/>
      </dsp:nvSpPr>
      <dsp:spPr>
        <a:xfrm>
          <a:off x="3190511" y="2015733"/>
          <a:ext cx="1656464" cy="1656464"/>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Availability </a:t>
          </a:r>
        </a:p>
      </dsp:txBody>
      <dsp:txXfrm>
        <a:off x="3433095" y="2258317"/>
        <a:ext cx="1171296" cy="1171296"/>
      </dsp:txXfrm>
    </dsp:sp>
    <dsp:sp modelId="{9BF20CE5-D7AA-4D13-8542-2D550E7581C3}">
      <dsp:nvSpPr>
        <dsp:cNvPr id="0" name=""/>
        <dsp:cNvSpPr/>
      </dsp:nvSpPr>
      <dsp:spPr>
        <a:xfrm>
          <a:off x="2005218" y="773016"/>
          <a:ext cx="1656464" cy="1656464"/>
        </a:xfrm>
        <a:prstGeom prst="ellipse">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Integrity</a:t>
          </a:r>
        </a:p>
      </dsp:txBody>
      <dsp:txXfrm>
        <a:off x="2247802" y="1015600"/>
        <a:ext cx="1171296" cy="1171296"/>
      </dsp:txXfrm>
    </dsp:sp>
    <dsp:sp modelId="{65718A5C-74D7-42E1-9311-A306D66F95B5}">
      <dsp:nvSpPr>
        <dsp:cNvPr id="0" name=""/>
        <dsp:cNvSpPr/>
      </dsp:nvSpPr>
      <dsp:spPr>
        <a:xfrm>
          <a:off x="3698493" y="372520"/>
          <a:ext cx="1656464" cy="1656464"/>
        </a:xfrm>
        <a:prstGeom prst="ellipse">
          <a:avLst/>
        </a:prstGeom>
        <a:solidFill>
          <a:srgbClr val="00B0F0"/>
        </a:solidFill>
        <a:ln w="2540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Confidentiality </a:t>
          </a:r>
        </a:p>
      </dsp:txBody>
      <dsp:txXfrm>
        <a:off x="3941077" y="615104"/>
        <a:ext cx="1171296" cy="1171296"/>
      </dsp:txXfrm>
    </dsp:sp>
    <dsp:sp modelId="{44EB1D37-9303-4729-8C29-BDE94A97E4D8}">
      <dsp:nvSpPr>
        <dsp:cNvPr id="0" name=""/>
        <dsp:cNvSpPr/>
      </dsp:nvSpPr>
      <dsp:spPr>
        <a:xfrm>
          <a:off x="1143010" y="31780"/>
          <a:ext cx="5153445" cy="4122756"/>
        </a:xfrm>
        <a:prstGeom prst="funnel">
          <a:avLst/>
        </a:prstGeom>
        <a:solidFill>
          <a:schemeClr val="lt1">
            <a:alpha val="4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D0246C-083D-4977-886C-AD69EC833187}" type="datetimeFigureOut">
              <a:rPr lang="en-GB" smtClean="0"/>
              <a:t>03/05/2021</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D14D91-2D63-41EA-9CD5-49C3380F96EF}" type="slidenum">
              <a:rPr lang="en-GB" smtClean="0"/>
              <a:t>‹#›</a:t>
            </a:fld>
            <a:endParaRPr lang="en-GB"/>
          </a:p>
        </p:txBody>
      </p:sp>
    </p:spTree>
    <p:extLst>
      <p:ext uri="{BB962C8B-B14F-4D97-AF65-F5344CB8AC3E}">
        <p14:creationId xmlns:p14="http://schemas.microsoft.com/office/powerpoint/2010/main" val="3241695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A2B06F-D986-461A-9B47-21F542EFC397}" type="slidenum">
              <a:rPr lang="en-AU" altLang="en-US" smtClean="0"/>
              <a:pPr>
                <a:spcBef>
                  <a:spcPct val="0"/>
                </a:spcBef>
              </a:pPr>
              <a:t>7</a:t>
            </a:fld>
            <a:endParaRPr lang="en-AU"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Traditionally information security provided by physical (eg. rugged filing cabinets with locks) and administrative mechanisms (eg. Personnel screening procedures during hiring process).</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Growing computer use implies a need for automated tools for protecting files and other information stored on it. </a:t>
            </a:r>
          </a:p>
          <a:p>
            <a:pPr eaLnBrk="1" hangingPunct="1"/>
            <a:r>
              <a:rPr lang="en-US" altLang="en-US">
                <a:latin typeface="Arial" panose="020B0604020202020204" pitchFamily="34" charset="0"/>
              </a:rPr>
              <a:t>This is especially the case for a shared system, such as a time-sharing system, and even more so for systems that can be</a:t>
            </a:r>
          </a:p>
          <a:p>
            <a:pPr eaLnBrk="1" hangingPunct="1"/>
            <a:r>
              <a:rPr lang="en-US" altLang="en-US">
                <a:latin typeface="Arial" panose="020B0604020202020204" pitchFamily="34" charset="0"/>
              </a:rPr>
              <a:t>accessed over a public telephone network, data network, or the Internet.</a:t>
            </a:r>
          </a:p>
          <a:p>
            <a:pPr eaLnBrk="1" hangingPunct="1"/>
            <a:endParaRPr lang="en-US" altLang="en-US">
              <a:latin typeface="Arial" panose="020B0604020202020204" pitchFamily="34" charset="0"/>
            </a:endParaRPr>
          </a:p>
          <a:p>
            <a:pPr eaLnBrk="1" hangingPunct="1"/>
            <a:endParaRPr lang="en-US" altLang="en-US">
              <a:latin typeface="Arial" panose="020B0604020202020204" pitchFamily="34" charset="0"/>
            </a:endParaRPr>
          </a:p>
          <a:p>
            <a:pPr eaLnBrk="1" hangingPunct="1"/>
            <a:endParaRPr lang="en-AU" altLang="en-US">
              <a:latin typeface="Arial" panose="020B0604020202020204" pitchFamily="34" charset="0"/>
            </a:endParaRPr>
          </a:p>
        </p:txBody>
      </p:sp>
    </p:spTree>
    <p:extLst>
      <p:ext uri="{BB962C8B-B14F-4D97-AF65-F5344CB8AC3E}">
        <p14:creationId xmlns:p14="http://schemas.microsoft.com/office/powerpoint/2010/main" val="2304053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B556020-543C-49AC-92CB-B7A2507CBD79}" type="slidenum">
              <a:rPr lang="en-AU" altLang="en-US" smtClean="0"/>
              <a:pPr>
                <a:spcBef>
                  <a:spcPct val="0"/>
                </a:spcBef>
              </a:pPr>
              <a:t>15</a:t>
            </a:fld>
            <a:endParaRPr lang="en-AU"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cf. Table 1.2 for examples of security attacks, and Table 1.3 for definitions of threat and attack</a:t>
            </a:r>
            <a:endParaRPr lang="en-AU" altLang="en-US">
              <a:latin typeface="Arial" panose="020B0604020202020204" pitchFamily="34" charset="0"/>
            </a:endParaRPr>
          </a:p>
        </p:txBody>
      </p:sp>
    </p:spTree>
    <p:extLst>
      <p:ext uri="{BB962C8B-B14F-4D97-AF65-F5344CB8AC3E}">
        <p14:creationId xmlns:p14="http://schemas.microsoft.com/office/powerpoint/2010/main" val="2040419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A31EDD0-6D45-4C25-B5AB-62CA5D6F14F8}" type="slidenum">
              <a:rPr lang="en-AU" altLang="en-US" smtClean="0"/>
              <a:pPr>
                <a:spcBef>
                  <a:spcPct val="0"/>
                </a:spcBef>
              </a:pPr>
              <a:t>18</a:t>
            </a:fld>
            <a:endParaRPr lang="en-AU" alt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See Table 1.4 for details of the 5 Security Service categories and the 14 specific services.</a:t>
            </a:r>
          </a:p>
          <a:p>
            <a:pPr eaLnBrk="1" hangingPunct="1"/>
            <a:endParaRPr lang="en-AU" altLang="en-US">
              <a:latin typeface="Arial" panose="020B0604020202020204" pitchFamily="34" charset="0"/>
            </a:endParaRPr>
          </a:p>
        </p:txBody>
      </p:sp>
    </p:spTree>
    <p:extLst>
      <p:ext uri="{BB962C8B-B14F-4D97-AF65-F5344CB8AC3E}">
        <p14:creationId xmlns:p14="http://schemas.microsoft.com/office/powerpoint/2010/main" val="2603557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E3C3FE-C365-409A-9625-9350FDAC900D}" type="slidenum">
              <a:rPr lang="en-AU" altLang="en-US" smtClean="0"/>
              <a:pPr>
                <a:spcBef>
                  <a:spcPct val="0"/>
                </a:spcBef>
              </a:pPr>
              <a:t>19</a:t>
            </a:fld>
            <a:endParaRPr lang="en-AU" alt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see Table 1.5 for details of these mechanisms, and Table 1.6 for the relationship between services and mechanisms.</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The “</a:t>
            </a:r>
            <a:r>
              <a:rPr lang="en-AU" altLang="en-US">
                <a:latin typeface="Arial" panose="020B0604020202020204" pitchFamily="34" charset="0"/>
              </a:rPr>
              <a:t>specific security mechanisms” are protocol layer specific, whilst the “pervasive security mechanisms” are not.</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Will meet some of these mechanisms in much greater detail later.</a:t>
            </a:r>
          </a:p>
          <a:p>
            <a:pPr eaLnBrk="1" hangingPunct="1"/>
            <a:endParaRPr lang="en-AU" altLang="en-US">
              <a:latin typeface="Arial" panose="020B0604020202020204" pitchFamily="34" charset="0"/>
            </a:endParaRPr>
          </a:p>
          <a:p>
            <a:pPr eaLnBrk="1" hangingPunct="1"/>
            <a:endParaRPr lang="en-AU" altLang="en-US">
              <a:latin typeface="Arial" panose="020B0604020202020204" pitchFamily="34" charset="0"/>
            </a:endParaRPr>
          </a:p>
        </p:txBody>
      </p:sp>
    </p:spTree>
    <p:extLst>
      <p:ext uri="{BB962C8B-B14F-4D97-AF65-F5344CB8AC3E}">
        <p14:creationId xmlns:p14="http://schemas.microsoft.com/office/powerpoint/2010/main" val="1890644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F27200A-C04B-4532-ABD9-E480CC91D9FC}" type="slidenum">
              <a:rPr lang="en-AU" altLang="en-US" smtClean="0"/>
              <a:pPr>
                <a:spcBef>
                  <a:spcPct val="0"/>
                </a:spcBef>
              </a:pPr>
              <a:t>21</a:t>
            </a:fld>
            <a:endParaRPr lang="en-AU" alt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dirty="0">
                <a:latin typeface="Arial" panose="020B0604020202020204" pitchFamily="34" charset="0"/>
              </a:rPr>
              <a:t>In considering the place of encryption, its useful to use the following two models. The first models information flowing over an insecure communications channel, in the presence of possible opponents. Hence an appropriate </a:t>
            </a:r>
            <a:r>
              <a:rPr lang="en-AU" altLang="en-US" b="1" dirty="0">
                <a:latin typeface="Arial" panose="020B0604020202020204" pitchFamily="34" charset="0"/>
              </a:rPr>
              <a:t>security transform (encryption algorithm)</a:t>
            </a:r>
            <a:r>
              <a:rPr lang="en-AU" altLang="en-US" dirty="0">
                <a:latin typeface="Arial" panose="020B0604020202020204" pitchFamily="34" charset="0"/>
              </a:rPr>
              <a:t> can be used, with suitable </a:t>
            </a:r>
            <a:r>
              <a:rPr lang="en-AU" altLang="en-US" b="1" dirty="0">
                <a:latin typeface="Arial" panose="020B0604020202020204" pitchFamily="34" charset="0"/>
              </a:rPr>
              <a:t>keys</a:t>
            </a:r>
            <a:r>
              <a:rPr lang="en-AU" altLang="en-US" dirty="0">
                <a:latin typeface="Arial" panose="020B0604020202020204" pitchFamily="34" charset="0"/>
              </a:rPr>
              <a:t>, possibly negotiated using the presence of a </a:t>
            </a:r>
            <a:r>
              <a:rPr lang="en-AU" altLang="en-US" b="1" dirty="0">
                <a:latin typeface="Arial" panose="020B0604020202020204" pitchFamily="34" charset="0"/>
              </a:rPr>
              <a:t>trusted third party</a:t>
            </a:r>
            <a:r>
              <a:rPr lang="en-AU" altLang="en-US" dirty="0">
                <a:latin typeface="Arial" panose="020B0604020202020204" pitchFamily="34" charset="0"/>
              </a:rPr>
              <a:t>. </a:t>
            </a:r>
          </a:p>
        </p:txBody>
      </p:sp>
    </p:spTree>
    <p:extLst>
      <p:ext uri="{BB962C8B-B14F-4D97-AF65-F5344CB8AC3E}">
        <p14:creationId xmlns:p14="http://schemas.microsoft.com/office/powerpoint/2010/main" val="1561039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7B21472-70BA-4644-88D9-165090EBB6F1}" type="slidenum">
              <a:rPr lang="en-AU" altLang="en-US" smtClean="0"/>
              <a:pPr>
                <a:spcBef>
                  <a:spcPct val="0"/>
                </a:spcBef>
              </a:pPr>
              <a:t>23</a:t>
            </a:fld>
            <a:endParaRPr lang="en-AU"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latin typeface="Arial" panose="020B0604020202020204" pitchFamily="34" charset="0"/>
              </a:rPr>
              <a:t>The second model is concerned with controlled access to information or resources on a computer system, in the presence of possible opponents. Here appropriate controls are needed on the access and within the system, to provide suitable security. Some cryptographic techniques are useful here also. </a:t>
            </a:r>
          </a:p>
        </p:txBody>
      </p:sp>
    </p:spTree>
    <p:extLst>
      <p:ext uri="{BB962C8B-B14F-4D97-AF65-F5344CB8AC3E}">
        <p14:creationId xmlns:p14="http://schemas.microsoft.com/office/powerpoint/2010/main" val="29131615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419D23-AEE4-487E-982C-E39F6C39919C}" type="datetimeFigureOut">
              <a:rPr lang="en-GB" smtClean="0"/>
              <a:t>03/05/2021</a:t>
            </a:fld>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p>
            <a:fld id="{7D296A0F-E7D0-437E-83C0-1CA61A133593}" type="slidenum">
              <a:rPr lang="en-GB" smtClean="0"/>
              <a:t>‹#›</a:t>
            </a:fld>
            <a:endParaRPr lang="en-GB"/>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19D23-AEE4-487E-982C-E39F6C39919C}" type="datetimeFigureOut">
              <a:rPr lang="en-GB" smtClean="0"/>
              <a:t>03/05/2021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296A0F-E7D0-437E-83C0-1CA61A133593}" type="slidenum">
              <a:rPr lang="en-GB" smtClean="0"/>
              <a:t>‹#›</a:t>
            </a:fld>
            <a:endParaRPr lang="en-GB"/>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419D23-AEE4-487E-982C-E39F6C39919C}" type="datetimeFigureOut">
              <a:rPr lang="en-GB" smtClean="0"/>
              <a:t>03/05/2021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419D23-AEE4-487E-982C-E39F6C39919C}" type="datetimeFigureOut">
              <a:rPr lang="en-GB" smtClean="0"/>
              <a:t>03/05/2021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419D23-AEE4-487E-982C-E39F6C39919C}" type="datetimeFigureOut">
              <a:rPr lang="en-GB" smtClean="0"/>
              <a:t>03/05/2021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419D23-AEE4-487E-982C-E39F6C39919C}" type="datetimeFigureOut">
              <a:rPr lang="en-GB" smtClean="0"/>
              <a:t>03/05/2021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419D23-AEE4-487E-982C-E39F6C39919C}" type="datetimeFigureOut">
              <a:rPr lang="en-GB" smtClean="0"/>
              <a:t>03/05/2021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419D23-AEE4-487E-982C-E39F6C39919C}" type="datetimeFigureOut">
              <a:rPr lang="en-GB" smtClean="0"/>
              <a:t>03/05/2021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419D23-AEE4-487E-982C-E39F6C39919C}" type="datetimeFigureOut">
              <a:rPr lang="en-GB" smtClean="0"/>
              <a:t>03/05/2021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19D23-AEE4-487E-982C-E39F6C39919C}" type="datetimeFigureOut">
              <a:rPr lang="en-GB" smtClean="0"/>
              <a:t>03/05/2021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19D23-AEE4-487E-982C-E39F6C39919C}" type="datetimeFigureOut">
              <a:rPr lang="en-GB" smtClean="0"/>
              <a:t>03/05/2021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D296A0F-E7D0-437E-83C0-1CA61A133593}" type="slidenum">
              <a:rPr lang="en-GB" smtClean="0"/>
              <a:t>‹#›</a:t>
            </a:fld>
            <a:endParaRPr lang="en-GB"/>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5/3/2021</a:t>
            </a:fld>
            <a:endParaRPr lang="en-US" dirty="0"/>
          </a:p>
        </p:txBody>
      </p:sp>
      <p:sp>
        <p:nvSpPr>
          <p:cNvPr id="5" name="Footer Placeholder 4"/>
          <p:cNvSpPr>
            <a:spLocks noGrp="1"/>
          </p:cNvSpPr>
          <p:nvPr>
            <p:ph type="ftr" sz="quarter" idx="11"/>
          </p:nvPr>
        </p:nvSpPr>
        <p:spPr/>
        <p:txBody>
          <a:bodyPr/>
          <a:lstStyle>
            <a:lvl1pPr>
              <a:defRPr/>
            </a:lvl1p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4000367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6DC9F0-F6FA-4EF5-9B02-32D7E772F3DA}" type="datetime1">
              <a:rPr lang="en-US" smtClean="0"/>
              <a:t>5/3/2021</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5/3/2021</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2C1C87-DFFE-40DD-88ED-115007FBF96B}" type="datetime1">
              <a:rPr lang="en-US" smtClean="0"/>
              <a:t>5/3/2021</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910CCB-6840-48E9-8232-4140365FD666}" type="datetime1">
              <a:rPr lang="en-US" smtClean="0"/>
              <a:t>5/3/2021</a:t>
            </a:fld>
            <a:endParaRPr lang="en-US" dirty="0"/>
          </a:p>
        </p:txBody>
      </p:sp>
      <p:sp>
        <p:nvSpPr>
          <p:cNvPr id="8" name="Footer Placeholder 7"/>
          <p:cNvSpPr>
            <a:spLocks noGrp="1"/>
          </p:cNvSpPr>
          <p:nvPr>
            <p:ph type="ftr" sz="quarter" idx="11"/>
          </p:nvPr>
        </p:nvSpPr>
        <p:spPr/>
        <p:txBody>
          <a:bodyPr/>
          <a:lstStyle/>
          <a:p>
            <a:r>
              <a:rPr lang="en-US"/>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DC12BC-620C-4804-A68B-E5D136F30A82}" type="datetime1">
              <a:rPr lang="en-US" smtClean="0"/>
              <a:t>5/3/2021</a:t>
            </a:fld>
            <a:endParaRPr lang="en-US" dirty="0"/>
          </a:p>
        </p:txBody>
      </p:sp>
      <p:sp>
        <p:nvSpPr>
          <p:cNvPr id="4" name="Footer Placeholder 3"/>
          <p:cNvSpPr>
            <a:spLocks noGrp="1"/>
          </p:cNvSpPr>
          <p:nvPr>
            <p:ph type="ftr" sz="quarter" idx="11"/>
          </p:nvPr>
        </p:nvSpPr>
        <p:spPr/>
        <p:txBody>
          <a:bodyPr/>
          <a:lstStyle/>
          <a:p>
            <a:r>
              <a:rPr lang="en-US"/>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5/3/2021</a:t>
            </a:fld>
            <a:endParaRPr lang="en-US" dirty="0"/>
          </a:p>
        </p:txBody>
      </p:sp>
      <p:sp>
        <p:nvSpPr>
          <p:cNvPr id="3" name="Footer Placeholder 2"/>
          <p:cNvSpPr>
            <a:spLocks noGrp="1"/>
          </p:cNvSpPr>
          <p:nvPr>
            <p:ph type="ftr" sz="quarter" idx="11"/>
          </p:nvPr>
        </p:nvSpPr>
        <p:spPr/>
        <p:txBody>
          <a:bodyPr/>
          <a:lstStyle/>
          <a:p>
            <a:r>
              <a:rPr lang="en-US"/>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5/3/2021</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5/3/2021</a:t>
            </a:fld>
            <a:endParaRPr lang="en-US" dirty="0"/>
          </a:p>
        </p:txBody>
      </p:sp>
      <p:sp>
        <p:nvSpPr>
          <p:cNvPr id="6" name="Footer Placeholder 5"/>
          <p:cNvSpPr>
            <a:spLocks noGrp="1"/>
          </p:cNvSpPr>
          <p:nvPr>
            <p:ph type="ftr" sz="quarter" idx="11"/>
          </p:nvPr>
        </p:nvSpPr>
        <p:spPr/>
        <p:txBody>
          <a:bodyPr/>
          <a:lstStyle/>
          <a:p>
            <a:r>
              <a:rPr lang="en-US"/>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21B3BF-CA00-44EF-B758-B15ECF3DFDAF}" type="datetime1">
              <a:rPr lang="en-US" smtClean="0"/>
              <a:t>5/3/2021</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6D5A7-B666-4055-9430-CD0CBCBD1CF8}" type="datetime1">
              <a:rPr lang="en-US" smtClean="0"/>
              <a:t>5/3/2021</a:t>
            </a:fld>
            <a:endParaRPr lang="en-US" dirty="0"/>
          </a:p>
        </p:txBody>
      </p:sp>
      <p:sp>
        <p:nvSpPr>
          <p:cNvPr id="5" name="Footer Placeholder 4"/>
          <p:cNvSpPr>
            <a:spLocks noGrp="1"/>
          </p:cNvSpPr>
          <p:nvPr>
            <p:ph type="ftr" sz="quarter" idx="11"/>
          </p:nvPr>
        </p:nvSpPr>
        <p:spPr/>
        <p:txBody>
          <a:bodyPr/>
          <a:lstStyle/>
          <a:p>
            <a:r>
              <a:rPr lang="en-US"/>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419D23-AEE4-487E-982C-E39F6C39919C}" type="datetimeFigureOut">
              <a:rPr lang="en-GB" smtClean="0"/>
              <a:t>03/05/2021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296A0F-E7D0-437E-83C0-1CA61A133593}" type="slidenum">
              <a:rPr lang="en-GB" smtClean="0"/>
              <a:t>‹#›</a:t>
            </a:fld>
            <a:endParaRPr lang="en-GB"/>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5/3/2021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ubtitle 5"/>
          <p:cNvSpPr>
            <a:spLocks noGrp="1"/>
          </p:cNvSpPr>
          <p:nvPr>
            <p:ph type="subTitle" idx="1"/>
          </p:nvPr>
        </p:nvSpPr>
        <p:spPr>
          <a:xfrm>
            <a:off x="4667841" y="2276872"/>
            <a:ext cx="4286250" cy="828675"/>
          </a:xfrm>
        </p:spPr>
        <p:txBody>
          <a:bodyPr rtlCol="0">
            <a:noAutofit/>
          </a:bodyPr>
          <a:lstStyle/>
          <a:p>
            <a:pPr eaLnBrk="1" fontAlgn="auto" hangingPunct="1">
              <a:spcAft>
                <a:spcPts val="0"/>
              </a:spcAft>
              <a:defRPr/>
            </a:pPr>
            <a:r>
              <a:rPr lang="en-US" sz="3600" dirty="0"/>
              <a:t>Week – 1</a:t>
            </a:r>
          </a:p>
          <a:p>
            <a:pPr eaLnBrk="1" fontAlgn="auto" hangingPunct="1">
              <a:spcAft>
                <a:spcPts val="0"/>
              </a:spcAft>
              <a:defRPr/>
            </a:pPr>
            <a:r>
              <a:rPr lang="en-US" sz="3600" dirty="0"/>
              <a:t>Basic concepts in computer security</a:t>
            </a:r>
          </a:p>
        </p:txBody>
      </p:sp>
      <p:sp>
        <p:nvSpPr>
          <p:cNvPr id="5123" name="Rectangle 2"/>
          <p:cNvSpPr>
            <a:spLocks noGrp="1" noChangeArrowheads="1"/>
          </p:cNvSpPr>
          <p:nvPr>
            <p:ph type="ctrTitle"/>
          </p:nvPr>
        </p:nvSpPr>
        <p:spPr>
          <a:xfrm>
            <a:off x="755650" y="549275"/>
            <a:ext cx="7772400" cy="1470025"/>
          </a:xfrm>
        </p:spPr>
        <p:txBody>
          <a:bodyPr/>
          <a:lstStyle/>
          <a:p>
            <a:pPr eaLnBrk="1" hangingPunct="1"/>
            <a:r>
              <a:rPr lang="en-US" altLang="en-US"/>
              <a:t>HNDIT2301: Operating System and Information Security</a:t>
            </a:r>
            <a:endParaRPr lang="en-AU" altLang="en-US"/>
          </a:p>
        </p:txBody>
      </p:sp>
      <p:pic>
        <p:nvPicPr>
          <p:cNvPr id="5124" name="Picture 4" descr="E:\Nishanthi\ATI\Semester 1 2013\Security\Images\I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4643438"/>
            <a:ext cx="2928938"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026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a:t>Aim of Course</a:t>
            </a:r>
            <a:endParaRPr lang="en-AU" altLang="en-US"/>
          </a:p>
        </p:txBody>
      </p:sp>
      <p:sp>
        <p:nvSpPr>
          <p:cNvPr id="6147" name="Rectangle 3"/>
          <p:cNvSpPr>
            <a:spLocks noGrp="1" noChangeArrowheads="1"/>
          </p:cNvSpPr>
          <p:nvPr>
            <p:ph idx="1"/>
          </p:nvPr>
        </p:nvSpPr>
        <p:spPr/>
        <p:txBody>
          <a:bodyPr/>
          <a:lstStyle/>
          <a:p>
            <a:pPr eaLnBrk="1" hangingPunct="1"/>
            <a:r>
              <a:rPr lang="en-US" altLang="en-US"/>
              <a:t>To provide skills and knowledge in issues related to computer and information security and develop the ability to take necessary actions in securing computer systems and information.</a:t>
            </a:r>
            <a:endParaRPr lang="en-AU" altLang="en-US"/>
          </a:p>
        </p:txBody>
      </p:sp>
    </p:spTree>
    <p:extLst>
      <p:ext uri="{BB962C8B-B14F-4D97-AF65-F5344CB8AC3E}">
        <p14:creationId xmlns:p14="http://schemas.microsoft.com/office/powerpoint/2010/main" val="115339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28625" y="285750"/>
            <a:ext cx="8229600" cy="1143000"/>
          </a:xfrm>
        </p:spPr>
        <p:txBody>
          <a:bodyPr/>
          <a:lstStyle/>
          <a:p>
            <a:pPr eaLnBrk="1" hangingPunct="1"/>
            <a:r>
              <a:rPr lang="en-US" altLang="en-US"/>
              <a:t>Intended Learning Outcomes</a:t>
            </a:r>
          </a:p>
        </p:txBody>
      </p:sp>
      <p:sp>
        <p:nvSpPr>
          <p:cNvPr id="7171" name="Content Placeholder 2"/>
          <p:cNvSpPr>
            <a:spLocks noGrp="1"/>
          </p:cNvSpPr>
          <p:nvPr>
            <p:ph idx="1"/>
          </p:nvPr>
        </p:nvSpPr>
        <p:spPr>
          <a:xfrm>
            <a:off x="457200" y="1214438"/>
            <a:ext cx="8229600" cy="5429250"/>
          </a:xfrm>
        </p:spPr>
        <p:txBody>
          <a:bodyPr/>
          <a:lstStyle/>
          <a:p>
            <a:pPr eaLnBrk="1" hangingPunct="1"/>
            <a:r>
              <a:rPr lang="en-US" altLang="en-US"/>
              <a:t>State the basic concepts in information security</a:t>
            </a:r>
          </a:p>
          <a:p>
            <a:pPr eaLnBrk="1" hangingPunct="1"/>
            <a:r>
              <a:rPr lang="en-US" altLang="en-US"/>
              <a:t>Explain concepts related to applied cryptography.</a:t>
            </a:r>
          </a:p>
          <a:p>
            <a:pPr eaLnBrk="1" hangingPunct="1"/>
            <a:r>
              <a:rPr lang="en-US" altLang="en-US"/>
              <a:t>Explain the concepts of malicious code, including virus, Trojan horse, and worms.</a:t>
            </a:r>
          </a:p>
          <a:p>
            <a:pPr eaLnBrk="1" hangingPunct="1"/>
            <a:r>
              <a:rPr lang="en-US" altLang="en-US"/>
              <a:t>Explain common vulnerabilities in computer programs and take necessary remedial actions</a:t>
            </a:r>
          </a:p>
        </p:txBody>
      </p:sp>
    </p:spTree>
    <p:extLst>
      <p:ext uri="{BB962C8B-B14F-4D97-AF65-F5344CB8AC3E}">
        <p14:creationId xmlns:p14="http://schemas.microsoft.com/office/powerpoint/2010/main" val="3390345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28625" y="428625"/>
            <a:ext cx="8229600" cy="6000750"/>
          </a:xfrm>
        </p:spPr>
        <p:txBody>
          <a:bodyPr/>
          <a:lstStyle/>
          <a:p>
            <a:pPr eaLnBrk="1" hangingPunct="1"/>
            <a:r>
              <a:rPr lang="en-US" altLang="en-US"/>
              <a:t>Outline the requirements and mechanisms for identification and authentication and explain issues about password authentication. </a:t>
            </a:r>
          </a:p>
          <a:p>
            <a:pPr eaLnBrk="1" hangingPunct="1"/>
            <a:r>
              <a:rPr lang="en-US" altLang="en-US"/>
              <a:t>Explain and compare security mechanisms for conventional operating systems. </a:t>
            </a:r>
          </a:p>
          <a:p>
            <a:pPr eaLnBrk="1" hangingPunct="1"/>
            <a:r>
              <a:rPr lang="en-US" altLang="en-US"/>
              <a:t>Describe security requirements for database security. </a:t>
            </a:r>
          </a:p>
          <a:p>
            <a:pPr eaLnBrk="1" hangingPunct="1"/>
            <a:r>
              <a:rPr lang="en-US" altLang="en-US"/>
              <a:t>Describe threats to networks, and explain techniques for ensuring network security. </a:t>
            </a:r>
          </a:p>
          <a:p>
            <a:pPr eaLnBrk="1" hangingPunct="1"/>
            <a:endParaRPr lang="en-US" altLang="en-US"/>
          </a:p>
        </p:txBody>
      </p:sp>
    </p:spTree>
    <p:extLst>
      <p:ext uri="{BB962C8B-B14F-4D97-AF65-F5344CB8AC3E}">
        <p14:creationId xmlns:p14="http://schemas.microsoft.com/office/powerpoint/2010/main" val="3290796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a:t>Assessment Criteria</a:t>
            </a:r>
          </a:p>
        </p:txBody>
      </p:sp>
      <p:sp>
        <p:nvSpPr>
          <p:cNvPr id="9219" name="Content Placeholder 2"/>
          <p:cNvSpPr>
            <a:spLocks noGrp="1"/>
          </p:cNvSpPr>
          <p:nvPr>
            <p:ph idx="1"/>
          </p:nvPr>
        </p:nvSpPr>
        <p:spPr/>
        <p:txBody>
          <a:bodyPr/>
          <a:lstStyle/>
          <a:p>
            <a:pPr eaLnBrk="1" hangingPunct="1"/>
            <a:r>
              <a:rPr lang="en-US" altLang="en-US"/>
              <a:t>Final Exam – 50%</a:t>
            </a:r>
          </a:p>
          <a:p>
            <a:pPr eaLnBrk="1" hangingPunct="1"/>
            <a:r>
              <a:rPr lang="en-US" altLang="en-US"/>
              <a:t>In-class participation, group work,discussions, Tutorials and take home assignments – 50%</a:t>
            </a:r>
          </a:p>
          <a:p>
            <a:pPr eaLnBrk="1" hangingPunct="1"/>
            <a:endParaRPr lang="en-US" altLang="en-US"/>
          </a:p>
        </p:txBody>
      </p:sp>
      <p:pic>
        <p:nvPicPr>
          <p:cNvPr id="9220" name="Picture 5" descr="http://us.123rf.com/400wm/400/400/outstyle/outstyle1004/outstyle100400003/6879042-check-list-with-red-check-mark-isolated-on-white-part-of-a-seri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625" y="4214813"/>
            <a:ext cx="2582863" cy="203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382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28625" y="0"/>
            <a:ext cx="8229600" cy="1143000"/>
          </a:xfrm>
        </p:spPr>
        <p:txBody>
          <a:bodyPr/>
          <a:lstStyle/>
          <a:p>
            <a:pPr eaLnBrk="1" hangingPunct="1"/>
            <a:r>
              <a:rPr lang="en-US" altLang="en-US"/>
              <a:t>Outline Syllabus</a:t>
            </a:r>
          </a:p>
        </p:txBody>
      </p:sp>
      <p:sp>
        <p:nvSpPr>
          <p:cNvPr id="8195" name="Content Placeholder 2"/>
          <p:cNvSpPr>
            <a:spLocks noGrp="1"/>
          </p:cNvSpPr>
          <p:nvPr>
            <p:ph idx="1"/>
          </p:nvPr>
        </p:nvSpPr>
        <p:spPr>
          <a:xfrm>
            <a:off x="428625" y="1000125"/>
            <a:ext cx="8229600" cy="4840288"/>
          </a:xfrm>
        </p:spPr>
        <p:txBody>
          <a:bodyPr rtlCol="0">
            <a:normAutofit lnSpcReduction="10000"/>
          </a:bodyPr>
          <a:lstStyle/>
          <a:p>
            <a:pPr eaLnBrk="1" fontAlgn="auto" hangingPunct="1">
              <a:spcAft>
                <a:spcPts val="0"/>
              </a:spcAft>
              <a:defRPr/>
            </a:pPr>
            <a:r>
              <a:rPr lang="en-US"/>
              <a:t>Basic concepts in computer security – threats, vulnerabilities, risks and controls etc.</a:t>
            </a:r>
          </a:p>
          <a:p>
            <a:pPr eaLnBrk="1" fontAlgn="auto" hangingPunct="1">
              <a:spcAft>
                <a:spcPts val="0"/>
              </a:spcAft>
              <a:defRPr/>
            </a:pPr>
            <a:r>
              <a:rPr lang="en-US"/>
              <a:t>Basic cryptography</a:t>
            </a:r>
          </a:p>
          <a:p>
            <a:pPr eaLnBrk="1" fontAlgn="auto" hangingPunct="1">
              <a:spcAft>
                <a:spcPts val="0"/>
              </a:spcAft>
              <a:defRPr/>
            </a:pPr>
            <a:r>
              <a:rPr lang="en-US"/>
              <a:t>Program security – Flaws and Defenses</a:t>
            </a:r>
          </a:p>
          <a:p>
            <a:pPr eaLnBrk="1" fontAlgn="auto" hangingPunct="1">
              <a:spcAft>
                <a:spcPts val="0"/>
              </a:spcAft>
              <a:defRPr/>
            </a:pPr>
            <a:r>
              <a:rPr lang="en-US"/>
              <a:t>Security in conventional operating systems and trusted operating systems</a:t>
            </a:r>
          </a:p>
          <a:p>
            <a:pPr eaLnBrk="1" fontAlgn="auto" hangingPunct="1">
              <a:spcAft>
                <a:spcPts val="0"/>
              </a:spcAft>
              <a:defRPr/>
            </a:pPr>
            <a:r>
              <a:rPr lang="en-US"/>
              <a:t>Database management systems security</a:t>
            </a:r>
          </a:p>
          <a:p>
            <a:pPr eaLnBrk="1" fontAlgn="auto" hangingPunct="1">
              <a:spcAft>
                <a:spcPts val="0"/>
              </a:spcAft>
              <a:defRPr/>
            </a:pPr>
            <a:r>
              <a:rPr lang="en-US"/>
              <a:t>Network security</a:t>
            </a:r>
          </a:p>
          <a:p>
            <a:pPr eaLnBrk="1" fontAlgn="auto" hangingPunct="1">
              <a:spcAft>
                <a:spcPts val="0"/>
              </a:spcAft>
              <a:defRPr/>
            </a:pPr>
            <a:r>
              <a:rPr lang="en-US"/>
              <a:t>Management of security</a:t>
            </a:r>
          </a:p>
          <a:p>
            <a:pPr eaLnBrk="1" fontAlgn="auto" hangingPunct="1">
              <a:spcAft>
                <a:spcPts val="0"/>
              </a:spcAft>
              <a:defRPr/>
            </a:pPr>
            <a:endParaRPr lang="en-US"/>
          </a:p>
        </p:txBody>
      </p:sp>
    </p:spTree>
    <p:extLst>
      <p:ext uri="{BB962C8B-B14F-4D97-AF65-F5344CB8AC3E}">
        <p14:creationId xmlns:p14="http://schemas.microsoft.com/office/powerpoint/2010/main" val="4004154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Background</a:t>
            </a:r>
            <a:endParaRPr lang="en-AU" altLang="en-US"/>
          </a:p>
        </p:txBody>
      </p:sp>
      <p:sp>
        <p:nvSpPr>
          <p:cNvPr id="11267" name="Rectangle 3"/>
          <p:cNvSpPr>
            <a:spLocks noGrp="1" noChangeArrowheads="1"/>
          </p:cNvSpPr>
          <p:nvPr>
            <p:ph idx="1"/>
          </p:nvPr>
        </p:nvSpPr>
        <p:spPr/>
        <p:txBody>
          <a:bodyPr>
            <a:normAutofit lnSpcReduction="10000"/>
          </a:bodyPr>
          <a:lstStyle/>
          <a:p>
            <a:pPr eaLnBrk="1" hangingPunct="1">
              <a:lnSpc>
                <a:spcPct val="90000"/>
              </a:lnSpc>
            </a:pPr>
            <a:r>
              <a:rPr lang="en-US" altLang="en-US"/>
              <a:t>Information Security requirements have changed in recent times</a:t>
            </a:r>
          </a:p>
          <a:p>
            <a:pPr eaLnBrk="1" hangingPunct="1">
              <a:lnSpc>
                <a:spcPct val="90000"/>
              </a:lnSpc>
            </a:pPr>
            <a:r>
              <a:rPr lang="en-US" altLang="en-US"/>
              <a:t>traditionally provided by physical and administrative mechanisms</a:t>
            </a:r>
          </a:p>
          <a:p>
            <a:pPr eaLnBrk="1" hangingPunct="1">
              <a:lnSpc>
                <a:spcPct val="90000"/>
              </a:lnSpc>
            </a:pPr>
            <a:r>
              <a:rPr lang="en-US" altLang="en-US"/>
              <a:t>computer use requires </a:t>
            </a:r>
            <a:r>
              <a:rPr lang="en-AU" altLang="en-US"/>
              <a:t>automated tools to protect files and other stored information</a:t>
            </a:r>
          </a:p>
          <a:p>
            <a:pPr eaLnBrk="1" hangingPunct="1">
              <a:lnSpc>
                <a:spcPct val="90000"/>
              </a:lnSpc>
            </a:pPr>
            <a:r>
              <a:rPr lang="en-AU" altLang="en-US"/>
              <a:t>use of networks and communications links requires measures to protect data during transmission</a:t>
            </a:r>
          </a:p>
          <a:p>
            <a:pPr eaLnBrk="1" hangingPunct="1">
              <a:lnSpc>
                <a:spcPct val="90000"/>
              </a:lnSpc>
              <a:buFontTx/>
              <a:buNone/>
            </a:pPr>
            <a:endParaRPr lang="en-AU" altLang="en-US"/>
          </a:p>
          <a:p>
            <a:pPr eaLnBrk="1" hangingPunct="1">
              <a:lnSpc>
                <a:spcPct val="90000"/>
              </a:lnSpc>
            </a:pPr>
            <a:endParaRPr lang="en-AU" altLang="en-US"/>
          </a:p>
          <a:p>
            <a:pPr eaLnBrk="1" hangingPunct="1">
              <a:lnSpc>
                <a:spcPct val="90000"/>
              </a:lnSpc>
            </a:pPr>
            <a:endParaRPr lang="en-AU" altLang="en-US"/>
          </a:p>
          <a:p>
            <a:pPr eaLnBrk="1" hangingPunct="1">
              <a:lnSpc>
                <a:spcPct val="90000"/>
              </a:lnSpc>
            </a:pPr>
            <a:endParaRPr lang="en-AU" altLang="en-US"/>
          </a:p>
        </p:txBody>
      </p:sp>
    </p:spTree>
    <p:extLst>
      <p:ext uri="{BB962C8B-B14F-4D97-AF65-F5344CB8AC3E}">
        <p14:creationId xmlns:p14="http://schemas.microsoft.com/office/powerpoint/2010/main" val="991632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188" y="2781300"/>
            <a:ext cx="8229600" cy="1143000"/>
          </a:xfrm>
        </p:spPr>
        <p:txBody>
          <a:bodyPr>
            <a:normAutofit fontScale="90000"/>
          </a:bodyPr>
          <a:lstStyle/>
          <a:p>
            <a:pPr>
              <a:defRPr/>
            </a:pPr>
            <a:r>
              <a:rPr lang="en-US" dirty="0">
                <a:effectLst>
                  <a:outerShdw blurRad="38100" dist="38100" dir="2700000" algn="tl">
                    <a:srgbClr val="000000">
                      <a:alpha val="43137"/>
                    </a:srgbClr>
                  </a:outerShdw>
                </a:effectLst>
              </a:rPr>
              <a:t>1.	Basic concepts in computer security</a:t>
            </a:r>
          </a:p>
        </p:txBody>
      </p:sp>
    </p:spTree>
    <p:extLst>
      <p:ext uri="{BB962C8B-B14F-4D97-AF65-F5344CB8AC3E}">
        <p14:creationId xmlns:p14="http://schemas.microsoft.com/office/powerpoint/2010/main" val="1109750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28625" y="0"/>
            <a:ext cx="8229600" cy="1143000"/>
          </a:xfrm>
        </p:spPr>
        <p:txBody>
          <a:bodyPr/>
          <a:lstStyle/>
          <a:p>
            <a:pPr eaLnBrk="1" hangingPunct="1"/>
            <a:r>
              <a:rPr lang="en-US" altLang="en-US"/>
              <a:t>The Security Triad</a:t>
            </a:r>
          </a:p>
        </p:txBody>
      </p:sp>
      <p:graphicFrame>
        <p:nvGraphicFramePr>
          <p:cNvPr id="5" name="Diagram 4"/>
          <p:cNvGraphicFramePr/>
          <p:nvPr/>
        </p:nvGraphicFramePr>
        <p:xfrm>
          <a:off x="571472" y="968348"/>
          <a:ext cx="7691470" cy="58896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7281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Definitions</a:t>
            </a:r>
            <a:endParaRPr lang="en-AU" altLang="en-US"/>
          </a:p>
        </p:txBody>
      </p:sp>
      <p:sp>
        <p:nvSpPr>
          <p:cNvPr id="15363" name="Rectangle 3"/>
          <p:cNvSpPr>
            <a:spLocks noGrp="1" noChangeArrowheads="1"/>
          </p:cNvSpPr>
          <p:nvPr>
            <p:ph idx="1"/>
          </p:nvPr>
        </p:nvSpPr>
        <p:spPr/>
        <p:txBody>
          <a:bodyPr/>
          <a:lstStyle/>
          <a:p>
            <a:pPr eaLnBrk="1" hangingPunct="1"/>
            <a:r>
              <a:rPr lang="en-US" altLang="en-US" b="1"/>
              <a:t>Computer Security</a:t>
            </a:r>
            <a:r>
              <a:rPr lang="en-US" altLang="en-US"/>
              <a:t> - </a:t>
            </a:r>
            <a:r>
              <a:rPr lang="en-AU" altLang="en-US"/>
              <a:t>generic name for the collection of tools designed to protect data and to thwart hackers</a:t>
            </a:r>
          </a:p>
          <a:p>
            <a:pPr eaLnBrk="1" hangingPunct="1"/>
            <a:r>
              <a:rPr lang="en-US" altLang="en-US" b="1"/>
              <a:t>Network Security</a:t>
            </a:r>
            <a:r>
              <a:rPr lang="en-US" altLang="en-US"/>
              <a:t> - </a:t>
            </a:r>
            <a:r>
              <a:rPr lang="en-AU" altLang="en-US"/>
              <a:t>measures to protect data during their transmission</a:t>
            </a:r>
          </a:p>
          <a:p>
            <a:pPr eaLnBrk="1" hangingPunct="1"/>
            <a:r>
              <a:rPr lang="en-US" altLang="en-US" b="1"/>
              <a:t>Internet Security</a:t>
            </a:r>
            <a:r>
              <a:rPr lang="en-US" altLang="en-US"/>
              <a:t> - </a:t>
            </a:r>
            <a:r>
              <a:rPr lang="en-AU" altLang="en-US"/>
              <a:t>measures to protect data during their transmission over a collection of interconnected networks</a:t>
            </a:r>
          </a:p>
          <a:p>
            <a:pPr eaLnBrk="1" hangingPunct="1"/>
            <a:endParaRPr lang="en-AU" altLang="en-US"/>
          </a:p>
          <a:p>
            <a:pPr eaLnBrk="1" hangingPunct="1"/>
            <a:endParaRPr lang="en-AU" altLang="en-US"/>
          </a:p>
        </p:txBody>
      </p:sp>
    </p:spTree>
    <p:extLst>
      <p:ext uri="{BB962C8B-B14F-4D97-AF65-F5344CB8AC3E}">
        <p14:creationId xmlns:p14="http://schemas.microsoft.com/office/powerpoint/2010/main" val="134406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500063" y="714375"/>
            <a:ext cx="8229600" cy="5626100"/>
          </a:xfrm>
        </p:spPr>
        <p:txBody>
          <a:bodyPr/>
          <a:lstStyle/>
          <a:p>
            <a:pPr eaLnBrk="1" hangingPunct="1"/>
            <a:r>
              <a:rPr lang="en-US" altLang="en-US" b="1"/>
              <a:t>Vulnerability</a:t>
            </a:r>
            <a:r>
              <a:rPr lang="en-US" altLang="en-US"/>
              <a:t> – a weak point in a system where a threat can sneak in</a:t>
            </a:r>
          </a:p>
          <a:p>
            <a:pPr eaLnBrk="1" hangingPunct="1"/>
            <a:r>
              <a:rPr lang="en-US" altLang="en-US" b="1"/>
              <a:t>Threat</a:t>
            </a:r>
            <a:r>
              <a:rPr lang="en-US" altLang="en-US"/>
              <a:t> – a potential damage that can be materialised through some flaw in the system</a:t>
            </a:r>
          </a:p>
          <a:p>
            <a:pPr eaLnBrk="1" hangingPunct="1"/>
            <a:r>
              <a:rPr lang="en-US" altLang="en-US" b="1"/>
              <a:t>Risk</a:t>
            </a:r>
            <a:r>
              <a:rPr lang="en-US" altLang="en-US"/>
              <a:t> – the probability of a threat being materialised by exploiting a vulnerability</a:t>
            </a:r>
          </a:p>
          <a:p>
            <a:pPr eaLnBrk="1" hangingPunct="1"/>
            <a:r>
              <a:rPr lang="en-US" altLang="en-US" b="1"/>
              <a:t>Control</a:t>
            </a:r>
            <a:r>
              <a:rPr lang="en-US" altLang="en-US"/>
              <a:t> – any procedure that is in place to assure security of a system</a:t>
            </a:r>
          </a:p>
        </p:txBody>
      </p:sp>
    </p:spTree>
    <p:extLst>
      <p:ext uri="{BB962C8B-B14F-4D97-AF65-F5344CB8AC3E}">
        <p14:creationId xmlns:p14="http://schemas.microsoft.com/office/powerpoint/2010/main" val="2715794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AU" altLang="en-US"/>
              <a:t>Services, Mechanisms, Attacks</a:t>
            </a:r>
          </a:p>
        </p:txBody>
      </p:sp>
      <p:sp>
        <p:nvSpPr>
          <p:cNvPr id="17411" name="Rectangle 3"/>
          <p:cNvSpPr>
            <a:spLocks noGrp="1" noChangeArrowheads="1"/>
          </p:cNvSpPr>
          <p:nvPr>
            <p:ph idx="1"/>
          </p:nvPr>
        </p:nvSpPr>
        <p:spPr/>
        <p:txBody>
          <a:bodyPr/>
          <a:lstStyle/>
          <a:p>
            <a:pPr eaLnBrk="1" hangingPunct="1"/>
            <a:r>
              <a:rPr lang="en-US" altLang="en-US"/>
              <a:t>need systematic way to define requirements</a:t>
            </a:r>
          </a:p>
          <a:p>
            <a:pPr eaLnBrk="1" hangingPunct="1"/>
            <a:r>
              <a:rPr lang="en-US" altLang="en-US"/>
              <a:t>consider three aspects of information security:</a:t>
            </a:r>
          </a:p>
          <a:p>
            <a:pPr lvl="1" eaLnBrk="1" hangingPunct="1"/>
            <a:r>
              <a:rPr lang="en-US" altLang="en-US" b="1"/>
              <a:t>security attack</a:t>
            </a:r>
          </a:p>
          <a:p>
            <a:pPr lvl="1" eaLnBrk="1" hangingPunct="1"/>
            <a:r>
              <a:rPr lang="en-US" altLang="en-US" b="1"/>
              <a:t>security mechanism</a:t>
            </a:r>
          </a:p>
          <a:p>
            <a:pPr lvl="1" eaLnBrk="1" hangingPunct="1"/>
            <a:r>
              <a:rPr lang="en-US" altLang="en-US" b="1"/>
              <a:t>security service</a:t>
            </a:r>
          </a:p>
          <a:p>
            <a:pPr eaLnBrk="1" hangingPunct="1"/>
            <a:r>
              <a:rPr lang="en-US" altLang="en-US"/>
              <a:t>consider in reverse order</a:t>
            </a:r>
          </a:p>
          <a:p>
            <a:pPr eaLnBrk="1" hangingPunct="1"/>
            <a:endParaRPr lang="en-US" altLang="en-US"/>
          </a:p>
          <a:p>
            <a:pPr eaLnBrk="1" hangingPunct="1"/>
            <a:endParaRPr lang="en-AU" altLang="en-US"/>
          </a:p>
        </p:txBody>
      </p:sp>
    </p:spTree>
    <p:extLst>
      <p:ext uri="{BB962C8B-B14F-4D97-AF65-F5344CB8AC3E}">
        <p14:creationId xmlns:p14="http://schemas.microsoft.com/office/powerpoint/2010/main" val="2632189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Security Service</a:t>
            </a:r>
            <a:endParaRPr lang="en-AU" altLang="en-US"/>
          </a:p>
        </p:txBody>
      </p:sp>
      <p:sp>
        <p:nvSpPr>
          <p:cNvPr id="18435" name="Rectangle 3"/>
          <p:cNvSpPr>
            <a:spLocks noGrp="1" noChangeArrowheads="1"/>
          </p:cNvSpPr>
          <p:nvPr>
            <p:ph idx="1"/>
          </p:nvPr>
        </p:nvSpPr>
        <p:spPr>
          <a:xfrm>
            <a:off x="457200" y="1214438"/>
            <a:ext cx="8229600" cy="5357812"/>
          </a:xfrm>
        </p:spPr>
        <p:txBody>
          <a:bodyPr/>
          <a:lstStyle/>
          <a:p>
            <a:pPr lvl="1" eaLnBrk="1" hangingPunct="1">
              <a:lnSpc>
                <a:spcPct val="90000"/>
              </a:lnSpc>
              <a:buFontTx/>
              <a:buNone/>
            </a:pPr>
            <a:endParaRPr lang="en-US" altLang="en-US"/>
          </a:p>
          <a:p>
            <a:pPr lvl="1" eaLnBrk="1" hangingPunct="1">
              <a:lnSpc>
                <a:spcPct val="90000"/>
              </a:lnSpc>
            </a:pPr>
            <a:r>
              <a:rPr lang="en-US" altLang="en-US"/>
              <a:t>is something that enhances the security of the data processing systems and the information transfers of an organization</a:t>
            </a:r>
          </a:p>
          <a:p>
            <a:pPr lvl="1" eaLnBrk="1" hangingPunct="1">
              <a:lnSpc>
                <a:spcPct val="90000"/>
              </a:lnSpc>
            </a:pPr>
            <a:r>
              <a:rPr lang="en-US" altLang="en-US"/>
              <a:t>intended to counter security attacks</a:t>
            </a:r>
          </a:p>
          <a:p>
            <a:pPr lvl="1" eaLnBrk="1" hangingPunct="1">
              <a:lnSpc>
                <a:spcPct val="90000"/>
              </a:lnSpc>
            </a:pPr>
            <a:r>
              <a:rPr lang="en-US" altLang="en-US"/>
              <a:t>make use of one or more security mechanisms to provide the service</a:t>
            </a:r>
          </a:p>
          <a:p>
            <a:pPr lvl="1" eaLnBrk="1" hangingPunct="1">
              <a:lnSpc>
                <a:spcPct val="90000"/>
              </a:lnSpc>
            </a:pPr>
            <a:r>
              <a:rPr lang="en-US" altLang="en-US"/>
              <a:t>replicate functions normally associated with physical documents</a:t>
            </a:r>
          </a:p>
          <a:p>
            <a:pPr lvl="2" eaLnBrk="1" hangingPunct="1">
              <a:lnSpc>
                <a:spcPct val="90000"/>
              </a:lnSpc>
            </a:pPr>
            <a:r>
              <a:rPr lang="en-US" altLang="en-US"/>
              <a:t>eg. have signatures, dates; need protection from disclosure, tampering, or destruction; be notarized or witnessed; be recorded or licensed</a:t>
            </a:r>
          </a:p>
          <a:p>
            <a:pPr lvl="2" eaLnBrk="1" hangingPunct="1">
              <a:lnSpc>
                <a:spcPct val="90000"/>
              </a:lnSpc>
            </a:pPr>
            <a:endParaRPr lang="en-US" altLang="en-US"/>
          </a:p>
          <a:p>
            <a:pPr eaLnBrk="1" hangingPunct="1">
              <a:lnSpc>
                <a:spcPct val="90000"/>
              </a:lnSpc>
            </a:pPr>
            <a:endParaRPr lang="en-AU" altLang="en-US"/>
          </a:p>
        </p:txBody>
      </p:sp>
    </p:spTree>
    <p:extLst>
      <p:ext uri="{BB962C8B-B14F-4D97-AF65-F5344CB8AC3E}">
        <p14:creationId xmlns:p14="http://schemas.microsoft.com/office/powerpoint/2010/main" val="874166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a:t>Security Mechanism</a:t>
            </a:r>
            <a:endParaRPr lang="en-AU" altLang="en-US"/>
          </a:p>
        </p:txBody>
      </p:sp>
      <p:sp>
        <p:nvSpPr>
          <p:cNvPr id="19459" name="Rectangle 3"/>
          <p:cNvSpPr>
            <a:spLocks noGrp="1" noChangeArrowheads="1"/>
          </p:cNvSpPr>
          <p:nvPr>
            <p:ph idx="1"/>
          </p:nvPr>
        </p:nvSpPr>
        <p:spPr/>
        <p:txBody>
          <a:bodyPr>
            <a:normAutofit lnSpcReduction="10000"/>
          </a:bodyPr>
          <a:lstStyle/>
          <a:p>
            <a:pPr eaLnBrk="1" hangingPunct="1"/>
            <a:r>
              <a:rPr lang="en-US" altLang="en-US"/>
              <a:t>a mechanism that is designed to detect, prevent, or recover from a security attack</a:t>
            </a:r>
            <a:endParaRPr lang="en-AU" altLang="en-US"/>
          </a:p>
          <a:p>
            <a:pPr eaLnBrk="1" hangingPunct="1"/>
            <a:r>
              <a:rPr lang="en-AU" altLang="en-US"/>
              <a:t>no single mechanism that will support all functions required</a:t>
            </a:r>
          </a:p>
          <a:p>
            <a:pPr eaLnBrk="1" hangingPunct="1"/>
            <a:r>
              <a:rPr lang="en-US" altLang="en-US"/>
              <a:t>however </a:t>
            </a:r>
            <a:r>
              <a:rPr lang="en-AU" altLang="en-US"/>
              <a:t>one particular element underlies many of the security mechanisms in use: </a:t>
            </a:r>
            <a:r>
              <a:rPr lang="en-AU" altLang="en-US" b="1"/>
              <a:t>cryptographic techniques</a:t>
            </a:r>
            <a:endParaRPr lang="en-AU" altLang="en-US"/>
          </a:p>
          <a:p>
            <a:pPr eaLnBrk="1" hangingPunct="1"/>
            <a:r>
              <a:rPr lang="en-US" altLang="en-US"/>
              <a:t>hence our focus on this area</a:t>
            </a:r>
            <a:endParaRPr lang="en-AU" altLang="en-US"/>
          </a:p>
          <a:p>
            <a:pPr eaLnBrk="1" hangingPunct="1"/>
            <a:endParaRPr lang="en-AU" altLang="en-US"/>
          </a:p>
        </p:txBody>
      </p:sp>
    </p:spTree>
    <p:extLst>
      <p:ext uri="{BB962C8B-B14F-4D97-AF65-F5344CB8AC3E}">
        <p14:creationId xmlns:p14="http://schemas.microsoft.com/office/powerpoint/2010/main" val="4095737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AU" altLang="en-US"/>
              <a:t>Security Attack</a:t>
            </a:r>
          </a:p>
        </p:txBody>
      </p:sp>
      <p:sp>
        <p:nvSpPr>
          <p:cNvPr id="20483" name="Rectangle 3"/>
          <p:cNvSpPr>
            <a:spLocks noGrp="1" noChangeArrowheads="1"/>
          </p:cNvSpPr>
          <p:nvPr>
            <p:ph idx="1"/>
          </p:nvPr>
        </p:nvSpPr>
        <p:spPr/>
        <p:txBody>
          <a:bodyPr>
            <a:normAutofit lnSpcReduction="10000"/>
          </a:bodyPr>
          <a:lstStyle/>
          <a:p>
            <a:pPr eaLnBrk="1" hangingPunct="1"/>
            <a:r>
              <a:rPr lang="en-AU" altLang="en-US"/>
              <a:t>any action that compromises the security of information owned by an organization</a:t>
            </a:r>
          </a:p>
          <a:p>
            <a:pPr eaLnBrk="1" hangingPunct="1"/>
            <a:r>
              <a:rPr lang="en-AU" altLang="en-US"/>
              <a:t>information security is about how to prevent attacks, or failing that, to detect attacks on information-based systems</a:t>
            </a:r>
          </a:p>
          <a:p>
            <a:pPr eaLnBrk="1" hangingPunct="1"/>
            <a:r>
              <a:rPr lang="en-US" altLang="en-US"/>
              <a:t>have a wide range of attacks</a:t>
            </a:r>
          </a:p>
          <a:p>
            <a:pPr eaLnBrk="1" hangingPunct="1"/>
            <a:r>
              <a:rPr lang="en-US" altLang="en-US"/>
              <a:t>can focus of generic types of attacks</a:t>
            </a:r>
          </a:p>
          <a:p>
            <a:pPr eaLnBrk="1" hangingPunct="1"/>
            <a:r>
              <a:rPr lang="en-US" altLang="en-US"/>
              <a:t>note: often </a:t>
            </a:r>
            <a:r>
              <a:rPr lang="en-US" altLang="en-US" i="1"/>
              <a:t>threat</a:t>
            </a:r>
            <a:r>
              <a:rPr lang="en-US" altLang="en-US"/>
              <a:t> &amp; </a:t>
            </a:r>
            <a:r>
              <a:rPr lang="en-US" altLang="en-US" i="1"/>
              <a:t>attack</a:t>
            </a:r>
            <a:r>
              <a:rPr lang="en-US" altLang="en-US"/>
              <a:t> mean same</a:t>
            </a:r>
            <a:endParaRPr lang="en-AU" altLang="en-US"/>
          </a:p>
          <a:p>
            <a:pPr eaLnBrk="1" hangingPunct="1"/>
            <a:endParaRPr lang="en-AU" altLang="en-US"/>
          </a:p>
          <a:p>
            <a:pPr eaLnBrk="1" hangingPunct="1"/>
            <a:endParaRPr lang="en-AU" altLang="en-US"/>
          </a:p>
        </p:txBody>
      </p:sp>
    </p:spTree>
    <p:extLst>
      <p:ext uri="{BB962C8B-B14F-4D97-AF65-F5344CB8AC3E}">
        <p14:creationId xmlns:p14="http://schemas.microsoft.com/office/powerpoint/2010/main" val="2269366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a:t>OSI Security Architecture</a:t>
            </a:r>
            <a:endParaRPr lang="en-AU" altLang="en-US"/>
          </a:p>
        </p:txBody>
      </p:sp>
      <p:sp>
        <p:nvSpPr>
          <p:cNvPr id="22531" name="Rectangle 3"/>
          <p:cNvSpPr>
            <a:spLocks noGrp="1" noChangeArrowheads="1"/>
          </p:cNvSpPr>
          <p:nvPr>
            <p:ph idx="1"/>
          </p:nvPr>
        </p:nvSpPr>
        <p:spPr/>
        <p:txBody>
          <a:bodyPr/>
          <a:lstStyle/>
          <a:p>
            <a:pPr eaLnBrk="1" hangingPunct="1"/>
            <a:r>
              <a:rPr lang="en-US" altLang="en-US"/>
              <a:t>ITU-T X.800 Security Architecture for OSI</a:t>
            </a:r>
          </a:p>
          <a:p>
            <a:pPr eaLnBrk="1" hangingPunct="1"/>
            <a:r>
              <a:rPr lang="en-US" altLang="en-US"/>
              <a:t>defines a systematic way of defining and providing security requirements</a:t>
            </a:r>
          </a:p>
          <a:p>
            <a:pPr eaLnBrk="1" hangingPunct="1"/>
            <a:r>
              <a:rPr lang="en-US" altLang="en-US"/>
              <a:t>for us it provides a useful, if abstract, overview of concepts we will study</a:t>
            </a:r>
            <a:endParaRPr lang="en-AU" altLang="en-US"/>
          </a:p>
        </p:txBody>
      </p:sp>
    </p:spTree>
    <p:extLst>
      <p:ext uri="{BB962C8B-B14F-4D97-AF65-F5344CB8AC3E}">
        <p14:creationId xmlns:p14="http://schemas.microsoft.com/office/powerpoint/2010/main" val="3500815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Security Services</a:t>
            </a:r>
            <a:endParaRPr lang="en-AU" altLang="en-US"/>
          </a:p>
        </p:txBody>
      </p:sp>
      <p:sp>
        <p:nvSpPr>
          <p:cNvPr id="23555" name="Rectangle 3"/>
          <p:cNvSpPr>
            <a:spLocks noGrp="1" noChangeArrowheads="1"/>
          </p:cNvSpPr>
          <p:nvPr>
            <p:ph idx="1"/>
          </p:nvPr>
        </p:nvSpPr>
        <p:spPr/>
        <p:txBody>
          <a:bodyPr>
            <a:normAutofit lnSpcReduction="10000"/>
          </a:bodyPr>
          <a:lstStyle/>
          <a:p>
            <a:pPr eaLnBrk="1" hangingPunct="1">
              <a:lnSpc>
                <a:spcPct val="90000"/>
              </a:lnSpc>
            </a:pPr>
            <a:r>
              <a:rPr lang="en-AU" altLang="en-US" dirty="0"/>
              <a:t>X.800 defines it as: a service provided by a protocol layer of communicating open systems, which ensures adequate security of the systems or of data transfers</a:t>
            </a:r>
          </a:p>
          <a:p>
            <a:pPr eaLnBrk="1" hangingPunct="1">
              <a:lnSpc>
                <a:spcPct val="90000"/>
              </a:lnSpc>
            </a:pPr>
            <a:r>
              <a:rPr lang="en-AU" altLang="en-US" dirty="0"/>
              <a:t>RFC 2828 defines it as: a processing or communication service provided by a system to give a specific kind of protection to system resources</a:t>
            </a:r>
          </a:p>
          <a:p>
            <a:pPr eaLnBrk="1" hangingPunct="1">
              <a:lnSpc>
                <a:spcPct val="90000"/>
              </a:lnSpc>
            </a:pPr>
            <a:r>
              <a:rPr lang="en-US" altLang="en-US" dirty="0"/>
              <a:t>X.800 defines it in 5 major categories</a:t>
            </a:r>
            <a:endParaRPr lang="en-AU" altLang="en-US" dirty="0"/>
          </a:p>
          <a:p>
            <a:pPr eaLnBrk="1" hangingPunct="1">
              <a:lnSpc>
                <a:spcPct val="90000"/>
              </a:lnSpc>
            </a:pPr>
            <a:endParaRPr lang="en-AU" altLang="en-US" dirty="0"/>
          </a:p>
          <a:p>
            <a:pPr eaLnBrk="1" hangingPunct="1">
              <a:lnSpc>
                <a:spcPct val="90000"/>
              </a:lnSpc>
            </a:pPr>
            <a:endParaRPr lang="en-AU" altLang="en-US" dirty="0"/>
          </a:p>
        </p:txBody>
      </p:sp>
    </p:spTree>
    <p:extLst>
      <p:ext uri="{BB962C8B-B14F-4D97-AF65-F5344CB8AC3E}">
        <p14:creationId xmlns:p14="http://schemas.microsoft.com/office/powerpoint/2010/main" val="1507127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Security Services (X.800)</a:t>
            </a:r>
            <a:endParaRPr lang="en-AU" altLang="en-US"/>
          </a:p>
        </p:txBody>
      </p:sp>
      <p:sp>
        <p:nvSpPr>
          <p:cNvPr id="24579" name="Rectangle 3"/>
          <p:cNvSpPr>
            <a:spLocks noGrp="1" noChangeArrowheads="1"/>
          </p:cNvSpPr>
          <p:nvPr>
            <p:ph idx="1"/>
          </p:nvPr>
        </p:nvSpPr>
        <p:spPr/>
        <p:txBody>
          <a:bodyPr>
            <a:normAutofit lnSpcReduction="10000"/>
          </a:bodyPr>
          <a:lstStyle/>
          <a:p>
            <a:pPr eaLnBrk="1" hangingPunct="1">
              <a:lnSpc>
                <a:spcPct val="90000"/>
              </a:lnSpc>
            </a:pPr>
            <a:r>
              <a:rPr lang="en-US" altLang="en-US" sz="2800" b="1"/>
              <a:t>Authentication</a:t>
            </a:r>
            <a:r>
              <a:rPr lang="en-US" altLang="en-US" sz="2800"/>
              <a:t> - </a:t>
            </a:r>
            <a:r>
              <a:rPr lang="en-AU" altLang="en-US" sz="2800"/>
              <a:t>assurance that the communicating entity is the one claimed</a:t>
            </a:r>
          </a:p>
          <a:p>
            <a:pPr eaLnBrk="1" hangingPunct="1">
              <a:lnSpc>
                <a:spcPct val="90000"/>
              </a:lnSpc>
            </a:pPr>
            <a:r>
              <a:rPr lang="en-US" altLang="en-US" sz="2800" b="1"/>
              <a:t>Access Control</a:t>
            </a:r>
            <a:r>
              <a:rPr lang="en-US" altLang="en-US" sz="2800"/>
              <a:t> - </a:t>
            </a:r>
            <a:r>
              <a:rPr lang="en-AU" altLang="en-US" sz="2800"/>
              <a:t>prevention of the unauthorized use of a resource</a:t>
            </a:r>
          </a:p>
          <a:p>
            <a:pPr eaLnBrk="1" hangingPunct="1">
              <a:lnSpc>
                <a:spcPct val="90000"/>
              </a:lnSpc>
            </a:pPr>
            <a:r>
              <a:rPr lang="en-US" altLang="en-US" sz="2800" b="1"/>
              <a:t>Data Confidentiality</a:t>
            </a:r>
            <a:r>
              <a:rPr lang="en-US" altLang="en-US" sz="2800"/>
              <a:t> –</a:t>
            </a:r>
            <a:r>
              <a:rPr lang="en-AU" altLang="en-US" sz="2800"/>
              <a:t>protection of data from unauthorized disclosure</a:t>
            </a:r>
          </a:p>
          <a:p>
            <a:pPr eaLnBrk="1" hangingPunct="1">
              <a:lnSpc>
                <a:spcPct val="90000"/>
              </a:lnSpc>
            </a:pPr>
            <a:r>
              <a:rPr lang="en-US" altLang="en-US" sz="2800" b="1"/>
              <a:t>Data Integrity</a:t>
            </a:r>
            <a:r>
              <a:rPr lang="en-US" altLang="en-US" sz="2800"/>
              <a:t> - </a:t>
            </a:r>
            <a:r>
              <a:rPr lang="en-AU" altLang="en-US" sz="2800"/>
              <a:t>assurance that data received is as sent by an authorized entity</a:t>
            </a:r>
          </a:p>
          <a:p>
            <a:pPr eaLnBrk="1" hangingPunct="1">
              <a:lnSpc>
                <a:spcPct val="90000"/>
              </a:lnSpc>
            </a:pPr>
            <a:r>
              <a:rPr lang="en-US" altLang="en-US" sz="2800" b="1"/>
              <a:t>Non-Repudiation</a:t>
            </a:r>
            <a:r>
              <a:rPr lang="en-US" altLang="en-US" sz="2800"/>
              <a:t> - </a:t>
            </a:r>
            <a:r>
              <a:rPr lang="en-AU" altLang="en-US" sz="2800"/>
              <a:t>protection against denial by one of the parties in a communication</a:t>
            </a:r>
          </a:p>
          <a:p>
            <a:pPr eaLnBrk="1" hangingPunct="1">
              <a:lnSpc>
                <a:spcPct val="90000"/>
              </a:lnSpc>
            </a:pPr>
            <a:endParaRPr lang="en-AU" altLang="en-US" sz="2800"/>
          </a:p>
          <a:p>
            <a:pPr eaLnBrk="1" hangingPunct="1">
              <a:lnSpc>
                <a:spcPct val="90000"/>
              </a:lnSpc>
            </a:pPr>
            <a:endParaRPr lang="en-AU" altLang="en-US" sz="2800"/>
          </a:p>
          <a:p>
            <a:pPr eaLnBrk="1" hangingPunct="1">
              <a:lnSpc>
                <a:spcPct val="90000"/>
              </a:lnSpc>
            </a:pPr>
            <a:endParaRPr lang="en-AU" altLang="en-US" sz="2800"/>
          </a:p>
          <a:p>
            <a:pPr eaLnBrk="1" hangingPunct="1">
              <a:lnSpc>
                <a:spcPct val="90000"/>
              </a:lnSpc>
            </a:pPr>
            <a:endParaRPr lang="en-AU" altLang="en-US" sz="2800"/>
          </a:p>
        </p:txBody>
      </p:sp>
    </p:spTree>
    <p:extLst>
      <p:ext uri="{BB962C8B-B14F-4D97-AF65-F5344CB8AC3E}">
        <p14:creationId xmlns:p14="http://schemas.microsoft.com/office/powerpoint/2010/main" val="4148322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Security Mechanisms (X.800)</a:t>
            </a:r>
            <a:endParaRPr lang="en-AU" altLang="en-US"/>
          </a:p>
        </p:txBody>
      </p:sp>
      <p:sp>
        <p:nvSpPr>
          <p:cNvPr id="26627" name="Rectangle 3"/>
          <p:cNvSpPr>
            <a:spLocks noGrp="1" noChangeArrowheads="1"/>
          </p:cNvSpPr>
          <p:nvPr>
            <p:ph idx="1"/>
          </p:nvPr>
        </p:nvSpPr>
        <p:spPr/>
        <p:txBody>
          <a:bodyPr/>
          <a:lstStyle/>
          <a:p>
            <a:pPr eaLnBrk="1" hangingPunct="1"/>
            <a:r>
              <a:rPr lang="en-AU" altLang="en-US"/>
              <a:t>specific security mechanisms:</a:t>
            </a:r>
          </a:p>
          <a:p>
            <a:pPr lvl="1" eaLnBrk="1" hangingPunct="1"/>
            <a:r>
              <a:rPr lang="en-US" altLang="en-US"/>
              <a:t>encipherment, digital signatures, access controls, data integrity, authentication exchange, traffic padding, routing control, notarization</a:t>
            </a:r>
            <a:endParaRPr lang="en-AU" altLang="en-US"/>
          </a:p>
          <a:p>
            <a:pPr eaLnBrk="1" hangingPunct="1"/>
            <a:r>
              <a:rPr lang="en-AU" altLang="en-US"/>
              <a:t>pervasive security mechanisms:</a:t>
            </a:r>
          </a:p>
          <a:p>
            <a:pPr lvl="1" eaLnBrk="1" hangingPunct="1"/>
            <a:r>
              <a:rPr lang="en-US" altLang="en-US"/>
              <a:t>trusted functionality, security labels, event detection, security audit trails, security recovery</a:t>
            </a:r>
            <a:endParaRPr lang="en-AU" altLang="en-US"/>
          </a:p>
          <a:p>
            <a:pPr lvl="1" eaLnBrk="1" hangingPunct="1"/>
            <a:endParaRPr lang="en-AU" altLang="en-US"/>
          </a:p>
          <a:p>
            <a:pPr eaLnBrk="1" hangingPunct="1"/>
            <a:endParaRPr lang="en-AU" altLang="en-US"/>
          </a:p>
        </p:txBody>
      </p:sp>
    </p:spTree>
    <p:extLst>
      <p:ext uri="{BB962C8B-B14F-4D97-AF65-F5344CB8AC3E}">
        <p14:creationId xmlns:p14="http://schemas.microsoft.com/office/powerpoint/2010/main" val="80687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AU" altLang="en-US"/>
              <a:t>Classify Security Attacks as</a:t>
            </a:r>
          </a:p>
        </p:txBody>
      </p:sp>
      <p:sp>
        <p:nvSpPr>
          <p:cNvPr id="28675" name="Rectangle 3"/>
          <p:cNvSpPr>
            <a:spLocks noGrp="1" noChangeArrowheads="1"/>
          </p:cNvSpPr>
          <p:nvPr>
            <p:ph idx="1"/>
          </p:nvPr>
        </p:nvSpPr>
        <p:spPr/>
        <p:txBody>
          <a:bodyPr/>
          <a:lstStyle/>
          <a:p>
            <a:pPr eaLnBrk="1" hangingPunct="1"/>
            <a:r>
              <a:rPr lang="en-US" altLang="en-US" sz="2800" b="1" dirty="0"/>
              <a:t>passive attacks</a:t>
            </a:r>
            <a:r>
              <a:rPr lang="en-US" altLang="en-US" sz="2800" dirty="0"/>
              <a:t> - </a:t>
            </a:r>
            <a:r>
              <a:rPr lang="en-AU" altLang="en-US" sz="2800" dirty="0"/>
              <a:t>eavesdropping on, or monitoring of, transmissions to:</a:t>
            </a:r>
          </a:p>
          <a:p>
            <a:pPr lvl="1" eaLnBrk="1" hangingPunct="1"/>
            <a:r>
              <a:rPr lang="en-US" altLang="en-US" sz="2400" dirty="0"/>
              <a:t>obtain message contents, or</a:t>
            </a:r>
          </a:p>
          <a:p>
            <a:pPr lvl="1" eaLnBrk="1" hangingPunct="1"/>
            <a:r>
              <a:rPr lang="en-US" altLang="en-US" sz="2400" dirty="0"/>
              <a:t>monitor traffic flows</a:t>
            </a:r>
          </a:p>
          <a:p>
            <a:pPr eaLnBrk="1" hangingPunct="1"/>
            <a:r>
              <a:rPr lang="en-AU" altLang="en-US" sz="2800" b="1" dirty="0"/>
              <a:t>active attacks</a:t>
            </a:r>
            <a:r>
              <a:rPr lang="en-AU" altLang="en-US" sz="2800" dirty="0"/>
              <a:t> – modification of data stream to:</a:t>
            </a:r>
          </a:p>
          <a:p>
            <a:pPr lvl="1" eaLnBrk="1" hangingPunct="1"/>
            <a:r>
              <a:rPr lang="en-US" altLang="en-US" sz="2400" dirty="0"/>
              <a:t>masquerade of one entity as some other</a:t>
            </a:r>
            <a:endParaRPr lang="en-AU" altLang="en-US" sz="2400" dirty="0"/>
          </a:p>
          <a:p>
            <a:pPr lvl="1" eaLnBrk="1" hangingPunct="1"/>
            <a:r>
              <a:rPr lang="en-US" altLang="en-US" sz="2400" dirty="0"/>
              <a:t>replay previous messages</a:t>
            </a:r>
          </a:p>
          <a:p>
            <a:pPr lvl="1" eaLnBrk="1" hangingPunct="1"/>
            <a:r>
              <a:rPr lang="en-US" altLang="en-US" sz="2400" dirty="0"/>
              <a:t>modify messages in transit</a:t>
            </a:r>
          </a:p>
          <a:p>
            <a:pPr lvl="1" eaLnBrk="1" hangingPunct="1"/>
            <a:r>
              <a:rPr lang="en-US" altLang="en-US" sz="2400" dirty="0"/>
              <a:t>denial of service</a:t>
            </a:r>
          </a:p>
          <a:p>
            <a:pPr eaLnBrk="1" hangingPunct="1"/>
            <a:endParaRPr lang="en-AU" altLang="en-US" sz="2800" dirty="0"/>
          </a:p>
          <a:p>
            <a:pPr eaLnBrk="1" hangingPunct="1"/>
            <a:endParaRPr lang="en-AU" altLang="en-US" sz="2800" dirty="0"/>
          </a:p>
          <a:p>
            <a:pPr eaLnBrk="1" hangingPunct="1"/>
            <a:endParaRPr lang="en-AU" altLang="en-US" sz="2800" dirty="0"/>
          </a:p>
        </p:txBody>
      </p:sp>
    </p:spTree>
    <p:extLst>
      <p:ext uri="{BB962C8B-B14F-4D97-AF65-F5344CB8AC3E}">
        <p14:creationId xmlns:p14="http://schemas.microsoft.com/office/powerpoint/2010/main" val="419805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a:t>Model for Network Security</a:t>
            </a:r>
            <a:endParaRPr lang="en-AU" altLang="en-US"/>
          </a:p>
        </p:txBody>
      </p:sp>
      <p:pic>
        <p:nvPicPr>
          <p:cNvPr id="2969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99592" y="2276872"/>
            <a:ext cx="6438900" cy="3573463"/>
          </a:xfrm>
        </p:spPr>
      </p:pic>
    </p:spTree>
    <p:extLst>
      <p:ext uri="{BB962C8B-B14F-4D97-AF65-F5344CB8AC3E}">
        <p14:creationId xmlns:p14="http://schemas.microsoft.com/office/powerpoint/2010/main" val="1256342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a:t>Model for Network Security</a:t>
            </a:r>
            <a:endParaRPr lang="en-AU" altLang="en-US"/>
          </a:p>
        </p:txBody>
      </p:sp>
      <p:sp>
        <p:nvSpPr>
          <p:cNvPr id="31747" name="Rectangle 3"/>
          <p:cNvSpPr>
            <a:spLocks noGrp="1" noChangeArrowheads="1"/>
          </p:cNvSpPr>
          <p:nvPr>
            <p:ph idx="1"/>
          </p:nvPr>
        </p:nvSpPr>
        <p:spPr/>
        <p:txBody>
          <a:bodyPr>
            <a:normAutofit lnSpcReduction="10000"/>
          </a:bodyPr>
          <a:lstStyle/>
          <a:p>
            <a:pPr eaLnBrk="1" hangingPunct="1">
              <a:lnSpc>
                <a:spcPct val="90000"/>
              </a:lnSpc>
            </a:pPr>
            <a:r>
              <a:rPr lang="en-AU" altLang="en-US" dirty="0"/>
              <a:t>using this model requires us to: </a:t>
            </a:r>
          </a:p>
          <a:p>
            <a:pPr lvl="1" eaLnBrk="1" hangingPunct="1">
              <a:lnSpc>
                <a:spcPct val="90000"/>
              </a:lnSpc>
            </a:pPr>
            <a:r>
              <a:rPr lang="en-AU" altLang="en-US" dirty="0"/>
              <a:t>design a suitable algorithm for the security transformation </a:t>
            </a:r>
          </a:p>
          <a:p>
            <a:pPr lvl="1" eaLnBrk="1" hangingPunct="1">
              <a:lnSpc>
                <a:spcPct val="90000"/>
              </a:lnSpc>
            </a:pPr>
            <a:r>
              <a:rPr lang="en-AU" altLang="en-US" dirty="0"/>
              <a:t>generate the secret information (keys) used by the algorithm </a:t>
            </a:r>
          </a:p>
          <a:p>
            <a:pPr lvl="1" eaLnBrk="1" hangingPunct="1">
              <a:lnSpc>
                <a:spcPct val="90000"/>
              </a:lnSpc>
            </a:pPr>
            <a:r>
              <a:rPr lang="en-AU" altLang="en-US" dirty="0"/>
              <a:t>develop methods to distribute and share the secret information </a:t>
            </a:r>
          </a:p>
          <a:p>
            <a:pPr lvl="1" eaLnBrk="1" hangingPunct="1">
              <a:lnSpc>
                <a:spcPct val="90000"/>
              </a:lnSpc>
            </a:pPr>
            <a:r>
              <a:rPr lang="en-AU" altLang="en-US" dirty="0"/>
              <a:t>specify a protocol enabling the principals to use the transformation and secret information for a security service </a:t>
            </a:r>
          </a:p>
        </p:txBody>
      </p:sp>
    </p:spTree>
    <p:extLst>
      <p:ext uri="{BB962C8B-B14F-4D97-AF65-F5344CB8AC3E}">
        <p14:creationId xmlns:p14="http://schemas.microsoft.com/office/powerpoint/2010/main" val="1982083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z="4000"/>
              <a:t>Model for Network Access Security</a:t>
            </a:r>
            <a:endParaRPr lang="en-AU" altLang="en-US" sz="4000"/>
          </a:p>
        </p:txBody>
      </p:sp>
      <p:pic>
        <p:nvPicPr>
          <p:cNvPr id="3277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67744" y="2348880"/>
            <a:ext cx="6267450" cy="2408237"/>
          </a:xfrm>
        </p:spPr>
      </p:pic>
    </p:spTree>
    <p:extLst>
      <p:ext uri="{BB962C8B-B14F-4D97-AF65-F5344CB8AC3E}">
        <p14:creationId xmlns:p14="http://schemas.microsoft.com/office/powerpoint/2010/main" val="1010783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z="4000"/>
              <a:t>Model for Network Access Security</a:t>
            </a:r>
            <a:endParaRPr lang="en-AU" altLang="en-US" sz="4000"/>
          </a:p>
        </p:txBody>
      </p:sp>
      <p:sp>
        <p:nvSpPr>
          <p:cNvPr id="34819" name="Rectangle 3"/>
          <p:cNvSpPr>
            <a:spLocks noGrp="1" noChangeArrowheads="1"/>
          </p:cNvSpPr>
          <p:nvPr>
            <p:ph idx="1"/>
          </p:nvPr>
        </p:nvSpPr>
        <p:spPr/>
        <p:txBody>
          <a:bodyPr/>
          <a:lstStyle/>
          <a:p>
            <a:pPr eaLnBrk="1" hangingPunct="1"/>
            <a:r>
              <a:rPr lang="en-AU" altLang="en-US"/>
              <a:t>using this model requires us to: </a:t>
            </a:r>
          </a:p>
          <a:p>
            <a:pPr lvl="1" eaLnBrk="1" hangingPunct="1"/>
            <a:r>
              <a:rPr lang="en-AU" altLang="en-US"/>
              <a:t>select appropriate gatekeeper functions to identify users </a:t>
            </a:r>
          </a:p>
          <a:p>
            <a:pPr lvl="1" eaLnBrk="1" hangingPunct="1"/>
            <a:r>
              <a:rPr lang="en-AU" altLang="en-US"/>
              <a:t>implement security controls to ensure only authorised users access designated information or resources </a:t>
            </a:r>
          </a:p>
          <a:p>
            <a:pPr eaLnBrk="1" hangingPunct="1"/>
            <a:r>
              <a:rPr lang="en-AU" altLang="en-US"/>
              <a:t>trusted computer systems can be used to implement this model </a:t>
            </a:r>
          </a:p>
          <a:p>
            <a:pPr eaLnBrk="1" hangingPunct="1"/>
            <a:endParaRPr lang="en-AU" altLang="en-US"/>
          </a:p>
        </p:txBody>
      </p:sp>
    </p:spTree>
    <p:extLst>
      <p:ext uri="{BB962C8B-B14F-4D97-AF65-F5344CB8AC3E}">
        <p14:creationId xmlns:p14="http://schemas.microsoft.com/office/powerpoint/2010/main" val="105574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a:t>Summary</a:t>
            </a:r>
            <a:endParaRPr lang="en-AU" altLang="en-US"/>
          </a:p>
        </p:txBody>
      </p:sp>
      <p:sp>
        <p:nvSpPr>
          <p:cNvPr id="35843" name="Rectangle 3"/>
          <p:cNvSpPr>
            <a:spLocks noGrp="1" noChangeArrowheads="1"/>
          </p:cNvSpPr>
          <p:nvPr>
            <p:ph idx="1"/>
          </p:nvPr>
        </p:nvSpPr>
        <p:spPr/>
        <p:txBody>
          <a:bodyPr/>
          <a:lstStyle/>
          <a:p>
            <a:pPr eaLnBrk="1" hangingPunct="1"/>
            <a:r>
              <a:rPr lang="en-US" altLang="en-US"/>
              <a:t>have considered:</a:t>
            </a:r>
          </a:p>
          <a:p>
            <a:pPr lvl="1" eaLnBrk="1" hangingPunct="1"/>
            <a:r>
              <a:rPr lang="en-US" altLang="en-US"/>
              <a:t>computer, network, internet security def’s</a:t>
            </a:r>
          </a:p>
          <a:p>
            <a:pPr lvl="1" eaLnBrk="1" hangingPunct="1"/>
            <a:r>
              <a:rPr lang="en-US" altLang="en-US"/>
              <a:t>security services, mechanisms, attacks</a:t>
            </a:r>
          </a:p>
          <a:p>
            <a:pPr lvl="1" eaLnBrk="1" hangingPunct="1"/>
            <a:r>
              <a:rPr lang="en-US" altLang="en-US"/>
              <a:t>X.800 standard</a:t>
            </a:r>
          </a:p>
          <a:p>
            <a:pPr lvl="1" eaLnBrk="1" hangingPunct="1"/>
            <a:r>
              <a:rPr lang="en-US" altLang="en-US"/>
              <a:t>models for network (access) security</a:t>
            </a:r>
          </a:p>
          <a:p>
            <a:pPr lvl="1" eaLnBrk="1" hangingPunct="1"/>
            <a:endParaRPr lang="en-AU" altLang="en-US"/>
          </a:p>
        </p:txBody>
      </p:sp>
    </p:spTree>
    <p:extLst>
      <p:ext uri="{BB962C8B-B14F-4D97-AF65-F5344CB8AC3E}">
        <p14:creationId xmlns:p14="http://schemas.microsoft.com/office/powerpoint/2010/main" val="2398525323"/>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Template>
  <TotalTime>411</TotalTime>
  <Words>1252</Words>
  <Application>Microsoft Office PowerPoint</Application>
  <PresentationFormat>On-screen Show (4:3)</PresentationFormat>
  <Paragraphs>142</Paragraphs>
  <Slides>25</Slides>
  <Notes>6</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25</vt:i4>
      </vt:variant>
    </vt:vector>
  </HeadingPairs>
  <TitlesOfParts>
    <vt:vector size="29" baseType="lpstr">
      <vt:lpstr>Arial</vt:lpstr>
      <vt:lpstr>Calibri</vt:lpstr>
      <vt:lpstr>Theme2</vt:lpstr>
      <vt:lpstr>1_HNDIT</vt:lpstr>
      <vt:lpstr>HNDIT2301: Operating System and Information Security</vt:lpstr>
      <vt:lpstr>Aim of Course</vt:lpstr>
      <vt:lpstr>Intended Learning Outcomes</vt:lpstr>
      <vt:lpstr>PowerPoint Presentation</vt:lpstr>
      <vt:lpstr>Assessment Criteria</vt:lpstr>
      <vt:lpstr>Outline Syllabus</vt:lpstr>
      <vt:lpstr>Background</vt:lpstr>
      <vt:lpstr>1. Basic concepts in computer security</vt:lpstr>
      <vt:lpstr>The Security Triad</vt:lpstr>
      <vt:lpstr>Definitions</vt:lpstr>
      <vt:lpstr>PowerPoint Presentation</vt:lpstr>
      <vt:lpstr>Services, Mechanisms, Attacks</vt:lpstr>
      <vt:lpstr>Security Service</vt:lpstr>
      <vt:lpstr>Security Mechanism</vt:lpstr>
      <vt:lpstr>Security Attack</vt:lpstr>
      <vt:lpstr>OSI Security Architecture</vt:lpstr>
      <vt:lpstr>Security Services</vt:lpstr>
      <vt:lpstr>Security Services (X.800)</vt:lpstr>
      <vt:lpstr>Security Mechanisms (X.800)</vt:lpstr>
      <vt:lpstr>Classify Security Attacks as</vt:lpstr>
      <vt:lpstr>Model for Network Security</vt:lpstr>
      <vt:lpstr>Model for Network Security</vt:lpstr>
      <vt:lpstr>Model for Network Access Security</vt:lpstr>
      <vt:lpstr>Model for Network Access Security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HP</cp:lastModifiedBy>
  <cp:revision>19</cp:revision>
  <dcterms:created xsi:type="dcterms:W3CDTF">2018-04-26T04:37:25Z</dcterms:created>
  <dcterms:modified xsi:type="dcterms:W3CDTF">2021-05-04T07:23:14Z</dcterms:modified>
</cp:coreProperties>
</file>