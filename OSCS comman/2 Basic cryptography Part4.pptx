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0"/>
  </p:notesMasterIdLst>
  <p:sldIdLst>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1/15/2022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143F5A-A5F0-46A4-8826-62D9B1122C43}"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3482525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5A96F2-D403-4700-B78B-1B1D3F7865A4}" type="slidenum">
              <a:rPr lang="en-AU"/>
              <a:pPr eaLnBrk="1" hangingPunct="1"/>
              <a:t>2</a:t>
            </a:fld>
            <a:endParaRPr lang="en-AU"/>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i="1"/>
              <a:t>Up untill now, have been concerned with protecting message content (ie secrecy) by encrypting the message. Will now consider how to protect message integrity (ie protection from modification), as well as confirming the identity of the sender. Generically this is the problem of message authentication, and in eCommerce applications is arguably more important than secrecy.</a:t>
            </a:r>
            <a:r>
              <a:rPr lang="en-AU"/>
              <a:t> Message Authentication is concerned with: protecting the integrity of a message, validating identity of originator, &amp; non-repudiation of origin (dispute resolution). There are three </a:t>
            </a:r>
            <a:r>
              <a:rPr lang="en-US">
                <a:latin typeface="Times-Roman" charset="0"/>
              </a:rPr>
              <a:t>types of functions that may be used to produce an authenticator: </a:t>
            </a:r>
            <a:r>
              <a:rPr lang="en-US"/>
              <a:t>message encryption, message authentication code (MAC), or a hash function.</a:t>
            </a:r>
          </a:p>
          <a:p>
            <a:pPr eaLnBrk="1" hangingPunct="1"/>
            <a:endParaRPr lang="en-AU"/>
          </a:p>
        </p:txBody>
      </p:sp>
    </p:spTree>
    <p:extLst>
      <p:ext uri="{BB962C8B-B14F-4D97-AF65-F5344CB8AC3E}">
        <p14:creationId xmlns:p14="http://schemas.microsoft.com/office/powerpoint/2010/main" val="2056636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D20F06-4B65-4D17-8C4B-4FE1331A7870}" type="slidenum">
              <a:rPr lang="en-AU"/>
              <a:pPr eaLnBrk="1" hangingPunct="1"/>
              <a:t>3</a:t>
            </a:fld>
            <a:endParaRPr lang="en-AU"/>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Roman" charset="0"/>
              </a:rPr>
              <a:t>In the context of communications across a network, the attacks listed above can be identified.</a:t>
            </a:r>
            <a:endParaRPr lang="en-US"/>
          </a:p>
          <a:p>
            <a:pPr eaLnBrk="1" hangingPunct="1"/>
            <a:r>
              <a:rPr lang="en-US"/>
              <a:t>The first two requirements belong in the realm of message confidentiality, and are handled using the encryption techniques already discussed.</a:t>
            </a:r>
          </a:p>
          <a:p>
            <a:pPr eaLnBrk="1" hangingPunct="1"/>
            <a:r>
              <a:rPr lang="en-US"/>
              <a:t>The remaining requirements belong in the realm of message authentication. At its core this addresses the issue of ensuring that a message comes from the alleged source and has not been altered. It may also address sequencing and timeliness. The use of a digital signature can also address issues of repudiation </a:t>
            </a:r>
            <a:r>
              <a:rPr lang="en-US">
                <a:latin typeface="Times-Roman" charset="0"/>
              </a:rPr>
              <a:t>by the source.</a:t>
            </a:r>
            <a:r>
              <a:rPr lang="en-US">
                <a:latin typeface="Helvetica" panose="020B0604020202020204" pitchFamily="34" charset="0"/>
              </a:rPr>
              <a:t> </a:t>
            </a:r>
            <a:endParaRPr lang="en-AU">
              <a:latin typeface="Helvetica" panose="020B0604020202020204" pitchFamily="34" charset="0"/>
            </a:endParaRPr>
          </a:p>
        </p:txBody>
      </p:sp>
    </p:spTree>
    <p:extLst>
      <p:ext uri="{BB962C8B-B14F-4D97-AF65-F5344CB8AC3E}">
        <p14:creationId xmlns:p14="http://schemas.microsoft.com/office/powerpoint/2010/main" val="2156044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B3811D-413A-43C1-9EFC-D51F40C198DE}" type="slidenum">
              <a:rPr lang="en-AU"/>
              <a:pPr eaLnBrk="1" hangingPunct="1"/>
              <a:t>4</a:t>
            </a:fld>
            <a:endParaRPr lang="en-AU"/>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Roman" charset="0"/>
              </a:rPr>
              <a:t>Message encryption by itself can provide a measure of authentication. </a:t>
            </a:r>
            <a:r>
              <a:rPr lang="en-US"/>
              <a:t>Here, the ciphertext of the entire message serves as its authenticator, on the basis that only those who know the appropriate keys could have validly encrypted the message. This is provided you can recognize a valid message (ie if the message has </a:t>
            </a:r>
            <a:r>
              <a:rPr lang="en-AU"/>
              <a:t>suitable structure such as redundancy or a checksum to detect any changes).</a:t>
            </a:r>
          </a:p>
          <a:p>
            <a:pPr eaLnBrk="1" hangingPunct="1"/>
            <a:endParaRPr lang="en-US"/>
          </a:p>
        </p:txBody>
      </p:sp>
    </p:spTree>
    <p:extLst>
      <p:ext uri="{BB962C8B-B14F-4D97-AF65-F5344CB8AC3E}">
        <p14:creationId xmlns:p14="http://schemas.microsoft.com/office/powerpoint/2010/main" val="1004527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C9A0D8-AC92-4D33-AA34-993F427F6055}" type="slidenum">
              <a:rPr lang="en-AU"/>
              <a:pPr eaLnBrk="1" hangingPunct="1"/>
              <a:t>5</a:t>
            </a:fld>
            <a:endParaRPr lang="en-AU"/>
          </a:p>
        </p:txBody>
      </p:sp>
      <p:sp>
        <p:nvSpPr>
          <p:cNvPr id="29699" name="Rectangle 1026"/>
          <p:cNvSpPr>
            <a:spLocks noGrp="1" noRot="1" noChangeAspect="1" noChangeArrowheads="1" noTextEdit="1"/>
          </p:cNvSpPr>
          <p:nvPr>
            <p:ph type="sldImg"/>
          </p:nvPr>
        </p:nvSpPr>
        <p:spPr>
          <a:ln/>
        </p:spPr>
      </p:sp>
      <p:sp>
        <p:nvSpPr>
          <p:cNvPr id="2970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With public-key techniques, can get a digital signature which can only have been created by key owner. But at cost of two public-key operations at each end on message.</a:t>
            </a:r>
          </a:p>
        </p:txBody>
      </p:sp>
    </p:spTree>
    <p:extLst>
      <p:ext uri="{BB962C8B-B14F-4D97-AF65-F5344CB8AC3E}">
        <p14:creationId xmlns:p14="http://schemas.microsoft.com/office/powerpoint/2010/main" val="908748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6C27B7-8E27-40EC-A08B-6CAC085FB97A}" type="slidenum">
              <a:rPr lang="en-AU"/>
              <a:pPr eaLnBrk="1" hangingPunct="1"/>
              <a:t>6</a:t>
            </a:fld>
            <a:endParaRPr lang="en-AU"/>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alternative authentication technique involves the use of a secret key to generate a small fixed-size block of data, known as a cryptographic checksum or MAC that is appended to the message. This technique assumes that two communicating parties, say A and B, share a common secret key K. </a:t>
            </a:r>
            <a:r>
              <a:rPr lang="en-US">
                <a:latin typeface="Times-Roman" charset="0"/>
              </a:rPr>
              <a:t>A MAC function is similar to encryption, except that the MAC algorithm need not be reversible, as it must for decryption. </a:t>
            </a:r>
          </a:p>
        </p:txBody>
      </p:sp>
    </p:spTree>
    <p:extLst>
      <p:ext uri="{BB962C8B-B14F-4D97-AF65-F5344CB8AC3E}">
        <p14:creationId xmlns:p14="http://schemas.microsoft.com/office/powerpoint/2010/main" val="3522258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98594D-C474-410F-B05A-E351C43A51F6}" type="slidenum">
              <a:rPr lang="en-AU"/>
              <a:pPr eaLnBrk="1" hangingPunct="1"/>
              <a:t>7</a:t>
            </a:fld>
            <a:endParaRPr lang="en-AU"/>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Stallings Figure 11.4a “Message Authentication” shows the use of a MAC just for authentication.</a:t>
            </a:r>
          </a:p>
        </p:txBody>
      </p:sp>
    </p:spTree>
    <p:extLst>
      <p:ext uri="{BB962C8B-B14F-4D97-AF65-F5344CB8AC3E}">
        <p14:creationId xmlns:p14="http://schemas.microsoft.com/office/powerpoint/2010/main" val="3289346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C95CB8-0B17-49F8-ADC6-F9C037A33EB0}" type="slidenum">
              <a:rPr lang="en-AU"/>
              <a:pPr eaLnBrk="1" hangingPunct="1"/>
              <a:t>8</a:t>
            </a:fld>
            <a:endParaRPr lang="en-AU"/>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Can combine use of MAC with encryption in various ways to provide both authentication &amp; secrecy.</a:t>
            </a:r>
          </a:p>
          <a:p>
            <a:pPr eaLnBrk="1" hangingPunct="1"/>
            <a:r>
              <a:rPr lang="en-US"/>
              <a:t>Use MAC in circumstances where just authentication is needed (or needs to be kept), see text for examples.</a:t>
            </a:r>
          </a:p>
          <a:p>
            <a:pPr eaLnBrk="1" hangingPunct="1"/>
            <a:r>
              <a:rPr lang="en-US"/>
              <a:t>A MAC is NOT a digital signature since both sender &amp; receiver share key and could create it.</a:t>
            </a:r>
          </a:p>
        </p:txBody>
      </p:sp>
    </p:spTree>
    <p:extLst>
      <p:ext uri="{BB962C8B-B14F-4D97-AF65-F5344CB8AC3E}">
        <p14:creationId xmlns:p14="http://schemas.microsoft.com/office/powerpoint/2010/main" val="1333694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7425FC-97BE-4A3C-8971-BDDB2325D4B8}" type="slidenum">
              <a:rPr lang="en-AU"/>
              <a:pPr eaLnBrk="1" hangingPunct="1"/>
              <a:t>9</a:t>
            </a:fld>
            <a:endParaRPr lang="en-AU"/>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MAC, also known as a cryptographic checksum,is generated by a function C. The MAC is appended to the message at the source at a time when the message is assumed or known to be correct. The receiver authenticates that message by re-computing the MAC. </a:t>
            </a:r>
          </a:p>
          <a:p>
            <a:pPr eaLnBrk="1" hangingPunct="1"/>
            <a:r>
              <a:rPr lang="en-US"/>
              <a:t>The MAC function is a many-to-one function, since potentially many arbitrarily long messages can be condensed to the same summary value, but don’t want finding them to be easy!</a:t>
            </a:r>
          </a:p>
        </p:txBody>
      </p:sp>
    </p:spTree>
    <p:extLst>
      <p:ext uri="{BB962C8B-B14F-4D97-AF65-F5344CB8AC3E}">
        <p14:creationId xmlns:p14="http://schemas.microsoft.com/office/powerpoint/2010/main" val="1648176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293876-1889-4B3C-91C5-0F210F677B3F}" type="slidenum">
              <a:rPr lang="en-AU"/>
              <a:pPr eaLnBrk="1" hangingPunct="1"/>
              <a:t>10</a:t>
            </a:fld>
            <a:endParaRPr lang="en-AU"/>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assessing the security of a MAC function, we need to consider the types of attacks that may be mounted against it. Hence it needs to satisfy the listed requirements.</a:t>
            </a:r>
          </a:p>
          <a:p>
            <a:pPr eaLnBrk="1" hangingPunct="1"/>
            <a:r>
              <a:rPr lang="en-US"/>
              <a:t>The first requirement deals with message replacement attacks, in which an opponent is able to construct a new message to match a given MAC, even though the opponent does not know and does not learn the key.</a:t>
            </a:r>
          </a:p>
          <a:p>
            <a:pPr eaLnBrk="1" hangingPunct="1"/>
            <a:r>
              <a:rPr lang="en-US"/>
              <a:t>The second requirement deals with the need to thwart a brute-force attack based on chosen plaintext. </a:t>
            </a:r>
          </a:p>
          <a:p>
            <a:pPr eaLnBrk="1" hangingPunct="1"/>
            <a:r>
              <a:rPr lang="en-US"/>
              <a:t>The final requirement dictates that the authentication algorithm should not be weaker with respect to certain parts or bits of the message than others.</a:t>
            </a:r>
          </a:p>
        </p:txBody>
      </p:sp>
    </p:spTree>
    <p:extLst>
      <p:ext uri="{BB962C8B-B14F-4D97-AF65-F5344CB8AC3E}">
        <p14:creationId xmlns:p14="http://schemas.microsoft.com/office/powerpoint/2010/main" val="3985852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85D147-27E7-46C1-856C-703678457E0A}" type="slidenum">
              <a:rPr lang="en-AU"/>
              <a:pPr eaLnBrk="1" hangingPunct="1"/>
              <a:t>11</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variation on the message authentication code is the one-way hash function. As with the message authentication code, a hash function accepts a variable-size message M as input and produces a fixed-size output, referred to as a hash code H(M). Unlike a MAC, a hash code does not use a key but is a function only of the input message. The hash code is also referred to as a message digest or hash value. </a:t>
            </a:r>
          </a:p>
        </p:txBody>
      </p:sp>
    </p:spTree>
    <p:extLst>
      <p:ext uri="{BB962C8B-B14F-4D97-AF65-F5344CB8AC3E}">
        <p14:creationId xmlns:p14="http://schemas.microsoft.com/office/powerpoint/2010/main" val="2169341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44571C-392E-4A71-B0DF-2B5F522C0FFD}" type="slidenum">
              <a:rPr lang="en-AU"/>
              <a:pPr eaLnBrk="1" hangingPunct="1"/>
              <a:t>12</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Stallings Figure 11.5c “Basic Uses of Hash Functions” shows the hash being “signed” with the senders private key, thus forming a digital signature.</a:t>
            </a:r>
          </a:p>
        </p:txBody>
      </p:sp>
    </p:spTree>
    <p:extLst>
      <p:ext uri="{BB962C8B-B14F-4D97-AF65-F5344CB8AC3E}">
        <p14:creationId xmlns:p14="http://schemas.microsoft.com/office/powerpoint/2010/main" val="3221198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C2BC86-29E9-4247-816E-E1BE965032F8}" type="slidenum">
              <a:rPr lang="en-AU"/>
              <a:pPr eaLnBrk="1" hangingPunct="1"/>
              <a:t>13</a:t>
            </a:fld>
            <a:endParaRPr lang="en-AU"/>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purpose of a hash function is to produce a “fingerprint”of a file, message, or other block of data.</a:t>
            </a:r>
            <a:endParaRPr lang="en-AU"/>
          </a:p>
          <a:p>
            <a:pPr eaLnBrk="1" hangingPunct="1"/>
            <a:r>
              <a:rPr lang="en-AU"/>
              <a:t>These are the specifications for good hash functions. Essentially it must be extremely difficult to find 2 messages with the same hash, and the hash should not be related to the message in any obvious way (ie it should be a complex non-linear function of the message). There are quite a few similarities in the evolution of hash functions &amp; block ciphers, and in the evolution of the design requirements on both. </a:t>
            </a:r>
          </a:p>
        </p:txBody>
      </p:sp>
    </p:spTree>
    <p:extLst>
      <p:ext uri="{BB962C8B-B14F-4D97-AF65-F5344CB8AC3E}">
        <p14:creationId xmlns:p14="http://schemas.microsoft.com/office/powerpoint/2010/main" val="2791198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3E7F32-494A-4E21-A91C-0134401D71B3}" type="slidenum">
              <a:rPr lang="en-AU"/>
              <a:pPr eaLnBrk="1" hangingPunct="1"/>
              <a:t>14</a:t>
            </a:fld>
            <a:endParaRPr lang="en-AU"/>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All hash functions operate using the following general principles. The input (message, file,etc.) is viewed as a sequence of n-bit blocks, processed one block at a time in an iterative fashion to produce an n-bit hash function. Can construct a range of possible simple hash functions by just XOR’ing blocks with rotates etc. None of these are secure, since can predict how changes to message affect the resulting hash.</a:t>
            </a:r>
          </a:p>
        </p:txBody>
      </p:sp>
    </p:spTree>
    <p:extLst>
      <p:ext uri="{BB962C8B-B14F-4D97-AF65-F5344CB8AC3E}">
        <p14:creationId xmlns:p14="http://schemas.microsoft.com/office/powerpoint/2010/main" val="31638019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1/15/2022</a:t>
            </a:fld>
            <a:endParaRPr lang="en-US" dirty="0"/>
          </a:p>
        </p:txBody>
      </p:sp>
      <p:sp>
        <p:nvSpPr>
          <p:cNvPr id="5" name="Footer Placeholder 4"/>
          <p:cNvSpPr>
            <a:spLocks noGrp="1"/>
          </p:cNvSpPr>
          <p:nvPr>
            <p:ph type="ftr" sz="quarter" idx="11"/>
          </p:nvPr>
        </p:nvSpPr>
        <p:spPr/>
        <p:txBody>
          <a:bodyPr/>
          <a:lstStyle>
            <a:lvl1pPr>
              <a:defRPr/>
            </a:lvl1p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6DC9F0-F6FA-4EF5-9B02-32D7E772F3DA}"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2C1C87-DFFE-40DD-88ED-115007FBF96B}" type="datetime1">
              <a:rPr lang="en-US" smtClean="0"/>
              <a:t>1/15/2022</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910CCB-6840-48E9-8232-4140365FD666}" type="datetime1">
              <a:rPr lang="en-US" smtClean="0"/>
              <a:t>1/15/2022</a:t>
            </a:fld>
            <a:endParaRPr lang="en-US" dirty="0"/>
          </a:p>
        </p:txBody>
      </p:sp>
      <p:sp>
        <p:nvSpPr>
          <p:cNvPr id="8" name="Footer Placeholder 7"/>
          <p:cNvSpPr>
            <a:spLocks noGrp="1"/>
          </p:cNvSpPr>
          <p:nvPr>
            <p:ph type="ftr" sz="quarter" idx="11"/>
          </p:nvPr>
        </p:nvSpPr>
        <p:spPr/>
        <p:txBody>
          <a:bodyPr/>
          <a:lstStyle/>
          <a:p>
            <a:r>
              <a:rPr lang="en-US"/>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DC12BC-620C-4804-A68B-E5D136F30A82}" type="datetime1">
              <a:rPr lang="en-US" smtClean="0"/>
              <a:t>1/15/2022</a:t>
            </a:fld>
            <a:endParaRPr lang="en-US" dirty="0"/>
          </a:p>
        </p:txBody>
      </p:sp>
      <p:sp>
        <p:nvSpPr>
          <p:cNvPr id="4" name="Footer Placeholder 3"/>
          <p:cNvSpPr>
            <a:spLocks noGrp="1"/>
          </p:cNvSpPr>
          <p:nvPr>
            <p:ph type="ftr" sz="quarter" idx="11"/>
          </p:nvPr>
        </p:nvSpPr>
        <p:spPr/>
        <p:txBody>
          <a:bodyPr/>
          <a:lstStyle/>
          <a:p>
            <a:r>
              <a:rPr lang="en-US"/>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1/15/2022</a:t>
            </a:fld>
            <a:endParaRPr lang="en-US" dirty="0"/>
          </a:p>
        </p:txBody>
      </p:sp>
      <p:sp>
        <p:nvSpPr>
          <p:cNvPr id="3" name="Footer Placeholder 2"/>
          <p:cNvSpPr>
            <a:spLocks noGrp="1"/>
          </p:cNvSpPr>
          <p:nvPr>
            <p:ph type="ftr" sz="quarter" idx="11"/>
          </p:nvPr>
        </p:nvSpPr>
        <p:spPr/>
        <p:txBody>
          <a:bodyPr/>
          <a:lstStyle/>
          <a:p>
            <a:r>
              <a:rPr lang="en-US"/>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1/15/2022</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1/15/2022</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21B3BF-CA00-44EF-B758-B15ECF3DFDAF}"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6D5A7-B666-4055-9430-CD0CBCBD1CF8}"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1/15/2022</a:t>
            </a:fld>
            <a:endParaRPr lang="en-US" dirty="0"/>
          </a:p>
        </p:txBody>
      </p:sp>
      <p:sp>
        <p:nvSpPr>
          <p:cNvPr id="5" name="Footer Placeholder 4"/>
          <p:cNvSpPr>
            <a:spLocks noGrp="1"/>
          </p:cNvSpPr>
          <p:nvPr>
            <p:ph type="ftr" sz="quarter" idx="11"/>
          </p:nvPr>
        </p:nvSpPr>
        <p:spPr/>
        <p:txBody>
          <a:bodyPr/>
          <a:lstStyle>
            <a:lvl1pPr>
              <a:defRPr/>
            </a:lvl1p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4000367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6DC9F0-F6FA-4EF5-9B02-32D7E772F3DA}"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2C1C87-DFFE-40DD-88ED-115007FBF96B}" type="datetime1">
              <a:rPr lang="en-US" smtClean="0"/>
              <a:t>1/15/2022</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910CCB-6840-48E9-8232-4140365FD666}" type="datetime1">
              <a:rPr lang="en-US" smtClean="0"/>
              <a:t>1/15/2022</a:t>
            </a:fld>
            <a:endParaRPr lang="en-US" dirty="0"/>
          </a:p>
        </p:txBody>
      </p:sp>
      <p:sp>
        <p:nvSpPr>
          <p:cNvPr id="8" name="Footer Placeholder 7"/>
          <p:cNvSpPr>
            <a:spLocks noGrp="1"/>
          </p:cNvSpPr>
          <p:nvPr>
            <p:ph type="ftr" sz="quarter" idx="11"/>
          </p:nvPr>
        </p:nvSpPr>
        <p:spPr/>
        <p:txBody>
          <a:bodyPr/>
          <a:lstStyle/>
          <a:p>
            <a:r>
              <a:rPr lang="en-US"/>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DC12BC-620C-4804-A68B-E5D136F30A82}" type="datetime1">
              <a:rPr lang="en-US" smtClean="0"/>
              <a:t>1/15/2022</a:t>
            </a:fld>
            <a:endParaRPr lang="en-US" dirty="0"/>
          </a:p>
        </p:txBody>
      </p:sp>
      <p:sp>
        <p:nvSpPr>
          <p:cNvPr id="4" name="Footer Placeholder 3"/>
          <p:cNvSpPr>
            <a:spLocks noGrp="1"/>
          </p:cNvSpPr>
          <p:nvPr>
            <p:ph type="ftr" sz="quarter" idx="11"/>
          </p:nvPr>
        </p:nvSpPr>
        <p:spPr/>
        <p:txBody>
          <a:bodyPr/>
          <a:lstStyle/>
          <a:p>
            <a:r>
              <a:rPr lang="en-US"/>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1/15/2022</a:t>
            </a:fld>
            <a:endParaRPr lang="en-US" dirty="0"/>
          </a:p>
        </p:txBody>
      </p:sp>
      <p:sp>
        <p:nvSpPr>
          <p:cNvPr id="3" name="Footer Placeholder 2"/>
          <p:cNvSpPr>
            <a:spLocks noGrp="1"/>
          </p:cNvSpPr>
          <p:nvPr>
            <p:ph type="ftr" sz="quarter" idx="11"/>
          </p:nvPr>
        </p:nvSpPr>
        <p:spPr/>
        <p:txBody>
          <a:bodyPr/>
          <a:lstStyle/>
          <a:p>
            <a:r>
              <a:rPr lang="en-US"/>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1/15/2022</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1/15/2022</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21B3BF-CA00-44EF-B758-B15ECF3DFDAF}"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6D5A7-B666-4055-9430-CD0CBCBD1CF8}" type="datetime1">
              <a:rPr lang="en-US" smtClean="0"/>
              <a:t>1/15/2022</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1/15/2022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1/15/2022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subTitle" idx="1"/>
          </p:nvPr>
        </p:nvSpPr>
        <p:spPr>
          <a:xfrm>
            <a:off x="1371600" y="4800600"/>
            <a:ext cx="6705600" cy="685800"/>
          </a:xfrm>
          <a:noFill/>
        </p:spPr>
        <p:txBody>
          <a:bodyPr anchorCtr="1"/>
          <a:lstStyle/>
          <a:p>
            <a:r>
              <a:rPr lang="en-US" altLang="en-US" dirty="0"/>
              <a:t>2  Basic cryptography - Part 4</a:t>
            </a:r>
          </a:p>
        </p:txBody>
      </p:sp>
      <p:sp>
        <p:nvSpPr>
          <p:cNvPr id="2061" name="Rectangle 13"/>
          <p:cNvSpPr>
            <a:spLocks noGrp="1" noChangeArrowheads="1"/>
          </p:cNvSpPr>
          <p:nvPr>
            <p:ph type="ctrTitle"/>
          </p:nvPr>
        </p:nvSpPr>
        <p:spPr>
          <a:xfrm>
            <a:off x="4876800" y="2362200"/>
            <a:ext cx="4191000" cy="1828800"/>
          </a:xfrm>
        </p:spPr>
        <p:txBody>
          <a:bodyPr>
            <a:noAutofit/>
          </a:bodyPr>
          <a:lstStyle/>
          <a:p>
            <a:pPr>
              <a:defRPr/>
            </a:pPr>
            <a:r>
              <a:rPr lang="en-US" sz="3200" dirty="0"/>
              <a:t>HNDIT2301: Operating System and Information Security</a:t>
            </a:r>
            <a:endParaRPr lang="en-US" sz="2400" b="1" dirty="0"/>
          </a:p>
        </p:txBody>
      </p:sp>
      <p:sp>
        <p:nvSpPr>
          <p:cNvPr id="4" name="Rectangle 1026"/>
          <p:cNvSpPr txBox="1">
            <a:spLocks noChangeArrowheads="1"/>
          </p:cNvSpPr>
          <p:nvPr/>
        </p:nvSpPr>
        <p:spPr>
          <a:xfrm>
            <a:off x="457200" y="381000"/>
            <a:ext cx="8209697" cy="1828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Hashing and Authentication</a:t>
            </a:r>
            <a:endParaRPr lang="en-AU" dirty="0"/>
          </a:p>
        </p:txBody>
      </p:sp>
    </p:spTree>
    <p:extLst>
      <p:ext uri="{BB962C8B-B14F-4D97-AF65-F5344CB8AC3E}">
        <p14:creationId xmlns:p14="http://schemas.microsoft.com/office/powerpoint/2010/main" val="201921996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AU"/>
              <a:t>Message Authentication</a:t>
            </a:r>
          </a:p>
        </p:txBody>
      </p:sp>
      <p:sp>
        <p:nvSpPr>
          <p:cNvPr id="46083" name="Rectangle 3"/>
          <p:cNvSpPr>
            <a:spLocks noGrp="1" noChangeArrowheads="1"/>
          </p:cNvSpPr>
          <p:nvPr>
            <p:ph idx="1"/>
          </p:nvPr>
        </p:nvSpPr>
        <p:spPr>
          <a:xfrm>
            <a:off x="457200" y="1500188"/>
            <a:ext cx="8229600" cy="4625975"/>
          </a:xfrm>
        </p:spPr>
        <p:txBody>
          <a:bodyPr rtlCol="0">
            <a:normAutofit fontScale="92500"/>
          </a:bodyPr>
          <a:lstStyle/>
          <a:p>
            <a:pPr fontAlgn="auto">
              <a:lnSpc>
                <a:spcPct val="90000"/>
              </a:lnSpc>
              <a:spcAft>
                <a:spcPts val="0"/>
              </a:spcAft>
              <a:defRPr/>
            </a:pPr>
            <a:r>
              <a:rPr lang="en-AU" dirty="0"/>
              <a:t>message authentication is concerned with: </a:t>
            </a:r>
          </a:p>
          <a:p>
            <a:pPr lvl="1" fontAlgn="auto">
              <a:lnSpc>
                <a:spcPct val="90000"/>
              </a:lnSpc>
              <a:spcAft>
                <a:spcPts val="0"/>
              </a:spcAft>
              <a:defRPr/>
            </a:pPr>
            <a:r>
              <a:rPr lang="en-AU" sz="3200" dirty="0"/>
              <a:t>protecting the integrity of a message </a:t>
            </a:r>
          </a:p>
          <a:p>
            <a:pPr lvl="1" fontAlgn="auto">
              <a:lnSpc>
                <a:spcPct val="90000"/>
              </a:lnSpc>
              <a:spcAft>
                <a:spcPts val="0"/>
              </a:spcAft>
              <a:defRPr/>
            </a:pPr>
            <a:r>
              <a:rPr lang="en-AU" sz="3200" dirty="0"/>
              <a:t>validating identity of originator </a:t>
            </a:r>
          </a:p>
          <a:p>
            <a:pPr lvl="1" fontAlgn="auto">
              <a:lnSpc>
                <a:spcPct val="90000"/>
              </a:lnSpc>
              <a:spcAft>
                <a:spcPts val="0"/>
              </a:spcAft>
              <a:defRPr/>
            </a:pPr>
            <a:r>
              <a:rPr lang="en-AU" sz="3200" dirty="0"/>
              <a:t>non-repudiation of origin (dispute resolution)</a:t>
            </a:r>
          </a:p>
          <a:p>
            <a:pPr fontAlgn="auto">
              <a:lnSpc>
                <a:spcPct val="90000"/>
              </a:lnSpc>
              <a:spcAft>
                <a:spcPts val="0"/>
              </a:spcAft>
              <a:defRPr/>
            </a:pPr>
            <a:r>
              <a:rPr lang="en-US" dirty="0"/>
              <a:t>will consider the security requirements</a:t>
            </a:r>
          </a:p>
          <a:p>
            <a:pPr fontAlgn="auto">
              <a:lnSpc>
                <a:spcPct val="90000"/>
              </a:lnSpc>
              <a:spcAft>
                <a:spcPts val="0"/>
              </a:spcAft>
              <a:defRPr/>
            </a:pPr>
            <a:r>
              <a:rPr lang="en-US" dirty="0"/>
              <a:t>then three alternative functions used:</a:t>
            </a:r>
          </a:p>
          <a:p>
            <a:pPr lvl="1" fontAlgn="auto">
              <a:lnSpc>
                <a:spcPct val="90000"/>
              </a:lnSpc>
              <a:spcAft>
                <a:spcPts val="0"/>
              </a:spcAft>
              <a:defRPr/>
            </a:pPr>
            <a:r>
              <a:rPr lang="en-US" sz="3200" dirty="0"/>
              <a:t>message encryption</a:t>
            </a:r>
          </a:p>
          <a:p>
            <a:pPr lvl="1" fontAlgn="auto">
              <a:lnSpc>
                <a:spcPct val="90000"/>
              </a:lnSpc>
              <a:spcAft>
                <a:spcPts val="0"/>
              </a:spcAft>
              <a:defRPr/>
            </a:pPr>
            <a:r>
              <a:rPr lang="en-US" sz="3200" dirty="0"/>
              <a:t>message authentication code (MAC)</a:t>
            </a:r>
          </a:p>
          <a:p>
            <a:pPr lvl="1" fontAlgn="auto">
              <a:lnSpc>
                <a:spcPct val="90000"/>
              </a:lnSpc>
              <a:spcAft>
                <a:spcPts val="0"/>
              </a:spcAft>
              <a:defRPr/>
            </a:pPr>
            <a:r>
              <a:rPr lang="en-US" sz="3200" dirty="0"/>
              <a:t>hash function</a:t>
            </a:r>
            <a:endParaRPr lang="en-AU" sz="3200" dirty="0"/>
          </a:p>
          <a:p>
            <a:pPr fontAlgn="auto">
              <a:lnSpc>
                <a:spcPct val="90000"/>
              </a:lnSpc>
              <a:spcAft>
                <a:spcPts val="0"/>
              </a:spcAft>
              <a:defRPr/>
            </a:pPr>
            <a:endParaRPr lang="en-AU" sz="2800" dirty="0"/>
          </a:p>
        </p:txBody>
      </p:sp>
    </p:spTree>
    <p:extLst>
      <p:ext uri="{BB962C8B-B14F-4D97-AF65-F5344CB8AC3E}">
        <p14:creationId xmlns:p14="http://schemas.microsoft.com/office/powerpoint/2010/main" val="2456577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Security Requirements</a:t>
            </a:r>
            <a:endParaRPr lang="en-AU"/>
          </a:p>
        </p:txBody>
      </p:sp>
      <p:sp>
        <p:nvSpPr>
          <p:cNvPr id="5123" name="Rectangle 3"/>
          <p:cNvSpPr>
            <a:spLocks noGrp="1" noChangeArrowheads="1"/>
          </p:cNvSpPr>
          <p:nvPr>
            <p:ph idx="1"/>
          </p:nvPr>
        </p:nvSpPr>
        <p:spPr/>
        <p:txBody>
          <a:bodyPr rtlCol="0">
            <a:normAutofit lnSpcReduction="10000"/>
          </a:bodyPr>
          <a:lstStyle/>
          <a:p>
            <a:pPr fontAlgn="auto">
              <a:lnSpc>
                <a:spcPct val="90000"/>
              </a:lnSpc>
              <a:spcAft>
                <a:spcPts val="0"/>
              </a:spcAft>
              <a:defRPr/>
            </a:pPr>
            <a:r>
              <a:rPr lang="en-US"/>
              <a:t>disclosure</a:t>
            </a:r>
          </a:p>
          <a:p>
            <a:pPr fontAlgn="auto">
              <a:lnSpc>
                <a:spcPct val="90000"/>
              </a:lnSpc>
              <a:spcAft>
                <a:spcPts val="0"/>
              </a:spcAft>
              <a:defRPr/>
            </a:pPr>
            <a:r>
              <a:rPr lang="en-US"/>
              <a:t>traffic analysis</a:t>
            </a:r>
          </a:p>
          <a:p>
            <a:pPr fontAlgn="auto">
              <a:lnSpc>
                <a:spcPct val="90000"/>
              </a:lnSpc>
              <a:spcAft>
                <a:spcPts val="0"/>
              </a:spcAft>
              <a:defRPr/>
            </a:pPr>
            <a:r>
              <a:rPr lang="en-US"/>
              <a:t>masquerade</a:t>
            </a:r>
          </a:p>
          <a:p>
            <a:pPr fontAlgn="auto">
              <a:lnSpc>
                <a:spcPct val="90000"/>
              </a:lnSpc>
              <a:spcAft>
                <a:spcPts val="0"/>
              </a:spcAft>
              <a:defRPr/>
            </a:pPr>
            <a:r>
              <a:rPr lang="en-US"/>
              <a:t>content modification</a:t>
            </a:r>
          </a:p>
          <a:p>
            <a:pPr fontAlgn="auto">
              <a:lnSpc>
                <a:spcPct val="90000"/>
              </a:lnSpc>
              <a:spcAft>
                <a:spcPts val="0"/>
              </a:spcAft>
              <a:defRPr/>
            </a:pPr>
            <a:r>
              <a:rPr lang="en-US"/>
              <a:t>sequence modification</a:t>
            </a:r>
          </a:p>
          <a:p>
            <a:pPr fontAlgn="auto">
              <a:lnSpc>
                <a:spcPct val="90000"/>
              </a:lnSpc>
              <a:spcAft>
                <a:spcPts val="0"/>
              </a:spcAft>
              <a:defRPr/>
            </a:pPr>
            <a:r>
              <a:rPr lang="en-US"/>
              <a:t>timing modification</a:t>
            </a:r>
          </a:p>
          <a:p>
            <a:pPr fontAlgn="auto">
              <a:lnSpc>
                <a:spcPct val="90000"/>
              </a:lnSpc>
              <a:spcAft>
                <a:spcPts val="0"/>
              </a:spcAft>
              <a:defRPr/>
            </a:pPr>
            <a:r>
              <a:rPr lang="en-US"/>
              <a:t>source repudiation</a:t>
            </a:r>
          </a:p>
          <a:p>
            <a:pPr fontAlgn="auto">
              <a:lnSpc>
                <a:spcPct val="90000"/>
              </a:lnSpc>
              <a:spcAft>
                <a:spcPts val="0"/>
              </a:spcAft>
              <a:defRPr/>
            </a:pPr>
            <a:r>
              <a:rPr lang="en-US"/>
              <a:t>destination repudiation</a:t>
            </a:r>
            <a:endParaRPr lang="en-AU"/>
          </a:p>
        </p:txBody>
      </p:sp>
    </p:spTree>
    <p:extLst>
      <p:ext uri="{BB962C8B-B14F-4D97-AF65-F5344CB8AC3E}">
        <p14:creationId xmlns:p14="http://schemas.microsoft.com/office/powerpoint/2010/main" val="3775678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Message Encryption</a:t>
            </a:r>
            <a:endParaRPr lang="en-AU"/>
          </a:p>
        </p:txBody>
      </p:sp>
      <p:sp>
        <p:nvSpPr>
          <p:cNvPr id="8195" name="Rectangle 3"/>
          <p:cNvSpPr>
            <a:spLocks noGrp="1" noChangeArrowheads="1"/>
          </p:cNvSpPr>
          <p:nvPr>
            <p:ph idx="1"/>
          </p:nvPr>
        </p:nvSpPr>
        <p:spPr/>
        <p:txBody>
          <a:bodyPr/>
          <a:lstStyle/>
          <a:p>
            <a:r>
              <a:rPr lang="en-US"/>
              <a:t>message encryption by itself also provides a measure of authentication</a:t>
            </a:r>
          </a:p>
          <a:p>
            <a:r>
              <a:rPr lang="en-US"/>
              <a:t>if symmetric encryption is used then:</a:t>
            </a:r>
          </a:p>
          <a:p>
            <a:pPr lvl="1"/>
            <a:r>
              <a:rPr lang="en-US"/>
              <a:t>receiver know sender must have created it</a:t>
            </a:r>
          </a:p>
          <a:p>
            <a:pPr lvl="1"/>
            <a:r>
              <a:rPr lang="en-US"/>
              <a:t>since only sender and receiver now key used</a:t>
            </a:r>
          </a:p>
          <a:p>
            <a:pPr lvl="1"/>
            <a:r>
              <a:rPr lang="en-US"/>
              <a:t>know content cannot of been altered</a:t>
            </a:r>
          </a:p>
          <a:p>
            <a:pPr lvl="1"/>
            <a:r>
              <a:rPr lang="en-US"/>
              <a:t>if message has </a:t>
            </a:r>
            <a:r>
              <a:rPr lang="en-AU"/>
              <a:t>suitable structure, redundancy or a checksum to detect any changes</a:t>
            </a:r>
          </a:p>
        </p:txBody>
      </p:sp>
    </p:spTree>
    <p:extLst>
      <p:ext uri="{BB962C8B-B14F-4D97-AF65-F5344CB8AC3E}">
        <p14:creationId xmlns:p14="http://schemas.microsoft.com/office/powerpoint/2010/main" val="1425888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Message Encryption</a:t>
            </a:r>
            <a:endParaRPr lang="en-AU"/>
          </a:p>
        </p:txBody>
      </p:sp>
      <p:sp>
        <p:nvSpPr>
          <p:cNvPr id="9219" name="Rectangle 3"/>
          <p:cNvSpPr>
            <a:spLocks noGrp="1" noChangeArrowheads="1"/>
          </p:cNvSpPr>
          <p:nvPr>
            <p:ph idx="1"/>
          </p:nvPr>
        </p:nvSpPr>
        <p:spPr/>
        <p:txBody>
          <a:bodyPr/>
          <a:lstStyle/>
          <a:p>
            <a:pPr>
              <a:lnSpc>
                <a:spcPct val="90000"/>
              </a:lnSpc>
            </a:pPr>
            <a:r>
              <a:rPr lang="en-US"/>
              <a:t>if public-key encryption is used:</a:t>
            </a:r>
          </a:p>
          <a:p>
            <a:pPr lvl="1">
              <a:lnSpc>
                <a:spcPct val="90000"/>
              </a:lnSpc>
            </a:pPr>
            <a:r>
              <a:rPr lang="en-US"/>
              <a:t>encryption provides no confidence of sender</a:t>
            </a:r>
          </a:p>
          <a:p>
            <a:pPr lvl="1">
              <a:lnSpc>
                <a:spcPct val="90000"/>
              </a:lnSpc>
            </a:pPr>
            <a:r>
              <a:rPr lang="en-US"/>
              <a:t>since anyone potentially knows public-key</a:t>
            </a:r>
          </a:p>
          <a:p>
            <a:pPr lvl="1">
              <a:lnSpc>
                <a:spcPct val="90000"/>
              </a:lnSpc>
            </a:pPr>
            <a:r>
              <a:rPr lang="en-US"/>
              <a:t>however if </a:t>
            </a:r>
          </a:p>
          <a:p>
            <a:pPr lvl="2">
              <a:lnSpc>
                <a:spcPct val="90000"/>
              </a:lnSpc>
            </a:pPr>
            <a:r>
              <a:rPr lang="en-US"/>
              <a:t>sender </a:t>
            </a:r>
            <a:r>
              <a:rPr lang="en-US" b="1"/>
              <a:t>signs</a:t>
            </a:r>
            <a:r>
              <a:rPr lang="en-US"/>
              <a:t> message using their private-key</a:t>
            </a:r>
          </a:p>
          <a:p>
            <a:pPr lvl="2">
              <a:lnSpc>
                <a:spcPct val="90000"/>
              </a:lnSpc>
            </a:pPr>
            <a:r>
              <a:rPr lang="en-US"/>
              <a:t>then encrypts with recipients public key</a:t>
            </a:r>
          </a:p>
          <a:p>
            <a:pPr lvl="2">
              <a:lnSpc>
                <a:spcPct val="90000"/>
              </a:lnSpc>
            </a:pPr>
            <a:r>
              <a:rPr lang="en-US"/>
              <a:t>have both secrecy and authentication</a:t>
            </a:r>
          </a:p>
          <a:p>
            <a:pPr lvl="1">
              <a:lnSpc>
                <a:spcPct val="90000"/>
              </a:lnSpc>
            </a:pPr>
            <a:r>
              <a:rPr lang="en-US"/>
              <a:t>again need to recognize corrupted messages</a:t>
            </a:r>
          </a:p>
          <a:p>
            <a:pPr lvl="1">
              <a:lnSpc>
                <a:spcPct val="90000"/>
              </a:lnSpc>
            </a:pPr>
            <a:r>
              <a:rPr lang="en-US"/>
              <a:t>but at cost of two public-key uses on message</a:t>
            </a:r>
            <a:endParaRPr lang="en-AU"/>
          </a:p>
        </p:txBody>
      </p:sp>
    </p:spTree>
    <p:extLst>
      <p:ext uri="{BB962C8B-B14F-4D97-AF65-F5344CB8AC3E}">
        <p14:creationId xmlns:p14="http://schemas.microsoft.com/office/powerpoint/2010/main" val="290797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z="4000"/>
              <a:t>Message Authentication Code (MAC)</a:t>
            </a:r>
            <a:endParaRPr lang="en-AU" sz="4000"/>
          </a:p>
        </p:txBody>
      </p:sp>
      <p:sp>
        <p:nvSpPr>
          <p:cNvPr id="8195" name="Rectangle 3"/>
          <p:cNvSpPr>
            <a:spLocks noGrp="1" noChangeArrowheads="1"/>
          </p:cNvSpPr>
          <p:nvPr>
            <p:ph idx="1"/>
          </p:nvPr>
        </p:nvSpPr>
        <p:spPr/>
        <p:txBody>
          <a:bodyPr rtlCol="0">
            <a:normAutofit lnSpcReduction="10000"/>
          </a:bodyPr>
          <a:lstStyle/>
          <a:p>
            <a:pPr fontAlgn="auto">
              <a:lnSpc>
                <a:spcPct val="90000"/>
              </a:lnSpc>
              <a:spcAft>
                <a:spcPts val="0"/>
              </a:spcAft>
              <a:defRPr/>
            </a:pPr>
            <a:r>
              <a:rPr lang="en-AU"/>
              <a:t>generated by an algorithm that creates a small fixed-sized block</a:t>
            </a:r>
          </a:p>
          <a:p>
            <a:pPr lvl="1" fontAlgn="auto">
              <a:lnSpc>
                <a:spcPct val="90000"/>
              </a:lnSpc>
              <a:spcAft>
                <a:spcPts val="0"/>
              </a:spcAft>
              <a:defRPr/>
            </a:pPr>
            <a:r>
              <a:rPr lang="en-AU"/>
              <a:t>depending on both message and some key</a:t>
            </a:r>
          </a:p>
          <a:p>
            <a:pPr lvl="1" fontAlgn="auto">
              <a:lnSpc>
                <a:spcPct val="90000"/>
              </a:lnSpc>
              <a:spcAft>
                <a:spcPts val="0"/>
              </a:spcAft>
              <a:defRPr/>
            </a:pPr>
            <a:r>
              <a:rPr lang="en-US"/>
              <a:t>like encryption though need not be reversible</a:t>
            </a:r>
            <a:endParaRPr lang="en-AU"/>
          </a:p>
          <a:p>
            <a:pPr fontAlgn="auto">
              <a:lnSpc>
                <a:spcPct val="90000"/>
              </a:lnSpc>
              <a:spcAft>
                <a:spcPts val="0"/>
              </a:spcAft>
              <a:defRPr/>
            </a:pPr>
            <a:r>
              <a:rPr lang="en-US"/>
              <a:t>appended to message as a </a:t>
            </a:r>
            <a:r>
              <a:rPr lang="en-US" b="1"/>
              <a:t>signature</a:t>
            </a:r>
            <a:endParaRPr lang="en-US"/>
          </a:p>
          <a:p>
            <a:pPr fontAlgn="auto">
              <a:lnSpc>
                <a:spcPct val="90000"/>
              </a:lnSpc>
              <a:spcAft>
                <a:spcPts val="0"/>
              </a:spcAft>
              <a:defRPr/>
            </a:pPr>
            <a:r>
              <a:rPr lang="en-US"/>
              <a:t>receiver performs same computation on message and checks it matches the MAC</a:t>
            </a:r>
          </a:p>
          <a:p>
            <a:pPr fontAlgn="auto">
              <a:lnSpc>
                <a:spcPct val="90000"/>
              </a:lnSpc>
              <a:spcAft>
                <a:spcPts val="0"/>
              </a:spcAft>
              <a:defRPr/>
            </a:pPr>
            <a:r>
              <a:rPr lang="en-US"/>
              <a:t>provides assurance that message is unaltered and comes from sender</a:t>
            </a:r>
            <a:endParaRPr lang="en-AU"/>
          </a:p>
        </p:txBody>
      </p:sp>
    </p:spTree>
    <p:extLst>
      <p:ext uri="{BB962C8B-B14F-4D97-AF65-F5344CB8AC3E}">
        <p14:creationId xmlns:p14="http://schemas.microsoft.com/office/powerpoint/2010/main" val="2672272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Message Authentication Code</a:t>
            </a:r>
            <a:endParaRPr lang="en-AU"/>
          </a:p>
        </p:txBody>
      </p:sp>
      <p:pic>
        <p:nvPicPr>
          <p:cNvPr id="11267" name="Picture 5" descr="&#10;Ch11. MAC.pdf                                                  00156198  Mnementh                      BEAE7A2F:"/>
          <p:cNvPicPr>
            <a:picLocks noChangeAspect="1" noChangeArrowheads="1"/>
          </p:cNvPicPr>
          <p:nvPr/>
        </p:nvPicPr>
        <p:blipFill>
          <a:blip r:embed="rId3">
            <a:extLst>
              <a:ext uri="{28A0092B-C50C-407E-A947-70E740481C1C}">
                <a14:useLocalDpi xmlns:a14="http://schemas.microsoft.com/office/drawing/2010/main" val="0"/>
              </a:ext>
            </a:extLst>
          </a:blip>
          <a:srcRect b="64853"/>
          <a:stretch>
            <a:fillRect/>
          </a:stretch>
        </p:blipFill>
        <p:spPr bwMode="auto">
          <a:xfrm>
            <a:off x="609600" y="2590800"/>
            <a:ext cx="8043863"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802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Message Authentication Codes</a:t>
            </a:r>
            <a:endParaRPr lang="en-AU"/>
          </a:p>
        </p:txBody>
      </p:sp>
      <p:sp>
        <p:nvSpPr>
          <p:cNvPr id="12291" name="Rectangle 3"/>
          <p:cNvSpPr>
            <a:spLocks noGrp="1" noChangeArrowheads="1"/>
          </p:cNvSpPr>
          <p:nvPr>
            <p:ph idx="1"/>
          </p:nvPr>
        </p:nvSpPr>
        <p:spPr/>
        <p:txBody>
          <a:bodyPr>
            <a:normAutofit lnSpcReduction="10000"/>
          </a:bodyPr>
          <a:lstStyle/>
          <a:p>
            <a:pPr>
              <a:lnSpc>
                <a:spcPct val="90000"/>
              </a:lnSpc>
            </a:pPr>
            <a:r>
              <a:rPr lang="en-US" sz="2800"/>
              <a:t>as shown the MAC provides authentication</a:t>
            </a:r>
          </a:p>
          <a:p>
            <a:pPr>
              <a:lnSpc>
                <a:spcPct val="90000"/>
              </a:lnSpc>
            </a:pPr>
            <a:r>
              <a:rPr lang="en-US" sz="2800"/>
              <a:t>can also use encryption for secrecy</a:t>
            </a:r>
          </a:p>
          <a:p>
            <a:pPr lvl="1">
              <a:lnSpc>
                <a:spcPct val="90000"/>
              </a:lnSpc>
            </a:pPr>
            <a:r>
              <a:rPr lang="en-US" sz="2400"/>
              <a:t>generally use separate keys for each</a:t>
            </a:r>
          </a:p>
          <a:p>
            <a:pPr lvl="1">
              <a:lnSpc>
                <a:spcPct val="90000"/>
              </a:lnSpc>
            </a:pPr>
            <a:r>
              <a:rPr lang="en-US" sz="2400"/>
              <a:t>can compute MAC either before or after encryption</a:t>
            </a:r>
          </a:p>
          <a:p>
            <a:pPr lvl="1">
              <a:lnSpc>
                <a:spcPct val="90000"/>
              </a:lnSpc>
            </a:pPr>
            <a:r>
              <a:rPr lang="en-US" sz="2400"/>
              <a:t>is generally regarded as better done before</a:t>
            </a:r>
          </a:p>
          <a:p>
            <a:pPr>
              <a:lnSpc>
                <a:spcPct val="90000"/>
              </a:lnSpc>
            </a:pPr>
            <a:r>
              <a:rPr lang="en-US" sz="2800"/>
              <a:t>why use a MAC?</a:t>
            </a:r>
          </a:p>
          <a:p>
            <a:pPr lvl="1">
              <a:lnSpc>
                <a:spcPct val="90000"/>
              </a:lnSpc>
            </a:pPr>
            <a:r>
              <a:rPr lang="en-US" sz="2400"/>
              <a:t>sometimes only authentication is needed</a:t>
            </a:r>
          </a:p>
          <a:p>
            <a:pPr lvl="1">
              <a:lnSpc>
                <a:spcPct val="90000"/>
              </a:lnSpc>
            </a:pPr>
            <a:r>
              <a:rPr lang="en-US" sz="2400"/>
              <a:t>sometimes need authentication to persist longer than the encryption (eg. archival use)</a:t>
            </a:r>
          </a:p>
          <a:p>
            <a:pPr>
              <a:lnSpc>
                <a:spcPct val="90000"/>
              </a:lnSpc>
            </a:pPr>
            <a:r>
              <a:rPr lang="en-US" sz="2800"/>
              <a:t>note that a MAC is not a digital signature</a:t>
            </a:r>
            <a:endParaRPr lang="en-AU" sz="2800"/>
          </a:p>
        </p:txBody>
      </p:sp>
    </p:spTree>
    <p:extLst>
      <p:ext uri="{BB962C8B-B14F-4D97-AF65-F5344CB8AC3E}">
        <p14:creationId xmlns:p14="http://schemas.microsoft.com/office/powerpoint/2010/main" val="3474391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MAC Properties</a:t>
            </a:r>
            <a:endParaRPr lang="en-AU"/>
          </a:p>
        </p:txBody>
      </p:sp>
      <p:sp>
        <p:nvSpPr>
          <p:cNvPr id="13315" name="Rectangle 3"/>
          <p:cNvSpPr>
            <a:spLocks noGrp="1" noChangeArrowheads="1"/>
          </p:cNvSpPr>
          <p:nvPr>
            <p:ph idx="1"/>
          </p:nvPr>
        </p:nvSpPr>
        <p:spPr/>
        <p:txBody>
          <a:bodyPr>
            <a:normAutofit lnSpcReduction="10000"/>
          </a:bodyPr>
          <a:lstStyle/>
          <a:p>
            <a:r>
              <a:rPr lang="en-US"/>
              <a:t>a MAC is a cryptographic checksum</a:t>
            </a:r>
          </a:p>
          <a:p>
            <a:pPr lvl="1">
              <a:buFont typeface="Wingdings" panose="05000000000000000000" pitchFamily="2" charset="2"/>
              <a:buNone/>
            </a:pPr>
            <a:r>
              <a:rPr lang="en-US"/>
              <a:t>	</a:t>
            </a:r>
            <a:r>
              <a:rPr lang="en-US">
                <a:latin typeface="Courier New" panose="02070309020205020404" pitchFamily="49" charset="0"/>
              </a:rPr>
              <a:t>MAC = C</a:t>
            </a:r>
            <a:r>
              <a:rPr lang="en-US" baseline="-25000">
                <a:latin typeface="Courier New" panose="02070309020205020404" pitchFamily="49" charset="0"/>
              </a:rPr>
              <a:t>K</a:t>
            </a:r>
            <a:r>
              <a:rPr lang="en-US">
                <a:latin typeface="Courier New" panose="02070309020205020404" pitchFamily="49" charset="0"/>
              </a:rPr>
              <a:t>(M)</a:t>
            </a:r>
          </a:p>
          <a:p>
            <a:pPr lvl="1"/>
            <a:r>
              <a:rPr lang="en-US"/>
              <a:t>condenses a variable-length message M</a:t>
            </a:r>
          </a:p>
          <a:p>
            <a:pPr lvl="1"/>
            <a:r>
              <a:rPr lang="en-US"/>
              <a:t>using a secret key K</a:t>
            </a:r>
          </a:p>
          <a:p>
            <a:pPr lvl="1"/>
            <a:r>
              <a:rPr lang="en-US"/>
              <a:t>to a fixed-sized authenticator</a:t>
            </a:r>
          </a:p>
          <a:p>
            <a:r>
              <a:rPr lang="en-US"/>
              <a:t>is a many-to-one function</a:t>
            </a:r>
          </a:p>
          <a:p>
            <a:pPr lvl="1"/>
            <a:r>
              <a:rPr lang="en-US"/>
              <a:t>potentially many messages have same MAC</a:t>
            </a:r>
          </a:p>
          <a:p>
            <a:pPr lvl="1"/>
            <a:r>
              <a:rPr lang="en-US"/>
              <a:t>but finding these needs to be very difficult</a:t>
            </a:r>
            <a:endParaRPr lang="en-AU"/>
          </a:p>
        </p:txBody>
      </p:sp>
    </p:spTree>
    <p:extLst>
      <p:ext uri="{BB962C8B-B14F-4D97-AF65-F5344CB8AC3E}">
        <p14:creationId xmlns:p14="http://schemas.microsoft.com/office/powerpoint/2010/main" val="1536861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Requirements for MACs</a:t>
            </a:r>
            <a:endParaRPr lang="en-AU"/>
          </a:p>
        </p:txBody>
      </p:sp>
      <p:sp>
        <p:nvSpPr>
          <p:cNvPr id="14339" name="Rectangle 3"/>
          <p:cNvSpPr>
            <a:spLocks noGrp="1" noChangeArrowheads="1"/>
          </p:cNvSpPr>
          <p:nvPr>
            <p:ph idx="1"/>
          </p:nvPr>
        </p:nvSpPr>
        <p:spPr/>
        <p:txBody>
          <a:bodyPr/>
          <a:lstStyle/>
          <a:p>
            <a:pPr marL="609600" indent="-609600"/>
            <a:r>
              <a:rPr lang="en-US"/>
              <a:t>taking into account the types of attacks</a:t>
            </a:r>
          </a:p>
          <a:p>
            <a:pPr marL="609600" indent="-609600"/>
            <a:r>
              <a:rPr lang="en-US"/>
              <a:t>need the MAC to satisfy the following:</a:t>
            </a:r>
          </a:p>
          <a:p>
            <a:pPr marL="990600" lvl="1" indent="-533400">
              <a:buFontTx/>
              <a:buAutoNum type="arabicPeriod"/>
            </a:pPr>
            <a:r>
              <a:rPr lang="en-US"/>
              <a:t>knowing a message and MAC, is infeasible to find another message with same MAC</a:t>
            </a:r>
          </a:p>
          <a:p>
            <a:pPr marL="990600" lvl="1" indent="-533400">
              <a:buFontTx/>
              <a:buAutoNum type="arabicPeriod"/>
            </a:pPr>
            <a:r>
              <a:rPr lang="en-US"/>
              <a:t>MACs should be uniformly distributed</a:t>
            </a:r>
          </a:p>
          <a:p>
            <a:pPr marL="990600" lvl="1" indent="-533400">
              <a:buFontTx/>
              <a:buAutoNum type="arabicPeriod"/>
            </a:pPr>
            <a:r>
              <a:rPr lang="en-US"/>
              <a:t>MAC should depend equally on all bits of the message</a:t>
            </a:r>
            <a:endParaRPr lang="en-AU"/>
          </a:p>
        </p:txBody>
      </p:sp>
    </p:spTree>
    <p:extLst>
      <p:ext uri="{BB962C8B-B14F-4D97-AF65-F5344CB8AC3E}">
        <p14:creationId xmlns:p14="http://schemas.microsoft.com/office/powerpoint/2010/main" val="345132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Hash Functions</a:t>
            </a:r>
            <a:endParaRPr lang="en-AU"/>
          </a:p>
        </p:txBody>
      </p:sp>
      <p:sp>
        <p:nvSpPr>
          <p:cNvPr id="15363" name="Rectangle 3"/>
          <p:cNvSpPr>
            <a:spLocks noGrp="1" noChangeArrowheads="1"/>
          </p:cNvSpPr>
          <p:nvPr>
            <p:ph idx="1"/>
          </p:nvPr>
        </p:nvSpPr>
        <p:spPr/>
        <p:txBody>
          <a:bodyPr/>
          <a:lstStyle/>
          <a:p>
            <a:r>
              <a:rPr lang="en-AU" dirty="0"/>
              <a:t>condenses arbitrary message to fixed size</a:t>
            </a:r>
          </a:p>
          <a:p>
            <a:pPr lvl="1">
              <a:buFont typeface="Wingdings" panose="05000000000000000000" pitchFamily="2" charset="2"/>
              <a:buNone/>
            </a:pPr>
            <a:r>
              <a:rPr lang="en-US" dirty="0">
                <a:latin typeface="Courier New" panose="02070309020205020404" pitchFamily="49" charset="0"/>
              </a:rPr>
              <a:t>h = H(M)</a:t>
            </a:r>
            <a:r>
              <a:rPr lang="en-AU" dirty="0"/>
              <a:t> </a:t>
            </a:r>
          </a:p>
          <a:p>
            <a:r>
              <a:rPr lang="en-AU" dirty="0"/>
              <a:t>usually assume that the hash function is public and not keyed</a:t>
            </a:r>
          </a:p>
          <a:p>
            <a:r>
              <a:rPr lang="en-US" dirty="0"/>
              <a:t>hash used to detect changes to message</a:t>
            </a:r>
          </a:p>
          <a:p>
            <a:r>
              <a:rPr lang="en-US" dirty="0"/>
              <a:t>can use in various ways with message</a:t>
            </a:r>
            <a:endParaRPr lang="en-AU" dirty="0"/>
          </a:p>
          <a:p>
            <a:r>
              <a:rPr lang="en-AU" dirty="0"/>
              <a:t>most often to create a digital signature</a:t>
            </a:r>
          </a:p>
        </p:txBody>
      </p:sp>
    </p:spTree>
    <p:extLst>
      <p:ext uri="{BB962C8B-B14F-4D97-AF65-F5344CB8AC3E}">
        <p14:creationId xmlns:p14="http://schemas.microsoft.com/office/powerpoint/2010/main" val="448743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sz="4000"/>
              <a:t>Hash Functions &amp; Digital Signatures</a:t>
            </a:r>
            <a:endParaRPr lang="en-AU" sz="4000"/>
          </a:p>
        </p:txBody>
      </p:sp>
      <p:pic>
        <p:nvPicPr>
          <p:cNvPr id="16387" name="Picture 4" descr="Ch11. Hash_Functions1.pdf                                      00156198  Mnementh                      BEAE7A2F:"/>
          <p:cNvPicPr>
            <a:picLocks noChangeAspect="1" noChangeArrowheads="1"/>
          </p:cNvPicPr>
          <p:nvPr/>
        </p:nvPicPr>
        <p:blipFill>
          <a:blip r:embed="rId3">
            <a:extLst>
              <a:ext uri="{28A0092B-C50C-407E-A947-70E740481C1C}">
                <a14:useLocalDpi xmlns:a14="http://schemas.microsoft.com/office/drawing/2010/main" val="0"/>
              </a:ext>
            </a:extLst>
          </a:blip>
          <a:srcRect t="60220" r="14319" b="11581"/>
          <a:stretch>
            <a:fillRect/>
          </a:stretch>
        </p:blipFill>
        <p:spPr bwMode="auto">
          <a:xfrm>
            <a:off x="1143000" y="2667000"/>
            <a:ext cx="68865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2511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z="4000"/>
              <a:t>Requirements for Hash Functions</a:t>
            </a:r>
            <a:endParaRPr lang="en-AU" sz="4000"/>
          </a:p>
        </p:txBody>
      </p:sp>
      <p:sp>
        <p:nvSpPr>
          <p:cNvPr id="17411" name="Rectangle 3"/>
          <p:cNvSpPr>
            <a:spLocks noGrp="1" noChangeArrowheads="1"/>
          </p:cNvSpPr>
          <p:nvPr>
            <p:ph idx="1"/>
          </p:nvPr>
        </p:nvSpPr>
        <p:spPr>
          <a:xfrm>
            <a:off x="457200" y="1285875"/>
            <a:ext cx="8229600" cy="5000625"/>
          </a:xfrm>
        </p:spPr>
        <p:txBody>
          <a:bodyPr>
            <a:normAutofit lnSpcReduction="10000"/>
          </a:bodyPr>
          <a:lstStyle/>
          <a:p>
            <a:pPr marL="609600" indent="-609600">
              <a:lnSpc>
                <a:spcPct val="90000"/>
              </a:lnSpc>
              <a:buFontTx/>
              <a:buAutoNum type="arabicPeriod"/>
            </a:pPr>
            <a:r>
              <a:rPr lang="en-US"/>
              <a:t>can be applied to any sized message </a:t>
            </a:r>
            <a:r>
              <a:rPr lang="en-US">
                <a:latin typeface="Courier New" panose="02070309020205020404" pitchFamily="49" charset="0"/>
              </a:rPr>
              <a:t>M</a:t>
            </a:r>
            <a:endParaRPr lang="en-US"/>
          </a:p>
          <a:p>
            <a:pPr marL="609600" indent="-609600">
              <a:lnSpc>
                <a:spcPct val="90000"/>
              </a:lnSpc>
              <a:buFontTx/>
              <a:buAutoNum type="arabicPeriod"/>
            </a:pPr>
            <a:r>
              <a:rPr lang="en-US"/>
              <a:t>produces fixed-length output </a:t>
            </a:r>
            <a:r>
              <a:rPr lang="en-US">
                <a:latin typeface="Courier New" panose="02070309020205020404" pitchFamily="49" charset="0"/>
              </a:rPr>
              <a:t>h</a:t>
            </a:r>
            <a:endParaRPr lang="en-US"/>
          </a:p>
          <a:p>
            <a:pPr marL="609600" indent="-609600">
              <a:lnSpc>
                <a:spcPct val="90000"/>
              </a:lnSpc>
              <a:buFontTx/>
              <a:buAutoNum type="arabicPeriod"/>
            </a:pPr>
            <a:r>
              <a:rPr lang="en-US"/>
              <a:t>is easy to compute </a:t>
            </a:r>
            <a:r>
              <a:rPr lang="en-US">
                <a:latin typeface="Courier New" panose="02070309020205020404" pitchFamily="49" charset="0"/>
              </a:rPr>
              <a:t>h=H(M)</a:t>
            </a:r>
            <a:r>
              <a:rPr lang="en-US"/>
              <a:t> for any message </a:t>
            </a:r>
            <a:r>
              <a:rPr lang="en-US">
                <a:latin typeface="Courier New" panose="02070309020205020404" pitchFamily="49" charset="0"/>
              </a:rPr>
              <a:t>M</a:t>
            </a:r>
          </a:p>
          <a:p>
            <a:pPr marL="609600" indent="-609600">
              <a:lnSpc>
                <a:spcPct val="90000"/>
              </a:lnSpc>
              <a:buFontTx/>
              <a:buAutoNum type="arabicPeriod"/>
            </a:pPr>
            <a:r>
              <a:rPr lang="en-US"/>
              <a:t>given </a:t>
            </a:r>
            <a:r>
              <a:rPr lang="en-US">
                <a:latin typeface="Courier New" panose="02070309020205020404" pitchFamily="49" charset="0"/>
              </a:rPr>
              <a:t>h</a:t>
            </a:r>
            <a:r>
              <a:rPr lang="en-US"/>
              <a:t> is infeasible to find </a:t>
            </a:r>
            <a:r>
              <a:rPr lang="en-US">
                <a:latin typeface="Courier New" panose="02070309020205020404" pitchFamily="49" charset="0"/>
              </a:rPr>
              <a:t>x</a:t>
            </a:r>
            <a:r>
              <a:rPr lang="en-US"/>
              <a:t> s.t. </a:t>
            </a:r>
            <a:r>
              <a:rPr lang="en-US">
                <a:latin typeface="Courier New" panose="02070309020205020404" pitchFamily="49" charset="0"/>
              </a:rPr>
              <a:t>H(x)=h</a:t>
            </a:r>
          </a:p>
          <a:p>
            <a:pPr marL="990600" lvl="1" indent="-533400">
              <a:lnSpc>
                <a:spcPct val="90000"/>
              </a:lnSpc>
              <a:buFontTx/>
              <a:buChar char="•"/>
            </a:pPr>
            <a:r>
              <a:rPr lang="en-US" sz="3200"/>
              <a:t>one-way property</a:t>
            </a:r>
          </a:p>
          <a:p>
            <a:pPr marL="609600" indent="-609600">
              <a:lnSpc>
                <a:spcPct val="90000"/>
              </a:lnSpc>
              <a:buFontTx/>
              <a:buAutoNum type="arabicPeriod"/>
            </a:pPr>
            <a:r>
              <a:rPr lang="en-US"/>
              <a:t>given </a:t>
            </a:r>
            <a:r>
              <a:rPr lang="en-US">
                <a:latin typeface="Courier New" panose="02070309020205020404" pitchFamily="49" charset="0"/>
              </a:rPr>
              <a:t>x</a:t>
            </a:r>
            <a:r>
              <a:rPr lang="en-US"/>
              <a:t> is infeasible to find </a:t>
            </a:r>
            <a:r>
              <a:rPr lang="en-US">
                <a:latin typeface="Courier New" panose="02070309020205020404" pitchFamily="49" charset="0"/>
              </a:rPr>
              <a:t>y</a:t>
            </a:r>
            <a:r>
              <a:rPr lang="en-US"/>
              <a:t> s.t</a:t>
            </a:r>
            <a:r>
              <a:rPr lang="en-US">
                <a:latin typeface="Courier New" panose="02070309020205020404" pitchFamily="49" charset="0"/>
              </a:rPr>
              <a:t>. H(y)=H(x)</a:t>
            </a:r>
          </a:p>
          <a:p>
            <a:pPr marL="609600" indent="-609600">
              <a:lnSpc>
                <a:spcPct val="90000"/>
              </a:lnSpc>
              <a:buFontTx/>
              <a:buAutoNum type="arabicPeriod"/>
            </a:pPr>
            <a:r>
              <a:rPr lang="en-US"/>
              <a:t>is infeasible to find any </a:t>
            </a:r>
            <a:r>
              <a:rPr lang="en-US">
                <a:latin typeface="Courier New" panose="02070309020205020404" pitchFamily="49" charset="0"/>
              </a:rPr>
              <a:t>x,y</a:t>
            </a:r>
            <a:r>
              <a:rPr lang="en-US"/>
              <a:t> s.t</a:t>
            </a:r>
            <a:r>
              <a:rPr lang="en-US">
                <a:latin typeface="Courier New" panose="02070309020205020404" pitchFamily="49" charset="0"/>
              </a:rPr>
              <a:t>. H(y)=H(x)</a:t>
            </a:r>
          </a:p>
          <a:p>
            <a:pPr marL="990600" lvl="1" indent="-533400">
              <a:lnSpc>
                <a:spcPct val="90000"/>
              </a:lnSpc>
              <a:buFont typeface="Arial" panose="020B0604020202020204" pitchFamily="34" charset="0"/>
              <a:buNone/>
            </a:pPr>
            <a:endParaRPr lang="en-AU" sz="2400"/>
          </a:p>
        </p:txBody>
      </p:sp>
    </p:spTree>
    <p:extLst>
      <p:ext uri="{BB962C8B-B14F-4D97-AF65-F5344CB8AC3E}">
        <p14:creationId xmlns:p14="http://schemas.microsoft.com/office/powerpoint/2010/main" val="1940940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Simple Hash Functions</a:t>
            </a:r>
            <a:endParaRPr lang="en-AU"/>
          </a:p>
        </p:txBody>
      </p:sp>
      <p:sp>
        <p:nvSpPr>
          <p:cNvPr id="18435" name="Rectangle 3"/>
          <p:cNvSpPr>
            <a:spLocks noGrp="1" noChangeArrowheads="1"/>
          </p:cNvSpPr>
          <p:nvPr>
            <p:ph idx="1"/>
          </p:nvPr>
        </p:nvSpPr>
        <p:spPr/>
        <p:txBody>
          <a:bodyPr/>
          <a:lstStyle/>
          <a:p>
            <a:r>
              <a:rPr lang="en-US"/>
              <a:t>are several proposals for simple functions</a:t>
            </a:r>
          </a:p>
          <a:p>
            <a:r>
              <a:rPr lang="en-US"/>
              <a:t>based on XOR of message blocks</a:t>
            </a:r>
          </a:p>
          <a:p>
            <a:r>
              <a:rPr lang="en-US"/>
              <a:t>not secure since can manipulate any message and either not change hash or change hash also</a:t>
            </a:r>
          </a:p>
          <a:p>
            <a:r>
              <a:rPr lang="en-US"/>
              <a:t>need a stronger cryptographic function (next chapter)</a:t>
            </a:r>
            <a:endParaRPr lang="en-AU"/>
          </a:p>
        </p:txBody>
      </p:sp>
    </p:spTree>
    <p:extLst>
      <p:ext uri="{BB962C8B-B14F-4D97-AF65-F5344CB8AC3E}">
        <p14:creationId xmlns:p14="http://schemas.microsoft.com/office/powerpoint/2010/main" val="3689617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Authentication </a:t>
            </a:r>
          </a:p>
        </p:txBody>
      </p:sp>
      <p:sp>
        <p:nvSpPr>
          <p:cNvPr id="19459" name="Content Placeholder 2"/>
          <p:cNvSpPr>
            <a:spLocks noGrp="1"/>
          </p:cNvSpPr>
          <p:nvPr>
            <p:ph idx="1"/>
          </p:nvPr>
        </p:nvSpPr>
        <p:spPr/>
        <p:txBody>
          <a:bodyPr/>
          <a:lstStyle/>
          <a:p>
            <a:r>
              <a:rPr lang="en-US"/>
              <a:t>Authentication gives the assurance of whether a person/ object/ entity is exactly what he/it claims to me or is he/it is forged</a:t>
            </a:r>
          </a:p>
          <a:p>
            <a:r>
              <a:rPr lang="en-US"/>
              <a:t>Message Authentication Code, Hashing provides better ways of making this assurance</a:t>
            </a:r>
          </a:p>
          <a:p>
            <a:r>
              <a:rPr lang="en-US"/>
              <a:t>Authentication is the process of assuring Information Integrity</a:t>
            </a:r>
          </a:p>
        </p:txBody>
      </p:sp>
    </p:spTree>
    <p:extLst>
      <p:ext uri="{BB962C8B-B14F-4D97-AF65-F5344CB8AC3E}">
        <p14:creationId xmlns:p14="http://schemas.microsoft.com/office/powerpoint/2010/main" val="853256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Authentication Models</a:t>
            </a:r>
          </a:p>
        </p:txBody>
      </p:sp>
      <p:sp>
        <p:nvSpPr>
          <p:cNvPr id="20483" name="Content Placeholder 2"/>
          <p:cNvSpPr>
            <a:spLocks noGrp="1"/>
          </p:cNvSpPr>
          <p:nvPr>
            <p:ph idx="1"/>
          </p:nvPr>
        </p:nvSpPr>
        <p:spPr/>
        <p:txBody>
          <a:bodyPr/>
          <a:lstStyle/>
          <a:p>
            <a:r>
              <a:rPr lang="en-US"/>
              <a:t>What user knows</a:t>
            </a:r>
          </a:p>
          <a:p>
            <a:pPr lvl="1"/>
            <a:r>
              <a:rPr lang="en-US"/>
              <a:t> a Password, A Personal Identification Number (PIN), etc.,</a:t>
            </a:r>
          </a:p>
          <a:p>
            <a:r>
              <a:rPr lang="en-US"/>
              <a:t>What user has</a:t>
            </a:r>
          </a:p>
          <a:p>
            <a:pPr lvl="1"/>
            <a:r>
              <a:rPr lang="en-US"/>
              <a:t>  smart card, token, etc,.</a:t>
            </a:r>
          </a:p>
          <a:p>
            <a:r>
              <a:rPr lang="en-US"/>
              <a:t>What user is</a:t>
            </a:r>
          </a:p>
          <a:p>
            <a:pPr lvl="1"/>
            <a:r>
              <a:rPr lang="en-US"/>
              <a:t>Finger print, Retina, Palm print, Iris, DNA, etc.,</a:t>
            </a:r>
          </a:p>
        </p:txBody>
      </p:sp>
    </p:spTree>
    <p:extLst>
      <p:ext uri="{BB962C8B-B14F-4D97-AF65-F5344CB8AC3E}">
        <p14:creationId xmlns:p14="http://schemas.microsoft.com/office/powerpoint/2010/main" val="1588902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7158" y="428604"/>
            <a:ext cx="8382038" cy="830997"/>
          </a:xfrm>
          <a:prstGeom prst="rect">
            <a:avLst/>
          </a:prstGeom>
          <a:noFill/>
        </p:spPr>
        <p:txBody>
          <a:bodyPr wrap="none">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r>
              <a:rPr lang="en-US" sz="4800" b="1" dirty="0">
                <a:ln>
                  <a:prstDash val="solid"/>
                </a:ln>
                <a:solidFill>
                  <a:srgbClr val="FF0000"/>
                </a:solidFill>
                <a:effectLst>
                  <a:outerShdw blurRad="88000" dist="50800" dir="5040000" algn="tl">
                    <a:schemeClr val="accent4">
                      <a:tint val="80000"/>
                      <a:satMod val="250000"/>
                      <a:alpha val="45000"/>
                    </a:schemeClr>
                  </a:outerShdw>
                </a:effectLst>
              </a:rPr>
              <a:t>Three Factor Authentication</a:t>
            </a:r>
          </a:p>
        </p:txBody>
      </p:sp>
      <p:pic>
        <p:nvPicPr>
          <p:cNvPr id="21507" name="Picture 4" descr="E:\Nishanthi\ATI\Semester 1 2013\Security\Images\smart car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15144750"/>
            <a:ext cx="14287500" cy="142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6" descr="E:\Nishanthi\ATI\Semester 1 2013\Security\Images\finger pri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357313"/>
            <a:ext cx="2928938"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5" descr="E:\Nishanthi\ATI\Semester 1 2013\Security\Images\smart car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6" y="2971800"/>
            <a:ext cx="40005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Picture 3" descr="E:\Nishanthi\ATI\Semester 1 2013\Security\Images\retinascan-thumb.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4688" y="1214438"/>
            <a:ext cx="411162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4" name="Picture 2" descr="E:\Nishanthi\ATI\Semester 1 2013\Security\Images\dna.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7875" y="3643313"/>
            <a:ext cx="2884488" cy="288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8276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nodeType="clickEffect">
                                  <p:stCondLst>
                                    <p:cond delay="0"/>
                                  </p:stCondLst>
                                  <p:childTnLst>
                                    <p:set>
                                      <p:cBhvr>
                                        <p:cTn id="13" dur="1" fill="hold">
                                          <p:stCondLst>
                                            <p:cond delay="0"/>
                                          </p:stCondLst>
                                        </p:cTn>
                                        <p:tgtEl>
                                          <p:spTgt spid="59398"/>
                                        </p:tgtEl>
                                        <p:attrNameLst>
                                          <p:attrName>style.visibility</p:attrName>
                                        </p:attrNameLst>
                                      </p:cBhvr>
                                      <p:to>
                                        <p:strVal val="visible"/>
                                      </p:to>
                                    </p:set>
                                    <p:animEffect transition="in" filter="dissolve">
                                      <p:cBhvr>
                                        <p:cTn id="14" dur="500"/>
                                        <p:tgtEl>
                                          <p:spTgt spid="5939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9" presetClass="entr" presetSubtype="0" fill="hold" nodeType="clickEffect">
                                  <p:stCondLst>
                                    <p:cond delay="0"/>
                                  </p:stCondLst>
                                  <p:childTnLst>
                                    <p:set>
                                      <p:cBhvr>
                                        <p:cTn id="18" dur="1" fill="hold">
                                          <p:stCondLst>
                                            <p:cond delay="0"/>
                                          </p:stCondLst>
                                        </p:cTn>
                                        <p:tgtEl>
                                          <p:spTgt spid="59397"/>
                                        </p:tgtEl>
                                        <p:attrNameLst>
                                          <p:attrName>style.visibility</p:attrName>
                                        </p:attrNameLst>
                                      </p:cBhvr>
                                      <p:to>
                                        <p:strVal val="visible"/>
                                      </p:to>
                                    </p:set>
                                    <p:anim calcmode="lin" valueType="num">
                                      <p:cBhvr>
                                        <p:cTn id="19" dur="1000" fill="hold"/>
                                        <p:tgtEl>
                                          <p:spTgt spid="59397"/>
                                        </p:tgtEl>
                                        <p:attrNameLst>
                                          <p:attrName>ppt_x</p:attrName>
                                        </p:attrNameLst>
                                      </p:cBhvr>
                                      <p:tavLst>
                                        <p:tav tm="0">
                                          <p:val>
                                            <p:strVal val="#ppt_x-.2"/>
                                          </p:val>
                                        </p:tav>
                                        <p:tav tm="100000">
                                          <p:val>
                                            <p:strVal val="#ppt_x"/>
                                          </p:val>
                                        </p:tav>
                                      </p:tavLst>
                                    </p:anim>
                                    <p:anim calcmode="lin" valueType="num">
                                      <p:cBhvr>
                                        <p:cTn id="20" dur="1000" fill="hold"/>
                                        <p:tgtEl>
                                          <p:spTgt spid="59397"/>
                                        </p:tgtEl>
                                        <p:attrNameLst>
                                          <p:attrName>ppt_y</p:attrName>
                                        </p:attrNameLst>
                                      </p:cBhvr>
                                      <p:tavLst>
                                        <p:tav tm="0">
                                          <p:val>
                                            <p:strVal val="#ppt_y"/>
                                          </p:val>
                                        </p:tav>
                                        <p:tav tm="100000">
                                          <p:val>
                                            <p:strVal val="#ppt_y"/>
                                          </p:val>
                                        </p:tav>
                                      </p:tavLst>
                                    </p:anim>
                                    <p:animEffect transition="in" filter="wipe(right)" prLst="gradientSize: 0.1">
                                      <p:cBhvr>
                                        <p:cTn id="21" dur="1000"/>
                                        <p:tgtEl>
                                          <p:spTgt spid="5939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59395"/>
                                        </p:tgtEl>
                                        <p:attrNameLst>
                                          <p:attrName>style.visibility</p:attrName>
                                        </p:attrNameLst>
                                      </p:cBhvr>
                                      <p:to>
                                        <p:strVal val="visible"/>
                                      </p:to>
                                    </p:set>
                                    <p:animEffect transition="in" filter="dissolve">
                                      <p:cBhvr>
                                        <p:cTn id="26" dur="500"/>
                                        <p:tgtEl>
                                          <p:spTgt spid="5939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9394"/>
                                        </p:tgtEl>
                                        <p:attrNameLst>
                                          <p:attrName>style.visibility</p:attrName>
                                        </p:attrNameLst>
                                      </p:cBhvr>
                                      <p:to>
                                        <p:strVal val="visible"/>
                                      </p:to>
                                    </p:set>
                                    <p:anim calcmode="lin" valueType="num">
                                      <p:cBhvr additive="base">
                                        <p:cTn id="31" dur="500" fill="hold"/>
                                        <p:tgtEl>
                                          <p:spTgt spid="59394"/>
                                        </p:tgtEl>
                                        <p:attrNameLst>
                                          <p:attrName>ppt_x</p:attrName>
                                        </p:attrNameLst>
                                      </p:cBhvr>
                                      <p:tavLst>
                                        <p:tav tm="0">
                                          <p:val>
                                            <p:strVal val="#ppt_x"/>
                                          </p:val>
                                        </p:tav>
                                        <p:tav tm="100000">
                                          <p:val>
                                            <p:strVal val="#ppt_x"/>
                                          </p:val>
                                        </p:tav>
                                      </p:tavLst>
                                    </p:anim>
                                    <p:anim calcmode="lin" valueType="num">
                                      <p:cBhvr additive="base">
                                        <p:cTn id="32" dur="500" fill="hold"/>
                                        <p:tgtEl>
                                          <p:spTgt spid="593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1172</TotalTime>
  <Words>1664</Words>
  <Application>Microsoft Office PowerPoint</Application>
  <PresentationFormat>On-screen Show (4:3)</PresentationFormat>
  <Paragraphs>141</Paragraphs>
  <Slides>17</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Arial</vt:lpstr>
      <vt:lpstr>Calibri</vt:lpstr>
      <vt:lpstr>Courier New</vt:lpstr>
      <vt:lpstr>Helvetica</vt:lpstr>
      <vt:lpstr>Times New Roman</vt:lpstr>
      <vt:lpstr>Times-Roman</vt:lpstr>
      <vt:lpstr>Wingdings</vt:lpstr>
      <vt:lpstr>HNDIT</vt:lpstr>
      <vt:lpstr>1_HNDIT</vt:lpstr>
      <vt:lpstr>HNDIT2301: Operating System and Information Security</vt:lpstr>
      <vt:lpstr>Message Authentication</vt:lpstr>
      <vt:lpstr>Security Requirements</vt:lpstr>
      <vt:lpstr>Message Encryption</vt:lpstr>
      <vt:lpstr>Message Encryption</vt:lpstr>
      <vt:lpstr>Message Authentication Code (MAC)</vt:lpstr>
      <vt:lpstr>Message Authentication Code</vt:lpstr>
      <vt:lpstr>Message Authentication Codes</vt:lpstr>
      <vt:lpstr>MAC Properties</vt:lpstr>
      <vt:lpstr>Requirements for MACs</vt:lpstr>
      <vt:lpstr>Hash Functions</vt:lpstr>
      <vt:lpstr>Hash Functions &amp; Digital Signatures</vt:lpstr>
      <vt:lpstr>Requirements for Hash Functions</vt:lpstr>
      <vt:lpstr>Simple Hash Functions</vt:lpstr>
      <vt:lpstr>Authentication </vt:lpstr>
      <vt:lpstr>Authentication Models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HP</cp:lastModifiedBy>
  <cp:revision>156</cp:revision>
  <dcterms:created xsi:type="dcterms:W3CDTF">2014-03-07T13:02:25Z</dcterms:created>
  <dcterms:modified xsi:type="dcterms:W3CDTF">2022-01-15T14:55:39Z</dcterms:modified>
</cp:coreProperties>
</file>