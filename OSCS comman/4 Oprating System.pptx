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37"/>
  </p:notesMasterIdLst>
  <p:sldIdLst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5" r:id="rId29"/>
    <p:sldId id="296" r:id="rId30"/>
    <p:sldId id="297" r:id="rId31"/>
    <p:sldId id="298" r:id="rId32"/>
    <p:sldId id="299" r:id="rId33"/>
    <p:sldId id="300" r:id="rId34"/>
    <p:sldId id="301" r:id="rId35"/>
    <p:sldId id="302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23204-145E-4E9A-8825-0DF9FD80C698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677AEE-D46A-4C91-9543-7FBC6ED44F7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138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7" name="Picture 3" descr="C:\Users\Dell PC\Desktop\mainpag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8738" y="2133600"/>
            <a:ext cx="9162738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28600" y="22479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26" name="Picture 2" descr="C:\Users\Dell PC\Desktop\templat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9C55-B1F5-4DCD-B44C-56F4D10DFF02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Chapter 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edit Course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3677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DC9F0-F6FA-4EF5-9B02-32D7E772F3DA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0373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2B24C-E9C5-4837-990A-2D89EDE17F40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0603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C1C87-DFFE-40DD-88ED-115007FBF96B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858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10CCB-6840-48E9-8232-4140365FD666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733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C12BC-620C-4804-A68B-E5D136F30A82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690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E3FF4-2F5D-4D00-8619-BEEFC2A769C0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1376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6F5A-D08C-4C6E-9A94-889EC7EE21A6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50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478FA-CAA3-494E-AE22-6AE9783FAB5B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436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1B3BF-CA00-44EF-B758-B15ECF3DFDAF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546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6D5A7-B666-4055-9430-CD0CBCBD1CF8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225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2" descr="C:\Users\Dell PC\Desktop\template2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3"/>
            <a:ext cx="9144000" cy="35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FDDB-310E-4072-8B61-ACE857F405FC}" type="datetime1">
              <a:rPr lang="en-US" smtClean="0"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(c) Dept. of Industrial Mgt, 2013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26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5275" y="4800600"/>
            <a:ext cx="8696325" cy="6096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4 Operating System Security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76800" y="2209800"/>
            <a:ext cx="3886200" cy="1981200"/>
          </a:xfrm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Operating Systems and Computer Security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67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4" descr="http://zone.ni.com/cms/images/devzone/tut/figure_3_single_core_multitask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5" y="4343400"/>
            <a:ext cx="4733925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Operating System</a:t>
            </a:r>
          </a:p>
        </p:txBody>
      </p:sp>
      <p:sp>
        <p:nvSpPr>
          <p:cNvPr id="512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Multi user</a:t>
            </a:r>
          </a:p>
          <a:p>
            <a:r>
              <a:rPr lang="en-US" dirty="0" smtClean="0"/>
              <a:t>Multi tasking</a:t>
            </a:r>
          </a:p>
          <a:p>
            <a:endParaRPr lang="en-US" dirty="0" smtClean="0"/>
          </a:p>
          <a:p>
            <a:r>
              <a:rPr lang="en-US" dirty="0" smtClean="0"/>
              <a:t>Access control</a:t>
            </a:r>
          </a:p>
          <a:p>
            <a:pPr lvl="1"/>
            <a:r>
              <a:rPr lang="en-US" dirty="0" smtClean="0"/>
              <a:t>Controlling shared access </a:t>
            </a:r>
          </a:p>
          <a:p>
            <a:pPr lvl="1"/>
            <a:r>
              <a:rPr lang="en-US" dirty="0" smtClean="0"/>
              <a:t>Interface to allow that access</a:t>
            </a:r>
          </a:p>
          <a:p>
            <a:pPr lvl="1"/>
            <a:endParaRPr lang="en-US" dirty="0" smtClean="0"/>
          </a:p>
        </p:txBody>
      </p:sp>
      <p:pic>
        <p:nvPicPr>
          <p:cNvPr id="5125" name="Picture 6" descr="http://software.intel.com/file/293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5351463"/>
            <a:ext cx="3505200" cy="181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750" y="1481931"/>
            <a:ext cx="3362325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0160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Protected Objects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Memory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Files on auxiliary storage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I/O devices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Programs and sub procedures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Networks 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Data</a:t>
            </a:r>
          </a:p>
          <a:p>
            <a:pPr fontAlgn="auto"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defRPr/>
            </a:pPr>
            <a:endParaRPr lang="en-US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Supported by hardware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6148" name="Picture 2" descr="http://sushantskoltey.files.wordpress.com/2010/03/operating-system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686175"/>
            <a:ext cx="3514725" cy="317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4088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Access Control to General Objects</a:t>
            </a:r>
          </a:p>
        </p:txBody>
      </p:sp>
      <p:sp>
        <p:nvSpPr>
          <p:cNvPr id="7171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Goals in protecting objects </a:t>
            </a:r>
          </a:p>
          <a:p>
            <a:pPr lvl="1"/>
            <a:r>
              <a:rPr lang="en-US" smtClean="0"/>
              <a:t>Check every access</a:t>
            </a:r>
          </a:p>
          <a:p>
            <a:pPr lvl="1"/>
            <a:r>
              <a:rPr lang="en-US" smtClean="0"/>
              <a:t>Enforce least privilege</a:t>
            </a:r>
          </a:p>
          <a:p>
            <a:pPr lvl="1"/>
            <a:r>
              <a:rPr lang="en-US" smtClean="0"/>
              <a:t>Verify acceptable usage</a:t>
            </a:r>
          </a:p>
          <a:p>
            <a:pPr lvl="1"/>
            <a:endParaRPr lang="en-US" smtClean="0"/>
          </a:p>
          <a:p>
            <a:pPr lvl="1"/>
            <a:r>
              <a:rPr lang="en-US" smtClean="0"/>
              <a:t>Objects</a:t>
            </a:r>
          </a:p>
          <a:p>
            <a:pPr lvl="1"/>
            <a:r>
              <a:rPr lang="en-US" smtClean="0"/>
              <a:t>Subjects</a:t>
            </a:r>
          </a:p>
          <a:p>
            <a:pPr lvl="1"/>
            <a:r>
              <a:rPr lang="en-US" smtClean="0"/>
              <a:t>Unique owner - possesses "control" access rights</a:t>
            </a:r>
          </a:p>
          <a:p>
            <a:pPr lvl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05279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Directory</a:t>
            </a:r>
          </a:p>
        </p:txBody>
      </p:sp>
      <p:sp>
        <p:nvSpPr>
          <p:cNvPr id="819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User wise</a:t>
            </a:r>
          </a:p>
          <a:p>
            <a:r>
              <a:rPr lang="en-US" smtClean="0"/>
              <a:t>Maintained by OS</a:t>
            </a:r>
          </a:p>
          <a:p>
            <a:r>
              <a:rPr lang="en-US" smtClean="0"/>
              <a:t>Rights</a:t>
            </a:r>
          </a:p>
          <a:p>
            <a:pPr lvl="1"/>
            <a:r>
              <a:rPr lang="en-US" smtClean="0"/>
              <a:t>Read</a:t>
            </a:r>
          </a:p>
          <a:p>
            <a:pPr lvl="1"/>
            <a:r>
              <a:rPr lang="en-US" smtClean="0"/>
              <a:t>Write</a:t>
            </a:r>
          </a:p>
          <a:p>
            <a:pPr lvl="1"/>
            <a:r>
              <a:rPr lang="en-US" smtClean="0"/>
              <a:t>Execute</a:t>
            </a:r>
          </a:p>
          <a:p>
            <a:pPr lvl="1"/>
            <a:r>
              <a:rPr lang="en-US" smtClean="0"/>
              <a:t>Owner  </a:t>
            </a:r>
          </a:p>
        </p:txBody>
      </p:sp>
      <p:pic>
        <p:nvPicPr>
          <p:cNvPr id="8196" name="Picture 3" descr="Fig04-10.tif                                                   000182B7BridgerH HD                    ABA78158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225" y="2438400"/>
            <a:ext cx="6327775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5312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Directory</a:t>
            </a:r>
          </a:p>
        </p:txBody>
      </p:sp>
      <p:sp>
        <p:nvSpPr>
          <p:cNvPr id="9219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Disadvantages </a:t>
            </a:r>
          </a:p>
          <a:p>
            <a:pPr lvl="1"/>
            <a:r>
              <a:rPr lang="en-US" smtClean="0"/>
              <a:t>Deferent directory for each user</a:t>
            </a:r>
          </a:p>
          <a:p>
            <a:pPr lvl="1"/>
            <a:r>
              <a:rPr lang="en-US" smtClean="0"/>
              <a:t>Large data structures</a:t>
            </a:r>
          </a:p>
          <a:p>
            <a:pPr lvl="1"/>
            <a:r>
              <a:rPr lang="en-US" smtClean="0"/>
              <a:t>Entry for unwanted objects</a:t>
            </a:r>
          </a:p>
          <a:p>
            <a:pPr lvl="1"/>
            <a:r>
              <a:rPr lang="en-US" smtClean="0"/>
              <a:t>Time consuming operations</a:t>
            </a:r>
          </a:p>
          <a:p>
            <a:pPr lvl="1"/>
            <a:r>
              <a:rPr lang="en-US" smtClean="0"/>
              <a:t>Two entries under the same name for different files</a:t>
            </a:r>
          </a:p>
        </p:txBody>
      </p:sp>
    </p:spTree>
    <p:extLst>
      <p:ext uri="{BB962C8B-B14F-4D97-AF65-F5344CB8AC3E}">
        <p14:creationId xmlns:p14="http://schemas.microsoft.com/office/powerpoint/2010/main" val="459980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Directory</a:t>
            </a:r>
          </a:p>
        </p:txBody>
      </p:sp>
      <p:sp>
        <p:nvSpPr>
          <p:cNvPr id="1024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A:F (or B:F)</a:t>
            </a:r>
          </a:p>
          <a:p>
            <a:r>
              <a:rPr lang="en-US" smtClean="0"/>
              <a:t>Rename by third user</a:t>
            </a:r>
          </a:p>
        </p:txBody>
      </p:sp>
      <p:pic>
        <p:nvPicPr>
          <p:cNvPr id="10244" name="Picture 3" descr="Fig04-11.tif                                                   000182B7BridgerH HD                    ABA78158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097212"/>
            <a:ext cx="5410200" cy="391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068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Access Control List</a:t>
            </a:r>
          </a:p>
        </p:txBody>
      </p:sp>
      <p:sp>
        <p:nvSpPr>
          <p:cNvPr id="1126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One list for each object</a:t>
            </a:r>
          </a:p>
          <a:p>
            <a:r>
              <a:rPr lang="en-US" smtClean="0"/>
              <a:t>One directory for each subject</a:t>
            </a:r>
          </a:p>
          <a:p>
            <a:endParaRPr lang="en-US" smtClean="0"/>
          </a:p>
        </p:txBody>
      </p:sp>
      <p:pic>
        <p:nvPicPr>
          <p:cNvPr id="11268" name="Picture 3" descr="Fig04-12.tif                                                   000182B7BridgerH HD                    ABA78158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500" y="3128962"/>
            <a:ext cx="4432300" cy="426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060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Access Control Matrix</a:t>
            </a:r>
          </a:p>
        </p:txBody>
      </p:sp>
      <p:sp>
        <p:nvSpPr>
          <p:cNvPr id="12291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&lt;subject, object, rights&gt;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743200"/>
          <a:ext cx="7696197" cy="3606801"/>
        </p:xfrm>
        <a:graphic>
          <a:graphicData uri="http://schemas.openxmlformats.org/drawingml/2006/table">
            <a:tbl>
              <a:tblPr/>
              <a:tblGrid>
                <a:gridCol w="855133"/>
                <a:gridCol w="855133"/>
                <a:gridCol w="855133"/>
                <a:gridCol w="855133"/>
                <a:gridCol w="855133"/>
                <a:gridCol w="855133"/>
                <a:gridCol w="855133"/>
                <a:gridCol w="855133"/>
                <a:gridCol w="855133"/>
              </a:tblGrid>
              <a:tr h="762135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 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BIBLIOG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TEMP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F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HELP.TXT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C_COMP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LINKER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SYS_CLOCK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PRINTER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USER A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ORW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ORW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ORW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USER B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USER S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67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USER T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26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SYS_MGR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ORW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13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USER_SVCS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O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X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9525" marR="9525" marT="9527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688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Capability 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keep track of the access rights of subjects to objects during execution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Ticket giving permissions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Access to an object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Un-forgeable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Don’t give the ticket directly to the user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OS holds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Encrypted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key available only to the access control mechanism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100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4" descr="Fig04-13.tif                                                   000182B7BridgerH HD                    ABA78158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3733800"/>
            <a:ext cx="5008563" cy="295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Domain </a:t>
            </a:r>
          </a:p>
        </p:txBody>
      </p:sp>
      <p:sp>
        <p:nvSpPr>
          <p:cNvPr id="14340" name="Content Placeholder 1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21163"/>
          </a:xfrm>
        </p:spPr>
        <p:txBody>
          <a:bodyPr/>
          <a:lstStyle/>
          <a:p>
            <a:r>
              <a:rPr lang="en-US" b="1" smtClean="0"/>
              <a:t>Local name space</a:t>
            </a:r>
          </a:p>
          <a:p>
            <a:r>
              <a:rPr lang="en-US" smtClean="0"/>
              <a:t>Collection of objects to which process has access</a:t>
            </a:r>
          </a:p>
          <a:p>
            <a:r>
              <a:rPr lang="en-US" smtClean="0"/>
              <a:t>Collection of capabilities</a:t>
            </a:r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46193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smtClean="0"/>
              <a:t>Procedure Calls</a:t>
            </a:r>
          </a:p>
        </p:txBody>
      </p:sp>
      <p:sp>
        <p:nvSpPr>
          <p:cNvPr id="15363" name="Content Placeholder 1"/>
          <p:cNvSpPr>
            <a:spLocks noGrp="1"/>
          </p:cNvSpPr>
          <p:nvPr>
            <p:ph idx="1"/>
          </p:nvPr>
        </p:nvSpPr>
        <p:spPr>
          <a:xfrm>
            <a:off x="685800" y="838200"/>
            <a:ext cx="8229600" cy="4221163"/>
          </a:xfrm>
        </p:spPr>
        <p:txBody>
          <a:bodyPr/>
          <a:lstStyle/>
          <a:p>
            <a:r>
              <a:rPr lang="en-US" smtClean="0"/>
              <a:t>Calling sub procedure</a:t>
            </a:r>
          </a:p>
          <a:p>
            <a:r>
              <a:rPr lang="en-US" smtClean="0"/>
              <a:t>Deferent domain</a:t>
            </a:r>
          </a:p>
          <a:p>
            <a:r>
              <a:rPr lang="en-US" smtClean="0"/>
              <a:t>Passing rights</a:t>
            </a:r>
          </a:p>
          <a:p>
            <a:pPr lvl="1"/>
            <a:r>
              <a:rPr lang="en-US" smtClean="0"/>
              <a:t>R,RW</a:t>
            </a:r>
          </a:p>
          <a:p>
            <a:r>
              <a:rPr lang="en-US" smtClean="0"/>
              <a:t>OS create New capabilities</a:t>
            </a:r>
          </a:p>
        </p:txBody>
      </p:sp>
      <p:pic>
        <p:nvPicPr>
          <p:cNvPr id="15364" name="Picture 4" descr="Fig04-14.tif                                                   000182B7BridgerH HD                    ABA78158: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657600"/>
            <a:ext cx="3759200" cy="293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846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Procedure based Access Control</a:t>
            </a:r>
          </a:p>
        </p:txBody>
      </p:sp>
      <p:sp>
        <p:nvSpPr>
          <p:cNvPr id="1638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Procedure that controls access to objects </a:t>
            </a:r>
          </a:p>
          <a:p>
            <a:r>
              <a:rPr lang="en-US" smtClean="0"/>
              <a:t>Trusted interface to accesses object</a:t>
            </a:r>
          </a:p>
          <a:p>
            <a:r>
              <a:rPr lang="en-US" smtClean="0"/>
              <a:t>Users or general operating system routines cant access</a:t>
            </a:r>
          </a:p>
          <a:p>
            <a:r>
              <a:rPr lang="en-US" smtClean="0"/>
              <a:t>No simple, fast access(inefficient)</a:t>
            </a:r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3318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Role Based Access Control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Deferent users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Administrators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Users or guests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Associate privileges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Users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Groups</a:t>
            </a:r>
          </a:p>
          <a:p>
            <a:pPr lvl="1" fontAlgn="auto"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Control access rights by job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24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 Protection Mechanisms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All-None Protection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Trust combined with ignorance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All files are public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Protected system files by system administrator </a:t>
            </a:r>
          </a:p>
          <a:p>
            <a:pPr lvl="1" fontAlgn="auto">
              <a:spcAft>
                <a:spcPts val="0"/>
              </a:spcAft>
              <a:defRPr/>
            </a:pPr>
            <a:endParaRPr lang="en-US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Drawbacks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Lack of trust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Not possible to configure selected users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Rise of sharing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Complexity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File listings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94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 Protection Mechanisms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Group Protection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User groups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Common requirements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Common project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Department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class</a:t>
            </a:r>
          </a:p>
          <a:p>
            <a:pPr lvl="2" fontAlgn="auto">
              <a:spcAft>
                <a:spcPts val="0"/>
              </a:spcAft>
              <a:defRPr/>
            </a:pPr>
            <a:endParaRPr lang="en-US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Drawbacks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Group affiliation – other users get permission.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Limited sharing-only within group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581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File Protection Mechanisms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Individual Permissions</a:t>
            </a:r>
          </a:p>
          <a:p>
            <a:pPr fontAlgn="auto">
              <a:spcAft>
                <a:spcPts val="0"/>
              </a:spcAft>
              <a:defRPr/>
            </a:pPr>
            <a:endParaRPr lang="en-US" b="1" dirty="0" smtClean="0"/>
          </a:p>
          <a:p>
            <a:pPr lvl="1" fontAlgn="auto">
              <a:spcAft>
                <a:spcPts val="0"/>
              </a:spcAft>
              <a:defRPr/>
            </a:pPr>
            <a:r>
              <a:rPr lang="en-US" b="1" dirty="0" smtClean="0"/>
              <a:t>Persistent permissions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Number of access lists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Revocation is not easy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b="1" dirty="0" smtClean="0"/>
              <a:t>Temporary Acquired Permission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Temporarily acquires access permission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Only for execution of the program</a:t>
            </a:r>
          </a:p>
          <a:p>
            <a:pPr lvl="2" fontAlgn="auto">
              <a:spcAft>
                <a:spcPts val="0"/>
              </a:spcAft>
              <a:defRPr/>
            </a:pPr>
            <a:endParaRPr lang="en-US" b="1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Problem - meaningful groups of related users </a:t>
            </a:r>
            <a:endParaRPr lang="en-US" b="1" dirty="0" smtClean="0"/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251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User Authentication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Something the user knows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Passwords, PIN numbers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Something the user has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Driver's license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Something the user is –biometrics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Fingerprint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Voice pattern 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Retina and iris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652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Passwords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Problems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Loss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Forgotten password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Use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Password for each access 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Time consuming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Disclosure 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Unauthorized individual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Revocation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Change password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69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Additional Authentication </a:t>
            </a:r>
          </a:p>
        </p:txBody>
      </p:sp>
      <p:sp>
        <p:nvSpPr>
          <p:cNvPr id="2355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Multifactor authentication</a:t>
            </a:r>
          </a:p>
          <a:p>
            <a:pPr lvl="1"/>
            <a:r>
              <a:rPr lang="en-US" smtClean="0"/>
              <a:t>Department</a:t>
            </a:r>
          </a:p>
          <a:p>
            <a:pPr lvl="1"/>
            <a:r>
              <a:rPr lang="en-US" smtClean="0"/>
              <a:t>Branch</a:t>
            </a:r>
          </a:p>
          <a:p>
            <a:pPr lvl="1"/>
            <a:r>
              <a:rPr lang="en-US" smtClean="0"/>
              <a:t>Workstation</a:t>
            </a:r>
          </a:p>
          <a:p>
            <a:pPr lvl="1"/>
            <a:r>
              <a:rPr lang="en-US" smtClean="0"/>
              <a:t>Time period</a:t>
            </a:r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0642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Attacks on Passwords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Try all possible passwords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Exhaustive or brute force attack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Try frequently used passwords	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err="1" smtClean="0"/>
              <a:t>Qwe</a:t>
            </a:r>
            <a:r>
              <a:rPr lang="en-US" dirty="0" smtClean="0"/>
              <a:t>, asd,abc,123,abc@123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Try passwords likely for the user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Meaningful to user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Search for the system list of passwords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Ask the users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96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Good Practice</a:t>
            </a:r>
          </a:p>
        </p:txBody>
      </p:sp>
      <p:sp>
        <p:nvSpPr>
          <p:cNvPr id="25603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Good passwords</a:t>
            </a:r>
          </a:p>
          <a:p>
            <a:r>
              <a:rPr lang="en-US" smtClean="0"/>
              <a:t>Choose long passwords</a:t>
            </a:r>
          </a:p>
          <a:p>
            <a:r>
              <a:rPr lang="en-US" smtClean="0"/>
              <a:t>Avoid meaningful words</a:t>
            </a:r>
          </a:p>
          <a:p>
            <a:r>
              <a:rPr lang="en-US" smtClean="0"/>
              <a:t>Unlikely password</a:t>
            </a:r>
          </a:p>
          <a:p>
            <a:r>
              <a:rPr lang="en-US" smtClean="0"/>
              <a:t>Change the password regularly</a:t>
            </a:r>
          </a:p>
          <a:p>
            <a:r>
              <a:rPr lang="en-US" smtClean="0"/>
              <a:t>Don't write it down</a:t>
            </a:r>
          </a:p>
          <a:p>
            <a:r>
              <a:rPr lang="en-US" smtClean="0"/>
              <a:t>Don't tell anyone else</a:t>
            </a:r>
          </a:p>
        </p:txBody>
      </p:sp>
    </p:spTree>
    <p:extLst>
      <p:ext uri="{BB962C8B-B14F-4D97-AF65-F5344CB8AC3E}">
        <p14:creationId xmlns:p14="http://schemas.microsoft.com/office/powerpoint/2010/main" val="164733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Loose-Lipped Systems</a:t>
            </a:r>
          </a:p>
        </p:txBody>
      </p:sp>
      <p:sp>
        <p:nvSpPr>
          <p:cNvPr id="26627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  <a:p>
            <a:pPr lvl="1"/>
            <a:r>
              <a:rPr lang="en-US" smtClean="0"/>
              <a:t>UNKNOWN USER ENTER USER NAME: 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Adams is not the name </a:t>
            </a:r>
          </a:p>
        </p:txBody>
      </p:sp>
    </p:spTree>
    <p:extLst>
      <p:ext uri="{BB962C8B-B14F-4D97-AF65-F5344CB8AC3E}">
        <p14:creationId xmlns:p14="http://schemas.microsoft.com/office/powerpoint/2010/main" val="2834644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Exhaustive Attack</a:t>
            </a:r>
          </a:p>
        </p:txBody>
      </p:sp>
      <p:sp>
        <p:nvSpPr>
          <p:cNvPr id="27651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Brute force attack</a:t>
            </a:r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9324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Impersonation of Login</a:t>
            </a:r>
          </a:p>
        </p:txBody>
      </p:sp>
      <p:sp>
        <p:nvSpPr>
          <p:cNvPr id="28675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User trust the system</a:t>
            </a:r>
          </a:p>
          <a:p>
            <a:r>
              <a:rPr lang="en-US" smtClean="0"/>
              <a:t>Programmer capture the entry parameters</a:t>
            </a:r>
          </a:p>
          <a:p>
            <a:r>
              <a:rPr lang="en-US" smtClean="0"/>
              <a:t>User should interrupt any running process</a:t>
            </a:r>
          </a:p>
          <a:p>
            <a:pPr lvl="1"/>
            <a:r>
              <a:rPr lang="en-US" smtClean="0"/>
              <a:t>Break key</a:t>
            </a:r>
          </a:p>
          <a:p>
            <a:pPr lvl="1"/>
            <a:r>
              <a:rPr lang="en-US" smtClean="0"/>
              <a:t>Ctrl+Alt+Del</a:t>
            </a:r>
          </a:p>
        </p:txBody>
      </p:sp>
    </p:spTree>
    <p:extLst>
      <p:ext uri="{BB962C8B-B14F-4D97-AF65-F5344CB8AC3E}">
        <p14:creationId xmlns:p14="http://schemas.microsoft.com/office/powerpoint/2010/main" val="176849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Services</a:t>
            </a:r>
          </a:p>
          <a:p>
            <a:pPr lvl="1"/>
            <a:r>
              <a:rPr lang="en-US" smtClean="0"/>
              <a:t>Memory protection</a:t>
            </a:r>
          </a:p>
          <a:p>
            <a:pPr lvl="1"/>
            <a:r>
              <a:rPr lang="en-US" smtClean="0"/>
              <a:t>File protection</a:t>
            </a:r>
          </a:p>
          <a:p>
            <a:pPr lvl="1"/>
            <a:r>
              <a:rPr lang="en-US" smtClean="0"/>
              <a:t>General object access control</a:t>
            </a:r>
          </a:p>
          <a:p>
            <a:pPr lvl="1"/>
            <a:r>
              <a:rPr lang="en-US" smtClean="0"/>
              <a:t>User authentication</a:t>
            </a:r>
          </a:p>
          <a:p>
            <a:pPr lvl="2"/>
            <a:r>
              <a:rPr lang="en-US" smtClean="0"/>
              <a:t>Consistent</a:t>
            </a:r>
          </a:p>
          <a:p>
            <a:pPr lvl="2"/>
            <a:r>
              <a:rPr lang="en-US" smtClean="0"/>
              <a:t>Effective</a:t>
            </a:r>
          </a:p>
          <a:p>
            <a:endParaRPr lang="en-US" smtClean="0"/>
          </a:p>
        </p:txBody>
      </p:sp>
      <p:sp>
        <p:nvSpPr>
          <p:cNvPr id="29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Trusted Operating System</a:t>
            </a:r>
          </a:p>
        </p:txBody>
      </p:sp>
    </p:spTree>
    <p:extLst>
      <p:ext uri="{BB962C8B-B14F-4D97-AF65-F5344CB8AC3E}">
        <p14:creationId xmlns:p14="http://schemas.microsoft.com/office/powerpoint/2010/main" val="1939595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Functional correctness</a:t>
            </a:r>
          </a:p>
          <a:p>
            <a:r>
              <a:rPr lang="en-US" smtClean="0"/>
              <a:t>Enforcement of integrity</a:t>
            </a:r>
          </a:p>
          <a:p>
            <a:r>
              <a:rPr lang="en-US" smtClean="0"/>
              <a:t>Limited privilege</a:t>
            </a:r>
          </a:p>
          <a:p>
            <a:r>
              <a:rPr lang="en-US" smtClean="0"/>
              <a:t>Appropriate confidence level</a:t>
            </a:r>
          </a:p>
        </p:txBody>
      </p:sp>
      <p:sp>
        <p:nvSpPr>
          <p:cNvPr id="3072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Trusted Program</a:t>
            </a:r>
          </a:p>
        </p:txBody>
      </p:sp>
    </p:spTree>
    <p:extLst>
      <p:ext uri="{BB962C8B-B14F-4D97-AF65-F5344CB8AC3E}">
        <p14:creationId xmlns:p14="http://schemas.microsoft.com/office/powerpoint/2010/main" val="146793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686800" cy="4525962"/>
          </a:xfrm>
        </p:spPr>
        <p:txBody>
          <a:bodyPr rtlCol="0">
            <a:normAutofit fontScale="92500" lnSpcReduction="2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/>
              <a:t>Good design principles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Least privilege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User , Program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Economy of mechanism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Design of the protection should be small, simple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Open design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Potential attackers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Complete mediation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Permission based. (default condition for denial of access)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Separation of privilege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More than one condition</a:t>
            </a:r>
          </a:p>
          <a:p>
            <a:pPr lvl="2" fontAlgn="auto">
              <a:spcAft>
                <a:spcPts val="0"/>
              </a:spcAft>
              <a:defRPr/>
            </a:pPr>
            <a:r>
              <a:rPr lang="en-US" dirty="0" smtClean="0"/>
              <a:t>Authentication plus a cryptographic key</a:t>
            </a:r>
            <a:endParaRPr lang="en-US" dirty="0"/>
          </a:p>
        </p:txBody>
      </p:sp>
      <p:sp>
        <p:nvSpPr>
          <p:cNvPr id="3174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Trusted Operating System Design</a:t>
            </a:r>
          </a:p>
        </p:txBody>
      </p:sp>
    </p:spTree>
    <p:extLst>
      <p:ext uri="{BB962C8B-B14F-4D97-AF65-F5344CB8AC3E}">
        <p14:creationId xmlns:p14="http://schemas.microsoft.com/office/powerpoint/2010/main" val="268864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Good design principles</a:t>
            </a:r>
          </a:p>
          <a:p>
            <a:pPr lvl="1"/>
            <a:r>
              <a:rPr lang="en-US" smtClean="0"/>
              <a:t>Least common mechanism</a:t>
            </a:r>
          </a:p>
          <a:p>
            <a:pPr lvl="2"/>
            <a:r>
              <a:rPr lang="en-US" smtClean="0"/>
              <a:t>physical or logical separation reduce the risk from sharing</a:t>
            </a:r>
          </a:p>
          <a:p>
            <a:pPr lvl="1"/>
            <a:r>
              <a:rPr lang="en-US" smtClean="0"/>
              <a:t>Ease of use</a:t>
            </a:r>
          </a:p>
          <a:p>
            <a:pPr lvl="2"/>
            <a:endParaRPr lang="en-US" smtClean="0"/>
          </a:p>
        </p:txBody>
      </p:sp>
      <p:sp>
        <p:nvSpPr>
          <p:cNvPr id="3277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Trusted Operating System Design</a:t>
            </a:r>
          </a:p>
        </p:txBody>
      </p:sp>
    </p:spTree>
    <p:extLst>
      <p:ext uri="{BB962C8B-B14F-4D97-AF65-F5344CB8AC3E}">
        <p14:creationId xmlns:p14="http://schemas.microsoft.com/office/powerpoint/2010/main" val="378696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229600" cy="4525962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Identification and Authentication</a:t>
            </a:r>
          </a:p>
          <a:p>
            <a:pPr lvl="1" fontAlgn="auto">
              <a:spcAft>
                <a:spcPts val="0"/>
              </a:spcAft>
              <a:defRPr/>
            </a:pPr>
            <a:endParaRPr lang="en-US" b="1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Mandatory and Discretionary Access Control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Policy decisions are made beyond the control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Central authority determines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User cannot change access rights</a:t>
            </a:r>
            <a:endParaRPr lang="en-US" b="1" dirty="0" smtClean="0"/>
          </a:p>
          <a:p>
            <a:pPr fontAlgn="auto">
              <a:spcAft>
                <a:spcPts val="0"/>
              </a:spcAft>
              <a:defRPr/>
            </a:pPr>
            <a:r>
              <a:rPr lang="en-US" b="1" dirty="0" smtClean="0"/>
              <a:t>Discretionary access control</a:t>
            </a:r>
            <a:r>
              <a:rPr lang="en-US" dirty="0" smtClean="0"/>
              <a:t> (DAC)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dirty="0" smtClean="0"/>
              <a:t>Objects owner or any authorized user control the access to object</a:t>
            </a:r>
          </a:p>
          <a:p>
            <a:pPr lvl="1" fontAlgn="auto">
              <a:spcAft>
                <a:spcPts val="0"/>
              </a:spcAft>
              <a:defRPr/>
            </a:pPr>
            <a:endParaRPr lang="en-US" dirty="0" smtClean="0"/>
          </a:p>
          <a:p>
            <a:pPr lvl="1"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3795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Features of Protected OS</a:t>
            </a:r>
          </a:p>
        </p:txBody>
      </p:sp>
    </p:spTree>
    <p:extLst>
      <p:ext uri="{BB962C8B-B14F-4D97-AF65-F5344CB8AC3E}">
        <p14:creationId xmlns:p14="http://schemas.microsoft.com/office/powerpoint/2010/main" val="4029994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Object Reuse Protection</a:t>
            </a:r>
          </a:p>
          <a:p>
            <a:pPr lvl="1"/>
            <a:r>
              <a:rPr lang="en-US" smtClean="0"/>
              <a:t>Reusing objects is efficient</a:t>
            </a:r>
          </a:p>
          <a:p>
            <a:pPr lvl="1"/>
            <a:r>
              <a:rPr lang="en-US" smtClean="0"/>
              <a:t>Control object reuse  by another user</a:t>
            </a:r>
          </a:p>
          <a:p>
            <a:pPr lvl="1"/>
            <a:r>
              <a:rPr lang="en-US" smtClean="0"/>
              <a:t>OS clear or overwrite objects reassigned space before second user</a:t>
            </a:r>
          </a:p>
          <a:p>
            <a:pPr lvl="1"/>
            <a:endParaRPr lang="en-US" smtClean="0"/>
          </a:p>
          <a:p>
            <a:pPr>
              <a:buFont typeface="Arial" panose="020B0604020202020204" pitchFamily="34" charset="0"/>
              <a:buNone/>
            </a:pPr>
            <a:endParaRPr lang="en-US" smtClean="0"/>
          </a:p>
        </p:txBody>
      </p:sp>
      <p:sp>
        <p:nvSpPr>
          <p:cNvPr id="34819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Features of Protected OS</a:t>
            </a:r>
          </a:p>
        </p:txBody>
      </p:sp>
    </p:spTree>
    <p:extLst>
      <p:ext uri="{BB962C8B-B14F-4D97-AF65-F5344CB8AC3E}">
        <p14:creationId xmlns:p14="http://schemas.microsoft.com/office/powerpoint/2010/main" val="3642497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smtClean="0"/>
              <a:t>Accountability and Audit</a:t>
            </a:r>
          </a:p>
          <a:p>
            <a:pPr lvl="1"/>
            <a:r>
              <a:rPr lang="en-US" smtClean="0"/>
              <a:t>Maintaining a log of security-relevant events </a:t>
            </a:r>
          </a:p>
          <a:p>
            <a:r>
              <a:rPr lang="en-US" b="1" smtClean="0"/>
              <a:t>Audit Log Reduction</a:t>
            </a:r>
          </a:p>
          <a:p>
            <a:r>
              <a:rPr lang="en-US" b="1" smtClean="0"/>
              <a:t>Intrusion Detection</a:t>
            </a:r>
          </a:p>
          <a:p>
            <a:pPr lvl="1"/>
            <a:r>
              <a:rPr lang="en-US" smtClean="0"/>
              <a:t>Analyze audit log</a:t>
            </a:r>
          </a:p>
          <a:p>
            <a:pPr lvl="1"/>
            <a:r>
              <a:rPr lang="en-US" smtClean="0"/>
              <a:t>Identify patterns</a:t>
            </a:r>
          </a:p>
          <a:p>
            <a:pPr lvl="1"/>
            <a:r>
              <a:rPr lang="en-US" smtClean="0"/>
              <a:t>Warning</a:t>
            </a:r>
          </a:p>
          <a:p>
            <a:pPr lvl="1"/>
            <a:endParaRPr lang="en-US" smtClean="0"/>
          </a:p>
        </p:txBody>
      </p:sp>
      <p:sp>
        <p:nvSpPr>
          <p:cNvPr id="3584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Features of Protected OS</a:t>
            </a:r>
          </a:p>
        </p:txBody>
      </p:sp>
    </p:spTree>
    <p:extLst>
      <p:ext uri="{BB962C8B-B14F-4D97-AF65-F5344CB8AC3E}">
        <p14:creationId xmlns:p14="http://schemas.microsoft.com/office/powerpoint/2010/main" val="9370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Adds yet another layer of interface </a:t>
            </a:r>
          </a:p>
          <a:p>
            <a:r>
              <a:rPr lang="en-US" smtClean="0"/>
              <a:t>Degrade system performance</a:t>
            </a:r>
          </a:p>
          <a:p>
            <a:endParaRPr lang="en-US" smtClean="0"/>
          </a:p>
        </p:txBody>
      </p:sp>
      <p:sp>
        <p:nvSpPr>
          <p:cNvPr id="36867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Kernelized Design</a:t>
            </a:r>
          </a:p>
        </p:txBody>
      </p:sp>
      <p:pic>
        <p:nvPicPr>
          <p:cNvPr id="36868" name="Picture 2" descr="http://www.perseus-os.org/media/images/5001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300" y="3276600"/>
            <a:ext cx="659765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59956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4" descr="Fig05-20.tif                                                   000182B7BridgerH HD                    ABA78158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41325"/>
            <a:ext cx="6629400" cy="641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Layered Design</a:t>
            </a:r>
          </a:p>
        </p:txBody>
      </p:sp>
      <p:sp>
        <p:nvSpPr>
          <p:cNvPr id="3789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mtClean="0"/>
              <a:t>Hardware</a:t>
            </a:r>
          </a:p>
          <a:p>
            <a:pPr lvl="1"/>
            <a:r>
              <a:rPr lang="en-US" smtClean="0"/>
              <a:t>Kernel</a:t>
            </a:r>
          </a:p>
          <a:p>
            <a:pPr lvl="1"/>
            <a:r>
              <a:rPr lang="en-US" smtClean="0"/>
              <a:t>Operating system</a:t>
            </a:r>
          </a:p>
          <a:p>
            <a:pPr lvl="1"/>
            <a:r>
              <a:rPr lang="en-US" smtClean="0"/>
              <a:t>User</a:t>
            </a:r>
          </a:p>
          <a:p>
            <a:endParaRPr lang="en-US" smtClean="0"/>
          </a:p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46866365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HNDIT</Template>
  <TotalTime>1200</TotalTime>
  <Words>766</Words>
  <Application>Microsoft Office PowerPoint</Application>
  <PresentationFormat>On-screen Show (4:3)</PresentationFormat>
  <Paragraphs>297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HNDIT</vt:lpstr>
      <vt:lpstr>1_HNDIT</vt:lpstr>
      <vt:lpstr>Operating Systems and Computer Security</vt:lpstr>
      <vt:lpstr>Operating System</vt:lpstr>
      <vt:lpstr>Protected Objects </vt:lpstr>
      <vt:lpstr>Access Control to General Objects</vt:lpstr>
      <vt:lpstr>Directory</vt:lpstr>
      <vt:lpstr>Directory</vt:lpstr>
      <vt:lpstr>Directory</vt:lpstr>
      <vt:lpstr>Access Control List</vt:lpstr>
      <vt:lpstr>Access Control Matrix</vt:lpstr>
      <vt:lpstr>Capability </vt:lpstr>
      <vt:lpstr>Domain </vt:lpstr>
      <vt:lpstr>Procedure Calls</vt:lpstr>
      <vt:lpstr>Procedure based Access Control</vt:lpstr>
      <vt:lpstr>Role Based Access Control</vt:lpstr>
      <vt:lpstr>File Protection Mechanisms</vt:lpstr>
      <vt:lpstr>File Protection Mechanisms</vt:lpstr>
      <vt:lpstr>File Protection Mechanisms</vt:lpstr>
      <vt:lpstr>User Authentication</vt:lpstr>
      <vt:lpstr>Passwords</vt:lpstr>
      <vt:lpstr>Additional Authentication </vt:lpstr>
      <vt:lpstr>Attacks on Passwords</vt:lpstr>
      <vt:lpstr>Good Practice</vt:lpstr>
      <vt:lpstr>Loose-Lipped Systems</vt:lpstr>
      <vt:lpstr>Exhaustive Attack</vt:lpstr>
      <vt:lpstr>Impersonation of Login</vt:lpstr>
      <vt:lpstr>Trusted Operating System</vt:lpstr>
      <vt:lpstr>Trusted Program</vt:lpstr>
      <vt:lpstr>Trusted Operating System Design</vt:lpstr>
      <vt:lpstr>Trusted Operating System Design</vt:lpstr>
      <vt:lpstr>Features of Protected OS</vt:lpstr>
      <vt:lpstr>Features of Protected OS</vt:lpstr>
      <vt:lpstr>Features of Protected OS</vt:lpstr>
      <vt:lpstr>Kernelized Design</vt:lpstr>
      <vt:lpstr>Layered Design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Asus X55</dc:creator>
  <cp:lastModifiedBy>HP</cp:lastModifiedBy>
  <cp:revision>158</cp:revision>
  <dcterms:created xsi:type="dcterms:W3CDTF">2014-03-07T13:02:25Z</dcterms:created>
  <dcterms:modified xsi:type="dcterms:W3CDTF">2021-06-07T14:43:25Z</dcterms:modified>
</cp:coreProperties>
</file>