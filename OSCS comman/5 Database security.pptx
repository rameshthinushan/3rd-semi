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5"/>
  </p:notesMasterIdLst>
  <p:sldIdLst>
    <p:sldId id="270" r:id="rId3"/>
    <p:sldId id="299" r:id="rId4"/>
    <p:sldId id="300" r:id="rId5"/>
    <p:sldId id="301" r:id="rId6"/>
    <p:sldId id="302"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16" y="30"/>
      </p:cViewPr>
      <p:guideLst>
        <p:guide orient="horz" pos="2160"/>
        <p:guide pos="2880"/>
      </p:guideLst>
    </p:cSldViewPr>
  </p:slideViewPr>
  <p:notesTextViewPr>
    <p:cViewPr>
      <p:scale>
        <a:sx n="75" d="100"/>
        <a:sy n="7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723204-145E-4E9A-8825-0DF9FD80C698}" type="datetimeFigureOut">
              <a:rPr lang="en-US" smtClean="0"/>
              <a:pPr/>
              <a:t>8/4/2018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677AEE-D46A-4C91-9543-7FBC6ED44F7E}" type="slidenum">
              <a:rPr lang="en-US" smtClean="0"/>
              <a:pPr/>
              <a:t>‹#›</a:t>
            </a:fld>
            <a:endParaRPr lang="en-US" dirty="0"/>
          </a:p>
        </p:txBody>
      </p:sp>
    </p:spTree>
    <p:extLst>
      <p:ext uri="{BB962C8B-B14F-4D97-AF65-F5344CB8AC3E}">
        <p14:creationId xmlns:p14="http://schemas.microsoft.com/office/powerpoint/2010/main" val="118513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2308AD-CF68-426A-90FA-99268130AF8F}" type="slidenum">
              <a:rPr lang="en-AU"/>
              <a:pPr eaLnBrk="1" hangingPunct="1"/>
              <a:t>1</a:t>
            </a:fld>
            <a:endParaRPr lang="en-AU"/>
          </a:p>
        </p:txBody>
      </p:sp>
      <p:sp>
        <p:nvSpPr>
          <p:cNvPr id="33795" name="Rectangle 2"/>
          <p:cNvSpPr>
            <a:spLocks noGrp="1" noRot="1" noChangeAspect="1" noChangeArrowheads="1" noTextEdit="1"/>
          </p:cNvSpPr>
          <p:nvPr>
            <p:ph type="sldImg"/>
          </p:nvPr>
        </p:nvSpPr>
        <p:spPr>
          <a:solidFill>
            <a:srgbClr val="FFFFFF"/>
          </a:solidFill>
          <a:ln/>
        </p:spPr>
      </p:sp>
      <p:sp>
        <p:nvSpPr>
          <p:cNvPr id="3379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smtClean="0"/>
              <a:t>Lecture slides by Lawrie Brown for “Cryptography and Network Security”, 4/e, by William Stallings, Chapter 20 – “Firewalls”.</a:t>
            </a:r>
            <a:endParaRPr lang="en-AU" smtClean="0"/>
          </a:p>
          <a:p>
            <a:pPr eaLnBrk="1" hangingPunct="1"/>
            <a:endParaRPr lang="en-US" smtClean="0"/>
          </a:p>
        </p:txBody>
      </p:sp>
    </p:spTree>
    <p:extLst>
      <p:ext uri="{BB962C8B-B14F-4D97-AF65-F5344CB8AC3E}">
        <p14:creationId xmlns:p14="http://schemas.microsoft.com/office/powerpoint/2010/main" val="5584452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B9C55-B1F5-4DCD-B44C-56F4D10DFF02}" type="datetime1">
              <a:rPr lang="en-US" smtClean="0"/>
              <a:t>8/4/2018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8/4/2018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8/4/2018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8/4/2018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8/4/2018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8/4/2018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8/4/2018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8/4/2018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8/4/2018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8/4/2018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8/4/2018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8E2B9C55-B1F5-4DCD-B44C-56F4D10DFF02}" type="datetime1">
              <a:rPr lang="en-US" smtClean="0"/>
              <a:t>8/4/2018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400036773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8/4/2018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39203731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8/4/2018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43306039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8/4/2018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7688858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8/4/2018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01473344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8/4/2018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29369069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8/4/2018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4413763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8/4/2018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4715060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8/4/2018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543651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8/4/2018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03154626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8/4/2018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8082258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8/4/2018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8/4/2018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6892658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3"/>
          <p:cNvSpPr>
            <a:spLocks noGrp="1"/>
          </p:cNvSpPr>
          <p:nvPr>
            <p:ph type="ctrTitle"/>
          </p:nvPr>
        </p:nvSpPr>
        <p:spPr>
          <a:xfrm>
            <a:off x="1295400" y="4669596"/>
            <a:ext cx="6934200" cy="1981200"/>
          </a:xfrm>
        </p:spPr>
        <p:txBody>
          <a:bodyPr/>
          <a:lstStyle/>
          <a:p>
            <a:pPr eaLnBrk="1" hangingPunct="1"/>
            <a:r>
              <a:rPr lang="en-US" dirty="0" smtClean="0"/>
              <a:t>5. Database </a:t>
            </a:r>
            <a:r>
              <a:rPr lang="en-US" dirty="0" smtClean="0"/>
              <a:t>Security </a:t>
            </a:r>
          </a:p>
        </p:txBody>
      </p:sp>
      <p:sp>
        <p:nvSpPr>
          <p:cNvPr id="4" name="Title 1"/>
          <p:cNvSpPr txBox="1">
            <a:spLocks/>
          </p:cNvSpPr>
          <p:nvPr/>
        </p:nvSpPr>
        <p:spPr>
          <a:xfrm>
            <a:off x="4876800" y="2209800"/>
            <a:ext cx="3886200" cy="1981200"/>
          </a:xfrm>
          <a:prstGeom prst="rect">
            <a:avLst/>
          </a:prstGeom>
        </p:spPr>
        <p:txBody>
          <a:bodyPr vert="horz" lIns="91440" tIns="45720" rIns="91440" bIns="45720" rtlCol="0" anchor="ctr">
            <a:normAutofit fontScale="8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mtClean="0"/>
              <a:t>Operating Systems and Computer Security</a:t>
            </a:r>
            <a:endParaRPr lang="en-US" dirty="0"/>
          </a:p>
        </p:txBody>
      </p:sp>
    </p:spTree>
    <p:extLst>
      <p:ext uri="{BB962C8B-B14F-4D97-AF65-F5344CB8AC3E}">
        <p14:creationId xmlns:p14="http://schemas.microsoft.com/office/powerpoint/2010/main" val="26102779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Database Administration &amp; controls</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a:t>Database administration is basically concerned with ensuring that accurate and consistent information is available to user &amp; applications when needed &amp; in the form required. The DBA interacts with both the system &amp; users. The responsibility for managing information system is split into 2 positions</a:t>
            </a:r>
          </a:p>
          <a:p>
            <a:pPr lvl="0"/>
            <a:r>
              <a:rPr lang="en-US" b="1" dirty="0"/>
              <a:t>Data administrator</a:t>
            </a:r>
            <a:r>
              <a:rPr lang="en-US" dirty="0"/>
              <a:t> – Manager whose responsibilities are focused on establishing policies &amp; procedures for the organizations information system</a:t>
            </a:r>
          </a:p>
          <a:p>
            <a:pPr lvl="0"/>
            <a:r>
              <a:rPr lang="en-US" b="1" dirty="0"/>
              <a:t>Database Administrator</a:t>
            </a:r>
            <a:r>
              <a:rPr lang="en-US" dirty="0"/>
              <a:t>  – Manager whose responsibilities are focused in management of the technical aspects of the database system</a:t>
            </a:r>
          </a:p>
          <a:p>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2</a:t>
            </a:fld>
            <a:endParaRPr lang="en-US" dirty="0"/>
          </a:p>
        </p:txBody>
      </p:sp>
    </p:spTree>
    <p:extLst>
      <p:ext uri="{BB962C8B-B14F-4D97-AF65-F5344CB8AC3E}">
        <p14:creationId xmlns:p14="http://schemas.microsoft.com/office/powerpoint/2010/main" val="1763888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Responsibilities of a DBA</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smtClean="0"/>
              <a:t>Establishing </a:t>
            </a:r>
            <a:r>
              <a:rPr lang="en-US" dirty="0"/>
              <a:t>data definition</a:t>
            </a:r>
          </a:p>
          <a:p>
            <a:pPr lvl="0"/>
            <a:r>
              <a:rPr lang="en-US" dirty="0"/>
              <a:t>Developing programs to generate needed information</a:t>
            </a:r>
          </a:p>
          <a:p>
            <a:pPr lvl="0"/>
            <a:r>
              <a:rPr lang="en-US" dirty="0"/>
              <a:t>Adding data &amp; deleting data from the database</a:t>
            </a:r>
          </a:p>
          <a:p>
            <a:pPr lvl="0"/>
            <a:r>
              <a:rPr lang="en-US" dirty="0"/>
              <a:t>Implementing security &amp; integrity controls</a:t>
            </a:r>
          </a:p>
          <a:p>
            <a:pPr lvl="0"/>
            <a:r>
              <a:rPr lang="en-US" dirty="0"/>
              <a:t>Managing database operations</a:t>
            </a:r>
          </a:p>
          <a:p>
            <a:pPr lvl="0"/>
            <a:r>
              <a:rPr lang="en-US" dirty="0"/>
              <a:t>Database planning &amp; Development</a:t>
            </a:r>
          </a:p>
          <a:p>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3</a:t>
            </a:fld>
            <a:endParaRPr lang="en-US" dirty="0"/>
          </a:p>
        </p:txBody>
      </p:sp>
    </p:spTree>
    <p:extLst>
      <p:ext uri="{BB962C8B-B14F-4D97-AF65-F5344CB8AC3E}">
        <p14:creationId xmlns:p14="http://schemas.microsoft.com/office/powerpoint/2010/main" val="1045811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9372600" cy="5592763"/>
          </a:xfrm>
        </p:spPr>
        <p:txBody>
          <a:bodyPr>
            <a:noAutofit/>
          </a:bodyPr>
          <a:lstStyle/>
          <a:p>
            <a:pPr algn="just"/>
            <a:r>
              <a:rPr lang="en-US" sz="2000" b="1" dirty="0"/>
              <a:t>DBA </a:t>
            </a:r>
            <a:r>
              <a:rPr lang="en-US" sz="2000" b="1" dirty="0" smtClean="0"/>
              <a:t>Functions: </a:t>
            </a:r>
            <a:r>
              <a:rPr lang="en-US" sz="2000" dirty="0" smtClean="0"/>
              <a:t>DBA </a:t>
            </a:r>
            <a:r>
              <a:rPr lang="en-US" sz="2000" dirty="0"/>
              <a:t>functions may generally fall into the areas of communicating with other users, planning, designing &amp; implementing database systems &amp; establishing standards &amp; </a:t>
            </a:r>
            <a:r>
              <a:rPr lang="en-US" sz="2000" dirty="0" smtClean="0"/>
              <a:t>procedures</a:t>
            </a:r>
            <a:endParaRPr lang="en-US" sz="2000" dirty="0"/>
          </a:p>
          <a:p>
            <a:pPr algn="just"/>
            <a:r>
              <a:rPr lang="en-US" sz="2000" b="1" dirty="0"/>
              <a:t>DBA </a:t>
            </a:r>
            <a:r>
              <a:rPr lang="en-US" sz="2000" b="1" dirty="0" smtClean="0"/>
              <a:t>Goals: </a:t>
            </a:r>
            <a:r>
              <a:rPr lang="en-US" sz="2000" dirty="0" smtClean="0"/>
              <a:t>Basic </a:t>
            </a:r>
            <a:r>
              <a:rPr lang="en-US" sz="2000" dirty="0"/>
              <a:t>DBA goals are maintaining the integrity security &amp; availability of data. A database must be protected form accidents such as input or programming errors from malicious use of the database and from protection from accidents that cause the data inaccuracies is part of the goal of maintaining data integrity. These accidents include failures during transactions processing, logical errors, that violate the assumptions that transaction preserve database consistency, constraints &amp; anomalies due to concurrent access to the database. Concurrent processing or concurrency occurs when 2 or more transactions concurrently request access to the same database record at about the same time.</a:t>
            </a:r>
          </a:p>
          <a:p>
            <a:pPr algn="just"/>
            <a:r>
              <a:rPr lang="en-US" sz="2000" dirty="0"/>
              <a:t>Protecting the database from unauthorized or malicious use is termed data security. Although the dividing line between data integrity &amp; data security is not precise.</a:t>
            </a:r>
          </a:p>
          <a:p>
            <a:pPr algn="just"/>
            <a:r>
              <a:rPr lang="en-US" sz="2000" dirty="0"/>
              <a:t>Integrity is concerned with making certain that operations performed by users are correct and maintain database consistency. Security is concerned with limiting users to performing only those operations that are allocated.</a:t>
            </a:r>
          </a:p>
          <a:p>
            <a:pPr algn="just"/>
            <a:r>
              <a:rPr lang="en-US" sz="2000" dirty="0"/>
              <a:t>The possibility of Hardware or Software failure requires that database recovery procedures be implemented as well. Recovery procedures must be provided to restore databases that have been corrupted by system malfunction to a consistent state.</a:t>
            </a:r>
          </a:p>
          <a:p>
            <a:pPr algn="just"/>
            <a:endParaRPr lang="en-US" sz="2000"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4</a:t>
            </a:fld>
            <a:endParaRPr lang="en-US" dirty="0"/>
          </a:p>
        </p:txBody>
      </p:sp>
    </p:spTree>
    <p:extLst>
      <p:ext uri="{BB962C8B-B14F-4D97-AF65-F5344CB8AC3E}">
        <p14:creationId xmlns:p14="http://schemas.microsoft.com/office/powerpoint/2010/main" val="1040043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Database integrity</a:t>
            </a:r>
            <a:br>
              <a:rPr lang="en-US" dirty="0"/>
            </a:br>
            <a:endParaRPr lang="en-US" dirty="0"/>
          </a:p>
        </p:txBody>
      </p:sp>
      <p:sp>
        <p:nvSpPr>
          <p:cNvPr id="3" name="Content Placeholder 2"/>
          <p:cNvSpPr>
            <a:spLocks noGrp="1"/>
          </p:cNvSpPr>
          <p:nvPr>
            <p:ph idx="1"/>
          </p:nvPr>
        </p:nvSpPr>
        <p:spPr>
          <a:xfrm>
            <a:off x="0" y="1193610"/>
            <a:ext cx="9144000" cy="4830763"/>
          </a:xfrm>
        </p:spPr>
        <p:txBody>
          <a:bodyPr>
            <a:noAutofit/>
          </a:bodyPr>
          <a:lstStyle/>
          <a:p>
            <a:pPr algn="just"/>
            <a:r>
              <a:rPr lang="en-US" sz="2400" dirty="0" smtClean="0"/>
              <a:t>Data </a:t>
            </a:r>
            <a:r>
              <a:rPr lang="en-US" sz="2400" dirty="0"/>
              <a:t>integrity is the accuracy &amp; consistency of data stored in the database system. A condition or restriction that is applied to a particular set of data is commonly termed as integrity control on constrains. Constraints are used to ensure accuracy &amp; consistency of data in a relational </a:t>
            </a:r>
            <a:r>
              <a:rPr lang="en-US" sz="2400" dirty="0" err="1"/>
              <a:t>databse</a:t>
            </a:r>
            <a:r>
              <a:rPr lang="en-US" sz="2400" dirty="0"/>
              <a:t>. Data integrity involves making sure Data is entered consistently, stored consistently in the database. Database normalization can also help provide data consistency since the occurrence of redundant data being reduced in the database.</a:t>
            </a:r>
          </a:p>
          <a:p>
            <a:r>
              <a:rPr lang="en-US" sz="2400" dirty="0"/>
              <a:t>There are 5 types of constraints in SQL. They are</a:t>
            </a:r>
          </a:p>
          <a:p>
            <a:r>
              <a:rPr lang="en-US" sz="2400" dirty="0"/>
              <a:t>-	Not Null constraints</a:t>
            </a:r>
          </a:p>
          <a:p>
            <a:r>
              <a:rPr lang="en-US" sz="2400" dirty="0"/>
              <a:t>-	Primary key constraints</a:t>
            </a:r>
          </a:p>
          <a:p>
            <a:r>
              <a:rPr lang="en-US" sz="2400" dirty="0"/>
              <a:t>-	Unique constraints</a:t>
            </a:r>
          </a:p>
          <a:p>
            <a:r>
              <a:rPr lang="en-US" sz="2400" dirty="0"/>
              <a:t>-	Foreign key constraints</a:t>
            </a:r>
          </a:p>
          <a:p>
            <a:r>
              <a:rPr lang="en-US" sz="2400" dirty="0"/>
              <a:t>-	Check constraints</a:t>
            </a:r>
          </a:p>
          <a:p>
            <a:endParaRPr lang="en-US" sz="2400" dirty="0"/>
          </a:p>
          <a:p>
            <a:endParaRPr lang="en-US" sz="2400"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5</a:t>
            </a:fld>
            <a:endParaRPr lang="en-US" dirty="0"/>
          </a:p>
        </p:txBody>
      </p:sp>
    </p:spTree>
    <p:extLst>
      <p:ext uri="{BB962C8B-B14F-4D97-AF65-F5344CB8AC3E}">
        <p14:creationId xmlns:p14="http://schemas.microsoft.com/office/powerpoint/2010/main" val="4229879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eaLnBrk="1" hangingPunct="1">
              <a:defRPr/>
            </a:pPr>
            <a:r>
              <a:rPr lang="en-US" dirty="0" smtClean="0"/>
              <a:t>System data</a:t>
            </a:r>
          </a:p>
          <a:p>
            <a:pPr lvl="1" eaLnBrk="1" hangingPunct="1">
              <a:defRPr/>
            </a:pPr>
            <a:r>
              <a:rPr lang="en-US" dirty="0" smtClean="0"/>
              <a:t>OS data</a:t>
            </a:r>
          </a:p>
          <a:p>
            <a:pPr lvl="1" eaLnBrk="1" hangingPunct="1">
              <a:defRPr/>
            </a:pPr>
            <a:r>
              <a:rPr lang="en-US" dirty="0" smtClean="0"/>
              <a:t>User data</a:t>
            </a:r>
          </a:p>
          <a:p>
            <a:pPr lvl="1" eaLnBrk="1" hangingPunct="1">
              <a:defRPr/>
            </a:pPr>
            <a:r>
              <a:rPr lang="en-US" dirty="0" smtClean="0"/>
              <a:t>Application data</a:t>
            </a:r>
          </a:p>
          <a:p>
            <a:pPr eaLnBrk="1" hangingPunct="1">
              <a:defRPr/>
            </a:pPr>
            <a:r>
              <a:rPr lang="en-US" dirty="0" smtClean="0"/>
              <a:t>Database </a:t>
            </a:r>
          </a:p>
          <a:p>
            <a:pPr lvl="1" eaLnBrk="1" hangingPunct="1">
              <a:defRPr/>
            </a:pPr>
            <a:r>
              <a:rPr lang="en-US" dirty="0" err="1" smtClean="0"/>
              <a:t>Dat</a:t>
            </a:r>
            <a:endParaRPr lang="en-US" dirty="0" smtClean="0"/>
          </a:p>
          <a:p>
            <a:pPr lvl="1" eaLnBrk="1" hangingPunct="1">
              <a:defRPr/>
            </a:pPr>
            <a:r>
              <a:rPr lang="en-US" dirty="0" smtClean="0"/>
              <a:t>Txt</a:t>
            </a:r>
          </a:p>
          <a:p>
            <a:pPr lvl="1" eaLnBrk="1" hangingPunct="1">
              <a:defRPr/>
            </a:pPr>
            <a:r>
              <a:rPr lang="en-US" dirty="0" smtClean="0"/>
              <a:t>Log</a:t>
            </a:r>
          </a:p>
          <a:p>
            <a:pPr lvl="1" eaLnBrk="1" hangingPunct="1">
              <a:defRPr/>
            </a:pPr>
            <a:r>
              <a:rPr lang="en-US" dirty="0" smtClean="0"/>
              <a:t>…..</a:t>
            </a:r>
          </a:p>
          <a:p>
            <a:pPr lvl="1" eaLnBrk="1" hangingPunct="1">
              <a:defRPr/>
            </a:pPr>
            <a:endParaRPr lang="en-US" dirty="0" smtClean="0"/>
          </a:p>
          <a:p>
            <a:pPr eaLnBrk="1" hangingPunct="1">
              <a:defRPr/>
            </a:pPr>
            <a:r>
              <a:rPr lang="en-US" dirty="0" smtClean="0"/>
              <a:t>Database Management Systems</a:t>
            </a:r>
            <a:endParaRPr lang="en-US" dirty="0"/>
          </a:p>
        </p:txBody>
      </p:sp>
      <p:sp>
        <p:nvSpPr>
          <p:cNvPr id="5123" name="Title 1"/>
          <p:cNvSpPr>
            <a:spLocks noGrp="1"/>
          </p:cNvSpPr>
          <p:nvPr>
            <p:ph type="title"/>
          </p:nvPr>
        </p:nvSpPr>
        <p:spPr/>
        <p:txBody>
          <a:bodyPr/>
          <a:lstStyle/>
          <a:p>
            <a:pPr eaLnBrk="1" hangingPunct="1"/>
            <a:r>
              <a:rPr lang="en-US" smtClean="0"/>
              <a:t>System Data</a:t>
            </a:r>
          </a:p>
        </p:txBody>
      </p:sp>
    </p:spTree>
    <p:extLst>
      <p:ext uri="{BB962C8B-B14F-4D97-AF65-F5344CB8AC3E}">
        <p14:creationId xmlns:p14="http://schemas.microsoft.com/office/powerpoint/2010/main" val="35501829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p:cNvSpPr>
            <a:spLocks noGrp="1"/>
          </p:cNvSpPr>
          <p:nvPr>
            <p:ph idx="1"/>
          </p:nvPr>
        </p:nvSpPr>
        <p:spPr/>
        <p:txBody>
          <a:bodyPr/>
          <a:lstStyle/>
          <a:p>
            <a:pPr eaLnBrk="1" hangingPunct="1"/>
            <a:r>
              <a:rPr lang="en-US" smtClean="0"/>
              <a:t>Records</a:t>
            </a:r>
          </a:p>
          <a:p>
            <a:pPr eaLnBrk="1" hangingPunct="1"/>
            <a:r>
              <a:rPr lang="en-US" smtClean="0"/>
              <a:t>Fields,  Column</a:t>
            </a:r>
          </a:p>
          <a:p>
            <a:pPr eaLnBrk="1" hangingPunct="1"/>
            <a:r>
              <a:rPr lang="en-US" smtClean="0"/>
              <a:t>Attribute </a:t>
            </a:r>
          </a:p>
          <a:p>
            <a:pPr eaLnBrk="1" hangingPunct="1"/>
            <a:r>
              <a:rPr lang="en-US" smtClean="0"/>
              <a:t>Elements</a:t>
            </a:r>
          </a:p>
          <a:p>
            <a:pPr eaLnBrk="1" hangingPunct="1"/>
            <a:endParaRPr lang="en-US" smtClean="0"/>
          </a:p>
        </p:txBody>
      </p:sp>
      <p:sp>
        <p:nvSpPr>
          <p:cNvPr id="6147" name="Title 1"/>
          <p:cNvSpPr>
            <a:spLocks noGrp="1"/>
          </p:cNvSpPr>
          <p:nvPr>
            <p:ph type="title"/>
          </p:nvPr>
        </p:nvSpPr>
        <p:spPr/>
        <p:txBody>
          <a:bodyPr/>
          <a:lstStyle/>
          <a:p>
            <a:pPr eaLnBrk="1" hangingPunct="1"/>
            <a:r>
              <a:rPr lang="en-US" smtClean="0"/>
              <a:t>Database Components</a:t>
            </a:r>
          </a:p>
        </p:txBody>
      </p:sp>
      <p:graphicFrame>
        <p:nvGraphicFramePr>
          <p:cNvPr id="4" name="Table 3"/>
          <p:cNvGraphicFramePr>
            <a:graphicFrameLocks noGrp="1"/>
          </p:cNvGraphicFramePr>
          <p:nvPr/>
        </p:nvGraphicFramePr>
        <p:xfrm>
          <a:off x="2667000" y="4724400"/>
          <a:ext cx="5399089" cy="1208087"/>
        </p:xfrm>
        <a:graphic>
          <a:graphicData uri="http://schemas.openxmlformats.org/drawingml/2006/table">
            <a:tbl>
              <a:tblPr/>
              <a:tblGrid>
                <a:gridCol w="1167783"/>
                <a:gridCol w="1575579"/>
                <a:gridCol w="1066863"/>
                <a:gridCol w="522001"/>
                <a:gridCol w="1066863"/>
              </a:tblGrid>
              <a:tr h="304930">
                <a:tc>
                  <a:txBody>
                    <a:bodyPr/>
                    <a:lstStyle/>
                    <a:p>
                      <a:pPr algn="l" fontAlgn="b"/>
                      <a:r>
                        <a:rPr lang="en-US" sz="1800" b="1" i="0" u="none" strike="noStrike" dirty="0" smtClean="0">
                          <a:solidFill>
                            <a:schemeClr val="accent5">
                              <a:lumMod val="75000"/>
                            </a:schemeClr>
                          </a:solidFill>
                          <a:latin typeface="Calibri"/>
                        </a:rPr>
                        <a:t>Name</a:t>
                      </a:r>
                      <a:endParaRPr lang="en-US" sz="1800" b="1" i="0" u="none" strike="noStrike" dirty="0">
                        <a:solidFill>
                          <a:schemeClr val="accent5">
                            <a:lumMod val="75000"/>
                          </a:schemeClr>
                        </a:solidFill>
                        <a:latin typeface="Calibri"/>
                      </a:endParaRPr>
                    </a:p>
                  </a:txBody>
                  <a:tcPr marL="9526" marR="9526" marT="9529" marB="0" anchor="b">
                    <a:lnL>
                      <a:noFill/>
                    </a:lnL>
                    <a:lnR>
                      <a:noFill/>
                    </a:lnR>
                    <a:lnT>
                      <a:noFill/>
                    </a:lnT>
                    <a:lnB>
                      <a:noFill/>
                    </a:lnB>
                    <a:solidFill>
                      <a:srgbClr val="DBE5F1"/>
                    </a:solidFill>
                  </a:tcPr>
                </a:tc>
                <a:tc>
                  <a:txBody>
                    <a:bodyPr/>
                    <a:lstStyle/>
                    <a:p>
                      <a:pPr algn="l" fontAlgn="b"/>
                      <a:r>
                        <a:rPr lang="en-US" sz="1800" b="1" i="0" u="none" strike="noStrike" dirty="0" smtClean="0">
                          <a:solidFill>
                            <a:schemeClr val="accent5">
                              <a:lumMod val="75000"/>
                            </a:schemeClr>
                          </a:solidFill>
                          <a:latin typeface="Calibri"/>
                        </a:rPr>
                        <a:t>Address</a:t>
                      </a:r>
                      <a:endParaRPr lang="en-US" sz="1800" b="1" i="0" u="none" strike="noStrike" dirty="0">
                        <a:solidFill>
                          <a:schemeClr val="accent5">
                            <a:lumMod val="75000"/>
                          </a:schemeClr>
                        </a:solidFill>
                        <a:latin typeface="Calibri"/>
                      </a:endParaRPr>
                    </a:p>
                  </a:txBody>
                  <a:tcPr marL="9526" marR="9526" marT="9529" marB="0" anchor="b">
                    <a:lnL>
                      <a:noFill/>
                    </a:lnL>
                    <a:lnR>
                      <a:noFill/>
                    </a:lnR>
                    <a:lnT>
                      <a:noFill/>
                    </a:lnT>
                    <a:lnB>
                      <a:noFill/>
                    </a:lnB>
                    <a:solidFill>
                      <a:srgbClr val="DBE5F1"/>
                    </a:solidFill>
                  </a:tcPr>
                </a:tc>
                <a:tc>
                  <a:txBody>
                    <a:bodyPr/>
                    <a:lstStyle/>
                    <a:p>
                      <a:pPr algn="l" fontAlgn="b"/>
                      <a:r>
                        <a:rPr lang="en-US" sz="1800" b="1" i="0" u="none" strike="noStrike" dirty="0" smtClean="0">
                          <a:solidFill>
                            <a:schemeClr val="accent5">
                              <a:lumMod val="75000"/>
                            </a:schemeClr>
                          </a:solidFill>
                          <a:latin typeface="Calibri"/>
                        </a:rPr>
                        <a:t>Location</a:t>
                      </a:r>
                      <a:endParaRPr lang="en-US" sz="1800" b="1" i="0" u="none" strike="noStrike" dirty="0">
                        <a:solidFill>
                          <a:schemeClr val="accent5">
                            <a:lumMod val="75000"/>
                          </a:schemeClr>
                        </a:solidFill>
                        <a:latin typeface="Calibri"/>
                      </a:endParaRPr>
                    </a:p>
                  </a:txBody>
                  <a:tcPr marL="9526" marR="9526" marT="9529" marB="0" anchor="b">
                    <a:lnL>
                      <a:noFill/>
                    </a:lnL>
                    <a:lnR>
                      <a:noFill/>
                    </a:lnR>
                    <a:lnT>
                      <a:noFill/>
                    </a:lnT>
                    <a:lnB>
                      <a:noFill/>
                    </a:lnB>
                    <a:solidFill>
                      <a:srgbClr val="DBE5F1"/>
                    </a:solidFill>
                  </a:tcPr>
                </a:tc>
                <a:tc>
                  <a:txBody>
                    <a:bodyPr/>
                    <a:lstStyle/>
                    <a:p>
                      <a:pPr algn="l" fontAlgn="b"/>
                      <a:r>
                        <a:rPr lang="en-US" sz="1800" b="1" i="0" u="none" strike="noStrike" dirty="0" smtClean="0">
                          <a:solidFill>
                            <a:schemeClr val="accent5">
                              <a:lumMod val="75000"/>
                            </a:schemeClr>
                          </a:solidFill>
                          <a:latin typeface="Calibri"/>
                        </a:rPr>
                        <a:t>code</a:t>
                      </a:r>
                      <a:endParaRPr lang="en-US" sz="1800" b="1" i="0" u="none" strike="noStrike" dirty="0">
                        <a:solidFill>
                          <a:schemeClr val="accent5">
                            <a:lumMod val="75000"/>
                          </a:schemeClr>
                        </a:solidFill>
                        <a:latin typeface="Calibri"/>
                      </a:endParaRPr>
                    </a:p>
                  </a:txBody>
                  <a:tcPr marL="9526" marR="9526" marT="9529" marB="0" anchor="b">
                    <a:lnL>
                      <a:noFill/>
                    </a:lnL>
                    <a:lnR>
                      <a:noFill/>
                    </a:lnR>
                    <a:lnT>
                      <a:noFill/>
                    </a:lnT>
                    <a:lnB>
                      <a:noFill/>
                    </a:lnB>
                    <a:solidFill>
                      <a:srgbClr val="DBE5F1"/>
                    </a:solidFill>
                  </a:tcPr>
                </a:tc>
                <a:tc>
                  <a:txBody>
                    <a:bodyPr/>
                    <a:lstStyle/>
                    <a:p>
                      <a:pPr algn="r" fontAlgn="b"/>
                      <a:r>
                        <a:rPr lang="en-US" sz="1800" b="1" i="0" u="none" strike="noStrike" dirty="0" smtClean="0">
                          <a:solidFill>
                            <a:schemeClr val="accent5">
                              <a:lumMod val="75000"/>
                            </a:schemeClr>
                          </a:solidFill>
                          <a:latin typeface="Calibri"/>
                        </a:rPr>
                        <a:t>Reference</a:t>
                      </a:r>
                      <a:endParaRPr lang="en-US" sz="1800" b="1" i="0" u="none" strike="noStrike" dirty="0">
                        <a:solidFill>
                          <a:schemeClr val="accent5">
                            <a:lumMod val="75000"/>
                          </a:schemeClr>
                        </a:solidFill>
                        <a:latin typeface="Calibri"/>
                      </a:endParaRPr>
                    </a:p>
                  </a:txBody>
                  <a:tcPr marL="9526" marR="9526" marT="9529" marB="0" anchor="b">
                    <a:lnL>
                      <a:noFill/>
                    </a:lnL>
                    <a:lnR>
                      <a:noFill/>
                    </a:lnR>
                    <a:lnT>
                      <a:noFill/>
                    </a:lnT>
                    <a:lnB>
                      <a:noFill/>
                    </a:lnB>
                    <a:solidFill>
                      <a:srgbClr val="DBE5F1"/>
                    </a:solidFill>
                  </a:tcPr>
                </a:tc>
              </a:tr>
              <a:tr h="304930">
                <a:tc>
                  <a:txBody>
                    <a:bodyPr/>
                    <a:lstStyle/>
                    <a:p>
                      <a:pPr algn="l" fontAlgn="b"/>
                      <a:r>
                        <a:rPr lang="en-US" sz="1800" b="0" i="0" u="none" strike="noStrike" dirty="0">
                          <a:solidFill>
                            <a:srgbClr val="376091"/>
                          </a:solidFill>
                          <a:latin typeface="Calibri"/>
                        </a:rPr>
                        <a:t>ADAMS</a:t>
                      </a:r>
                    </a:p>
                  </a:txBody>
                  <a:tcPr marL="9526" marR="9526" marT="9529" marB="0" anchor="b">
                    <a:lnL>
                      <a:noFill/>
                    </a:lnL>
                    <a:lnR>
                      <a:noFill/>
                    </a:lnR>
                    <a:lnT>
                      <a:noFill/>
                    </a:lnT>
                    <a:lnB>
                      <a:noFill/>
                    </a:lnB>
                    <a:solidFill>
                      <a:srgbClr val="DBE5F1"/>
                    </a:solidFill>
                  </a:tcPr>
                </a:tc>
                <a:tc>
                  <a:txBody>
                    <a:bodyPr/>
                    <a:lstStyle/>
                    <a:p>
                      <a:pPr algn="l" fontAlgn="b"/>
                      <a:r>
                        <a:rPr lang="en-US" sz="1800" b="0" i="0" u="none" strike="noStrike" dirty="0">
                          <a:solidFill>
                            <a:srgbClr val="376091"/>
                          </a:solidFill>
                          <a:latin typeface="Calibri"/>
                        </a:rPr>
                        <a:t>212 Market St.</a:t>
                      </a:r>
                    </a:p>
                  </a:txBody>
                  <a:tcPr marL="9526" marR="9526" marT="9529" marB="0" anchor="b">
                    <a:lnL>
                      <a:noFill/>
                    </a:lnL>
                    <a:lnR>
                      <a:noFill/>
                    </a:lnR>
                    <a:lnT>
                      <a:noFill/>
                    </a:lnT>
                    <a:lnB>
                      <a:noFill/>
                    </a:lnB>
                    <a:solidFill>
                      <a:srgbClr val="DBE5F1"/>
                    </a:solidFill>
                  </a:tcPr>
                </a:tc>
                <a:tc>
                  <a:txBody>
                    <a:bodyPr/>
                    <a:lstStyle/>
                    <a:p>
                      <a:pPr algn="l" fontAlgn="b"/>
                      <a:r>
                        <a:rPr lang="en-US" sz="1800" b="0" i="0" u="none" strike="noStrike" dirty="0">
                          <a:solidFill>
                            <a:srgbClr val="376091"/>
                          </a:solidFill>
                          <a:latin typeface="Calibri"/>
                        </a:rPr>
                        <a:t>Columbus</a:t>
                      </a:r>
                    </a:p>
                  </a:txBody>
                  <a:tcPr marL="9526" marR="9526" marT="9529" marB="0" anchor="b">
                    <a:lnL>
                      <a:noFill/>
                    </a:lnL>
                    <a:lnR>
                      <a:noFill/>
                    </a:lnR>
                    <a:lnT>
                      <a:noFill/>
                    </a:lnT>
                    <a:lnB>
                      <a:noFill/>
                    </a:lnB>
                    <a:solidFill>
                      <a:srgbClr val="DBE5F1"/>
                    </a:solidFill>
                  </a:tcPr>
                </a:tc>
                <a:tc>
                  <a:txBody>
                    <a:bodyPr/>
                    <a:lstStyle/>
                    <a:p>
                      <a:pPr algn="l" fontAlgn="b"/>
                      <a:r>
                        <a:rPr lang="en-US" sz="1800" b="0" i="0" u="none" strike="noStrike">
                          <a:solidFill>
                            <a:srgbClr val="376091"/>
                          </a:solidFill>
                          <a:latin typeface="Calibri"/>
                        </a:rPr>
                        <a:t>OH</a:t>
                      </a:r>
                    </a:p>
                  </a:txBody>
                  <a:tcPr marL="9526" marR="9526" marT="9529" marB="0" anchor="b">
                    <a:lnL>
                      <a:noFill/>
                    </a:lnL>
                    <a:lnR>
                      <a:noFill/>
                    </a:lnR>
                    <a:lnT>
                      <a:noFill/>
                    </a:lnT>
                    <a:lnB>
                      <a:noFill/>
                    </a:lnB>
                    <a:solidFill>
                      <a:srgbClr val="DBE5F1"/>
                    </a:solidFill>
                  </a:tcPr>
                </a:tc>
                <a:tc>
                  <a:txBody>
                    <a:bodyPr/>
                    <a:lstStyle/>
                    <a:p>
                      <a:pPr algn="r" fontAlgn="b"/>
                      <a:r>
                        <a:rPr lang="en-US" sz="1800" b="0" i="0" u="none" strike="noStrike" dirty="0">
                          <a:solidFill>
                            <a:srgbClr val="376091"/>
                          </a:solidFill>
                          <a:latin typeface="Calibri"/>
                        </a:rPr>
                        <a:t>43210</a:t>
                      </a:r>
                    </a:p>
                  </a:txBody>
                  <a:tcPr marL="9526" marR="9526" marT="9529" marB="0" anchor="b">
                    <a:lnL>
                      <a:noFill/>
                    </a:lnL>
                    <a:lnR>
                      <a:noFill/>
                    </a:lnR>
                    <a:lnT>
                      <a:noFill/>
                    </a:lnT>
                    <a:lnB>
                      <a:noFill/>
                    </a:lnB>
                    <a:solidFill>
                      <a:srgbClr val="DBE5F1"/>
                    </a:solidFill>
                  </a:tcPr>
                </a:tc>
              </a:tr>
              <a:tr h="304930">
                <a:tc>
                  <a:txBody>
                    <a:bodyPr/>
                    <a:lstStyle/>
                    <a:p>
                      <a:pPr algn="l" fontAlgn="b"/>
                      <a:r>
                        <a:rPr lang="en-US" sz="1800" b="0" i="0" u="none" strike="noStrike">
                          <a:solidFill>
                            <a:srgbClr val="376091"/>
                          </a:solidFill>
                          <a:latin typeface="Calibri"/>
                        </a:rPr>
                        <a:t>BENCHLY</a:t>
                      </a:r>
                    </a:p>
                  </a:txBody>
                  <a:tcPr marL="9526" marR="9526" marT="9529" marB="0" anchor="b">
                    <a:lnL>
                      <a:noFill/>
                    </a:lnL>
                    <a:lnR>
                      <a:noFill/>
                    </a:lnR>
                    <a:lnT>
                      <a:noFill/>
                    </a:lnT>
                    <a:lnB>
                      <a:noFill/>
                    </a:lnB>
                  </a:tcPr>
                </a:tc>
                <a:tc>
                  <a:txBody>
                    <a:bodyPr/>
                    <a:lstStyle/>
                    <a:p>
                      <a:pPr algn="l" fontAlgn="b"/>
                      <a:r>
                        <a:rPr lang="en-US" sz="1800" b="0" i="0" u="none" strike="noStrike" dirty="0">
                          <a:solidFill>
                            <a:srgbClr val="376091"/>
                          </a:solidFill>
                          <a:latin typeface="Calibri"/>
                        </a:rPr>
                        <a:t>501 Union St.</a:t>
                      </a:r>
                    </a:p>
                  </a:txBody>
                  <a:tcPr marL="9526" marR="9526" marT="9529" marB="0" anchor="b">
                    <a:lnL>
                      <a:noFill/>
                    </a:lnL>
                    <a:lnR>
                      <a:noFill/>
                    </a:lnR>
                    <a:lnT>
                      <a:noFill/>
                    </a:lnT>
                    <a:lnB>
                      <a:noFill/>
                    </a:lnB>
                  </a:tcPr>
                </a:tc>
                <a:tc>
                  <a:txBody>
                    <a:bodyPr/>
                    <a:lstStyle/>
                    <a:p>
                      <a:pPr algn="l" fontAlgn="b"/>
                      <a:r>
                        <a:rPr lang="en-US" sz="1800" b="0" i="0" u="none" strike="noStrike" dirty="0">
                          <a:solidFill>
                            <a:srgbClr val="376091"/>
                          </a:solidFill>
                          <a:latin typeface="Calibri"/>
                        </a:rPr>
                        <a:t>Chicago</a:t>
                      </a:r>
                    </a:p>
                  </a:txBody>
                  <a:tcPr marL="9526" marR="9526" marT="9529" marB="0" anchor="b">
                    <a:lnL>
                      <a:noFill/>
                    </a:lnL>
                    <a:lnR>
                      <a:noFill/>
                    </a:lnR>
                    <a:lnT>
                      <a:noFill/>
                    </a:lnT>
                    <a:lnB>
                      <a:noFill/>
                    </a:lnB>
                  </a:tcPr>
                </a:tc>
                <a:tc>
                  <a:txBody>
                    <a:bodyPr/>
                    <a:lstStyle/>
                    <a:p>
                      <a:pPr algn="l" fontAlgn="b"/>
                      <a:r>
                        <a:rPr lang="en-US" sz="1800" b="0" i="0" u="none" strike="noStrike" dirty="0">
                          <a:solidFill>
                            <a:srgbClr val="376091"/>
                          </a:solidFill>
                          <a:latin typeface="Calibri"/>
                        </a:rPr>
                        <a:t>IL</a:t>
                      </a:r>
                    </a:p>
                  </a:txBody>
                  <a:tcPr marL="9526" marR="9526" marT="9529" marB="0" anchor="b">
                    <a:lnL>
                      <a:noFill/>
                    </a:lnL>
                    <a:lnR>
                      <a:noFill/>
                    </a:lnR>
                    <a:lnT>
                      <a:noFill/>
                    </a:lnT>
                    <a:lnB>
                      <a:noFill/>
                    </a:lnB>
                  </a:tcPr>
                </a:tc>
                <a:tc>
                  <a:txBody>
                    <a:bodyPr/>
                    <a:lstStyle/>
                    <a:p>
                      <a:pPr algn="r" fontAlgn="b"/>
                      <a:r>
                        <a:rPr lang="en-US" sz="1800" b="0" i="0" u="none" strike="noStrike" dirty="0">
                          <a:solidFill>
                            <a:srgbClr val="376091"/>
                          </a:solidFill>
                          <a:latin typeface="Calibri"/>
                        </a:rPr>
                        <a:t>60603</a:t>
                      </a:r>
                    </a:p>
                  </a:txBody>
                  <a:tcPr marL="9526" marR="9526" marT="9529" marB="0" anchor="b">
                    <a:lnL>
                      <a:noFill/>
                    </a:lnL>
                    <a:lnR>
                      <a:noFill/>
                    </a:lnR>
                    <a:lnT>
                      <a:noFill/>
                    </a:lnT>
                    <a:lnB>
                      <a:noFill/>
                    </a:lnB>
                  </a:tcPr>
                </a:tc>
              </a:tr>
              <a:tr h="293297">
                <a:tc>
                  <a:txBody>
                    <a:bodyPr/>
                    <a:lstStyle/>
                    <a:p>
                      <a:pPr algn="l" fontAlgn="b"/>
                      <a:r>
                        <a:rPr lang="en-US" sz="1800" b="0" i="0" u="none" strike="noStrike" dirty="0">
                          <a:solidFill>
                            <a:srgbClr val="376091"/>
                          </a:solidFill>
                          <a:latin typeface="Calibri"/>
                        </a:rPr>
                        <a:t>CARTER</a:t>
                      </a:r>
                    </a:p>
                  </a:txBody>
                  <a:tcPr marL="9526" marR="9526" marT="9529" marB="0" anchor="b">
                    <a:lnL>
                      <a:noFill/>
                    </a:lnL>
                    <a:lnR>
                      <a:noFill/>
                    </a:lnR>
                    <a:lnT>
                      <a:noFill/>
                    </a:lnT>
                    <a:lnB w="6350" cap="flat" cmpd="sng" algn="ctr">
                      <a:solidFill>
                        <a:srgbClr val="4F81BD"/>
                      </a:solidFill>
                      <a:prstDash val="solid"/>
                      <a:round/>
                      <a:headEnd type="none" w="med" len="med"/>
                      <a:tailEnd type="none" w="med" len="med"/>
                    </a:lnB>
                    <a:solidFill>
                      <a:srgbClr val="DBE5F1"/>
                    </a:solidFill>
                  </a:tcPr>
                </a:tc>
                <a:tc>
                  <a:txBody>
                    <a:bodyPr/>
                    <a:lstStyle/>
                    <a:p>
                      <a:pPr algn="l" fontAlgn="b"/>
                      <a:r>
                        <a:rPr lang="en-US" sz="1800" b="0" i="0" u="none" strike="noStrike" dirty="0">
                          <a:solidFill>
                            <a:srgbClr val="376091"/>
                          </a:solidFill>
                          <a:latin typeface="Calibri"/>
                        </a:rPr>
                        <a:t>411 Elm St.</a:t>
                      </a:r>
                    </a:p>
                  </a:txBody>
                  <a:tcPr marL="9526" marR="9526" marT="9529" marB="0" anchor="b">
                    <a:lnL>
                      <a:noFill/>
                    </a:lnL>
                    <a:lnR>
                      <a:noFill/>
                    </a:lnR>
                    <a:lnT>
                      <a:noFill/>
                    </a:lnT>
                    <a:lnB w="6350" cap="flat" cmpd="sng" algn="ctr">
                      <a:solidFill>
                        <a:srgbClr val="4F81BD"/>
                      </a:solidFill>
                      <a:prstDash val="solid"/>
                      <a:round/>
                      <a:headEnd type="none" w="med" len="med"/>
                      <a:tailEnd type="none" w="med" len="med"/>
                    </a:lnB>
                    <a:solidFill>
                      <a:srgbClr val="DBE5F1"/>
                    </a:solidFill>
                  </a:tcPr>
                </a:tc>
                <a:tc>
                  <a:txBody>
                    <a:bodyPr/>
                    <a:lstStyle/>
                    <a:p>
                      <a:pPr algn="l" fontAlgn="b"/>
                      <a:r>
                        <a:rPr lang="en-US" sz="1800" b="0" i="0" u="none" strike="noStrike">
                          <a:solidFill>
                            <a:srgbClr val="376091"/>
                          </a:solidFill>
                          <a:latin typeface="Calibri"/>
                        </a:rPr>
                        <a:t>Columbus</a:t>
                      </a:r>
                    </a:p>
                  </a:txBody>
                  <a:tcPr marL="9526" marR="9526" marT="9529" marB="0" anchor="b">
                    <a:lnL>
                      <a:noFill/>
                    </a:lnL>
                    <a:lnR>
                      <a:noFill/>
                    </a:lnR>
                    <a:lnT>
                      <a:noFill/>
                    </a:lnT>
                    <a:lnB w="6350" cap="flat" cmpd="sng" algn="ctr">
                      <a:solidFill>
                        <a:srgbClr val="4F81BD"/>
                      </a:solidFill>
                      <a:prstDash val="solid"/>
                      <a:round/>
                      <a:headEnd type="none" w="med" len="med"/>
                      <a:tailEnd type="none" w="med" len="med"/>
                    </a:lnB>
                    <a:solidFill>
                      <a:srgbClr val="DBE5F1"/>
                    </a:solidFill>
                  </a:tcPr>
                </a:tc>
                <a:tc>
                  <a:txBody>
                    <a:bodyPr/>
                    <a:lstStyle/>
                    <a:p>
                      <a:pPr algn="l" fontAlgn="b"/>
                      <a:r>
                        <a:rPr lang="en-US" sz="1800" b="0" i="0" u="none" strike="noStrike">
                          <a:solidFill>
                            <a:srgbClr val="376091"/>
                          </a:solidFill>
                          <a:latin typeface="Calibri"/>
                        </a:rPr>
                        <a:t>OH</a:t>
                      </a:r>
                    </a:p>
                  </a:txBody>
                  <a:tcPr marL="9526" marR="9526" marT="9529" marB="0" anchor="b">
                    <a:lnL>
                      <a:noFill/>
                    </a:lnL>
                    <a:lnR>
                      <a:noFill/>
                    </a:lnR>
                    <a:lnT>
                      <a:noFill/>
                    </a:lnT>
                    <a:lnB w="6350" cap="flat" cmpd="sng" algn="ctr">
                      <a:solidFill>
                        <a:srgbClr val="4F81BD"/>
                      </a:solidFill>
                      <a:prstDash val="solid"/>
                      <a:round/>
                      <a:headEnd type="none" w="med" len="med"/>
                      <a:tailEnd type="none" w="med" len="med"/>
                    </a:lnB>
                    <a:solidFill>
                      <a:srgbClr val="DBE5F1"/>
                    </a:solidFill>
                  </a:tcPr>
                </a:tc>
                <a:tc>
                  <a:txBody>
                    <a:bodyPr/>
                    <a:lstStyle/>
                    <a:p>
                      <a:pPr algn="r" fontAlgn="b"/>
                      <a:r>
                        <a:rPr lang="en-US" sz="1800" b="0" i="0" u="none" strike="noStrike" dirty="0">
                          <a:solidFill>
                            <a:srgbClr val="376091"/>
                          </a:solidFill>
                          <a:latin typeface="Calibri"/>
                        </a:rPr>
                        <a:t>43210</a:t>
                      </a:r>
                    </a:p>
                  </a:txBody>
                  <a:tcPr marL="9526" marR="9526" marT="9529" marB="0" anchor="b">
                    <a:lnL>
                      <a:noFill/>
                    </a:lnL>
                    <a:lnR>
                      <a:noFill/>
                    </a:lnR>
                    <a:lnT>
                      <a:noFill/>
                    </a:lnT>
                    <a:lnB w="6350" cap="flat" cmpd="sng" algn="ctr">
                      <a:solidFill>
                        <a:srgbClr val="4F81BD"/>
                      </a:solidFill>
                      <a:prstDash val="solid"/>
                      <a:round/>
                      <a:headEnd type="none" w="med" len="med"/>
                      <a:tailEnd type="none" w="med" len="med"/>
                    </a:lnB>
                    <a:solidFill>
                      <a:srgbClr val="DBE5F1"/>
                    </a:solidFill>
                  </a:tcPr>
                </a:tc>
              </a:tr>
            </a:tbl>
          </a:graphicData>
        </a:graphic>
      </p:graphicFrame>
    </p:spTree>
    <p:extLst>
      <p:ext uri="{BB962C8B-B14F-4D97-AF65-F5344CB8AC3E}">
        <p14:creationId xmlns:p14="http://schemas.microsoft.com/office/powerpoint/2010/main" val="42142921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1"/>
          <p:cNvSpPr>
            <a:spLocks noGrp="1"/>
          </p:cNvSpPr>
          <p:nvPr>
            <p:ph idx="1"/>
          </p:nvPr>
        </p:nvSpPr>
        <p:spPr/>
        <p:txBody>
          <a:bodyPr/>
          <a:lstStyle/>
          <a:p>
            <a:pPr eaLnBrk="1" hangingPunct="1"/>
            <a:r>
              <a:rPr lang="en-US" smtClean="0"/>
              <a:t>Logical structure –</a:t>
            </a:r>
            <a:r>
              <a:rPr lang="en-US" b="1" smtClean="0"/>
              <a:t>Schema</a:t>
            </a:r>
          </a:p>
          <a:p>
            <a:pPr lvl="1" eaLnBrk="1" hangingPunct="1"/>
            <a:r>
              <a:rPr lang="en-US" smtClean="0"/>
              <a:t>Part of database – </a:t>
            </a:r>
            <a:r>
              <a:rPr lang="en-US" b="1" smtClean="0"/>
              <a:t>subschema</a:t>
            </a:r>
          </a:p>
          <a:p>
            <a:pPr lvl="1" eaLnBrk="1" hangingPunct="1"/>
            <a:endParaRPr lang="en-US" b="1" smtClean="0"/>
          </a:p>
          <a:p>
            <a:pPr eaLnBrk="1" hangingPunct="1"/>
            <a:endParaRPr lang="en-US" b="1" smtClean="0"/>
          </a:p>
          <a:p>
            <a:pPr lvl="1" eaLnBrk="1" hangingPunct="1"/>
            <a:endParaRPr lang="en-US" b="1" smtClean="0"/>
          </a:p>
          <a:p>
            <a:pPr lvl="1" eaLnBrk="1" hangingPunct="1"/>
            <a:endParaRPr lang="en-US" smtClean="0"/>
          </a:p>
        </p:txBody>
      </p:sp>
      <p:sp>
        <p:nvSpPr>
          <p:cNvPr id="7171" name="Title 2"/>
          <p:cNvSpPr>
            <a:spLocks noGrp="1"/>
          </p:cNvSpPr>
          <p:nvPr>
            <p:ph type="title"/>
          </p:nvPr>
        </p:nvSpPr>
        <p:spPr/>
        <p:txBody>
          <a:bodyPr/>
          <a:lstStyle/>
          <a:p>
            <a:pPr eaLnBrk="1" hangingPunct="1"/>
            <a:r>
              <a:rPr lang="en-US" smtClean="0"/>
              <a:t>Structure</a:t>
            </a:r>
          </a:p>
        </p:txBody>
      </p:sp>
    </p:spTree>
    <p:extLst>
      <p:ext uri="{BB962C8B-B14F-4D97-AF65-F5344CB8AC3E}">
        <p14:creationId xmlns:p14="http://schemas.microsoft.com/office/powerpoint/2010/main" val="14967856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8" descr="Fig06-01_rev.jpg                                               0020AF07Macintosh HD                   BBA76DE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3675" y="3429000"/>
            <a:ext cx="514032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Content Placeholder 3"/>
          <p:cNvGraphicFramePr>
            <a:graphicFrameLocks noGrp="1"/>
          </p:cNvGraphicFramePr>
          <p:nvPr>
            <p:ph idx="1"/>
          </p:nvPr>
        </p:nvGraphicFramePr>
        <p:xfrm>
          <a:off x="609600" y="1246188"/>
          <a:ext cx="5694365" cy="2280258"/>
        </p:xfrm>
        <a:graphic>
          <a:graphicData uri="http://schemas.openxmlformats.org/drawingml/2006/table">
            <a:tbl>
              <a:tblPr/>
              <a:tblGrid>
                <a:gridCol w="810504"/>
                <a:gridCol w="761990"/>
                <a:gridCol w="1275064"/>
                <a:gridCol w="887402"/>
                <a:gridCol w="653135"/>
                <a:gridCol w="653135"/>
                <a:gridCol w="653135"/>
              </a:tblGrid>
              <a:tr h="253294">
                <a:tc>
                  <a:txBody>
                    <a:bodyPr/>
                    <a:lstStyle/>
                    <a:p>
                      <a:pPr algn="l" fontAlgn="b"/>
                      <a:r>
                        <a:rPr lang="en-US" sz="1600" b="0" i="0" u="none" strike="noStrike" dirty="0">
                          <a:solidFill>
                            <a:srgbClr val="000000"/>
                          </a:solidFill>
                          <a:latin typeface="Calibri"/>
                        </a:rPr>
                        <a:t>Name</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600" b="0" i="0" u="none" strike="noStrike">
                          <a:solidFill>
                            <a:srgbClr val="000000"/>
                          </a:solidFill>
                          <a:latin typeface="Calibri"/>
                        </a:rPr>
                        <a:t>First</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600" b="0" i="0" u="none" strike="noStrike">
                          <a:solidFill>
                            <a:srgbClr val="000000"/>
                          </a:solidFill>
                          <a:latin typeface="Calibri"/>
                        </a:rPr>
                        <a:t>Address</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600" b="0" i="0" u="none" strike="noStrike">
                          <a:solidFill>
                            <a:srgbClr val="000000"/>
                          </a:solidFill>
                          <a:latin typeface="Calibri"/>
                        </a:rPr>
                        <a:t>City</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600" b="0" i="0" u="none" strike="noStrike">
                          <a:solidFill>
                            <a:srgbClr val="000000"/>
                          </a:solidFill>
                          <a:latin typeface="Calibri"/>
                        </a:rPr>
                        <a:t>State</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600" b="0" i="0" u="none" strike="noStrike">
                          <a:solidFill>
                            <a:srgbClr val="000000"/>
                          </a:solidFill>
                          <a:latin typeface="Calibri"/>
                        </a:rPr>
                        <a:t>Zip</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600" b="0" i="0" u="none" strike="noStrike">
                          <a:solidFill>
                            <a:srgbClr val="000000"/>
                          </a:solidFill>
                          <a:latin typeface="Calibri"/>
                        </a:rPr>
                        <a:t>Airport</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r>
              <a:tr h="253294">
                <a:tc>
                  <a:txBody>
                    <a:bodyPr/>
                    <a:lstStyle/>
                    <a:p>
                      <a:pPr algn="l" fontAlgn="b"/>
                      <a:r>
                        <a:rPr lang="en-US" sz="1600" b="0" i="0" u="none" strike="noStrike" dirty="0">
                          <a:solidFill>
                            <a:srgbClr val="000000"/>
                          </a:solidFill>
                          <a:latin typeface="Calibri"/>
                        </a:rPr>
                        <a:t>ADAMS</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dirty="0">
                          <a:solidFill>
                            <a:srgbClr val="000000"/>
                          </a:solidFill>
                          <a:latin typeface="Calibri"/>
                        </a:rPr>
                        <a:t>Charles</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212 Market St.</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Columbus</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OH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latin typeface="Calibri"/>
                        </a:rPr>
                        <a:t>43210</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CMH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3294">
                <a:tc>
                  <a:txBody>
                    <a:bodyPr/>
                    <a:lstStyle/>
                    <a:p>
                      <a:pPr algn="l" fontAlgn="b"/>
                      <a:r>
                        <a:rPr lang="en-US" sz="1600" b="0" i="0" u="none" strike="noStrike">
                          <a:solidFill>
                            <a:srgbClr val="000000"/>
                          </a:solidFill>
                          <a:latin typeface="Calibri"/>
                        </a:rPr>
                        <a:t>ADAMS</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Edward</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212 Market St.</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Columbus</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OH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latin typeface="Calibri"/>
                        </a:rPr>
                        <a:t>43210</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CMH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3294">
                <a:tc>
                  <a:txBody>
                    <a:bodyPr/>
                    <a:lstStyle/>
                    <a:p>
                      <a:pPr algn="l" fontAlgn="b"/>
                      <a:r>
                        <a:rPr lang="en-US" sz="1600" b="0" i="0" u="none" strike="noStrike" dirty="0">
                          <a:solidFill>
                            <a:srgbClr val="000000"/>
                          </a:solidFill>
                          <a:latin typeface="Calibri"/>
                        </a:rPr>
                        <a:t>BENCHLY</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Zeke</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501 Union St.</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dirty="0">
                          <a:solidFill>
                            <a:srgbClr val="000000"/>
                          </a:solidFill>
                          <a:latin typeface="Calibri"/>
                        </a:rPr>
                        <a:t>Chicago</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IL</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latin typeface="Calibri"/>
                        </a:rPr>
                        <a:t>60603</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ORD</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3294">
                <a:tc>
                  <a:txBody>
                    <a:bodyPr/>
                    <a:lstStyle/>
                    <a:p>
                      <a:pPr algn="l" fontAlgn="b"/>
                      <a:r>
                        <a:rPr lang="en-US" sz="1600" b="0" i="0" u="none" strike="noStrike">
                          <a:solidFill>
                            <a:srgbClr val="000000"/>
                          </a:solidFill>
                          <a:latin typeface="Calibri"/>
                        </a:rPr>
                        <a:t>CARTER</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Marlene</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411 Elm St.</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Columbus</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OH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latin typeface="Calibri"/>
                        </a:rPr>
                        <a:t>43210</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CMH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3294">
                <a:tc>
                  <a:txBody>
                    <a:bodyPr/>
                    <a:lstStyle/>
                    <a:p>
                      <a:pPr algn="l" fontAlgn="b"/>
                      <a:r>
                        <a:rPr lang="en-US" sz="1600" b="0" i="0" u="none" strike="noStrike">
                          <a:solidFill>
                            <a:srgbClr val="000000"/>
                          </a:solidFill>
                          <a:latin typeface="Calibri"/>
                        </a:rPr>
                        <a:t>CARTER</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Beth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411 Elm St.</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Columbus</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OH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latin typeface="Calibri"/>
                        </a:rPr>
                        <a:t>43210</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CMH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3294">
                <a:tc>
                  <a:txBody>
                    <a:bodyPr/>
                    <a:lstStyle/>
                    <a:p>
                      <a:pPr algn="l" fontAlgn="b"/>
                      <a:r>
                        <a:rPr lang="en-US" sz="1600" b="0" i="0" u="none" strike="noStrike">
                          <a:solidFill>
                            <a:srgbClr val="000000"/>
                          </a:solidFill>
                          <a:latin typeface="Calibri"/>
                        </a:rPr>
                        <a:t>CARTER</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Ben</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411 Elm St.</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Columbus</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OH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latin typeface="Calibri"/>
                        </a:rPr>
                        <a:t>43210</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CMH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3294">
                <a:tc>
                  <a:txBody>
                    <a:bodyPr/>
                    <a:lstStyle/>
                    <a:p>
                      <a:pPr algn="l" fontAlgn="b"/>
                      <a:r>
                        <a:rPr lang="en-US" sz="1600" b="0" i="0" u="none" strike="noStrike">
                          <a:solidFill>
                            <a:srgbClr val="000000"/>
                          </a:solidFill>
                          <a:latin typeface="Calibri"/>
                        </a:rPr>
                        <a:t>CARTER</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Lisabeth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411 Elm St.</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Columbus</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OH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latin typeface="Calibri"/>
                        </a:rPr>
                        <a:t>43210</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CMH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3294">
                <a:tc>
                  <a:txBody>
                    <a:bodyPr/>
                    <a:lstStyle/>
                    <a:p>
                      <a:pPr algn="l" fontAlgn="b"/>
                      <a:r>
                        <a:rPr lang="en-US" sz="1600" b="0" i="0" u="none" strike="noStrike">
                          <a:solidFill>
                            <a:srgbClr val="000000"/>
                          </a:solidFill>
                          <a:latin typeface="Calibri"/>
                        </a:rPr>
                        <a:t>CARTER</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Mary</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411 Elm St.</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Columbus</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latin typeface="Calibri"/>
                        </a:rPr>
                        <a:t>OH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latin typeface="Calibri"/>
                        </a:rPr>
                        <a:t>43210</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dirty="0">
                          <a:solidFill>
                            <a:srgbClr val="000000"/>
                          </a:solidFill>
                          <a:latin typeface="Calibri"/>
                        </a:rPr>
                        <a:t>CMH</a:t>
                      </a:r>
                    </a:p>
                  </a:txBody>
                  <a:tcPr marL="9525" marR="9525" marT="95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8277" name="Title 2"/>
          <p:cNvSpPr>
            <a:spLocks noGrp="1"/>
          </p:cNvSpPr>
          <p:nvPr>
            <p:ph type="title"/>
          </p:nvPr>
        </p:nvSpPr>
        <p:spPr>
          <a:xfrm>
            <a:off x="500063" y="357188"/>
            <a:ext cx="8229600" cy="1143000"/>
          </a:xfrm>
        </p:spPr>
        <p:txBody>
          <a:bodyPr/>
          <a:lstStyle/>
          <a:p>
            <a:pPr eaLnBrk="1" hangingPunct="1"/>
            <a:r>
              <a:rPr lang="en-US" smtClean="0"/>
              <a:t>Schema &amp; Subschema</a:t>
            </a:r>
          </a:p>
        </p:txBody>
      </p:sp>
      <p:sp>
        <p:nvSpPr>
          <p:cNvPr id="8278" name="Rectangle 5"/>
          <p:cNvSpPr>
            <a:spLocks noChangeArrowheads="1"/>
          </p:cNvSpPr>
          <p:nvPr/>
        </p:nvSpPr>
        <p:spPr bwMode="auto">
          <a:xfrm>
            <a:off x="304800" y="5497513"/>
            <a:ext cx="4129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b="1"/>
              <a:t>Relation</a:t>
            </a:r>
            <a:r>
              <a:rPr lang="en-US"/>
              <a:t> is a set of related columns</a:t>
            </a:r>
          </a:p>
        </p:txBody>
      </p:sp>
    </p:spTree>
    <p:extLst>
      <p:ext uri="{BB962C8B-B14F-4D97-AF65-F5344CB8AC3E}">
        <p14:creationId xmlns:p14="http://schemas.microsoft.com/office/powerpoint/2010/main" val="21313101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138"/>
            <a:ext cx="8686800" cy="4525962"/>
          </a:xfrm>
        </p:spPr>
        <p:txBody>
          <a:bodyPr>
            <a:normAutofit fontScale="85000" lnSpcReduction="20000"/>
          </a:bodyPr>
          <a:lstStyle/>
          <a:p>
            <a:pPr eaLnBrk="1" hangingPunct="1">
              <a:defRPr/>
            </a:pPr>
            <a:r>
              <a:rPr lang="en-US" dirty="0" smtClean="0"/>
              <a:t>Shared access</a:t>
            </a:r>
          </a:p>
          <a:p>
            <a:pPr lvl="1" eaLnBrk="1" hangingPunct="1">
              <a:defRPr/>
            </a:pPr>
            <a:r>
              <a:rPr lang="en-US" dirty="0" smtClean="0"/>
              <a:t>Many users can use one common, centralized set of data</a:t>
            </a:r>
          </a:p>
          <a:p>
            <a:pPr eaLnBrk="1" hangingPunct="1">
              <a:defRPr/>
            </a:pPr>
            <a:r>
              <a:rPr lang="en-US" dirty="0" smtClean="0"/>
              <a:t>Minimal redundancy</a:t>
            </a:r>
          </a:p>
          <a:p>
            <a:pPr lvl="1" eaLnBrk="1" hangingPunct="1">
              <a:defRPr/>
            </a:pPr>
            <a:r>
              <a:rPr lang="en-US" dirty="0" smtClean="0"/>
              <a:t>Individual users do not have to maintain own data</a:t>
            </a:r>
          </a:p>
          <a:p>
            <a:pPr lvl="1" eaLnBrk="1" hangingPunct="1">
              <a:defRPr/>
            </a:pPr>
            <a:r>
              <a:rPr lang="en-US" dirty="0" smtClean="0"/>
              <a:t>Reduce db size</a:t>
            </a:r>
          </a:p>
          <a:p>
            <a:pPr eaLnBrk="1" hangingPunct="1">
              <a:defRPr/>
            </a:pPr>
            <a:r>
              <a:rPr lang="en-US" dirty="0" smtClean="0"/>
              <a:t>Data consistency</a:t>
            </a:r>
          </a:p>
          <a:p>
            <a:pPr lvl="1" eaLnBrk="1" hangingPunct="1">
              <a:defRPr/>
            </a:pPr>
            <a:r>
              <a:rPr lang="en-US" dirty="0" smtClean="0"/>
              <a:t>Change to a data value affects all users of the data value</a:t>
            </a:r>
          </a:p>
          <a:p>
            <a:pPr eaLnBrk="1" hangingPunct="1">
              <a:defRPr/>
            </a:pPr>
            <a:r>
              <a:rPr lang="en-US" dirty="0" smtClean="0"/>
              <a:t>Data integrity</a:t>
            </a:r>
          </a:p>
          <a:p>
            <a:pPr lvl="1" eaLnBrk="1" hangingPunct="1">
              <a:defRPr/>
            </a:pPr>
            <a:r>
              <a:rPr lang="en-US" dirty="0" smtClean="0"/>
              <a:t>data are protected against accidental or malicious changes</a:t>
            </a:r>
          </a:p>
          <a:p>
            <a:pPr eaLnBrk="1" hangingPunct="1">
              <a:defRPr/>
            </a:pPr>
            <a:r>
              <a:rPr lang="en-US" dirty="0" smtClean="0"/>
              <a:t>Controlled access</a:t>
            </a:r>
          </a:p>
          <a:p>
            <a:pPr lvl="1" eaLnBrk="1" hangingPunct="1">
              <a:defRPr/>
            </a:pPr>
            <a:r>
              <a:rPr lang="en-US" dirty="0" smtClean="0"/>
              <a:t>Authorized users are only allowed to access</a:t>
            </a:r>
          </a:p>
          <a:p>
            <a:pPr eaLnBrk="1" hangingPunct="1">
              <a:defRPr/>
            </a:pPr>
            <a:endParaRPr lang="en-US" dirty="0"/>
          </a:p>
        </p:txBody>
      </p:sp>
      <p:sp>
        <p:nvSpPr>
          <p:cNvPr id="9219" name="Title 2"/>
          <p:cNvSpPr>
            <a:spLocks noGrp="1"/>
          </p:cNvSpPr>
          <p:nvPr>
            <p:ph type="title"/>
          </p:nvPr>
        </p:nvSpPr>
        <p:spPr/>
        <p:txBody>
          <a:bodyPr/>
          <a:lstStyle/>
          <a:p>
            <a:pPr eaLnBrk="1" hangingPunct="1"/>
            <a:r>
              <a:rPr lang="en-US" smtClean="0"/>
              <a:t>Advantages of Using Databases</a:t>
            </a:r>
          </a:p>
        </p:txBody>
      </p:sp>
    </p:spTree>
    <p:extLst>
      <p:ext uri="{BB962C8B-B14F-4D97-AF65-F5344CB8AC3E}">
        <p14:creationId xmlns:p14="http://schemas.microsoft.com/office/powerpoint/2010/main" val="37997759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eaLnBrk="1" hangingPunct="1">
              <a:defRPr/>
            </a:pPr>
            <a:r>
              <a:rPr lang="en-US" dirty="0" smtClean="0"/>
              <a:t>Physical database integrity</a:t>
            </a:r>
          </a:p>
          <a:p>
            <a:pPr lvl="1" eaLnBrk="1" hangingPunct="1">
              <a:defRPr/>
            </a:pPr>
            <a:r>
              <a:rPr lang="en-US" dirty="0" smtClean="0"/>
              <a:t>Data of database are resistant to physical problems </a:t>
            </a:r>
          </a:p>
          <a:p>
            <a:pPr lvl="2" eaLnBrk="1" hangingPunct="1">
              <a:defRPr/>
            </a:pPr>
            <a:r>
              <a:rPr lang="en-US" dirty="0" smtClean="0"/>
              <a:t>Power failures</a:t>
            </a:r>
          </a:p>
          <a:p>
            <a:pPr lvl="2" eaLnBrk="1" hangingPunct="1">
              <a:defRPr/>
            </a:pPr>
            <a:r>
              <a:rPr lang="en-US" dirty="0" smtClean="0"/>
              <a:t>Reconstruct </a:t>
            </a:r>
          </a:p>
          <a:p>
            <a:pPr lvl="2" eaLnBrk="1" hangingPunct="1">
              <a:defRPr/>
            </a:pPr>
            <a:r>
              <a:rPr lang="en-US" dirty="0" smtClean="0"/>
              <a:t>OS protection</a:t>
            </a:r>
          </a:p>
          <a:p>
            <a:pPr eaLnBrk="1" hangingPunct="1">
              <a:defRPr/>
            </a:pPr>
            <a:r>
              <a:rPr lang="en-US" dirty="0" smtClean="0"/>
              <a:t>Logical database integrity</a:t>
            </a:r>
          </a:p>
          <a:p>
            <a:pPr lvl="1" eaLnBrk="1" hangingPunct="1">
              <a:defRPr/>
            </a:pPr>
            <a:r>
              <a:rPr lang="en-US" dirty="0" smtClean="0"/>
              <a:t>Structure of the database is preserved</a:t>
            </a:r>
          </a:p>
          <a:p>
            <a:pPr lvl="2" eaLnBrk="1" hangingPunct="1">
              <a:defRPr/>
            </a:pPr>
            <a:r>
              <a:rPr lang="en-US" dirty="0" smtClean="0"/>
              <a:t>Integrity of a database</a:t>
            </a:r>
          </a:p>
          <a:p>
            <a:pPr lvl="2" eaLnBrk="1" hangingPunct="1">
              <a:defRPr/>
            </a:pPr>
            <a:r>
              <a:rPr lang="en-US" dirty="0" smtClean="0"/>
              <a:t>Modification of one field does not affect other fields</a:t>
            </a:r>
          </a:p>
          <a:p>
            <a:pPr lvl="2" eaLnBrk="1" hangingPunct="1">
              <a:defRPr/>
            </a:pPr>
            <a:r>
              <a:rPr lang="en-US" dirty="0" smtClean="0"/>
              <a:t>Authorized individuals</a:t>
            </a:r>
          </a:p>
          <a:p>
            <a:pPr eaLnBrk="1" hangingPunct="1">
              <a:defRPr/>
            </a:pPr>
            <a:endParaRPr lang="en-US" dirty="0"/>
          </a:p>
        </p:txBody>
      </p:sp>
      <p:sp>
        <p:nvSpPr>
          <p:cNvPr id="10243" name="Title 2"/>
          <p:cNvSpPr>
            <a:spLocks noGrp="1"/>
          </p:cNvSpPr>
          <p:nvPr>
            <p:ph type="title"/>
          </p:nvPr>
        </p:nvSpPr>
        <p:spPr/>
        <p:txBody>
          <a:bodyPr/>
          <a:lstStyle/>
          <a:p>
            <a:pPr eaLnBrk="1" hangingPunct="1"/>
            <a:r>
              <a:rPr lang="en-US" smtClean="0"/>
              <a:t>Security Requirements</a:t>
            </a:r>
          </a:p>
        </p:txBody>
      </p:sp>
    </p:spTree>
    <p:extLst>
      <p:ext uri="{BB962C8B-B14F-4D97-AF65-F5344CB8AC3E}">
        <p14:creationId xmlns:p14="http://schemas.microsoft.com/office/powerpoint/2010/main" val="35496716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eaLnBrk="1" hangingPunct="1">
              <a:defRPr/>
            </a:pPr>
            <a:r>
              <a:rPr lang="en-US" dirty="0" smtClean="0"/>
              <a:t>Element integrity</a:t>
            </a:r>
          </a:p>
          <a:p>
            <a:pPr lvl="1" eaLnBrk="1" hangingPunct="1">
              <a:defRPr/>
            </a:pPr>
            <a:r>
              <a:rPr lang="en-US" dirty="0" smtClean="0"/>
              <a:t>Element are accurate</a:t>
            </a:r>
          </a:p>
          <a:p>
            <a:pPr lvl="2" eaLnBrk="1" hangingPunct="1">
              <a:defRPr/>
            </a:pPr>
            <a:r>
              <a:rPr lang="en-US" dirty="0" smtClean="0"/>
              <a:t>Field check(numeric, uppercase)</a:t>
            </a:r>
          </a:p>
          <a:p>
            <a:pPr lvl="2" eaLnBrk="1" hangingPunct="1">
              <a:defRPr/>
            </a:pPr>
            <a:r>
              <a:rPr lang="en-US" dirty="0" smtClean="0"/>
              <a:t>Access control</a:t>
            </a:r>
          </a:p>
          <a:p>
            <a:pPr lvl="2" eaLnBrk="1" hangingPunct="1">
              <a:defRPr/>
            </a:pPr>
            <a:r>
              <a:rPr lang="en-US" dirty="0" smtClean="0"/>
              <a:t>Change log</a:t>
            </a:r>
          </a:p>
          <a:p>
            <a:pPr eaLnBrk="1" hangingPunct="1">
              <a:defRPr/>
            </a:pPr>
            <a:r>
              <a:rPr lang="en-US" dirty="0" err="1" smtClean="0"/>
              <a:t>Auditability</a:t>
            </a:r>
            <a:endParaRPr lang="en-US" dirty="0" smtClean="0"/>
          </a:p>
          <a:p>
            <a:pPr lvl="1" eaLnBrk="1" hangingPunct="1">
              <a:defRPr/>
            </a:pPr>
            <a:r>
              <a:rPr lang="en-US" dirty="0" smtClean="0"/>
              <a:t>Track who or what has accessed</a:t>
            </a:r>
          </a:p>
          <a:p>
            <a:pPr lvl="1" eaLnBrk="1" hangingPunct="1">
              <a:defRPr/>
            </a:pPr>
            <a:r>
              <a:rPr lang="en-US" dirty="0" smtClean="0"/>
              <a:t>Track what actions are performed</a:t>
            </a:r>
          </a:p>
          <a:p>
            <a:pPr lvl="1" eaLnBrk="1" hangingPunct="1">
              <a:defRPr/>
            </a:pPr>
            <a:r>
              <a:rPr lang="en-US" dirty="0" smtClean="0"/>
              <a:t>Audit record</a:t>
            </a:r>
          </a:p>
          <a:p>
            <a:pPr eaLnBrk="1" hangingPunct="1">
              <a:defRPr/>
            </a:pPr>
            <a:r>
              <a:rPr lang="en-US" dirty="0" smtClean="0"/>
              <a:t>Access control</a:t>
            </a:r>
          </a:p>
          <a:p>
            <a:pPr lvl="1" eaLnBrk="1" hangingPunct="1">
              <a:defRPr/>
            </a:pPr>
            <a:r>
              <a:rPr lang="en-US" dirty="0" smtClean="0"/>
              <a:t>Logically separated for users</a:t>
            </a:r>
          </a:p>
          <a:p>
            <a:pPr lvl="1" eaLnBrk="1" hangingPunct="1">
              <a:defRPr/>
            </a:pPr>
            <a:r>
              <a:rPr lang="en-US" dirty="0" smtClean="0"/>
              <a:t>Allowed to access only authorized data</a:t>
            </a:r>
          </a:p>
          <a:p>
            <a:pPr lvl="1" eaLnBrk="1" hangingPunct="1">
              <a:defRPr/>
            </a:pPr>
            <a:r>
              <a:rPr lang="en-US" dirty="0" smtClean="0"/>
              <a:t>Different users have deferent access modes </a:t>
            </a:r>
          </a:p>
          <a:p>
            <a:pPr eaLnBrk="1" hangingPunct="1">
              <a:defRPr/>
            </a:pPr>
            <a:endParaRPr lang="en-US" dirty="0"/>
          </a:p>
        </p:txBody>
      </p:sp>
      <p:sp>
        <p:nvSpPr>
          <p:cNvPr id="11267" name="Title 2"/>
          <p:cNvSpPr>
            <a:spLocks noGrp="1"/>
          </p:cNvSpPr>
          <p:nvPr>
            <p:ph type="title"/>
          </p:nvPr>
        </p:nvSpPr>
        <p:spPr/>
        <p:txBody>
          <a:bodyPr/>
          <a:lstStyle/>
          <a:p>
            <a:pPr eaLnBrk="1" hangingPunct="1"/>
            <a:r>
              <a:rPr lang="en-US" smtClean="0"/>
              <a:t>Security Requirements</a:t>
            </a:r>
          </a:p>
        </p:txBody>
      </p:sp>
    </p:spTree>
    <p:extLst>
      <p:ext uri="{BB962C8B-B14F-4D97-AF65-F5344CB8AC3E}">
        <p14:creationId xmlns:p14="http://schemas.microsoft.com/office/powerpoint/2010/main" val="4982859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1"/>
          <p:cNvSpPr>
            <a:spLocks noGrp="1"/>
          </p:cNvSpPr>
          <p:nvPr>
            <p:ph idx="1"/>
          </p:nvPr>
        </p:nvSpPr>
        <p:spPr/>
        <p:txBody>
          <a:bodyPr/>
          <a:lstStyle/>
          <a:p>
            <a:pPr eaLnBrk="1" hangingPunct="1"/>
            <a:r>
              <a:rPr lang="en-US" smtClean="0"/>
              <a:t>User authentication </a:t>
            </a:r>
          </a:p>
          <a:p>
            <a:pPr lvl="1" eaLnBrk="1" hangingPunct="1"/>
            <a:r>
              <a:rPr lang="en-US" smtClean="0"/>
              <a:t>Every user is identified</a:t>
            </a:r>
          </a:p>
          <a:p>
            <a:pPr eaLnBrk="1" hangingPunct="1"/>
            <a:r>
              <a:rPr lang="en-US" smtClean="0"/>
              <a:t>Availability</a:t>
            </a:r>
          </a:p>
          <a:p>
            <a:pPr lvl="1" eaLnBrk="1" hangingPunct="1"/>
            <a:r>
              <a:rPr lang="en-US" smtClean="0"/>
              <a:t>Users can access the database which they are authorized</a:t>
            </a:r>
          </a:p>
          <a:p>
            <a:pPr lvl="1" eaLnBrk="1" hangingPunct="1"/>
            <a:r>
              <a:rPr lang="en-US" smtClean="0"/>
              <a:t>Repaired or upgraded?</a:t>
            </a:r>
          </a:p>
          <a:p>
            <a:pPr eaLnBrk="1" hangingPunct="1"/>
            <a:endParaRPr lang="en-US" smtClean="0"/>
          </a:p>
        </p:txBody>
      </p:sp>
      <p:sp>
        <p:nvSpPr>
          <p:cNvPr id="12291" name="Title 2"/>
          <p:cNvSpPr>
            <a:spLocks noGrp="1"/>
          </p:cNvSpPr>
          <p:nvPr>
            <p:ph type="title"/>
          </p:nvPr>
        </p:nvSpPr>
        <p:spPr/>
        <p:txBody>
          <a:bodyPr/>
          <a:lstStyle/>
          <a:p>
            <a:pPr eaLnBrk="1" hangingPunct="1"/>
            <a:r>
              <a:rPr lang="en-US" smtClean="0"/>
              <a:t>Security Requirements</a:t>
            </a:r>
          </a:p>
        </p:txBody>
      </p:sp>
    </p:spTree>
    <p:extLst>
      <p:ext uri="{BB962C8B-B14F-4D97-AF65-F5344CB8AC3E}">
        <p14:creationId xmlns:p14="http://schemas.microsoft.com/office/powerpoint/2010/main" val="4102988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eaLnBrk="1" hangingPunct="1">
              <a:defRPr/>
            </a:pPr>
            <a:r>
              <a:rPr lang="en-US" dirty="0" smtClean="0"/>
              <a:t>Reliability</a:t>
            </a:r>
          </a:p>
          <a:p>
            <a:pPr lvl="1" eaLnBrk="1" hangingPunct="1">
              <a:defRPr/>
            </a:pPr>
            <a:r>
              <a:rPr lang="en-US" dirty="0" smtClean="0"/>
              <a:t>Execution without failures</a:t>
            </a:r>
          </a:p>
          <a:p>
            <a:pPr lvl="1" eaLnBrk="1" hangingPunct="1">
              <a:defRPr/>
            </a:pPr>
            <a:endParaRPr lang="en-US" dirty="0" smtClean="0"/>
          </a:p>
          <a:p>
            <a:pPr eaLnBrk="1" hangingPunct="1">
              <a:defRPr/>
            </a:pPr>
            <a:r>
              <a:rPr lang="en-US" dirty="0" smtClean="0"/>
              <a:t>Dimensions</a:t>
            </a:r>
          </a:p>
          <a:p>
            <a:pPr lvl="1" eaLnBrk="1" hangingPunct="1">
              <a:defRPr/>
            </a:pPr>
            <a:r>
              <a:rPr lang="en-US" dirty="0" smtClean="0"/>
              <a:t>Database integrity:  Whole DB is protected against damage</a:t>
            </a:r>
          </a:p>
          <a:p>
            <a:pPr lvl="2" eaLnBrk="1" hangingPunct="1">
              <a:defRPr/>
            </a:pPr>
            <a:r>
              <a:rPr lang="en-US" dirty="0" smtClean="0"/>
              <a:t>Disk failure </a:t>
            </a:r>
          </a:p>
          <a:p>
            <a:pPr lvl="2" eaLnBrk="1" hangingPunct="1">
              <a:defRPr/>
            </a:pPr>
            <a:r>
              <a:rPr lang="en-US" dirty="0" smtClean="0"/>
              <a:t>DB Corruption</a:t>
            </a:r>
          </a:p>
          <a:p>
            <a:pPr lvl="2" eaLnBrk="1" hangingPunct="1">
              <a:defRPr/>
            </a:pPr>
            <a:r>
              <a:rPr lang="en-US" dirty="0" smtClean="0"/>
              <a:t>Operating system</a:t>
            </a:r>
          </a:p>
          <a:p>
            <a:pPr lvl="1" eaLnBrk="1" hangingPunct="1">
              <a:defRPr/>
            </a:pPr>
            <a:r>
              <a:rPr lang="en-US" dirty="0" smtClean="0"/>
              <a:t>Element integrity: Value of a specific data element is protected</a:t>
            </a:r>
          </a:p>
          <a:p>
            <a:pPr lvl="2" eaLnBrk="1" hangingPunct="1">
              <a:defRPr/>
            </a:pPr>
            <a:r>
              <a:rPr lang="en-US" dirty="0" smtClean="0"/>
              <a:t>Control unauthorized users</a:t>
            </a:r>
          </a:p>
          <a:p>
            <a:pPr lvl="2" eaLnBrk="1" hangingPunct="1">
              <a:defRPr/>
            </a:pPr>
            <a:r>
              <a:rPr lang="en-US" dirty="0" smtClean="0"/>
              <a:t>DBMS</a:t>
            </a:r>
          </a:p>
          <a:p>
            <a:pPr lvl="1" eaLnBrk="1" hangingPunct="1">
              <a:defRPr/>
            </a:pPr>
            <a:r>
              <a:rPr lang="en-US" dirty="0" smtClean="0"/>
              <a:t>Element accuracy: Accuracy of values in elements  </a:t>
            </a:r>
          </a:p>
          <a:p>
            <a:pPr lvl="2" eaLnBrk="1" hangingPunct="1">
              <a:defRPr/>
            </a:pPr>
            <a:r>
              <a:rPr lang="en-US" dirty="0" smtClean="0"/>
              <a:t>Checks the values of elements, </a:t>
            </a:r>
          </a:p>
          <a:p>
            <a:pPr lvl="2" eaLnBrk="1" hangingPunct="1">
              <a:defRPr/>
            </a:pPr>
            <a:r>
              <a:rPr lang="en-US" dirty="0" smtClean="0"/>
              <a:t>Constraint conditions</a:t>
            </a:r>
          </a:p>
        </p:txBody>
      </p:sp>
      <p:sp>
        <p:nvSpPr>
          <p:cNvPr id="13315" name="Title 2"/>
          <p:cNvSpPr>
            <a:spLocks noGrp="1"/>
          </p:cNvSpPr>
          <p:nvPr>
            <p:ph type="title"/>
          </p:nvPr>
        </p:nvSpPr>
        <p:spPr/>
        <p:txBody>
          <a:bodyPr/>
          <a:lstStyle/>
          <a:p>
            <a:pPr eaLnBrk="1" hangingPunct="1"/>
            <a:r>
              <a:rPr lang="en-US" smtClean="0"/>
              <a:t>Reliability and Integrity</a:t>
            </a:r>
          </a:p>
        </p:txBody>
      </p:sp>
    </p:spTree>
    <p:extLst>
      <p:ext uri="{BB962C8B-B14F-4D97-AF65-F5344CB8AC3E}">
        <p14:creationId xmlns:p14="http://schemas.microsoft.com/office/powerpoint/2010/main" val="30012925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eaLnBrk="1" hangingPunct="1">
              <a:defRPr/>
            </a:pPr>
            <a:r>
              <a:rPr lang="en-US" dirty="0" smtClean="0"/>
              <a:t>OS Protection Features </a:t>
            </a:r>
          </a:p>
          <a:p>
            <a:pPr lvl="1" eaLnBrk="1" hangingPunct="1">
              <a:defRPr/>
            </a:pPr>
            <a:r>
              <a:rPr lang="en-US" dirty="0" smtClean="0"/>
              <a:t>Backing up</a:t>
            </a:r>
          </a:p>
          <a:p>
            <a:pPr lvl="1" eaLnBrk="1" hangingPunct="1">
              <a:defRPr/>
            </a:pPr>
            <a:r>
              <a:rPr lang="en-US" dirty="0" smtClean="0"/>
              <a:t>Restore</a:t>
            </a:r>
          </a:p>
          <a:p>
            <a:pPr lvl="1" eaLnBrk="1" hangingPunct="1">
              <a:defRPr/>
            </a:pPr>
            <a:r>
              <a:rPr lang="en-US" dirty="0" smtClean="0"/>
              <a:t>Access control facilities</a:t>
            </a:r>
          </a:p>
          <a:p>
            <a:pPr lvl="1" eaLnBrk="1" hangingPunct="1">
              <a:defRPr/>
            </a:pPr>
            <a:endParaRPr lang="en-US" dirty="0" smtClean="0"/>
          </a:p>
          <a:p>
            <a:pPr eaLnBrk="1" hangingPunct="1">
              <a:defRPr/>
            </a:pPr>
            <a:r>
              <a:rPr lang="en-US" dirty="0" smtClean="0"/>
              <a:t>DBMS Protection Features</a:t>
            </a:r>
          </a:p>
          <a:p>
            <a:pPr lvl="1" eaLnBrk="1" hangingPunct="1">
              <a:defRPr/>
            </a:pPr>
            <a:r>
              <a:rPr lang="en-US" dirty="0" smtClean="0"/>
              <a:t>Two phase update</a:t>
            </a:r>
          </a:p>
          <a:p>
            <a:pPr lvl="1" eaLnBrk="1" hangingPunct="1">
              <a:defRPr/>
            </a:pPr>
            <a:r>
              <a:rPr lang="en-US" dirty="0" smtClean="0"/>
              <a:t>Redundancy/Internal Consistency</a:t>
            </a:r>
          </a:p>
          <a:p>
            <a:pPr lvl="1" eaLnBrk="1" hangingPunct="1">
              <a:defRPr/>
            </a:pPr>
            <a:r>
              <a:rPr lang="en-US" dirty="0" smtClean="0"/>
              <a:t>Concurrency control/Consistency</a:t>
            </a:r>
          </a:p>
          <a:p>
            <a:pPr lvl="1" eaLnBrk="1" hangingPunct="1">
              <a:defRPr/>
            </a:pPr>
            <a:r>
              <a:rPr lang="en-US" dirty="0" smtClean="0"/>
              <a:t>Monitor</a:t>
            </a:r>
          </a:p>
          <a:p>
            <a:pPr lvl="1" eaLnBrk="1" hangingPunct="1">
              <a:defRPr/>
            </a:pPr>
            <a:endParaRPr lang="en-US" dirty="0" smtClean="0"/>
          </a:p>
          <a:p>
            <a:pPr lvl="1" eaLnBrk="1" hangingPunct="1">
              <a:defRPr/>
            </a:pPr>
            <a:endParaRPr lang="en-US" dirty="0" smtClean="0"/>
          </a:p>
        </p:txBody>
      </p:sp>
      <p:sp>
        <p:nvSpPr>
          <p:cNvPr id="14339" name="Title 2"/>
          <p:cNvSpPr>
            <a:spLocks noGrp="1"/>
          </p:cNvSpPr>
          <p:nvPr>
            <p:ph type="title"/>
          </p:nvPr>
        </p:nvSpPr>
        <p:spPr/>
        <p:txBody>
          <a:bodyPr/>
          <a:lstStyle/>
          <a:p>
            <a:pPr eaLnBrk="1" hangingPunct="1"/>
            <a:r>
              <a:rPr lang="en-US" smtClean="0"/>
              <a:t>Reliability and Integrity</a:t>
            </a:r>
          </a:p>
        </p:txBody>
      </p:sp>
    </p:spTree>
    <p:extLst>
      <p:ext uri="{BB962C8B-B14F-4D97-AF65-F5344CB8AC3E}">
        <p14:creationId xmlns:p14="http://schemas.microsoft.com/office/powerpoint/2010/main" val="9996880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eaLnBrk="1" hangingPunct="1">
              <a:defRPr/>
            </a:pPr>
            <a:r>
              <a:rPr lang="en-US" b="1" dirty="0" smtClean="0"/>
              <a:t>Two-Phase Update</a:t>
            </a:r>
          </a:p>
          <a:p>
            <a:pPr lvl="1" eaLnBrk="1" hangingPunct="1">
              <a:defRPr/>
            </a:pPr>
            <a:r>
              <a:rPr lang="en-US" dirty="0" smtClean="0"/>
              <a:t>Failure in the middle of modifying data</a:t>
            </a:r>
          </a:p>
          <a:p>
            <a:pPr lvl="1" eaLnBrk="1" hangingPunct="1">
              <a:defRPr/>
            </a:pPr>
            <a:endParaRPr lang="en-US" b="1" dirty="0" smtClean="0"/>
          </a:p>
          <a:p>
            <a:pPr marL="850392" lvl="1" indent="-457200" eaLnBrk="1" hangingPunct="1">
              <a:buFont typeface="+mj-lt"/>
              <a:buAutoNum type="arabicPeriod"/>
              <a:defRPr/>
            </a:pPr>
            <a:r>
              <a:rPr lang="en-US" dirty="0" smtClean="0"/>
              <a:t>Intent</a:t>
            </a:r>
          </a:p>
          <a:p>
            <a:pPr lvl="2" eaLnBrk="1" hangingPunct="1">
              <a:defRPr/>
            </a:pPr>
            <a:r>
              <a:rPr lang="en-US" dirty="0" smtClean="0"/>
              <a:t>DBMS gathers the resources it needs</a:t>
            </a:r>
          </a:p>
          <a:p>
            <a:pPr lvl="2" eaLnBrk="1" hangingPunct="1">
              <a:defRPr/>
            </a:pPr>
            <a:r>
              <a:rPr lang="en-US" dirty="0" smtClean="0"/>
              <a:t>Open files</a:t>
            </a:r>
          </a:p>
          <a:p>
            <a:pPr lvl="2" eaLnBrk="1" hangingPunct="1">
              <a:defRPr/>
            </a:pPr>
            <a:r>
              <a:rPr lang="en-US" dirty="0" smtClean="0"/>
              <a:t>Lock other users</a:t>
            </a:r>
          </a:p>
          <a:p>
            <a:pPr lvl="2" eaLnBrk="1" hangingPunct="1">
              <a:defRPr/>
            </a:pPr>
            <a:r>
              <a:rPr lang="en-US" dirty="0" smtClean="0"/>
              <a:t>Create dummy records</a:t>
            </a:r>
          </a:p>
          <a:p>
            <a:pPr marL="850392" lvl="1" indent="-457200" eaLnBrk="1" hangingPunct="1">
              <a:buFont typeface="+mj-lt"/>
              <a:buAutoNum type="arabicPeriod"/>
              <a:defRPr/>
            </a:pPr>
            <a:r>
              <a:rPr lang="en-US" dirty="0" smtClean="0"/>
              <a:t>Commit</a:t>
            </a:r>
          </a:p>
          <a:p>
            <a:pPr lvl="2" eaLnBrk="1" hangingPunct="1">
              <a:defRPr/>
            </a:pPr>
            <a:r>
              <a:rPr lang="en-US" dirty="0" smtClean="0"/>
              <a:t>Writing of a </a:t>
            </a:r>
            <a:r>
              <a:rPr lang="en-US" b="1" dirty="0" smtClean="0"/>
              <a:t>commit flag</a:t>
            </a:r>
            <a:r>
              <a:rPr lang="en-US" dirty="0" smtClean="0"/>
              <a:t> to the database</a:t>
            </a:r>
          </a:p>
          <a:p>
            <a:pPr eaLnBrk="1" hangingPunct="1">
              <a:defRPr/>
            </a:pPr>
            <a:endParaRPr lang="en-US" dirty="0"/>
          </a:p>
        </p:txBody>
      </p:sp>
      <p:sp>
        <p:nvSpPr>
          <p:cNvPr id="15363" name="Title 2"/>
          <p:cNvSpPr>
            <a:spLocks noGrp="1"/>
          </p:cNvSpPr>
          <p:nvPr>
            <p:ph type="title"/>
          </p:nvPr>
        </p:nvSpPr>
        <p:spPr/>
        <p:txBody>
          <a:bodyPr/>
          <a:lstStyle/>
          <a:p>
            <a:pPr eaLnBrk="1" hangingPunct="1"/>
            <a:r>
              <a:rPr lang="en-US" smtClean="0"/>
              <a:t>Reliability and Integrity</a:t>
            </a:r>
          </a:p>
        </p:txBody>
      </p:sp>
    </p:spTree>
    <p:extLst>
      <p:ext uri="{BB962C8B-B14F-4D97-AF65-F5344CB8AC3E}">
        <p14:creationId xmlns:p14="http://schemas.microsoft.com/office/powerpoint/2010/main" val="38151376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p:cNvSpPr>
            <a:spLocks noGrp="1"/>
          </p:cNvSpPr>
          <p:nvPr>
            <p:ph idx="1"/>
          </p:nvPr>
        </p:nvSpPr>
        <p:spPr>
          <a:xfrm>
            <a:off x="457200" y="1481138"/>
            <a:ext cx="8153400" cy="4525962"/>
          </a:xfrm>
        </p:spPr>
        <p:txBody>
          <a:bodyPr>
            <a:normAutofit fontScale="92500" lnSpcReduction="20000"/>
          </a:bodyPr>
          <a:lstStyle/>
          <a:p>
            <a:pPr eaLnBrk="1" hangingPunct="1"/>
            <a:r>
              <a:rPr lang="en-US" b="1" smtClean="0"/>
              <a:t>Redundancy/Consistency</a:t>
            </a:r>
          </a:p>
          <a:p>
            <a:pPr lvl="1" eaLnBrk="1" hangingPunct="1"/>
            <a:r>
              <a:rPr lang="en-US" smtClean="0"/>
              <a:t>Additional information to detect inconsistencies</a:t>
            </a:r>
          </a:p>
          <a:p>
            <a:pPr lvl="2" eaLnBrk="1" hangingPunct="1"/>
            <a:r>
              <a:rPr lang="en-US" smtClean="0"/>
              <a:t>Few check bits</a:t>
            </a:r>
          </a:p>
          <a:p>
            <a:pPr lvl="2" eaLnBrk="1" hangingPunct="1"/>
            <a:r>
              <a:rPr lang="en-US" smtClean="0"/>
              <a:t>Shadow fields</a:t>
            </a:r>
            <a:endParaRPr lang="en-US" b="1" smtClean="0"/>
          </a:p>
          <a:p>
            <a:pPr lvl="1" eaLnBrk="1" hangingPunct="1"/>
            <a:r>
              <a:rPr lang="en-US" smtClean="0"/>
              <a:t>Recovery features</a:t>
            </a:r>
          </a:p>
          <a:p>
            <a:pPr lvl="2" eaLnBrk="1" hangingPunct="1"/>
            <a:r>
              <a:rPr lang="en-US" smtClean="0"/>
              <a:t>Db reload from backup</a:t>
            </a:r>
          </a:p>
          <a:p>
            <a:pPr lvl="2" eaLnBrk="1" hangingPunct="1"/>
            <a:r>
              <a:rPr lang="en-US" smtClean="0"/>
              <a:t>Later changes are applied from the audit log</a:t>
            </a:r>
          </a:p>
          <a:p>
            <a:pPr lvl="2" eaLnBrk="1" hangingPunct="1"/>
            <a:endParaRPr lang="en-US" smtClean="0"/>
          </a:p>
          <a:p>
            <a:pPr eaLnBrk="1" hangingPunct="1"/>
            <a:r>
              <a:rPr lang="en-US" b="1" smtClean="0"/>
              <a:t>Concurrency/Consistency</a:t>
            </a:r>
          </a:p>
          <a:p>
            <a:pPr lvl="1" eaLnBrk="1" hangingPunct="1"/>
            <a:r>
              <a:rPr lang="en-US" smtClean="0"/>
              <a:t>Updating in Transactions</a:t>
            </a:r>
          </a:p>
          <a:p>
            <a:pPr lvl="1" eaLnBrk="1" hangingPunct="1"/>
            <a:r>
              <a:rPr lang="en-US" smtClean="0"/>
              <a:t>Locking(db, table, record, attribute)</a:t>
            </a:r>
          </a:p>
        </p:txBody>
      </p:sp>
      <p:sp>
        <p:nvSpPr>
          <p:cNvPr id="16387" name="Title 2"/>
          <p:cNvSpPr>
            <a:spLocks noGrp="1"/>
          </p:cNvSpPr>
          <p:nvPr>
            <p:ph type="title"/>
          </p:nvPr>
        </p:nvSpPr>
        <p:spPr/>
        <p:txBody>
          <a:bodyPr/>
          <a:lstStyle/>
          <a:p>
            <a:pPr eaLnBrk="1" hangingPunct="1"/>
            <a:r>
              <a:rPr lang="en-US" smtClean="0"/>
              <a:t>Reliability and Integrity</a:t>
            </a:r>
          </a:p>
        </p:txBody>
      </p:sp>
    </p:spTree>
    <p:extLst>
      <p:ext uri="{BB962C8B-B14F-4D97-AF65-F5344CB8AC3E}">
        <p14:creationId xmlns:p14="http://schemas.microsoft.com/office/powerpoint/2010/main" val="10086855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idx="1"/>
          </p:nvPr>
        </p:nvSpPr>
        <p:spPr/>
        <p:txBody>
          <a:bodyPr/>
          <a:lstStyle/>
          <a:p>
            <a:pPr eaLnBrk="1" hangingPunct="1"/>
            <a:r>
              <a:rPr lang="en-US" smtClean="0"/>
              <a:t>Monitor</a:t>
            </a:r>
          </a:p>
          <a:p>
            <a:pPr lvl="1" eaLnBrk="1" hangingPunct="1"/>
            <a:r>
              <a:rPr lang="en-US" smtClean="0"/>
              <a:t>Responsible for structural integrity of the database</a:t>
            </a:r>
          </a:p>
          <a:p>
            <a:pPr lvl="1" eaLnBrk="1" hangingPunct="1"/>
            <a:r>
              <a:rPr lang="en-US" smtClean="0"/>
              <a:t>Data type , format, range</a:t>
            </a:r>
          </a:p>
          <a:p>
            <a:pPr lvl="1" eaLnBrk="1" hangingPunct="1"/>
            <a:r>
              <a:rPr lang="en-US" smtClean="0"/>
              <a:t>Filter </a:t>
            </a:r>
          </a:p>
          <a:p>
            <a:pPr lvl="1" eaLnBrk="1" hangingPunct="1"/>
            <a:endParaRPr lang="en-US" smtClean="0"/>
          </a:p>
        </p:txBody>
      </p:sp>
      <p:sp>
        <p:nvSpPr>
          <p:cNvPr id="17411" name="Title 2"/>
          <p:cNvSpPr>
            <a:spLocks noGrp="1"/>
          </p:cNvSpPr>
          <p:nvPr>
            <p:ph type="title"/>
          </p:nvPr>
        </p:nvSpPr>
        <p:spPr/>
        <p:txBody>
          <a:bodyPr/>
          <a:lstStyle/>
          <a:p>
            <a:pPr eaLnBrk="1" hangingPunct="1"/>
            <a:r>
              <a:rPr lang="en-US" smtClean="0"/>
              <a:t>Reliability and Integrity</a:t>
            </a:r>
          </a:p>
        </p:txBody>
      </p:sp>
    </p:spTree>
    <p:extLst>
      <p:ext uri="{BB962C8B-B14F-4D97-AF65-F5344CB8AC3E}">
        <p14:creationId xmlns:p14="http://schemas.microsoft.com/office/powerpoint/2010/main" val="17460264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p:txBody>
          <a:bodyPr>
            <a:normAutofit fontScale="92500" lnSpcReduction="20000"/>
          </a:bodyPr>
          <a:lstStyle/>
          <a:p>
            <a:pPr eaLnBrk="1" hangingPunct="1"/>
            <a:r>
              <a:rPr lang="en-US" smtClean="0"/>
              <a:t>Sensitivity/Access control</a:t>
            </a:r>
          </a:p>
          <a:p>
            <a:pPr lvl="1" eaLnBrk="1" hangingPunct="1"/>
            <a:r>
              <a:rPr lang="en-US" smtClean="0"/>
              <a:t>Important</a:t>
            </a:r>
          </a:p>
          <a:p>
            <a:pPr lvl="1" eaLnBrk="1" hangingPunct="1"/>
            <a:r>
              <a:rPr lang="en-US" smtClean="0"/>
              <a:t>Shouldn't public</a:t>
            </a:r>
          </a:p>
          <a:p>
            <a:pPr lvl="1" eaLnBrk="1" hangingPunct="1"/>
            <a:r>
              <a:rPr lang="en-US" smtClean="0"/>
              <a:t>DB ,Table ,Record ,Attribute</a:t>
            </a:r>
          </a:p>
          <a:p>
            <a:pPr eaLnBrk="1" hangingPunct="1"/>
            <a:r>
              <a:rPr lang="en-US" smtClean="0"/>
              <a:t>Access levels - Sensitive level</a:t>
            </a:r>
          </a:p>
          <a:p>
            <a:pPr eaLnBrk="1" hangingPunct="1"/>
            <a:endParaRPr lang="en-US" smtClean="0"/>
          </a:p>
          <a:p>
            <a:pPr eaLnBrk="1" hangingPunct="1"/>
            <a:r>
              <a:rPr lang="en-US" b="1" smtClean="0"/>
              <a:t>Access Decisions</a:t>
            </a:r>
          </a:p>
          <a:p>
            <a:pPr lvl="1" eaLnBrk="1" hangingPunct="1"/>
            <a:r>
              <a:rPr lang="en-US" smtClean="0"/>
              <a:t>Database administrator</a:t>
            </a:r>
          </a:p>
          <a:p>
            <a:pPr lvl="1" eaLnBrk="1" hangingPunct="1"/>
            <a:r>
              <a:rPr lang="en-US" smtClean="0"/>
              <a:t>Access policy</a:t>
            </a:r>
          </a:p>
          <a:p>
            <a:pPr lvl="1" eaLnBrk="1" hangingPunct="1"/>
            <a:r>
              <a:rPr lang="en-US" smtClean="0"/>
              <a:t>DBMS</a:t>
            </a:r>
          </a:p>
          <a:p>
            <a:pPr lvl="1" eaLnBrk="1" hangingPunct="1"/>
            <a:endParaRPr lang="en-US" smtClean="0"/>
          </a:p>
        </p:txBody>
      </p:sp>
      <p:sp>
        <p:nvSpPr>
          <p:cNvPr id="18435" name="Title 2"/>
          <p:cNvSpPr>
            <a:spLocks noGrp="1"/>
          </p:cNvSpPr>
          <p:nvPr>
            <p:ph type="title"/>
          </p:nvPr>
        </p:nvSpPr>
        <p:spPr/>
        <p:txBody>
          <a:bodyPr/>
          <a:lstStyle/>
          <a:p>
            <a:pPr eaLnBrk="1" hangingPunct="1"/>
            <a:r>
              <a:rPr lang="en-US" smtClean="0"/>
              <a:t>Sensitive Data</a:t>
            </a:r>
          </a:p>
        </p:txBody>
      </p:sp>
    </p:spTree>
    <p:extLst>
      <p:ext uri="{BB962C8B-B14F-4D97-AF65-F5344CB8AC3E}">
        <p14:creationId xmlns:p14="http://schemas.microsoft.com/office/powerpoint/2010/main" val="15521003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1"/>
          <p:cNvSpPr>
            <a:spLocks noGrp="1"/>
          </p:cNvSpPr>
          <p:nvPr>
            <p:ph idx="1"/>
          </p:nvPr>
        </p:nvSpPr>
        <p:spPr/>
        <p:txBody>
          <a:bodyPr>
            <a:normAutofit fontScale="92500" lnSpcReduction="10000"/>
          </a:bodyPr>
          <a:lstStyle/>
          <a:p>
            <a:pPr eaLnBrk="1" hangingPunct="1">
              <a:buFont typeface="Arial" panose="020B0604020202020204" pitchFamily="34" charset="0"/>
              <a:buNone/>
            </a:pPr>
            <a:r>
              <a:rPr lang="it-IT" smtClean="0"/>
              <a:t>Derive sensitive data from nonsensitive data</a:t>
            </a:r>
          </a:p>
          <a:p>
            <a:pPr eaLnBrk="1" hangingPunct="1"/>
            <a:endParaRPr lang="en-US" b="1" smtClean="0"/>
          </a:p>
          <a:p>
            <a:pPr eaLnBrk="1" hangingPunct="1"/>
            <a:r>
              <a:rPr lang="en-US" b="1" smtClean="0"/>
              <a:t>Direct Attack</a:t>
            </a:r>
          </a:p>
          <a:p>
            <a:pPr lvl="1" eaLnBrk="1" hangingPunct="1"/>
            <a:r>
              <a:rPr lang="en-US" smtClean="0"/>
              <a:t>Tries to determine values of sensitive fields </a:t>
            </a:r>
          </a:p>
          <a:p>
            <a:pPr lvl="1" eaLnBrk="1" hangingPunct="1"/>
            <a:r>
              <a:rPr lang="en-US" smtClean="0"/>
              <a:t>Select from query</a:t>
            </a:r>
          </a:p>
          <a:p>
            <a:pPr lvl="1" eaLnBrk="1" hangingPunct="1"/>
            <a:endParaRPr lang="en-US" smtClean="0"/>
          </a:p>
          <a:p>
            <a:pPr eaLnBrk="1" hangingPunct="1"/>
            <a:r>
              <a:rPr lang="en-US" smtClean="0"/>
              <a:t>Indirect Attack</a:t>
            </a:r>
          </a:p>
          <a:p>
            <a:pPr lvl="1" eaLnBrk="1" hangingPunct="1"/>
            <a:r>
              <a:rPr lang="en-US" smtClean="0"/>
              <a:t>Release only statistics</a:t>
            </a:r>
          </a:p>
          <a:p>
            <a:pPr lvl="1" eaLnBrk="1" hangingPunct="1"/>
            <a:r>
              <a:rPr lang="en-US" smtClean="0"/>
              <a:t>Sum, avg</a:t>
            </a:r>
          </a:p>
        </p:txBody>
      </p:sp>
      <p:sp>
        <p:nvSpPr>
          <p:cNvPr id="19459" name="Title 2"/>
          <p:cNvSpPr>
            <a:spLocks noGrp="1"/>
          </p:cNvSpPr>
          <p:nvPr>
            <p:ph type="title"/>
          </p:nvPr>
        </p:nvSpPr>
        <p:spPr/>
        <p:txBody>
          <a:bodyPr/>
          <a:lstStyle/>
          <a:p>
            <a:pPr eaLnBrk="1" hangingPunct="1"/>
            <a:r>
              <a:rPr lang="en-US" smtClean="0"/>
              <a:t>Inference </a:t>
            </a:r>
          </a:p>
        </p:txBody>
      </p:sp>
    </p:spTree>
    <p:extLst>
      <p:ext uri="{BB962C8B-B14F-4D97-AF65-F5344CB8AC3E}">
        <p14:creationId xmlns:p14="http://schemas.microsoft.com/office/powerpoint/2010/main" val="13355821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1"/>
          <p:cNvSpPr>
            <a:spLocks noGrp="1"/>
          </p:cNvSpPr>
          <p:nvPr>
            <p:ph idx="1"/>
          </p:nvPr>
        </p:nvSpPr>
        <p:spPr/>
        <p:txBody>
          <a:bodyPr>
            <a:normAutofit lnSpcReduction="10000"/>
          </a:bodyPr>
          <a:lstStyle/>
          <a:p>
            <a:pPr eaLnBrk="1" hangingPunct="1"/>
            <a:r>
              <a:rPr lang="en-US" b="1" smtClean="0"/>
              <a:t>Controls for Statistical Inference Attacks</a:t>
            </a:r>
          </a:p>
          <a:p>
            <a:pPr lvl="1" eaLnBrk="1" hangingPunct="1"/>
            <a:r>
              <a:rPr lang="en-US" smtClean="0"/>
              <a:t>Query should disclosed sensitive data</a:t>
            </a:r>
          </a:p>
          <a:p>
            <a:pPr eaLnBrk="1" hangingPunct="1"/>
            <a:r>
              <a:rPr lang="en-US" smtClean="0"/>
              <a:t>Controls </a:t>
            </a:r>
          </a:p>
          <a:p>
            <a:pPr lvl="1" eaLnBrk="1" hangingPunct="1"/>
            <a:r>
              <a:rPr lang="en-US" smtClean="0"/>
              <a:t>Suppression - sensitive data are not provided</a:t>
            </a:r>
          </a:p>
          <a:p>
            <a:pPr lvl="1" eaLnBrk="1" hangingPunct="1"/>
            <a:r>
              <a:rPr lang="en-US" smtClean="0"/>
              <a:t>Conceal – not the exactly the actual value</a:t>
            </a:r>
          </a:p>
          <a:p>
            <a:pPr eaLnBrk="1" hangingPunct="1"/>
            <a:r>
              <a:rPr lang="en-US" smtClean="0"/>
              <a:t>Mechanisms </a:t>
            </a:r>
          </a:p>
          <a:p>
            <a:pPr lvl="1" eaLnBrk="1" hangingPunct="1"/>
            <a:r>
              <a:rPr lang="en-US" smtClean="0"/>
              <a:t>Random Sample check</a:t>
            </a:r>
          </a:p>
          <a:p>
            <a:pPr lvl="1" eaLnBrk="1" hangingPunct="1"/>
            <a:r>
              <a:rPr lang="en-US" smtClean="0"/>
              <a:t>Query Analysis</a:t>
            </a:r>
          </a:p>
          <a:p>
            <a:pPr lvl="1" eaLnBrk="1" hangingPunct="1"/>
            <a:endParaRPr lang="en-US" smtClean="0"/>
          </a:p>
        </p:txBody>
      </p:sp>
      <p:sp>
        <p:nvSpPr>
          <p:cNvPr id="20483" name="Title 2"/>
          <p:cNvSpPr>
            <a:spLocks noGrp="1"/>
          </p:cNvSpPr>
          <p:nvPr>
            <p:ph type="title"/>
          </p:nvPr>
        </p:nvSpPr>
        <p:spPr/>
        <p:txBody>
          <a:bodyPr/>
          <a:lstStyle/>
          <a:p>
            <a:pPr eaLnBrk="1" hangingPunct="1"/>
            <a:r>
              <a:rPr lang="en-US" smtClean="0"/>
              <a:t>Inference </a:t>
            </a:r>
          </a:p>
        </p:txBody>
      </p:sp>
    </p:spTree>
    <p:extLst>
      <p:ext uri="{BB962C8B-B14F-4D97-AF65-F5344CB8AC3E}">
        <p14:creationId xmlns:p14="http://schemas.microsoft.com/office/powerpoint/2010/main" val="4648840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eaLnBrk="1" hangingPunct="1">
              <a:defRPr/>
            </a:pPr>
            <a:r>
              <a:rPr lang="en-US" dirty="0" smtClean="0"/>
              <a:t>Sensitivity</a:t>
            </a:r>
          </a:p>
          <a:p>
            <a:pPr lvl="1" eaLnBrk="1" hangingPunct="1">
              <a:defRPr/>
            </a:pPr>
            <a:r>
              <a:rPr lang="en-US" dirty="0" smtClean="0"/>
              <a:t>Attribute </a:t>
            </a:r>
          </a:p>
          <a:p>
            <a:pPr lvl="1" eaLnBrk="1" hangingPunct="1">
              <a:defRPr/>
            </a:pPr>
            <a:r>
              <a:rPr lang="en-US" dirty="0" smtClean="0"/>
              <a:t>Deferent sensitivity levels</a:t>
            </a:r>
          </a:p>
          <a:p>
            <a:pPr lvl="1" eaLnBrk="1" hangingPunct="1">
              <a:defRPr/>
            </a:pPr>
            <a:r>
              <a:rPr lang="en-US" dirty="0" smtClean="0"/>
              <a:t>Security </a:t>
            </a:r>
          </a:p>
          <a:p>
            <a:pPr lvl="2" eaLnBrk="1" hangingPunct="1">
              <a:defRPr/>
            </a:pPr>
            <a:r>
              <a:rPr lang="en-US" dirty="0" smtClean="0"/>
              <a:t>Each individual element</a:t>
            </a:r>
          </a:p>
          <a:p>
            <a:pPr lvl="2" eaLnBrk="1" hangingPunct="1">
              <a:defRPr/>
            </a:pPr>
            <a:r>
              <a:rPr lang="en-US" dirty="0" smtClean="0"/>
              <a:t>Several grades of security</a:t>
            </a:r>
          </a:p>
          <a:p>
            <a:pPr lvl="2" eaLnBrk="1" hangingPunct="1">
              <a:defRPr/>
            </a:pPr>
            <a:r>
              <a:rPr lang="en-US" dirty="0" smtClean="0"/>
              <a:t>Security for aggregations – deferent attributes</a:t>
            </a:r>
          </a:p>
          <a:p>
            <a:pPr lvl="1" eaLnBrk="1" hangingPunct="1">
              <a:defRPr/>
            </a:pPr>
            <a:r>
              <a:rPr lang="en-US" dirty="0" smtClean="0"/>
              <a:t>Granularity</a:t>
            </a:r>
          </a:p>
          <a:p>
            <a:pPr lvl="2" eaLnBrk="1" hangingPunct="1">
              <a:defRPr/>
            </a:pPr>
            <a:r>
              <a:rPr lang="en-US" dirty="0" smtClean="0"/>
              <a:t>Every element of a database have a distinct sensitivity</a:t>
            </a:r>
          </a:p>
          <a:p>
            <a:pPr lvl="2" eaLnBrk="1" hangingPunct="1">
              <a:defRPr/>
            </a:pPr>
            <a:r>
              <a:rPr lang="en-US" dirty="0" smtClean="0"/>
              <a:t>Every combination of elements have distinct sensitivity</a:t>
            </a:r>
            <a:endParaRPr lang="en-US" dirty="0"/>
          </a:p>
        </p:txBody>
      </p:sp>
      <p:sp>
        <p:nvSpPr>
          <p:cNvPr id="21507" name="Title 2"/>
          <p:cNvSpPr>
            <a:spLocks noGrp="1"/>
          </p:cNvSpPr>
          <p:nvPr>
            <p:ph type="title"/>
          </p:nvPr>
        </p:nvSpPr>
        <p:spPr/>
        <p:txBody>
          <a:bodyPr/>
          <a:lstStyle/>
          <a:p>
            <a:pPr eaLnBrk="1" hangingPunct="1"/>
            <a:r>
              <a:rPr lang="en-US" smtClean="0"/>
              <a:t>Multilevel Databases</a:t>
            </a:r>
          </a:p>
        </p:txBody>
      </p:sp>
      <p:graphicFrame>
        <p:nvGraphicFramePr>
          <p:cNvPr id="4" name="Table 3"/>
          <p:cNvGraphicFramePr>
            <a:graphicFrameLocks noGrp="1"/>
          </p:cNvGraphicFramePr>
          <p:nvPr/>
        </p:nvGraphicFramePr>
        <p:xfrm>
          <a:off x="4953000" y="1371600"/>
          <a:ext cx="3962399" cy="1524000"/>
        </p:xfrm>
        <a:graphic>
          <a:graphicData uri="http://schemas.openxmlformats.org/drawingml/2006/table">
            <a:tbl>
              <a:tblPr/>
              <a:tblGrid>
                <a:gridCol w="543858"/>
                <a:gridCol w="1398495"/>
                <a:gridCol w="621553"/>
                <a:gridCol w="484093"/>
                <a:gridCol w="914400"/>
              </a:tblGrid>
              <a:tr h="304800">
                <a:tc>
                  <a:txBody>
                    <a:bodyPr/>
                    <a:lstStyle/>
                    <a:p>
                      <a:pPr algn="l" fontAlgn="t"/>
                      <a:r>
                        <a:rPr lang="en-US" sz="1100" b="1" i="0" u="none" strike="noStrike" dirty="0">
                          <a:solidFill>
                            <a:srgbClr val="000000"/>
                          </a:solidFill>
                          <a:latin typeface="Calibri"/>
                        </a:rPr>
                        <a:t>Name</a:t>
                      </a:r>
                    </a:p>
                  </a:txBody>
                  <a:tcPr marL="9525" marR="9525" marT="9525" marB="0">
                    <a:lnL>
                      <a:noFill/>
                    </a:lnL>
                    <a:lnR>
                      <a:noFill/>
                    </a:lnR>
                    <a:lnT>
                      <a:noFill/>
                    </a:lnT>
                    <a:lnB>
                      <a:noFill/>
                    </a:lnB>
                  </a:tcPr>
                </a:tc>
                <a:tc>
                  <a:txBody>
                    <a:bodyPr/>
                    <a:lstStyle/>
                    <a:p>
                      <a:pPr algn="l" fontAlgn="t"/>
                      <a:r>
                        <a:rPr lang="en-US" sz="1100" b="1" i="0" u="none" strike="noStrike">
                          <a:solidFill>
                            <a:srgbClr val="000000"/>
                          </a:solidFill>
                          <a:latin typeface="Calibri"/>
                        </a:rPr>
                        <a:t>Department</a:t>
                      </a:r>
                    </a:p>
                  </a:txBody>
                  <a:tcPr marL="9525" marR="9525" marT="9525" marB="0">
                    <a:lnL>
                      <a:noFill/>
                    </a:lnL>
                    <a:lnR>
                      <a:noFill/>
                    </a:lnR>
                    <a:lnT>
                      <a:noFill/>
                    </a:lnT>
                    <a:lnB>
                      <a:noFill/>
                    </a:lnB>
                  </a:tcPr>
                </a:tc>
                <a:tc>
                  <a:txBody>
                    <a:bodyPr/>
                    <a:lstStyle/>
                    <a:p>
                      <a:pPr algn="ctr" fontAlgn="t"/>
                      <a:r>
                        <a:rPr lang="en-US" sz="1100" b="1" i="0" u="none" strike="noStrike">
                          <a:solidFill>
                            <a:srgbClr val="000000"/>
                          </a:solidFill>
                          <a:latin typeface="Calibri"/>
                        </a:rPr>
                        <a:t>Salary</a:t>
                      </a:r>
                    </a:p>
                  </a:txBody>
                  <a:tcPr marL="9525" marR="9525" marT="9525" marB="0">
                    <a:lnL>
                      <a:noFill/>
                    </a:lnL>
                    <a:lnR>
                      <a:noFill/>
                    </a:lnR>
                    <a:lnT>
                      <a:noFill/>
                    </a:lnT>
                    <a:lnB>
                      <a:noFill/>
                    </a:lnB>
                    <a:solidFill>
                      <a:srgbClr val="E6E6E6"/>
                    </a:solidFill>
                  </a:tcPr>
                </a:tc>
                <a:tc>
                  <a:txBody>
                    <a:bodyPr/>
                    <a:lstStyle/>
                    <a:p>
                      <a:pPr algn="ctr" fontAlgn="t"/>
                      <a:r>
                        <a:rPr lang="en-US" sz="1100" b="1" i="0" u="none" strike="noStrike">
                          <a:solidFill>
                            <a:srgbClr val="000000"/>
                          </a:solidFill>
                          <a:latin typeface="Calibri"/>
                        </a:rPr>
                        <a:t>Phone</a:t>
                      </a:r>
                    </a:p>
                  </a:txBody>
                  <a:tcPr marL="9525" marR="9525" marT="9525" marB="0">
                    <a:lnL>
                      <a:noFill/>
                    </a:lnL>
                    <a:lnR>
                      <a:noFill/>
                    </a:lnR>
                    <a:lnT>
                      <a:noFill/>
                    </a:lnT>
                    <a:lnB>
                      <a:noFill/>
                    </a:lnB>
                  </a:tcPr>
                </a:tc>
                <a:tc>
                  <a:txBody>
                    <a:bodyPr/>
                    <a:lstStyle/>
                    <a:p>
                      <a:pPr algn="ctr" fontAlgn="t"/>
                      <a:r>
                        <a:rPr lang="en-US" sz="1100" b="1" i="0" u="none" strike="noStrike">
                          <a:solidFill>
                            <a:srgbClr val="000000"/>
                          </a:solidFill>
                          <a:latin typeface="Calibri"/>
                        </a:rPr>
                        <a:t>Performance</a:t>
                      </a:r>
                    </a:p>
                  </a:txBody>
                  <a:tcPr marL="9525" marR="9525" marT="9525" marB="0">
                    <a:lnL>
                      <a:noFill/>
                    </a:lnL>
                    <a:lnR>
                      <a:noFill/>
                    </a:lnR>
                    <a:lnT>
                      <a:noFill/>
                    </a:lnT>
                    <a:lnB>
                      <a:noFill/>
                    </a:lnB>
                    <a:solidFill>
                      <a:srgbClr val="E6E6E6"/>
                    </a:solidFill>
                  </a:tcPr>
                </a:tc>
              </a:tr>
              <a:tr h="190500">
                <a:tc>
                  <a:txBody>
                    <a:bodyPr/>
                    <a:lstStyle/>
                    <a:p>
                      <a:pPr algn="l" fontAlgn="t"/>
                      <a:r>
                        <a:rPr lang="en-US" sz="1100" b="0" i="0" u="none" strike="noStrike">
                          <a:solidFill>
                            <a:srgbClr val="000000"/>
                          </a:solidFill>
                          <a:latin typeface="Calibri"/>
                        </a:rPr>
                        <a:t>Rogers</a:t>
                      </a:r>
                    </a:p>
                  </a:txBody>
                  <a:tcPr marL="9525" marR="9525" marT="9525" marB="0">
                    <a:lnL>
                      <a:noFill/>
                    </a:lnL>
                    <a:lnR>
                      <a:noFill/>
                    </a:lnR>
                    <a:lnT>
                      <a:noFill/>
                    </a:lnT>
                    <a:lnB>
                      <a:noFill/>
                    </a:lnB>
                  </a:tcPr>
                </a:tc>
                <a:tc>
                  <a:txBody>
                    <a:bodyPr/>
                    <a:lstStyle/>
                    <a:p>
                      <a:pPr algn="l" fontAlgn="t"/>
                      <a:r>
                        <a:rPr lang="en-US" sz="1100" b="0" i="0" u="none" strike="noStrike">
                          <a:solidFill>
                            <a:srgbClr val="000000"/>
                          </a:solidFill>
                          <a:latin typeface="Calibri"/>
                        </a:rPr>
                        <a:t>training</a:t>
                      </a:r>
                    </a:p>
                  </a:txBody>
                  <a:tcPr marL="9525" marR="9525" marT="9525" marB="0">
                    <a:lnL>
                      <a:noFill/>
                    </a:lnL>
                    <a:lnR>
                      <a:noFill/>
                    </a:lnR>
                    <a:lnT>
                      <a:noFill/>
                    </a:lnT>
                    <a:lnB>
                      <a:noFill/>
                    </a:lnB>
                  </a:tcPr>
                </a:tc>
                <a:tc>
                  <a:txBody>
                    <a:bodyPr/>
                    <a:lstStyle/>
                    <a:p>
                      <a:pPr algn="ctr" fontAlgn="t"/>
                      <a:r>
                        <a:rPr lang="en-US" sz="1100" b="0" i="0" u="none" strike="noStrike">
                          <a:solidFill>
                            <a:srgbClr val="000000"/>
                          </a:solidFill>
                          <a:latin typeface="Calibri"/>
                        </a:rPr>
                        <a:t>43,800</a:t>
                      </a:r>
                    </a:p>
                  </a:txBody>
                  <a:tcPr marL="9525" marR="9525" marT="9525" marB="0">
                    <a:lnL>
                      <a:noFill/>
                    </a:lnL>
                    <a:lnR>
                      <a:noFill/>
                    </a:lnR>
                    <a:lnT>
                      <a:noFill/>
                    </a:lnT>
                    <a:lnB>
                      <a:noFill/>
                    </a:lnB>
                    <a:solidFill>
                      <a:srgbClr val="E6E6E6"/>
                    </a:solidFill>
                  </a:tcPr>
                </a:tc>
                <a:tc>
                  <a:txBody>
                    <a:bodyPr/>
                    <a:lstStyle/>
                    <a:p>
                      <a:pPr algn="ctr" fontAlgn="t"/>
                      <a:r>
                        <a:rPr lang="en-US" sz="1100" b="0" i="0" u="none" strike="noStrike" dirty="0" smtClean="0">
                          <a:solidFill>
                            <a:srgbClr val="000000"/>
                          </a:solidFill>
                          <a:latin typeface="Calibri"/>
                        </a:rPr>
                        <a:t>123</a:t>
                      </a:r>
                      <a:endParaRPr lang="en-US" sz="1100" b="0" i="0" u="none" strike="noStrike" dirty="0">
                        <a:solidFill>
                          <a:srgbClr val="000000"/>
                        </a:solidFill>
                        <a:latin typeface="Calibri"/>
                      </a:endParaRPr>
                    </a:p>
                  </a:txBody>
                  <a:tcPr marL="9525" marR="9525" marT="9525" marB="0">
                    <a:lnL>
                      <a:noFill/>
                    </a:lnL>
                    <a:lnR>
                      <a:noFill/>
                    </a:lnR>
                    <a:lnT>
                      <a:noFill/>
                    </a:lnT>
                    <a:lnB>
                      <a:noFill/>
                    </a:lnB>
                  </a:tcPr>
                </a:tc>
                <a:tc>
                  <a:txBody>
                    <a:bodyPr/>
                    <a:lstStyle/>
                    <a:p>
                      <a:pPr algn="ctr" fontAlgn="t"/>
                      <a:r>
                        <a:rPr lang="en-US" sz="1100" b="0" i="0" u="none" strike="noStrike">
                          <a:solidFill>
                            <a:srgbClr val="000000"/>
                          </a:solidFill>
                          <a:latin typeface="Calibri"/>
                        </a:rPr>
                        <a:t>A2</a:t>
                      </a:r>
                    </a:p>
                  </a:txBody>
                  <a:tcPr marL="9525" marR="9525" marT="9525" marB="0">
                    <a:lnL>
                      <a:noFill/>
                    </a:lnL>
                    <a:lnR>
                      <a:noFill/>
                    </a:lnR>
                    <a:lnT>
                      <a:noFill/>
                    </a:lnT>
                    <a:lnB>
                      <a:noFill/>
                    </a:lnB>
                    <a:solidFill>
                      <a:srgbClr val="E6E6E6"/>
                    </a:solidFill>
                  </a:tcPr>
                </a:tc>
              </a:tr>
              <a:tr h="190500">
                <a:tc>
                  <a:txBody>
                    <a:bodyPr/>
                    <a:lstStyle/>
                    <a:p>
                      <a:pPr algn="l" fontAlgn="t"/>
                      <a:r>
                        <a:rPr lang="en-US" sz="1100" b="0" i="0" u="none" strike="noStrike">
                          <a:solidFill>
                            <a:srgbClr val="000000"/>
                          </a:solidFill>
                          <a:latin typeface="Calibri"/>
                        </a:rPr>
                        <a:t>Jenkins</a:t>
                      </a:r>
                    </a:p>
                  </a:txBody>
                  <a:tcPr marL="9525" marR="9525" marT="9525" marB="0">
                    <a:lnL>
                      <a:noFill/>
                    </a:lnL>
                    <a:lnR>
                      <a:noFill/>
                    </a:lnR>
                    <a:lnT>
                      <a:noFill/>
                    </a:lnT>
                    <a:lnB>
                      <a:noFill/>
                    </a:lnB>
                  </a:tcPr>
                </a:tc>
                <a:tc>
                  <a:txBody>
                    <a:bodyPr/>
                    <a:lstStyle/>
                    <a:p>
                      <a:pPr algn="l" fontAlgn="t"/>
                      <a:r>
                        <a:rPr lang="en-US" sz="1100" b="0" i="0" u="none" strike="noStrike">
                          <a:solidFill>
                            <a:srgbClr val="000000"/>
                          </a:solidFill>
                          <a:latin typeface="Calibri"/>
                        </a:rPr>
                        <a:t>research</a:t>
                      </a:r>
                    </a:p>
                  </a:txBody>
                  <a:tcPr marL="9525" marR="9525" marT="9525" marB="0">
                    <a:lnL>
                      <a:noFill/>
                    </a:lnL>
                    <a:lnR>
                      <a:noFill/>
                    </a:lnR>
                    <a:lnT>
                      <a:noFill/>
                    </a:lnT>
                    <a:lnB>
                      <a:noFill/>
                    </a:lnB>
                  </a:tcPr>
                </a:tc>
                <a:tc>
                  <a:txBody>
                    <a:bodyPr/>
                    <a:lstStyle/>
                    <a:p>
                      <a:pPr algn="ctr" fontAlgn="t"/>
                      <a:r>
                        <a:rPr lang="en-US" sz="1100" b="0" i="0" u="none" strike="noStrike">
                          <a:solidFill>
                            <a:srgbClr val="000000"/>
                          </a:solidFill>
                          <a:latin typeface="Calibri"/>
                        </a:rPr>
                        <a:t>62,900</a:t>
                      </a:r>
                    </a:p>
                  </a:txBody>
                  <a:tcPr marL="9525" marR="9525" marT="9525" marB="0">
                    <a:lnL>
                      <a:noFill/>
                    </a:lnL>
                    <a:lnR>
                      <a:noFill/>
                    </a:lnR>
                    <a:lnT>
                      <a:noFill/>
                    </a:lnT>
                    <a:lnB>
                      <a:noFill/>
                    </a:lnB>
                    <a:solidFill>
                      <a:srgbClr val="E6E6E6"/>
                    </a:solidFill>
                  </a:tcPr>
                </a:tc>
                <a:tc>
                  <a:txBody>
                    <a:bodyPr/>
                    <a:lstStyle/>
                    <a:p>
                      <a:pPr algn="ctr" fontAlgn="t"/>
                      <a:r>
                        <a:rPr lang="en-US" sz="1100" b="0" i="0" u="none" strike="noStrike" dirty="0" smtClean="0">
                          <a:solidFill>
                            <a:srgbClr val="000000"/>
                          </a:solidFill>
                          <a:latin typeface="Calibri"/>
                        </a:rPr>
                        <a:t>345</a:t>
                      </a:r>
                      <a:endParaRPr lang="en-US" sz="1100" b="0" i="0" u="none" strike="noStrike" dirty="0">
                        <a:solidFill>
                          <a:srgbClr val="000000"/>
                        </a:solidFill>
                        <a:latin typeface="Calibri"/>
                      </a:endParaRPr>
                    </a:p>
                  </a:txBody>
                  <a:tcPr marL="9525" marR="9525" marT="9525" marB="0">
                    <a:lnL>
                      <a:noFill/>
                    </a:lnL>
                    <a:lnR>
                      <a:noFill/>
                    </a:lnR>
                    <a:lnT>
                      <a:noFill/>
                    </a:lnT>
                    <a:lnB>
                      <a:noFill/>
                    </a:lnB>
                  </a:tcPr>
                </a:tc>
                <a:tc>
                  <a:txBody>
                    <a:bodyPr/>
                    <a:lstStyle/>
                    <a:p>
                      <a:pPr algn="ctr" fontAlgn="t"/>
                      <a:r>
                        <a:rPr lang="en-US" sz="1100" b="0" i="0" u="none" strike="noStrike">
                          <a:solidFill>
                            <a:srgbClr val="000000"/>
                          </a:solidFill>
                          <a:latin typeface="Calibri"/>
                        </a:rPr>
                        <a:t>D4</a:t>
                      </a:r>
                    </a:p>
                  </a:txBody>
                  <a:tcPr marL="9525" marR="9525" marT="9525" marB="0">
                    <a:lnL>
                      <a:noFill/>
                    </a:lnL>
                    <a:lnR>
                      <a:noFill/>
                    </a:lnR>
                    <a:lnT>
                      <a:noFill/>
                    </a:lnT>
                    <a:lnB>
                      <a:noFill/>
                    </a:lnB>
                    <a:solidFill>
                      <a:srgbClr val="E6E6E6"/>
                    </a:solidFill>
                  </a:tcPr>
                </a:tc>
              </a:tr>
              <a:tr h="190500">
                <a:tc>
                  <a:txBody>
                    <a:bodyPr/>
                    <a:lstStyle/>
                    <a:p>
                      <a:pPr algn="l" fontAlgn="t"/>
                      <a:r>
                        <a:rPr lang="en-US" sz="1100" b="0" i="0" u="none" strike="noStrike">
                          <a:solidFill>
                            <a:srgbClr val="000000"/>
                          </a:solidFill>
                          <a:latin typeface="Calibri"/>
                        </a:rPr>
                        <a:t>Poling</a:t>
                      </a:r>
                    </a:p>
                  </a:txBody>
                  <a:tcPr marL="9525" marR="9525" marT="9525" marB="0">
                    <a:lnL>
                      <a:noFill/>
                    </a:lnL>
                    <a:lnR>
                      <a:noFill/>
                    </a:lnR>
                    <a:lnT>
                      <a:noFill/>
                    </a:lnT>
                    <a:lnB>
                      <a:noFill/>
                    </a:lnB>
                  </a:tcPr>
                </a:tc>
                <a:tc>
                  <a:txBody>
                    <a:bodyPr/>
                    <a:lstStyle/>
                    <a:p>
                      <a:pPr algn="l" fontAlgn="t"/>
                      <a:r>
                        <a:rPr lang="en-US" sz="1100" b="0" i="0" u="none" strike="noStrike">
                          <a:solidFill>
                            <a:srgbClr val="000000"/>
                          </a:solidFill>
                          <a:latin typeface="Calibri"/>
                        </a:rPr>
                        <a:t>training</a:t>
                      </a:r>
                    </a:p>
                  </a:txBody>
                  <a:tcPr marL="9525" marR="9525" marT="9525" marB="0">
                    <a:lnL>
                      <a:noFill/>
                    </a:lnL>
                    <a:lnR>
                      <a:noFill/>
                    </a:lnR>
                    <a:lnT>
                      <a:noFill/>
                    </a:lnT>
                    <a:lnB>
                      <a:noFill/>
                    </a:lnB>
                  </a:tcPr>
                </a:tc>
                <a:tc>
                  <a:txBody>
                    <a:bodyPr/>
                    <a:lstStyle/>
                    <a:p>
                      <a:pPr algn="ctr" fontAlgn="t"/>
                      <a:r>
                        <a:rPr lang="en-US" sz="1100" b="0" i="0" u="none" strike="noStrike">
                          <a:solidFill>
                            <a:srgbClr val="000000"/>
                          </a:solidFill>
                          <a:latin typeface="Calibri"/>
                        </a:rPr>
                        <a:t>38,200</a:t>
                      </a:r>
                    </a:p>
                  </a:txBody>
                  <a:tcPr marL="9525" marR="9525" marT="9525" marB="0">
                    <a:lnL>
                      <a:noFill/>
                    </a:lnL>
                    <a:lnR>
                      <a:noFill/>
                    </a:lnR>
                    <a:lnT>
                      <a:noFill/>
                    </a:lnT>
                    <a:lnB>
                      <a:noFill/>
                    </a:lnB>
                    <a:solidFill>
                      <a:srgbClr val="E6E6E6"/>
                    </a:solidFill>
                  </a:tcPr>
                </a:tc>
                <a:tc>
                  <a:txBody>
                    <a:bodyPr/>
                    <a:lstStyle/>
                    <a:p>
                      <a:pPr algn="ctr" fontAlgn="t"/>
                      <a:r>
                        <a:rPr lang="en-US" sz="1100" b="0" i="0" u="none" strike="noStrike" dirty="0" smtClean="0">
                          <a:solidFill>
                            <a:srgbClr val="000000"/>
                          </a:solidFill>
                          <a:latin typeface="Calibri"/>
                        </a:rPr>
                        <a:t>321</a:t>
                      </a:r>
                      <a:endParaRPr lang="en-US" sz="1100" b="0" i="0" u="none" strike="noStrike" dirty="0">
                        <a:solidFill>
                          <a:srgbClr val="000000"/>
                        </a:solidFill>
                        <a:latin typeface="Calibri"/>
                      </a:endParaRPr>
                    </a:p>
                  </a:txBody>
                  <a:tcPr marL="9525" marR="9525" marT="9525" marB="0">
                    <a:lnL>
                      <a:noFill/>
                    </a:lnL>
                    <a:lnR>
                      <a:noFill/>
                    </a:lnR>
                    <a:lnT>
                      <a:noFill/>
                    </a:lnT>
                    <a:lnB>
                      <a:noFill/>
                    </a:lnB>
                  </a:tcPr>
                </a:tc>
                <a:tc>
                  <a:txBody>
                    <a:bodyPr/>
                    <a:lstStyle/>
                    <a:p>
                      <a:pPr algn="ctr" fontAlgn="t"/>
                      <a:r>
                        <a:rPr lang="en-US" sz="1100" b="0" i="0" u="none" strike="noStrike">
                          <a:solidFill>
                            <a:srgbClr val="000000"/>
                          </a:solidFill>
                          <a:latin typeface="Calibri"/>
                        </a:rPr>
                        <a:t>B1</a:t>
                      </a:r>
                    </a:p>
                  </a:txBody>
                  <a:tcPr marL="9525" marR="9525" marT="9525" marB="0">
                    <a:lnL>
                      <a:noFill/>
                    </a:lnL>
                    <a:lnR>
                      <a:noFill/>
                    </a:lnR>
                    <a:lnT>
                      <a:noFill/>
                    </a:lnT>
                    <a:lnB>
                      <a:noFill/>
                    </a:lnB>
                    <a:solidFill>
                      <a:srgbClr val="E6E6E6"/>
                    </a:solidFill>
                  </a:tcPr>
                </a:tc>
              </a:tr>
              <a:tr h="190500">
                <a:tc>
                  <a:txBody>
                    <a:bodyPr/>
                    <a:lstStyle/>
                    <a:p>
                      <a:pPr algn="l" fontAlgn="t"/>
                      <a:r>
                        <a:rPr lang="en-US" sz="1100" b="0" i="0" u="none" strike="noStrike">
                          <a:solidFill>
                            <a:srgbClr val="000000"/>
                          </a:solidFill>
                          <a:latin typeface="Calibri"/>
                        </a:rPr>
                        <a:t>Garland</a:t>
                      </a:r>
                    </a:p>
                  </a:txBody>
                  <a:tcPr marL="9525" marR="9525" marT="9525" marB="0">
                    <a:lnL>
                      <a:noFill/>
                    </a:lnL>
                    <a:lnR>
                      <a:noFill/>
                    </a:lnR>
                    <a:lnT>
                      <a:noFill/>
                    </a:lnT>
                    <a:lnB>
                      <a:noFill/>
                    </a:lnB>
                  </a:tcPr>
                </a:tc>
                <a:tc>
                  <a:txBody>
                    <a:bodyPr/>
                    <a:lstStyle/>
                    <a:p>
                      <a:pPr algn="l" fontAlgn="t"/>
                      <a:r>
                        <a:rPr lang="en-US" sz="1100" b="0" i="0" u="none" strike="noStrike">
                          <a:solidFill>
                            <a:srgbClr val="000000"/>
                          </a:solidFill>
                          <a:latin typeface="Calibri"/>
                        </a:rPr>
                        <a:t>user services</a:t>
                      </a:r>
                    </a:p>
                  </a:txBody>
                  <a:tcPr marL="9525" marR="9525" marT="9525" marB="0">
                    <a:lnL>
                      <a:noFill/>
                    </a:lnL>
                    <a:lnR>
                      <a:noFill/>
                    </a:lnR>
                    <a:lnT>
                      <a:noFill/>
                    </a:lnT>
                    <a:lnB>
                      <a:noFill/>
                    </a:lnB>
                  </a:tcPr>
                </a:tc>
                <a:tc>
                  <a:txBody>
                    <a:bodyPr/>
                    <a:lstStyle/>
                    <a:p>
                      <a:pPr algn="ctr" fontAlgn="t"/>
                      <a:r>
                        <a:rPr lang="en-US" sz="1100" b="0" i="0" u="none" strike="noStrike">
                          <a:solidFill>
                            <a:srgbClr val="000000"/>
                          </a:solidFill>
                          <a:latin typeface="Calibri"/>
                        </a:rPr>
                        <a:t>54,600</a:t>
                      </a:r>
                    </a:p>
                  </a:txBody>
                  <a:tcPr marL="9525" marR="9525" marT="9525" marB="0">
                    <a:lnL>
                      <a:noFill/>
                    </a:lnL>
                    <a:lnR>
                      <a:noFill/>
                    </a:lnR>
                    <a:lnT>
                      <a:noFill/>
                    </a:lnT>
                    <a:lnB>
                      <a:noFill/>
                    </a:lnB>
                    <a:solidFill>
                      <a:srgbClr val="E6E6E6"/>
                    </a:solidFill>
                  </a:tcPr>
                </a:tc>
                <a:tc>
                  <a:txBody>
                    <a:bodyPr/>
                    <a:lstStyle/>
                    <a:p>
                      <a:pPr algn="ctr" fontAlgn="t"/>
                      <a:r>
                        <a:rPr lang="en-US" sz="1100" b="0" i="0" u="none" strike="noStrike" dirty="0" smtClean="0">
                          <a:solidFill>
                            <a:srgbClr val="000000"/>
                          </a:solidFill>
                          <a:latin typeface="Calibri"/>
                        </a:rPr>
                        <a:t>3456</a:t>
                      </a:r>
                      <a:endParaRPr lang="en-US" sz="1100" b="0" i="0" u="none" strike="noStrike" dirty="0">
                        <a:solidFill>
                          <a:srgbClr val="000000"/>
                        </a:solidFill>
                        <a:latin typeface="Calibri"/>
                      </a:endParaRPr>
                    </a:p>
                  </a:txBody>
                  <a:tcPr marL="9525" marR="9525" marT="9525" marB="0">
                    <a:lnL>
                      <a:noFill/>
                    </a:lnL>
                    <a:lnR>
                      <a:noFill/>
                    </a:lnR>
                    <a:lnT>
                      <a:noFill/>
                    </a:lnT>
                    <a:lnB>
                      <a:noFill/>
                    </a:lnB>
                    <a:solidFill>
                      <a:srgbClr val="CDCDCD"/>
                    </a:solidFill>
                  </a:tcPr>
                </a:tc>
                <a:tc>
                  <a:txBody>
                    <a:bodyPr/>
                    <a:lstStyle/>
                    <a:p>
                      <a:pPr algn="ctr" fontAlgn="t"/>
                      <a:r>
                        <a:rPr lang="en-US" sz="1100" b="0" i="0" u="none" strike="noStrike">
                          <a:solidFill>
                            <a:srgbClr val="000000"/>
                          </a:solidFill>
                          <a:latin typeface="Calibri"/>
                        </a:rPr>
                        <a:t>A4</a:t>
                      </a:r>
                    </a:p>
                  </a:txBody>
                  <a:tcPr marL="9525" marR="9525" marT="9525" marB="0">
                    <a:lnL>
                      <a:noFill/>
                    </a:lnL>
                    <a:lnR>
                      <a:noFill/>
                    </a:lnR>
                    <a:lnT>
                      <a:noFill/>
                    </a:lnT>
                    <a:lnB>
                      <a:noFill/>
                    </a:lnB>
                    <a:solidFill>
                      <a:srgbClr val="E6E6E6"/>
                    </a:solidFill>
                  </a:tcPr>
                </a:tc>
              </a:tr>
              <a:tr h="228600">
                <a:tc>
                  <a:txBody>
                    <a:bodyPr/>
                    <a:lstStyle/>
                    <a:p>
                      <a:pPr algn="l" fontAlgn="t"/>
                      <a:r>
                        <a:rPr lang="en-US" sz="1100" b="0" i="0" u="none" strike="noStrike">
                          <a:solidFill>
                            <a:srgbClr val="000000"/>
                          </a:solidFill>
                          <a:latin typeface="Calibri"/>
                        </a:rPr>
                        <a:t>Hilten</a:t>
                      </a:r>
                    </a:p>
                  </a:txBody>
                  <a:tcPr marL="9525" marR="9525" marT="9525" marB="0">
                    <a:lnL>
                      <a:noFill/>
                    </a:lnL>
                    <a:lnR>
                      <a:noFill/>
                    </a:lnR>
                    <a:lnT>
                      <a:noFill/>
                    </a:lnT>
                    <a:lnB>
                      <a:noFill/>
                    </a:lnB>
                  </a:tcPr>
                </a:tc>
                <a:tc>
                  <a:txBody>
                    <a:bodyPr/>
                    <a:lstStyle/>
                    <a:p>
                      <a:pPr algn="l" fontAlgn="t"/>
                      <a:r>
                        <a:rPr lang="en-US" sz="1100" b="0" i="0" u="none" strike="noStrike">
                          <a:solidFill>
                            <a:srgbClr val="000000"/>
                          </a:solidFill>
                          <a:latin typeface="Calibri"/>
                        </a:rPr>
                        <a:t>user services</a:t>
                      </a:r>
                    </a:p>
                  </a:txBody>
                  <a:tcPr marL="9525" marR="9525" marT="9525" marB="0">
                    <a:lnL>
                      <a:noFill/>
                    </a:lnL>
                    <a:lnR>
                      <a:noFill/>
                    </a:lnR>
                    <a:lnT>
                      <a:noFill/>
                    </a:lnT>
                    <a:lnB>
                      <a:noFill/>
                    </a:lnB>
                  </a:tcPr>
                </a:tc>
                <a:tc>
                  <a:txBody>
                    <a:bodyPr/>
                    <a:lstStyle/>
                    <a:p>
                      <a:pPr algn="ctr" fontAlgn="t"/>
                      <a:r>
                        <a:rPr lang="en-US" sz="1100" b="0" i="0" u="none" strike="noStrike">
                          <a:solidFill>
                            <a:srgbClr val="000000"/>
                          </a:solidFill>
                          <a:latin typeface="Calibri"/>
                        </a:rPr>
                        <a:t>44,500</a:t>
                      </a:r>
                    </a:p>
                  </a:txBody>
                  <a:tcPr marL="9525" marR="9525" marT="9525" marB="0">
                    <a:lnL>
                      <a:noFill/>
                    </a:lnL>
                    <a:lnR>
                      <a:noFill/>
                    </a:lnR>
                    <a:lnT>
                      <a:noFill/>
                    </a:lnT>
                    <a:lnB>
                      <a:noFill/>
                    </a:lnB>
                    <a:solidFill>
                      <a:srgbClr val="E6E6E6"/>
                    </a:solidFill>
                  </a:tcPr>
                </a:tc>
                <a:tc>
                  <a:txBody>
                    <a:bodyPr/>
                    <a:lstStyle/>
                    <a:p>
                      <a:pPr algn="ctr" fontAlgn="t"/>
                      <a:r>
                        <a:rPr lang="en-US" sz="1100" b="0" i="0" u="none" strike="noStrike" dirty="0" smtClean="0">
                          <a:solidFill>
                            <a:srgbClr val="000000"/>
                          </a:solidFill>
                          <a:latin typeface="Calibri"/>
                        </a:rPr>
                        <a:t>765</a:t>
                      </a:r>
                      <a:endParaRPr lang="en-US" sz="1100" b="0" i="0" u="none" strike="noStrike" dirty="0">
                        <a:solidFill>
                          <a:srgbClr val="000000"/>
                        </a:solidFill>
                        <a:latin typeface="Calibri"/>
                      </a:endParaRPr>
                    </a:p>
                  </a:txBody>
                  <a:tcPr marL="9525" marR="9525" marT="9525" marB="0">
                    <a:lnL>
                      <a:noFill/>
                    </a:lnL>
                    <a:lnR>
                      <a:noFill/>
                    </a:lnR>
                    <a:lnT>
                      <a:noFill/>
                    </a:lnT>
                    <a:lnB>
                      <a:noFill/>
                    </a:lnB>
                  </a:tcPr>
                </a:tc>
                <a:tc>
                  <a:txBody>
                    <a:bodyPr/>
                    <a:lstStyle/>
                    <a:p>
                      <a:pPr algn="ctr" fontAlgn="t"/>
                      <a:r>
                        <a:rPr lang="en-US" sz="1100" b="0" i="0" u="none" strike="noStrike">
                          <a:solidFill>
                            <a:srgbClr val="000000"/>
                          </a:solidFill>
                          <a:latin typeface="Calibri"/>
                        </a:rPr>
                        <a:t>B1</a:t>
                      </a:r>
                    </a:p>
                  </a:txBody>
                  <a:tcPr marL="9525" marR="9525" marT="9525" marB="0">
                    <a:lnL>
                      <a:noFill/>
                    </a:lnL>
                    <a:lnR>
                      <a:noFill/>
                    </a:lnR>
                    <a:lnT>
                      <a:noFill/>
                    </a:lnT>
                    <a:lnB>
                      <a:noFill/>
                    </a:lnB>
                    <a:solidFill>
                      <a:srgbClr val="E6E6E6"/>
                    </a:solidFill>
                  </a:tcPr>
                </a:tc>
              </a:tr>
              <a:tr h="228600">
                <a:tc>
                  <a:txBody>
                    <a:bodyPr/>
                    <a:lstStyle/>
                    <a:p>
                      <a:pPr algn="l" fontAlgn="t"/>
                      <a:r>
                        <a:rPr lang="en-US" sz="1100" b="0" i="0" u="none" strike="noStrike" dirty="0">
                          <a:solidFill>
                            <a:srgbClr val="000000"/>
                          </a:solidFill>
                          <a:latin typeface="Calibri"/>
                        </a:rPr>
                        <a:t>Davis</a:t>
                      </a:r>
                    </a:p>
                  </a:txBody>
                  <a:tcPr marL="9525" marR="9525" marT="9525" marB="0">
                    <a:lnL>
                      <a:noFill/>
                    </a:lnL>
                    <a:lnR>
                      <a:noFill/>
                    </a:lnR>
                    <a:lnT>
                      <a:noFill/>
                    </a:lnT>
                    <a:lnB>
                      <a:noFill/>
                    </a:lnB>
                    <a:solidFill>
                      <a:srgbClr val="CDCDCD"/>
                    </a:solidFill>
                  </a:tcPr>
                </a:tc>
                <a:tc>
                  <a:txBody>
                    <a:bodyPr/>
                    <a:lstStyle/>
                    <a:p>
                      <a:pPr algn="l" fontAlgn="t"/>
                      <a:r>
                        <a:rPr lang="en-US" sz="1100" b="0" i="0" u="none" strike="noStrike">
                          <a:solidFill>
                            <a:srgbClr val="000000"/>
                          </a:solidFill>
                          <a:latin typeface="Calibri"/>
                        </a:rPr>
                        <a:t>administration</a:t>
                      </a:r>
                    </a:p>
                  </a:txBody>
                  <a:tcPr marL="9525" marR="9525" marT="9525" marB="0">
                    <a:lnL>
                      <a:noFill/>
                    </a:lnL>
                    <a:lnR>
                      <a:noFill/>
                    </a:lnR>
                    <a:lnT>
                      <a:noFill/>
                    </a:lnT>
                    <a:lnB>
                      <a:noFill/>
                    </a:lnB>
                    <a:solidFill>
                      <a:srgbClr val="CDCDCD"/>
                    </a:solidFill>
                  </a:tcPr>
                </a:tc>
                <a:tc>
                  <a:txBody>
                    <a:bodyPr/>
                    <a:lstStyle/>
                    <a:p>
                      <a:pPr algn="ctr" fontAlgn="t"/>
                      <a:r>
                        <a:rPr lang="en-US" sz="1100" b="0" i="0" u="none" strike="noStrike">
                          <a:solidFill>
                            <a:srgbClr val="000000"/>
                          </a:solidFill>
                          <a:latin typeface="Calibri"/>
                        </a:rPr>
                        <a:t>51,400</a:t>
                      </a:r>
                    </a:p>
                  </a:txBody>
                  <a:tcPr marL="9525" marR="9525" marT="9525" marB="0">
                    <a:lnL>
                      <a:noFill/>
                    </a:lnL>
                    <a:lnR>
                      <a:noFill/>
                    </a:lnR>
                    <a:lnT>
                      <a:noFill/>
                    </a:lnT>
                    <a:lnB>
                      <a:noFill/>
                    </a:lnB>
                    <a:solidFill>
                      <a:srgbClr val="CDCDCD"/>
                    </a:solidFill>
                  </a:tcPr>
                </a:tc>
                <a:tc>
                  <a:txBody>
                    <a:bodyPr/>
                    <a:lstStyle/>
                    <a:p>
                      <a:pPr algn="ctr" fontAlgn="t"/>
                      <a:r>
                        <a:rPr lang="en-US" sz="1100" b="0" i="0" u="none" strike="noStrike" dirty="0" smtClean="0">
                          <a:solidFill>
                            <a:srgbClr val="000000"/>
                          </a:solidFill>
                          <a:latin typeface="Calibri"/>
                        </a:rPr>
                        <a:t>345</a:t>
                      </a:r>
                      <a:endParaRPr lang="en-US" sz="1100" b="0" i="0" u="none" strike="noStrike" dirty="0">
                        <a:solidFill>
                          <a:srgbClr val="000000"/>
                        </a:solidFill>
                        <a:latin typeface="Calibri"/>
                      </a:endParaRPr>
                    </a:p>
                  </a:txBody>
                  <a:tcPr marL="9525" marR="9525" marT="9525" marB="0">
                    <a:lnL>
                      <a:noFill/>
                    </a:lnL>
                    <a:lnR>
                      <a:noFill/>
                    </a:lnR>
                    <a:lnT>
                      <a:noFill/>
                    </a:lnT>
                    <a:lnB>
                      <a:noFill/>
                    </a:lnB>
                    <a:solidFill>
                      <a:srgbClr val="CDCDCD"/>
                    </a:solidFill>
                  </a:tcPr>
                </a:tc>
                <a:tc>
                  <a:txBody>
                    <a:bodyPr/>
                    <a:lstStyle/>
                    <a:p>
                      <a:pPr algn="ctr" fontAlgn="t"/>
                      <a:r>
                        <a:rPr lang="en-US" sz="1100" b="0" i="0" u="none" strike="noStrike" dirty="0">
                          <a:solidFill>
                            <a:srgbClr val="000000"/>
                          </a:solidFill>
                          <a:latin typeface="Calibri"/>
                        </a:rPr>
                        <a:t>A3</a:t>
                      </a:r>
                    </a:p>
                  </a:txBody>
                  <a:tcPr marL="9525" marR="9525" marT="9525" marB="0">
                    <a:lnL>
                      <a:noFill/>
                    </a:lnL>
                    <a:lnR>
                      <a:noFill/>
                    </a:lnR>
                    <a:lnT>
                      <a:noFill/>
                    </a:lnT>
                    <a:lnB>
                      <a:noFill/>
                    </a:lnB>
                    <a:solidFill>
                      <a:srgbClr val="CDCDCD"/>
                    </a:solidFill>
                  </a:tcPr>
                </a:tc>
              </a:tr>
            </a:tbl>
          </a:graphicData>
        </a:graphic>
      </p:graphicFrame>
    </p:spTree>
    <p:extLst>
      <p:ext uri="{BB962C8B-B14F-4D97-AF65-F5344CB8AC3E}">
        <p14:creationId xmlns:p14="http://schemas.microsoft.com/office/powerpoint/2010/main" val="12344533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1"/>
          <p:cNvSpPr>
            <a:spLocks noGrp="1"/>
          </p:cNvSpPr>
          <p:nvPr>
            <p:ph idx="1"/>
          </p:nvPr>
        </p:nvSpPr>
        <p:spPr/>
        <p:txBody>
          <a:bodyPr/>
          <a:lstStyle/>
          <a:p>
            <a:pPr eaLnBrk="1" hangingPunct="1"/>
            <a:r>
              <a:rPr lang="en-US" smtClean="0"/>
              <a:t>Efficiency</a:t>
            </a:r>
          </a:p>
          <a:p>
            <a:pPr eaLnBrk="1" hangingPunct="1"/>
            <a:r>
              <a:rPr lang="en-US" smtClean="0"/>
              <a:t>Flexibility</a:t>
            </a:r>
          </a:p>
          <a:p>
            <a:pPr eaLnBrk="1" hangingPunct="1"/>
            <a:r>
              <a:rPr lang="en-US" smtClean="0"/>
              <a:t>Simplicity</a:t>
            </a:r>
          </a:p>
          <a:p>
            <a:pPr eaLnBrk="1" hangingPunct="1"/>
            <a:r>
              <a:rPr lang="en-US" smtClean="0"/>
              <a:t>Trustworthiness</a:t>
            </a:r>
          </a:p>
        </p:txBody>
      </p:sp>
      <p:sp>
        <p:nvSpPr>
          <p:cNvPr id="22531" name="Title 2"/>
          <p:cNvSpPr>
            <a:spLocks noGrp="1"/>
          </p:cNvSpPr>
          <p:nvPr>
            <p:ph type="title"/>
          </p:nvPr>
        </p:nvSpPr>
        <p:spPr/>
        <p:txBody>
          <a:bodyPr/>
          <a:lstStyle/>
          <a:p>
            <a:pPr eaLnBrk="1" hangingPunct="1"/>
            <a:r>
              <a:rPr lang="en-US" smtClean="0"/>
              <a:t>Designs of Multilevel Security</a:t>
            </a:r>
          </a:p>
        </p:txBody>
      </p:sp>
    </p:spTree>
    <p:extLst>
      <p:ext uri="{BB962C8B-B14F-4D97-AF65-F5344CB8AC3E}">
        <p14:creationId xmlns:p14="http://schemas.microsoft.com/office/powerpoint/2010/main" val="40249379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1"/>
          <p:cNvSpPr>
            <a:spLocks noGrp="1"/>
          </p:cNvSpPr>
          <p:nvPr>
            <p:ph idx="1"/>
          </p:nvPr>
        </p:nvSpPr>
        <p:spPr/>
        <p:txBody>
          <a:bodyPr/>
          <a:lstStyle/>
          <a:p>
            <a:pPr eaLnBrk="1" hangingPunct="1"/>
            <a:r>
              <a:rPr lang="en-US" smtClean="0"/>
              <a:t>Implementation Mechanisms</a:t>
            </a:r>
          </a:p>
          <a:p>
            <a:pPr lvl="1" eaLnBrk="1" hangingPunct="1"/>
            <a:r>
              <a:rPr lang="en-US" smtClean="0"/>
              <a:t>Partitioning</a:t>
            </a:r>
          </a:p>
          <a:p>
            <a:pPr lvl="1" eaLnBrk="1" hangingPunct="1"/>
            <a:r>
              <a:rPr lang="en-US" smtClean="0"/>
              <a:t>Encryption</a:t>
            </a:r>
          </a:p>
          <a:p>
            <a:pPr lvl="2" eaLnBrk="1" hangingPunct="1"/>
            <a:r>
              <a:rPr lang="en-US" smtClean="0"/>
              <a:t>Deferent keys</a:t>
            </a:r>
          </a:p>
          <a:p>
            <a:pPr lvl="1" eaLnBrk="1" hangingPunct="1"/>
            <a:r>
              <a:rPr lang="en-US" smtClean="0"/>
              <a:t>Integrity Lock</a:t>
            </a:r>
          </a:p>
          <a:p>
            <a:pPr lvl="2" eaLnBrk="1" hangingPunct="1"/>
            <a:r>
              <a:rPr lang="en-US" smtClean="0"/>
              <a:t>Limited access</a:t>
            </a:r>
          </a:p>
          <a:p>
            <a:pPr lvl="2" eaLnBrk="1" hangingPunct="1"/>
            <a:r>
              <a:rPr lang="en-US" smtClean="0"/>
              <a:t>Integrity</a:t>
            </a:r>
          </a:p>
          <a:p>
            <a:pPr lvl="2" eaLnBrk="1" hangingPunct="1"/>
            <a:endParaRPr lang="en-US" smtClean="0"/>
          </a:p>
        </p:txBody>
      </p:sp>
      <p:sp>
        <p:nvSpPr>
          <p:cNvPr id="23555" name="Title 2"/>
          <p:cNvSpPr>
            <a:spLocks noGrp="1"/>
          </p:cNvSpPr>
          <p:nvPr>
            <p:ph type="title"/>
          </p:nvPr>
        </p:nvSpPr>
        <p:spPr/>
        <p:txBody>
          <a:bodyPr/>
          <a:lstStyle/>
          <a:p>
            <a:pPr eaLnBrk="1" hangingPunct="1"/>
            <a:r>
              <a:rPr lang="en-US" smtClean="0"/>
              <a:t>Multilevel Databases</a:t>
            </a:r>
          </a:p>
        </p:txBody>
      </p:sp>
      <p:pic>
        <p:nvPicPr>
          <p:cNvPr id="23556" name="Picture 4" descr="Fig06-07.tif                                                   000182B7BridgerH HD                    ABA781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4038600"/>
            <a:ext cx="4800600" cy="248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05001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1"/>
          <p:cNvSpPr>
            <a:spLocks noGrp="1"/>
          </p:cNvSpPr>
          <p:nvPr>
            <p:ph idx="1"/>
          </p:nvPr>
        </p:nvSpPr>
        <p:spPr/>
        <p:txBody>
          <a:bodyPr/>
          <a:lstStyle/>
          <a:p>
            <a:pPr eaLnBrk="1" hangingPunct="1"/>
            <a:r>
              <a:rPr lang="en-US" smtClean="0"/>
              <a:t>Implementation Mechanisms</a:t>
            </a:r>
          </a:p>
          <a:p>
            <a:pPr lvl="1" eaLnBrk="1" hangingPunct="1"/>
            <a:r>
              <a:rPr lang="en-US" smtClean="0"/>
              <a:t>Sensitivity Lock</a:t>
            </a:r>
          </a:p>
          <a:p>
            <a:pPr lvl="2" eaLnBrk="1" hangingPunct="1"/>
            <a:r>
              <a:rPr lang="en-US" smtClean="0"/>
              <a:t>Separate lock for record</a:t>
            </a:r>
          </a:p>
          <a:p>
            <a:pPr lvl="2" eaLnBrk="1" hangingPunct="1"/>
            <a:r>
              <a:rPr lang="en-US" smtClean="0"/>
              <a:t>Encrypted</a:t>
            </a:r>
          </a:p>
          <a:p>
            <a:pPr lvl="3" eaLnBrk="1" hangingPunct="1"/>
            <a:r>
              <a:rPr lang="en-US" smtClean="0"/>
              <a:t>Data item</a:t>
            </a:r>
          </a:p>
          <a:p>
            <a:pPr lvl="3" eaLnBrk="1" hangingPunct="1"/>
            <a:r>
              <a:rPr lang="en-US" smtClean="0"/>
              <a:t>Sensitivity</a:t>
            </a:r>
          </a:p>
          <a:p>
            <a:pPr lvl="3" eaLnBrk="1" hangingPunct="1"/>
            <a:r>
              <a:rPr lang="en-US" smtClean="0"/>
              <a:t> </a:t>
            </a:r>
          </a:p>
          <a:p>
            <a:pPr eaLnBrk="1" hangingPunct="1"/>
            <a:endParaRPr lang="en-US" smtClean="0"/>
          </a:p>
        </p:txBody>
      </p:sp>
      <p:sp>
        <p:nvSpPr>
          <p:cNvPr id="24579" name="Title 2"/>
          <p:cNvSpPr>
            <a:spLocks noGrp="1"/>
          </p:cNvSpPr>
          <p:nvPr>
            <p:ph type="title"/>
          </p:nvPr>
        </p:nvSpPr>
        <p:spPr/>
        <p:txBody>
          <a:bodyPr/>
          <a:lstStyle/>
          <a:p>
            <a:pPr eaLnBrk="1" hangingPunct="1"/>
            <a:r>
              <a:rPr lang="en-US" smtClean="0"/>
              <a:t>Multilevel Databases</a:t>
            </a:r>
          </a:p>
        </p:txBody>
      </p:sp>
      <p:pic>
        <p:nvPicPr>
          <p:cNvPr id="24580" name="Picture 4" descr="Fig06-09.tif                                                   000182B7BridgerH HD                    ABA781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3348038"/>
            <a:ext cx="5486400" cy="312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53354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1"/>
          <p:cNvSpPr>
            <a:spLocks noGrp="1"/>
          </p:cNvSpPr>
          <p:nvPr>
            <p:ph idx="1"/>
          </p:nvPr>
        </p:nvSpPr>
        <p:spPr/>
        <p:txBody>
          <a:bodyPr/>
          <a:lstStyle/>
          <a:p>
            <a:pPr eaLnBrk="1" hangingPunct="1"/>
            <a:r>
              <a:rPr lang="en-US" smtClean="0"/>
              <a:t>Protect data item and its sensitivity</a:t>
            </a:r>
          </a:p>
          <a:p>
            <a:pPr eaLnBrk="1" hangingPunct="1"/>
            <a:r>
              <a:rPr lang="en-US" smtClean="0"/>
              <a:t>Process efficiency</a:t>
            </a:r>
          </a:p>
          <a:p>
            <a:pPr lvl="1" eaLnBrk="1" hangingPunct="1"/>
            <a:r>
              <a:rPr lang="en-US" smtClean="0"/>
              <a:t>Encoding</a:t>
            </a:r>
          </a:p>
          <a:p>
            <a:pPr lvl="1" eaLnBrk="1" hangingPunct="1"/>
            <a:r>
              <a:rPr lang="en-US" smtClean="0"/>
              <a:t>Decoding </a:t>
            </a:r>
          </a:p>
          <a:p>
            <a:pPr eaLnBrk="1" hangingPunct="1"/>
            <a:r>
              <a:rPr lang="en-US" smtClean="0"/>
              <a:t>Additional space</a:t>
            </a:r>
          </a:p>
          <a:p>
            <a:pPr eaLnBrk="1" hangingPunct="1"/>
            <a:r>
              <a:rPr lang="en-US" smtClean="0"/>
              <a:t>Untrusted database manager </a:t>
            </a:r>
          </a:p>
          <a:p>
            <a:pPr eaLnBrk="1" hangingPunct="1"/>
            <a:endParaRPr lang="en-US" smtClean="0"/>
          </a:p>
          <a:p>
            <a:pPr eaLnBrk="1" hangingPunct="1"/>
            <a:endParaRPr lang="en-US" smtClean="0"/>
          </a:p>
        </p:txBody>
      </p:sp>
      <p:sp>
        <p:nvSpPr>
          <p:cNvPr id="25603" name="Title 2"/>
          <p:cNvSpPr>
            <a:spLocks noGrp="1"/>
          </p:cNvSpPr>
          <p:nvPr>
            <p:ph type="title"/>
          </p:nvPr>
        </p:nvSpPr>
        <p:spPr/>
        <p:txBody>
          <a:bodyPr/>
          <a:lstStyle/>
          <a:p>
            <a:pPr eaLnBrk="1" hangingPunct="1"/>
            <a:r>
              <a:rPr lang="en-US" smtClean="0"/>
              <a:t>Designs of Multilevel Security</a:t>
            </a:r>
          </a:p>
        </p:txBody>
      </p:sp>
    </p:spTree>
    <p:extLst>
      <p:ext uri="{BB962C8B-B14F-4D97-AF65-F5344CB8AC3E}">
        <p14:creationId xmlns:p14="http://schemas.microsoft.com/office/powerpoint/2010/main" val="1835326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1"/>
          <p:cNvSpPr>
            <a:spLocks noGrp="1"/>
          </p:cNvSpPr>
          <p:nvPr>
            <p:ph idx="1"/>
          </p:nvPr>
        </p:nvSpPr>
        <p:spPr/>
        <p:txBody>
          <a:bodyPr>
            <a:normAutofit fontScale="92500" lnSpcReduction="20000"/>
          </a:bodyPr>
          <a:lstStyle/>
          <a:p>
            <a:pPr eaLnBrk="1" hangingPunct="1"/>
            <a:r>
              <a:rPr lang="en-US" smtClean="0"/>
              <a:t>Trusted front end</a:t>
            </a:r>
          </a:p>
          <a:p>
            <a:pPr lvl="1" eaLnBrk="1" hangingPunct="1"/>
            <a:r>
              <a:rPr lang="en-US" smtClean="0"/>
              <a:t>Reference monitor</a:t>
            </a:r>
          </a:p>
          <a:p>
            <a:pPr lvl="1" eaLnBrk="1" hangingPunct="1"/>
            <a:r>
              <a:rPr lang="en-US" smtClean="0"/>
              <a:t>Authenticates the user's identity.</a:t>
            </a:r>
          </a:p>
          <a:p>
            <a:pPr lvl="1" eaLnBrk="1" hangingPunct="1"/>
            <a:r>
              <a:rPr lang="en-US" smtClean="0"/>
              <a:t>Pass query to the database manager</a:t>
            </a:r>
          </a:p>
          <a:p>
            <a:pPr lvl="1" eaLnBrk="1" hangingPunct="1"/>
            <a:r>
              <a:rPr lang="en-US" smtClean="0"/>
              <a:t>Pass query Results</a:t>
            </a:r>
          </a:p>
          <a:p>
            <a:pPr eaLnBrk="1" hangingPunct="1"/>
            <a:r>
              <a:rPr lang="en-US" smtClean="0"/>
              <a:t>Database Manager</a:t>
            </a:r>
          </a:p>
          <a:p>
            <a:pPr lvl="1" eaLnBrk="1" hangingPunct="1"/>
            <a:r>
              <a:rPr lang="en-US" smtClean="0"/>
              <a:t>I/O access</a:t>
            </a:r>
          </a:p>
          <a:p>
            <a:pPr lvl="1" eaLnBrk="1" hangingPunct="1"/>
            <a:r>
              <a:rPr lang="en-US" smtClean="0"/>
              <a:t/>
            </a:r>
            <a:br>
              <a:rPr lang="en-US" smtClean="0"/>
            </a:br>
            <a:r>
              <a:rPr lang="en-US" smtClean="0"/>
              <a:t/>
            </a:r>
            <a:br>
              <a:rPr lang="en-US" smtClean="0"/>
            </a:br>
            <a:endParaRPr lang="en-US" smtClean="0"/>
          </a:p>
        </p:txBody>
      </p:sp>
      <p:sp>
        <p:nvSpPr>
          <p:cNvPr id="26627" name="Title 2"/>
          <p:cNvSpPr>
            <a:spLocks noGrp="1"/>
          </p:cNvSpPr>
          <p:nvPr>
            <p:ph type="title"/>
          </p:nvPr>
        </p:nvSpPr>
        <p:spPr/>
        <p:txBody>
          <a:bodyPr/>
          <a:lstStyle/>
          <a:p>
            <a:pPr eaLnBrk="1" hangingPunct="1"/>
            <a:r>
              <a:rPr lang="en-US" smtClean="0"/>
              <a:t>Designs of Multilevel Security</a:t>
            </a:r>
          </a:p>
        </p:txBody>
      </p:sp>
    </p:spTree>
    <p:extLst>
      <p:ext uri="{BB962C8B-B14F-4D97-AF65-F5344CB8AC3E}">
        <p14:creationId xmlns:p14="http://schemas.microsoft.com/office/powerpoint/2010/main" val="14043464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p:cNvSpPr>
            <a:spLocks noGrp="1"/>
          </p:cNvSpPr>
          <p:nvPr>
            <p:ph idx="1"/>
          </p:nvPr>
        </p:nvSpPr>
        <p:spPr/>
        <p:txBody>
          <a:bodyPr>
            <a:normAutofit lnSpcReduction="10000"/>
          </a:bodyPr>
          <a:lstStyle/>
          <a:p>
            <a:pPr eaLnBrk="1" hangingPunct="1"/>
            <a:r>
              <a:rPr lang="en-US" b="1" smtClean="0"/>
              <a:t>Distributed Databases</a:t>
            </a:r>
          </a:p>
          <a:p>
            <a:pPr lvl="1" eaLnBrk="1" hangingPunct="1"/>
            <a:r>
              <a:rPr lang="en-US" smtClean="0"/>
              <a:t>Trusted front end controls access </a:t>
            </a:r>
          </a:p>
          <a:p>
            <a:pPr lvl="1" eaLnBrk="1" hangingPunct="1"/>
            <a:r>
              <a:rPr lang="en-US" smtClean="0"/>
              <a:t>Multiple databases</a:t>
            </a:r>
          </a:p>
          <a:p>
            <a:pPr lvl="1" eaLnBrk="1" hangingPunct="1"/>
            <a:r>
              <a:rPr lang="en-US" smtClean="0"/>
              <a:t>Complex implementation</a:t>
            </a:r>
          </a:p>
          <a:p>
            <a:pPr lvl="1" eaLnBrk="1" hangingPunct="1"/>
            <a:endParaRPr lang="en-US" smtClean="0"/>
          </a:p>
          <a:p>
            <a:pPr eaLnBrk="1" hangingPunct="1"/>
            <a:r>
              <a:rPr lang="en-US" b="1" smtClean="0"/>
              <a:t>View/window</a:t>
            </a:r>
          </a:p>
          <a:p>
            <a:pPr lvl="1" eaLnBrk="1" hangingPunct="1"/>
            <a:r>
              <a:rPr lang="en-US" smtClean="0"/>
              <a:t>Subset of data</a:t>
            </a:r>
          </a:p>
          <a:p>
            <a:pPr lvl="1" eaLnBrk="1" hangingPunct="1"/>
            <a:r>
              <a:rPr lang="en-US" smtClean="0"/>
              <a:t>Filtering original DB</a:t>
            </a:r>
          </a:p>
          <a:p>
            <a:pPr lvl="1" eaLnBrk="1" hangingPunct="1"/>
            <a:endParaRPr lang="en-US" b="1" smtClean="0"/>
          </a:p>
        </p:txBody>
      </p:sp>
      <p:sp>
        <p:nvSpPr>
          <p:cNvPr id="27651" name="Title 2"/>
          <p:cNvSpPr>
            <a:spLocks noGrp="1"/>
          </p:cNvSpPr>
          <p:nvPr>
            <p:ph type="title"/>
          </p:nvPr>
        </p:nvSpPr>
        <p:spPr/>
        <p:txBody>
          <a:bodyPr/>
          <a:lstStyle/>
          <a:p>
            <a:pPr eaLnBrk="1" hangingPunct="1"/>
            <a:r>
              <a:rPr lang="en-US" smtClean="0"/>
              <a:t>Designs of Multilevel Security</a:t>
            </a:r>
          </a:p>
        </p:txBody>
      </p:sp>
    </p:spTree>
    <p:extLst>
      <p:ext uri="{BB962C8B-B14F-4D97-AF65-F5344CB8AC3E}">
        <p14:creationId xmlns:p14="http://schemas.microsoft.com/office/powerpoint/2010/main" val="23780579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1"/>
          <p:cNvSpPr>
            <a:spLocks noGrp="1"/>
          </p:cNvSpPr>
          <p:nvPr>
            <p:ph idx="1"/>
          </p:nvPr>
        </p:nvSpPr>
        <p:spPr/>
        <p:txBody>
          <a:bodyPr/>
          <a:lstStyle/>
          <a:p>
            <a:pPr eaLnBrk="1" hangingPunct="1"/>
            <a:endParaRPr lang="en-US" smtClean="0"/>
          </a:p>
        </p:txBody>
      </p:sp>
      <p:sp>
        <p:nvSpPr>
          <p:cNvPr id="28675" name="Title 2"/>
          <p:cNvSpPr>
            <a:spLocks noGrp="1"/>
          </p:cNvSpPr>
          <p:nvPr>
            <p:ph type="title"/>
          </p:nvPr>
        </p:nvSpPr>
        <p:spPr/>
        <p:txBody>
          <a:bodyPr/>
          <a:lstStyle/>
          <a:p>
            <a:pPr eaLnBrk="1" hangingPunct="1"/>
            <a:r>
              <a:rPr lang="en-US" smtClean="0"/>
              <a:t>TCB</a:t>
            </a:r>
          </a:p>
        </p:txBody>
      </p:sp>
      <p:pic>
        <p:nvPicPr>
          <p:cNvPr id="28676" name="Picture 4" descr="Fig06-13.tif                                                   000182B7BridgerH HD                    ABA781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600200"/>
            <a:ext cx="5718175" cy="453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66581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p:cNvSpPr>
            <a:spLocks noGrp="1"/>
          </p:cNvSpPr>
          <p:nvPr>
            <p:ph idx="1"/>
          </p:nvPr>
        </p:nvSpPr>
        <p:spPr/>
        <p:txBody>
          <a:bodyPr/>
          <a:lstStyle/>
          <a:p>
            <a:pPr eaLnBrk="1" hangingPunct="1"/>
            <a:r>
              <a:rPr lang="en-US" smtClean="0"/>
              <a:t>Order</a:t>
            </a:r>
          </a:p>
          <a:p>
            <a:pPr eaLnBrk="1" hangingPunct="1"/>
            <a:r>
              <a:rPr lang="en-US" smtClean="0"/>
              <a:t>Categorize</a:t>
            </a:r>
          </a:p>
          <a:p>
            <a:pPr eaLnBrk="1" hangingPunct="1"/>
            <a:r>
              <a:rPr lang="en-US" smtClean="0"/>
              <a:t>Search</a:t>
            </a:r>
          </a:p>
          <a:p>
            <a:pPr eaLnBrk="1" hangingPunct="1"/>
            <a:r>
              <a:rPr lang="en-US" smtClean="0"/>
              <a:t>Patterns</a:t>
            </a:r>
          </a:p>
          <a:p>
            <a:pPr eaLnBrk="1" hangingPunct="1"/>
            <a:r>
              <a:rPr lang="en-US" smtClean="0"/>
              <a:t>Relations</a:t>
            </a:r>
          </a:p>
          <a:p>
            <a:pPr eaLnBrk="1" hangingPunct="1"/>
            <a:r>
              <a:rPr lang="en-US" smtClean="0"/>
              <a:t>Summerize</a:t>
            </a:r>
          </a:p>
          <a:p>
            <a:pPr eaLnBrk="1" hangingPunct="1"/>
            <a:r>
              <a:rPr lang="en-US" smtClean="0"/>
              <a:t>Automated</a:t>
            </a:r>
          </a:p>
          <a:p>
            <a:pPr eaLnBrk="1" hangingPunct="1"/>
            <a:endParaRPr lang="en-US" smtClean="0"/>
          </a:p>
          <a:p>
            <a:pPr eaLnBrk="1" hangingPunct="1"/>
            <a:endParaRPr lang="en-US" smtClean="0"/>
          </a:p>
        </p:txBody>
      </p:sp>
      <p:sp>
        <p:nvSpPr>
          <p:cNvPr id="29699" name="Title 2"/>
          <p:cNvSpPr>
            <a:spLocks noGrp="1"/>
          </p:cNvSpPr>
          <p:nvPr>
            <p:ph type="title"/>
          </p:nvPr>
        </p:nvSpPr>
        <p:spPr/>
        <p:txBody>
          <a:bodyPr/>
          <a:lstStyle/>
          <a:p>
            <a:pPr eaLnBrk="1" hangingPunct="1"/>
            <a:r>
              <a:rPr lang="en-US" smtClean="0"/>
              <a:t>Data Mining</a:t>
            </a:r>
          </a:p>
        </p:txBody>
      </p:sp>
    </p:spTree>
    <p:extLst>
      <p:ext uri="{BB962C8B-B14F-4D97-AF65-F5344CB8AC3E}">
        <p14:creationId xmlns:p14="http://schemas.microsoft.com/office/powerpoint/2010/main" val="354453289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1"/>
          <p:cNvSpPr>
            <a:spLocks noGrp="1"/>
          </p:cNvSpPr>
          <p:nvPr>
            <p:ph idx="1"/>
          </p:nvPr>
        </p:nvSpPr>
        <p:spPr/>
        <p:txBody>
          <a:bodyPr/>
          <a:lstStyle/>
          <a:p>
            <a:pPr eaLnBrk="1" hangingPunct="1"/>
            <a:r>
              <a:rPr lang="en-US" smtClean="0"/>
              <a:t>Analyzing System data</a:t>
            </a:r>
          </a:p>
          <a:p>
            <a:pPr lvl="1" eaLnBrk="1" hangingPunct="1"/>
            <a:r>
              <a:rPr lang="en-US" smtClean="0"/>
              <a:t>Audit logs</a:t>
            </a:r>
          </a:p>
          <a:p>
            <a:pPr eaLnBrk="1" hangingPunct="1"/>
            <a:r>
              <a:rPr lang="en-US" smtClean="0"/>
              <a:t>Identify patterns related to attacks</a:t>
            </a:r>
          </a:p>
          <a:p>
            <a:pPr eaLnBrk="1" hangingPunct="1"/>
            <a:r>
              <a:rPr lang="en-US" smtClean="0"/>
              <a:t>Prevention tools </a:t>
            </a:r>
          </a:p>
          <a:p>
            <a:pPr eaLnBrk="1" hangingPunct="1"/>
            <a:r>
              <a:rPr lang="en-US" smtClean="0"/>
              <a:t>Prevention techniques</a:t>
            </a:r>
          </a:p>
          <a:p>
            <a:pPr eaLnBrk="1" hangingPunct="1"/>
            <a:endParaRPr lang="en-US" smtClean="0"/>
          </a:p>
        </p:txBody>
      </p:sp>
      <p:sp>
        <p:nvSpPr>
          <p:cNvPr id="30723" name="Title 2"/>
          <p:cNvSpPr>
            <a:spLocks noGrp="1"/>
          </p:cNvSpPr>
          <p:nvPr>
            <p:ph type="title"/>
          </p:nvPr>
        </p:nvSpPr>
        <p:spPr/>
        <p:txBody>
          <a:bodyPr/>
          <a:lstStyle/>
          <a:p>
            <a:pPr eaLnBrk="1" hangingPunct="1"/>
            <a:r>
              <a:rPr lang="en-US" smtClean="0"/>
              <a:t>Advantages</a:t>
            </a:r>
          </a:p>
        </p:txBody>
      </p:sp>
    </p:spTree>
    <p:extLst>
      <p:ext uri="{BB962C8B-B14F-4D97-AF65-F5344CB8AC3E}">
        <p14:creationId xmlns:p14="http://schemas.microsoft.com/office/powerpoint/2010/main" val="32201710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0063" y="1500188"/>
            <a:ext cx="8229600" cy="4786312"/>
          </a:xfrm>
        </p:spPr>
        <p:txBody>
          <a:bodyPr>
            <a:normAutofit fontScale="85000" lnSpcReduction="20000"/>
          </a:bodyPr>
          <a:lstStyle/>
          <a:p>
            <a:pPr eaLnBrk="1" hangingPunct="1">
              <a:defRPr/>
            </a:pPr>
            <a:r>
              <a:rPr lang="en-US" dirty="0" smtClean="0"/>
              <a:t>Confidentiality</a:t>
            </a:r>
          </a:p>
          <a:p>
            <a:pPr lvl="1" eaLnBrk="1" hangingPunct="1">
              <a:defRPr/>
            </a:pPr>
            <a:r>
              <a:rPr lang="en-US" dirty="0" smtClean="0"/>
              <a:t>Commercially sensitive data</a:t>
            </a:r>
          </a:p>
          <a:p>
            <a:pPr lvl="1" eaLnBrk="1" hangingPunct="1">
              <a:defRPr/>
            </a:pPr>
            <a:r>
              <a:rPr lang="en-US" dirty="0" smtClean="0"/>
              <a:t>Inference </a:t>
            </a:r>
          </a:p>
          <a:p>
            <a:pPr lvl="1" eaLnBrk="1" hangingPunct="1">
              <a:defRPr/>
            </a:pPr>
            <a:r>
              <a:rPr lang="en-US" dirty="0" smtClean="0"/>
              <a:t>Aggregate may reveal sensitive related information</a:t>
            </a:r>
          </a:p>
          <a:p>
            <a:pPr lvl="1" eaLnBrk="1" hangingPunct="1">
              <a:defRPr/>
            </a:pPr>
            <a:r>
              <a:rPr lang="en-US" dirty="0" smtClean="0"/>
              <a:t>Data collector can sell to competitors</a:t>
            </a:r>
          </a:p>
          <a:p>
            <a:pPr eaLnBrk="1" hangingPunct="1">
              <a:defRPr/>
            </a:pPr>
            <a:r>
              <a:rPr lang="en-US" dirty="0" smtClean="0"/>
              <a:t>Availability</a:t>
            </a:r>
          </a:p>
          <a:p>
            <a:pPr lvl="1" eaLnBrk="1" hangingPunct="1">
              <a:defRPr/>
            </a:pPr>
            <a:r>
              <a:rPr lang="en-US" dirty="0" smtClean="0"/>
              <a:t>Combining databases</a:t>
            </a:r>
          </a:p>
          <a:p>
            <a:pPr lvl="1" eaLnBrk="1" hangingPunct="1">
              <a:defRPr/>
            </a:pPr>
            <a:r>
              <a:rPr lang="en-US" dirty="0" smtClean="0"/>
              <a:t>Structure</a:t>
            </a:r>
          </a:p>
          <a:p>
            <a:pPr eaLnBrk="1" hangingPunct="1">
              <a:defRPr/>
            </a:pPr>
            <a:r>
              <a:rPr lang="en-US" dirty="0" smtClean="0"/>
              <a:t>Integrity</a:t>
            </a:r>
          </a:p>
          <a:p>
            <a:pPr lvl="1" eaLnBrk="1" hangingPunct="1">
              <a:defRPr/>
            </a:pPr>
            <a:r>
              <a:rPr lang="en-US" dirty="0" smtClean="0"/>
              <a:t>Data collector can alter data</a:t>
            </a:r>
          </a:p>
          <a:p>
            <a:pPr lvl="1" eaLnBrk="1" hangingPunct="1">
              <a:defRPr/>
            </a:pPr>
            <a:r>
              <a:rPr lang="en-US" dirty="0" smtClean="0"/>
              <a:t>Redundancy</a:t>
            </a:r>
          </a:p>
          <a:p>
            <a:pPr lvl="2" eaLnBrk="1" hangingPunct="1">
              <a:defRPr/>
            </a:pPr>
            <a:r>
              <a:rPr lang="en-US" dirty="0" smtClean="0"/>
              <a:t>Deferent primary keys</a:t>
            </a:r>
          </a:p>
          <a:p>
            <a:pPr lvl="1" eaLnBrk="1" hangingPunct="1">
              <a:defRPr/>
            </a:pPr>
            <a:endParaRPr lang="en-US" dirty="0" smtClean="0"/>
          </a:p>
          <a:p>
            <a:pPr lvl="1" eaLnBrk="1" hangingPunct="1">
              <a:defRPr/>
            </a:pPr>
            <a:endParaRPr lang="en-US" dirty="0"/>
          </a:p>
        </p:txBody>
      </p:sp>
      <p:sp>
        <p:nvSpPr>
          <p:cNvPr id="31747" name="Title 2"/>
          <p:cNvSpPr>
            <a:spLocks noGrp="1"/>
          </p:cNvSpPr>
          <p:nvPr>
            <p:ph type="title"/>
          </p:nvPr>
        </p:nvSpPr>
        <p:spPr/>
        <p:txBody>
          <a:bodyPr/>
          <a:lstStyle/>
          <a:p>
            <a:pPr eaLnBrk="1" hangingPunct="1"/>
            <a:r>
              <a:rPr lang="en-US" smtClean="0"/>
              <a:t>Security Concerns</a:t>
            </a:r>
          </a:p>
        </p:txBody>
      </p:sp>
    </p:spTree>
    <p:extLst>
      <p:ext uri="{BB962C8B-B14F-4D97-AF65-F5344CB8AC3E}">
        <p14:creationId xmlns:p14="http://schemas.microsoft.com/office/powerpoint/2010/main" val="1674852996"/>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1129</TotalTime>
  <Words>1329</Words>
  <Application>Microsoft Office PowerPoint</Application>
  <PresentationFormat>On-screen Show (4:3)</PresentationFormat>
  <Paragraphs>386</Paragraphs>
  <Slides>32</Slides>
  <Notes>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32</vt:i4>
      </vt:variant>
    </vt:vector>
  </HeadingPairs>
  <TitlesOfParts>
    <vt:vector size="36" baseType="lpstr">
      <vt:lpstr>Arial</vt:lpstr>
      <vt:lpstr>Calibri</vt:lpstr>
      <vt:lpstr>HNDIT</vt:lpstr>
      <vt:lpstr>1_HNDIT</vt:lpstr>
      <vt:lpstr>5. Database Security </vt:lpstr>
      <vt:lpstr>Database Administration &amp; controls </vt:lpstr>
      <vt:lpstr>Responsibilities of a DBA </vt:lpstr>
      <vt:lpstr>PowerPoint Presentation</vt:lpstr>
      <vt:lpstr>Database integrity </vt:lpstr>
      <vt:lpstr>System Data</vt:lpstr>
      <vt:lpstr>Database Components</vt:lpstr>
      <vt:lpstr>Structure</vt:lpstr>
      <vt:lpstr>Schema &amp; Subschema</vt:lpstr>
      <vt:lpstr>Advantages of Using Databases</vt:lpstr>
      <vt:lpstr>Security Requirements</vt:lpstr>
      <vt:lpstr>Security Requirements</vt:lpstr>
      <vt:lpstr>Security Requirements</vt:lpstr>
      <vt:lpstr>Reliability and Integrity</vt:lpstr>
      <vt:lpstr>Reliability and Integrity</vt:lpstr>
      <vt:lpstr>Reliability and Integrity</vt:lpstr>
      <vt:lpstr>Reliability and Integrity</vt:lpstr>
      <vt:lpstr>Reliability and Integrity</vt:lpstr>
      <vt:lpstr>Sensitive Data</vt:lpstr>
      <vt:lpstr>Inference </vt:lpstr>
      <vt:lpstr>Inference </vt:lpstr>
      <vt:lpstr>Multilevel Databases</vt:lpstr>
      <vt:lpstr>Designs of Multilevel Security</vt:lpstr>
      <vt:lpstr>Multilevel Databases</vt:lpstr>
      <vt:lpstr>Multilevel Databases</vt:lpstr>
      <vt:lpstr>Designs of Multilevel Security</vt:lpstr>
      <vt:lpstr>Designs of Multilevel Security</vt:lpstr>
      <vt:lpstr>Designs of Multilevel Security</vt:lpstr>
      <vt:lpstr>TCB</vt:lpstr>
      <vt:lpstr>Data Mining</vt:lpstr>
      <vt:lpstr>Advantages</vt:lpstr>
      <vt:lpstr>Security Concerns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 X55</dc:creator>
  <cp:lastModifiedBy>Admin</cp:lastModifiedBy>
  <cp:revision>159</cp:revision>
  <dcterms:created xsi:type="dcterms:W3CDTF">2014-03-07T13:02:25Z</dcterms:created>
  <dcterms:modified xsi:type="dcterms:W3CDTF">2018-08-04T03:39:29Z</dcterms:modified>
</cp:coreProperties>
</file>