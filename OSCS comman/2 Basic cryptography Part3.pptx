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21"/>
  </p:notesMasterIdLst>
  <p:sldIdLst>
    <p:sldId id="257" r:id="rId3"/>
    <p:sldId id="258" r:id="rId4"/>
    <p:sldId id="262" r:id="rId5"/>
    <p:sldId id="260" r:id="rId6"/>
    <p:sldId id="261" r:id="rId7"/>
    <p:sldId id="278" r:id="rId8"/>
    <p:sldId id="263" r:id="rId9"/>
    <p:sldId id="277" r:id="rId10"/>
    <p:sldId id="264" r:id="rId11"/>
    <p:sldId id="265" r:id="rId12"/>
    <p:sldId id="279" r:id="rId13"/>
    <p:sldId id="266" r:id="rId14"/>
    <p:sldId id="267" r:id="rId15"/>
    <p:sldId id="268" r:id="rId16"/>
    <p:sldId id="269" r:id="rId17"/>
    <p:sldId id="270" r:id="rId18"/>
    <p:sldId id="271" r:id="rId19"/>
    <p:sldId id="273"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0" d="100"/>
          <a:sy n="60" d="100"/>
        </p:scale>
        <p:origin x="1656" y="522"/>
      </p:cViewPr>
      <p:guideLst>
        <p:guide orient="horz" pos="2160"/>
        <p:guide pos="2880"/>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723204-145E-4E9A-8825-0DF9FD80C698}" type="datetimeFigureOut">
              <a:rPr lang="en-US" smtClean="0"/>
              <a:pPr/>
              <a:t>6/6/2018</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A677AEE-D46A-4C91-9543-7FBC6ED44F7E}" type="slidenum">
              <a:rPr lang="en-US" smtClean="0"/>
              <a:pPr/>
              <a:t>‹#›</a:t>
            </a:fld>
            <a:endParaRPr lang="en-US" dirty="0"/>
          </a:p>
        </p:txBody>
      </p:sp>
    </p:spTree>
    <p:extLst>
      <p:ext uri="{BB962C8B-B14F-4D97-AF65-F5344CB8AC3E}">
        <p14:creationId xmlns:p14="http://schemas.microsoft.com/office/powerpoint/2010/main" val="11851384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3143F5A-A5F0-46A4-8826-62D9B1122C43}" type="slidenum">
              <a:rPr lang="en-US" altLang="en-US">
                <a:latin typeface="Times New Roman" panose="02020603050405020304" pitchFamily="18" charset="0"/>
              </a:rPr>
              <a:pPr/>
              <a:t>1</a:t>
            </a:fld>
            <a:endParaRPr lang="en-US" altLang="en-US">
              <a:latin typeface="Times New Roman" panose="02020603050405020304" pitchFamily="18"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smtClean="0"/>
          </a:p>
        </p:txBody>
      </p:sp>
    </p:spTree>
    <p:extLst>
      <p:ext uri="{BB962C8B-B14F-4D97-AF65-F5344CB8AC3E}">
        <p14:creationId xmlns:p14="http://schemas.microsoft.com/office/powerpoint/2010/main" val="348252571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E2B9C55-B1F5-4DCD-B44C-56F4D10DFF02}" type="datetime1">
              <a:rPr lang="en-US" smtClean="0"/>
              <a:t>6/6/2018</a:t>
            </a:fld>
            <a:endParaRPr lang="en-US" dirty="0"/>
          </a:p>
        </p:txBody>
      </p:sp>
      <p:sp>
        <p:nvSpPr>
          <p:cNvPr id="5" name="Footer Placeholder 4"/>
          <p:cNvSpPr>
            <a:spLocks noGrp="1"/>
          </p:cNvSpPr>
          <p:nvPr>
            <p:ph type="ftr" sz="quarter" idx="11"/>
          </p:nvPr>
        </p:nvSpPr>
        <p:spPr/>
        <p:txBody>
          <a:bodyPr/>
          <a:lstStyle>
            <a:lvl1pPr>
              <a:defRPr/>
            </a:lvl1p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pic>
        <p:nvPicPr>
          <p:cNvPr id="1027" name="Picture 3" descr="C:\Users\Dell PC\Desktop\mainpag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38" y="2133600"/>
            <a:ext cx="9162738" cy="2362200"/>
          </a:xfrm>
          <a:prstGeom prst="rect">
            <a:avLst/>
          </a:prstGeom>
          <a:noFill/>
          <a:extLst>
            <a:ext uri="{909E8E84-426E-40DD-AFC4-6F175D3DCCD1}">
              <a14:hiddenFill xmlns:a14="http://schemas.microsoft.com/office/drawing/2010/main">
                <a:solidFill>
                  <a:srgbClr val="FFFFFF"/>
                </a:solidFill>
              </a14:hiddenFill>
            </a:ext>
          </a:extLst>
        </p:spPr>
      </p:pic>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Chapter Title style</a:t>
            </a:r>
            <a:endParaRPr lang="en-US" dirty="0"/>
          </a:p>
        </p:txBody>
      </p:sp>
      <p:sp>
        <p:nvSpPr>
          <p:cNvPr id="2" name="Title 1"/>
          <p:cNvSpPr>
            <a:spLocks noGrp="1"/>
          </p:cNvSpPr>
          <p:nvPr>
            <p:ph type="ctrTitle" hasCustomPrompt="1"/>
          </p:nvPr>
        </p:nvSpPr>
        <p:spPr>
          <a:xfrm>
            <a:off x="228600" y="2247901"/>
            <a:ext cx="3886200" cy="1981199"/>
          </a:xfrm>
        </p:spPr>
        <p:txBody>
          <a:bodyPr/>
          <a:lstStyle>
            <a:lvl1pPr>
              <a:defRPr/>
            </a:lvl1pPr>
          </a:lstStyle>
          <a:p>
            <a:r>
              <a:rPr lang="en-US" dirty="0" smtClean="0"/>
              <a:t>Click to edit Course Title style</a:t>
            </a:r>
            <a:endParaRPr lang="en-US" dirty="0"/>
          </a:p>
        </p:txBody>
      </p:sp>
    </p:spTree>
    <p:extLst>
      <p:ext uri="{BB962C8B-B14F-4D97-AF65-F5344CB8AC3E}">
        <p14:creationId xmlns:p14="http://schemas.microsoft.com/office/powerpoint/2010/main" val="130212749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96DC9F0-F6FA-4EF5-9B02-32D7E772F3DA}" type="datetime1">
              <a:rPr lang="en-US" smtClean="0"/>
              <a:t>6/6/2018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pic>
        <p:nvPicPr>
          <p:cNvPr id="1026" name="Picture 2" descr="C:\Users\Dell PC\Desktop\template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817285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A32B24C-E9C5-4837-990A-2D89EDE17F40}" type="datetime1">
              <a:rPr lang="en-US" smtClean="0"/>
              <a:t>6/6/2018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49441087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B2C1C87-DFFE-40DD-88ED-115007FBF96B}" type="datetime1">
              <a:rPr lang="en-US" smtClean="0"/>
              <a:t>6/6/2018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113481567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7910CCB-6840-48E9-8232-4140365FD666}" type="datetime1">
              <a:rPr lang="en-US" smtClean="0"/>
              <a:t>6/6/2018</a:t>
            </a:fld>
            <a:endParaRPr lang="en-US" dirty="0"/>
          </a:p>
        </p:txBody>
      </p:sp>
      <p:sp>
        <p:nvSpPr>
          <p:cNvPr id="8" name="Footer Placeholder 7"/>
          <p:cNvSpPr>
            <a:spLocks noGrp="1"/>
          </p:cNvSpPr>
          <p:nvPr>
            <p:ph type="ftr" sz="quarter" idx="11"/>
          </p:nvPr>
        </p:nvSpPr>
        <p:spPr/>
        <p:txBody>
          <a:bodyPr/>
          <a:lstStyle/>
          <a:p>
            <a:r>
              <a:rPr lang="en-US" smtClean="0"/>
              <a:t>(c) Dept. of Industrial Mgt, 2013</a:t>
            </a:r>
            <a:endParaRPr lang="en-US" dirty="0"/>
          </a:p>
        </p:txBody>
      </p:sp>
      <p:sp>
        <p:nvSpPr>
          <p:cNvPr id="9" name="Slide Number Placeholder 8"/>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511861287"/>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6DC12BC-620C-4804-A68B-E5D136F30A82}" type="datetime1">
              <a:rPr lang="en-US" smtClean="0"/>
              <a:t>6/6/2018</a:t>
            </a:fld>
            <a:endParaRPr lang="en-US" dirty="0"/>
          </a:p>
        </p:txBody>
      </p:sp>
      <p:sp>
        <p:nvSpPr>
          <p:cNvPr id="4" name="Footer Placeholder 3"/>
          <p:cNvSpPr>
            <a:spLocks noGrp="1"/>
          </p:cNvSpPr>
          <p:nvPr>
            <p:ph type="ftr" sz="quarter" idx="11"/>
          </p:nvPr>
        </p:nvSpPr>
        <p:spPr/>
        <p:txBody>
          <a:bodyPr/>
          <a:lstStyle/>
          <a:p>
            <a:r>
              <a:rPr lang="en-US" smtClean="0"/>
              <a:t>(c) Dept. of Industrial Mgt, 2013</a:t>
            </a:r>
            <a:endParaRPr lang="en-US" dirty="0"/>
          </a:p>
        </p:txBody>
      </p:sp>
      <p:sp>
        <p:nvSpPr>
          <p:cNvPr id="5" name="Slide Number Placeholder 4"/>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06419643"/>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1E3FF4-2F5D-4D00-8619-BEEFC2A769C0}" type="datetime1">
              <a:rPr lang="en-US" smtClean="0"/>
              <a:t>6/6/2018</a:t>
            </a:fld>
            <a:endParaRPr lang="en-US" dirty="0"/>
          </a:p>
        </p:txBody>
      </p:sp>
      <p:sp>
        <p:nvSpPr>
          <p:cNvPr id="3" name="Footer Placeholder 2"/>
          <p:cNvSpPr>
            <a:spLocks noGrp="1"/>
          </p:cNvSpPr>
          <p:nvPr>
            <p:ph type="ftr" sz="quarter" idx="11"/>
          </p:nvPr>
        </p:nvSpPr>
        <p:spPr/>
        <p:txBody>
          <a:bodyPr/>
          <a:lstStyle/>
          <a:p>
            <a:r>
              <a:rPr lang="en-US" smtClean="0"/>
              <a:t>(c) Dept. of Industrial Mgt, 2013</a:t>
            </a:r>
            <a:endParaRPr lang="en-US" dirty="0"/>
          </a:p>
        </p:txBody>
      </p:sp>
      <p:sp>
        <p:nvSpPr>
          <p:cNvPr id="4" name="Slide Number Placeholder 3"/>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66664064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7DA6F5A-D08C-4C6E-9A94-889EC7EE21A6}" type="datetime1">
              <a:rPr lang="en-US" smtClean="0"/>
              <a:t>6/6/2018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114493237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0A478FA-CAA3-494E-AE22-6AE9783FAB5B}" type="datetime1">
              <a:rPr lang="en-US" smtClean="0"/>
              <a:t>6/6/2018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51471842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821B3BF-CA00-44EF-B758-B15ECF3DFDAF}" type="datetime1">
              <a:rPr lang="en-US" smtClean="0"/>
              <a:t>6/6/2018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52277444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A16D5A7-B666-4055-9430-CD0CBCBD1CF8}" type="datetime1">
              <a:rPr lang="en-US" smtClean="0"/>
              <a:t>6/6/2018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286135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057400"/>
            <a:ext cx="9144000" cy="2566851"/>
          </a:xfrm>
          <a:prstGeom prst="rect">
            <a:avLst/>
          </a:prstGeom>
        </p:spPr>
      </p:pic>
      <p:sp>
        <p:nvSpPr>
          <p:cNvPr id="4" name="Date Placeholder 3"/>
          <p:cNvSpPr>
            <a:spLocks noGrp="1"/>
          </p:cNvSpPr>
          <p:nvPr>
            <p:ph type="dt" sz="half" idx="10"/>
          </p:nvPr>
        </p:nvSpPr>
        <p:spPr/>
        <p:txBody>
          <a:bodyPr/>
          <a:lstStyle/>
          <a:p>
            <a:fld id="{8E2B9C55-B1F5-4DCD-B44C-56F4D10DFF02}" type="datetime1">
              <a:rPr lang="en-US" smtClean="0"/>
              <a:t>6/6/2018</a:t>
            </a:fld>
            <a:endParaRPr lang="en-US" dirty="0"/>
          </a:p>
        </p:txBody>
      </p:sp>
      <p:sp>
        <p:nvSpPr>
          <p:cNvPr id="5" name="Footer Placeholder 4"/>
          <p:cNvSpPr>
            <a:spLocks noGrp="1"/>
          </p:cNvSpPr>
          <p:nvPr>
            <p:ph type="ftr" sz="quarter" idx="11"/>
          </p:nvPr>
        </p:nvSpPr>
        <p:spPr/>
        <p:txBody>
          <a:bodyPr/>
          <a:lstStyle>
            <a:lvl1pPr>
              <a:defRPr/>
            </a:lvl1p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Chapter Title style</a:t>
            </a:r>
            <a:endParaRPr lang="en-US" dirty="0"/>
          </a:p>
        </p:txBody>
      </p:sp>
      <p:sp>
        <p:nvSpPr>
          <p:cNvPr id="2" name="Title 1"/>
          <p:cNvSpPr>
            <a:spLocks noGrp="1"/>
          </p:cNvSpPr>
          <p:nvPr>
            <p:ph type="ctrTitle" hasCustomPrompt="1"/>
          </p:nvPr>
        </p:nvSpPr>
        <p:spPr>
          <a:xfrm>
            <a:off x="4953000" y="2362201"/>
            <a:ext cx="3886200" cy="1981199"/>
          </a:xfrm>
        </p:spPr>
        <p:txBody>
          <a:bodyPr/>
          <a:lstStyle>
            <a:lvl1pPr>
              <a:defRPr/>
            </a:lvl1pPr>
          </a:lstStyle>
          <a:p>
            <a:r>
              <a:rPr lang="en-US" dirty="0" smtClean="0"/>
              <a:t>Click to edit Course Title style</a:t>
            </a:r>
            <a:endParaRPr lang="en-US" dirty="0"/>
          </a:p>
        </p:txBody>
      </p:sp>
    </p:spTree>
    <p:extLst>
      <p:ext uri="{BB962C8B-B14F-4D97-AF65-F5344CB8AC3E}">
        <p14:creationId xmlns:p14="http://schemas.microsoft.com/office/powerpoint/2010/main" val="4000367739"/>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96DC9F0-F6FA-4EF5-9B02-32D7E772F3DA}" type="datetime1">
              <a:rPr lang="en-US" smtClean="0"/>
              <a:t>6/6/2018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392037315"/>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A32B24C-E9C5-4837-990A-2D89EDE17F40}" type="datetime1">
              <a:rPr lang="en-US" smtClean="0"/>
              <a:t>6/6/2018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3433060398"/>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B2C1C87-DFFE-40DD-88ED-115007FBF96B}" type="datetime1">
              <a:rPr lang="en-US" smtClean="0"/>
              <a:t>6/6/2018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3768885867"/>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7910CCB-6840-48E9-8232-4140365FD666}" type="datetime1">
              <a:rPr lang="en-US" smtClean="0"/>
              <a:t>6/6/2018</a:t>
            </a:fld>
            <a:endParaRPr lang="en-US" dirty="0"/>
          </a:p>
        </p:txBody>
      </p:sp>
      <p:sp>
        <p:nvSpPr>
          <p:cNvPr id="8" name="Footer Placeholder 7"/>
          <p:cNvSpPr>
            <a:spLocks noGrp="1"/>
          </p:cNvSpPr>
          <p:nvPr>
            <p:ph type="ftr" sz="quarter" idx="11"/>
          </p:nvPr>
        </p:nvSpPr>
        <p:spPr/>
        <p:txBody>
          <a:bodyPr/>
          <a:lstStyle/>
          <a:p>
            <a:r>
              <a:rPr lang="en-US" smtClean="0"/>
              <a:t>(c) Dept. of Industrial Mgt, 2013</a:t>
            </a:r>
            <a:endParaRPr lang="en-US" dirty="0"/>
          </a:p>
        </p:txBody>
      </p:sp>
      <p:sp>
        <p:nvSpPr>
          <p:cNvPr id="9" name="Slide Number Placeholder 8"/>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3014733444"/>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6DC12BC-620C-4804-A68B-E5D136F30A82}" type="datetime1">
              <a:rPr lang="en-US" smtClean="0"/>
              <a:t>6/6/2018</a:t>
            </a:fld>
            <a:endParaRPr lang="en-US" dirty="0"/>
          </a:p>
        </p:txBody>
      </p:sp>
      <p:sp>
        <p:nvSpPr>
          <p:cNvPr id="4" name="Footer Placeholder 3"/>
          <p:cNvSpPr>
            <a:spLocks noGrp="1"/>
          </p:cNvSpPr>
          <p:nvPr>
            <p:ph type="ftr" sz="quarter" idx="11"/>
          </p:nvPr>
        </p:nvSpPr>
        <p:spPr/>
        <p:txBody>
          <a:bodyPr/>
          <a:lstStyle/>
          <a:p>
            <a:r>
              <a:rPr lang="en-US" smtClean="0"/>
              <a:t>(c) Dept. of Industrial Mgt, 2013</a:t>
            </a:r>
            <a:endParaRPr lang="en-US" dirty="0"/>
          </a:p>
        </p:txBody>
      </p:sp>
      <p:sp>
        <p:nvSpPr>
          <p:cNvPr id="5" name="Slide Number Placeholder 4"/>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4293690693"/>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1E3FF4-2F5D-4D00-8619-BEEFC2A769C0}" type="datetime1">
              <a:rPr lang="en-US" smtClean="0"/>
              <a:t>6/6/2018</a:t>
            </a:fld>
            <a:endParaRPr lang="en-US" dirty="0"/>
          </a:p>
        </p:txBody>
      </p:sp>
      <p:sp>
        <p:nvSpPr>
          <p:cNvPr id="3" name="Footer Placeholder 2"/>
          <p:cNvSpPr>
            <a:spLocks noGrp="1"/>
          </p:cNvSpPr>
          <p:nvPr>
            <p:ph type="ftr" sz="quarter" idx="11"/>
          </p:nvPr>
        </p:nvSpPr>
        <p:spPr/>
        <p:txBody>
          <a:bodyPr/>
          <a:lstStyle/>
          <a:p>
            <a:r>
              <a:rPr lang="en-US" smtClean="0"/>
              <a:t>(c) Dept. of Industrial Mgt, 2013</a:t>
            </a:r>
            <a:endParaRPr lang="en-US" dirty="0"/>
          </a:p>
        </p:txBody>
      </p:sp>
      <p:sp>
        <p:nvSpPr>
          <p:cNvPr id="4" name="Slide Number Placeholder 3"/>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244137634"/>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7DA6F5A-D08C-4C6E-9A94-889EC7EE21A6}" type="datetime1">
              <a:rPr lang="en-US" smtClean="0"/>
              <a:t>6/6/2018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147150602"/>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0A478FA-CAA3-494E-AE22-6AE9783FAB5B}" type="datetime1">
              <a:rPr lang="en-US" smtClean="0"/>
              <a:t>6/6/2018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525436515"/>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821B3BF-CA00-44EF-B758-B15ECF3DFDAF}" type="datetime1">
              <a:rPr lang="en-US" smtClean="0"/>
              <a:t>6/6/2018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4031546261"/>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A16D5A7-B666-4055-9430-CD0CBCBD1CF8}" type="datetime1">
              <a:rPr lang="en-US" smtClean="0"/>
              <a:t>6/6/2018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808225847"/>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3.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12FDDB-310E-4072-8B61-ACE857F405FC}" type="datetime1">
              <a:rPr lang="en-US" smtClean="0"/>
              <a:t>6/6/2018</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 Dept. of Industrial Mgt, 2013</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205F43-80E2-4640-A934-E79BFFCB5CAF}" type="slidenum">
              <a:rPr lang="en-US" smtClean="0"/>
              <a:pPr/>
              <a:t>‹#›</a:t>
            </a:fld>
            <a:endParaRPr lang="en-US" dirty="0"/>
          </a:p>
        </p:txBody>
      </p:sp>
      <p:pic>
        <p:nvPicPr>
          <p:cNvPr id="8" name="Picture 2" descr="C:\Users\Dell PC\Desktop\template2.jp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03840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12FDDB-310E-4072-8B61-ACE857F405FC}" type="datetime1">
              <a:rPr lang="en-US" smtClean="0"/>
              <a:t>6/6/2018</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 Dept. of Industrial Mgt, 2013</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205F43-80E2-4640-A934-E79BFFCB5CAF}" type="slidenum">
              <a:rPr lang="en-US" smtClean="0"/>
              <a:pPr/>
              <a:t>‹#›</a:t>
            </a:fld>
            <a:endParaRPr lang="en-US" dirty="0"/>
          </a:p>
        </p:txBody>
      </p:sp>
      <p:pic>
        <p:nvPicPr>
          <p:cNvPr id="7" name="Picture 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0"/>
            <a:ext cx="9144000" cy="381000"/>
          </a:xfrm>
          <a:prstGeom prst="rect">
            <a:avLst/>
          </a:prstGeom>
        </p:spPr>
      </p:pic>
    </p:spTree>
    <p:extLst>
      <p:ext uri="{BB962C8B-B14F-4D97-AF65-F5344CB8AC3E}">
        <p14:creationId xmlns:p14="http://schemas.microsoft.com/office/powerpoint/2010/main" val="168926587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7" name="Rectangle 3"/>
          <p:cNvSpPr>
            <a:spLocks noGrp="1" noChangeArrowheads="1"/>
          </p:cNvSpPr>
          <p:nvPr>
            <p:ph type="subTitle" idx="1"/>
          </p:nvPr>
        </p:nvSpPr>
        <p:spPr>
          <a:xfrm>
            <a:off x="1371600" y="4800600"/>
            <a:ext cx="6705600" cy="685800"/>
          </a:xfrm>
          <a:noFill/>
        </p:spPr>
        <p:txBody>
          <a:bodyPr anchorCtr="1"/>
          <a:lstStyle/>
          <a:p>
            <a:r>
              <a:rPr lang="en-US" altLang="en-US" dirty="0" smtClean="0"/>
              <a:t>2  </a:t>
            </a:r>
            <a:r>
              <a:rPr lang="en-US" altLang="en-US" dirty="0"/>
              <a:t>Basic </a:t>
            </a:r>
            <a:r>
              <a:rPr lang="en-US" altLang="en-US" dirty="0" smtClean="0"/>
              <a:t>cryptography - Part 3</a:t>
            </a:r>
            <a:endParaRPr lang="en-US" altLang="en-US" dirty="0" smtClean="0"/>
          </a:p>
        </p:txBody>
      </p:sp>
      <p:sp>
        <p:nvSpPr>
          <p:cNvPr id="2061" name="Rectangle 13"/>
          <p:cNvSpPr>
            <a:spLocks noGrp="1" noChangeArrowheads="1"/>
          </p:cNvSpPr>
          <p:nvPr>
            <p:ph type="ctrTitle"/>
          </p:nvPr>
        </p:nvSpPr>
        <p:spPr>
          <a:xfrm>
            <a:off x="4876800" y="2362200"/>
            <a:ext cx="4191000" cy="1828800"/>
          </a:xfrm>
        </p:spPr>
        <p:txBody>
          <a:bodyPr>
            <a:noAutofit/>
          </a:bodyPr>
          <a:lstStyle/>
          <a:p>
            <a:pPr>
              <a:defRPr/>
            </a:pPr>
            <a:r>
              <a:rPr lang="en-US" sz="3200" dirty="0"/>
              <a:t>HNDIT2301: Operating System and Information Security</a:t>
            </a:r>
            <a:endParaRPr lang="en-US" sz="2400" b="1" dirty="0"/>
          </a:p>
        </p:txBody>
      </p:sp>
    </p:spTree>
    <p:extLst>
      <p:ext uri="{BB962C8B-B14F-4D97-AF65-F5344CB8AC3E}">
        <p14:creationId xmlns:p14="http://schemas.microsoft.com/office/powerpoint/2010/main" val="2019219962"/>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19200" y="3733800"/>
            <a:ext cx="2667000" cy="762000"/>
          </a:xfrm>
        </p:spPr>
        <p:txBody>
          <a:bodyPr rtlCol="0">
            <a:normAutofit/>
          </a:bodyPr>
          <a:lstStyle/>
          <a:p>
            <a:pPr eaLnBrk="1" fontAlgn="auto" hangingPunct="1">
              <a:spcAft>
                <a:spcPts val="0"/>
              </a:spcAft>
              <a:defRPr/>
            </a:pPr>
            <a:r>
              <a:rPr lang="en-US" dirty="0" smtClean="0"/>
              <a:t>Week - 3</a:t>
            </a:r>
          </a:p>
        </p:txBody>
      </p:sp>
      <p:sp>
        <p:nvSpPr>
          <p:cNvPr id="4099" name="Title 1"/>
          <p:cNvSpPr>
            <a:spLocks noGrp="1"/>
          </p:cNvSpPr>
          <p:nvPr>
            <p:ph type="ctrTitle"/>
          </p:nvPr>
        </p:nvSpPr>
        <p:spPr>
          <a:xfrm>
            <a:off x="4876800" y="2656498"/>
            <a:ext cx="4114800" cy="1470025"/>
          </a:xfrm>
        </p:spPr>
        <p:txBody>
          <a:bodyPr/>
          <a:lstStyle/>
          <a:p>
            <a:pPr eaLnBrk="1" hangingPunct="1"/>
            <a:r>
              <a:rPr lang="en-US" dirty="0" smtClean="0"/>
              <a:t>Asymmetric Encryption </a:t>
            </a:r>
          </a:p>
        </p:txBody>
      </p:sp>
    </p:spTree>
    <p:extLst>
      <p:ext uri="{BB962C8B-B14F-4D97-AF65-F5344CB8AC3E}">
        <p14:creationId xmlns:p14="http://schemas.microsoft.com/office/powerpoint/2010/main" val="12855482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US" smtClean="0"/>
              <a:t>Why Asymmetric Encryption?</a:t>
            </a:r>
          </a:p>
        </p:txBody>
      </p:sp>
      <p:sp>
        <p:nvSpPr>
          <p:cNvPr id="10243" name="Content Placeholder 2"/>
          <p:cNvSpPr>
            <a:spLocks noGrp="1"/>
          </p:cNvSpPr>
          <p:nvPr>
            <p:ph idx="1"/>
          </p:nvPr>
        </p:nvSpPr>
        <p:spPr/>
        <p:txBody>
          <a:bodyPr>
            <a:normAutofit lnSpcReduction="10000"/>
          </a:bodyPr>
          <a:lstStyle/>
          <a:p>
            <a:pPr>
              <a:lnSpc>
                <a:spcPct val="90000"/>
              </a:lnSpc>
            </a:pPr>
            <a:r>
              <a:rPr lang="en-US" dirty="0"/>
              <a:t>The concept of public-key cryptography evolved from an attempt to attack two of the most difficult problems associated with symmetric encryption.</a:t>
            </a:r>
          </a:p>
          <a:p>
            <a:pPr eaLnBrk="1" hangingPunct="1">
              <a:lnSpc>
                <a:spcPct val="90000"/>
              </a:lnSpc>
            </a:pPr>
            <a:r>
              <a:rPr lang="en-US" dirty="0" smtClean="0"/>
              <a:t>Those key issues are:</a:t>
            </a:r>
            <a:endParaRPr lang="en-US" dirty="0" smtClean="0"/>
          </a:p>
          <a:p>
            <a:pPr lvl="1" eaLnBrk="1" hangingPunct="1">
              <a:lnSpc>
                <a:spcPct val="90000"/>
              </a:lnSpc>
            </a:pPr>
            <a:r>
              <a:rPr lang="en-US" b="1" dirty="0" smtClean="0"/>
              <a:t>key distribution</a:t>
            </a:r>
            <a:r>
              <a:rPr lang="en-US" dirty="0" smtClean="0"/>
              <a:t> – how to have secure communications in general without having to trust a KDC with your key</a:t>
            </a:r>
          </a:p>
          <a:p>
            <a:pPr lvl="1" eaLnBrk="1" hangingPunct="1">
              <a:lnSpc>
                <a:spcPct val="90000"/>
              </a:lnSpc>
            </a:pPr>
            <a:r>
              <a:rPr lang="en-US" b="1" dirty="0" smtClean="0"/>
              <a:t>digital signatures</a:t>
            </a:r>
            <a:r>
              <a:rPr lang="en-US" dirty="0" smtClean="0"/>
              <a:t> – how to verify a message comes intact from the claimed sender</a:t>
            </a:r>
          </a:p>
          <a:p>
            <a:pPr eaLnBrk="1" hangingPunct="1"/>
            <a:endParaRPr lang="en-US" dirty="0" smtClean="0"/>
          </a:p>
        </p:txBody>
      </p:sp>
    </p:spTree>
    <p:extLst>
      <p:ext uri="{BB962C8B-B14F-4D97-AF65-F5344CB8AC3E}">
        <p14:creationId xmlns:p14="http://schemas.microsoft.com/office/powerpoint/2010/main" val="22099107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eaLnBrk="1" fontAlgn="auto" hangingPunct="1">
              <a:spcAft>
                <a:spcPts val="0"/>
              </a:spcAft>
              <a:defRPr/>
            </a:pPr>
            <a:r>
              <a:rPr lang="en-US" dirty="0" smtClean="0"/>
              <a:t>Asymmetric (Public Key) Encryption</a:t>
            </a:r>
          </a:p>
        </p:txBody>
      </p:sp>
      <p:sp>
        <p:nvSpPr>
          <p:cNvPr id="7171" name="Content Placeholder 2"/>
          <p:cNvSpPr>
            <a:spLocks noGrp="1"/>
          </p:cNvSpPr>
          <p:nvPr>
            <p:ph idx="1"/>
          </p:nvPr>
        </p:nvSpPr>
        <p:spPr/>
        <p:txBody>
          <a:bodyPr rtlCol="0">
            <a:normAutofit/>
          </a:bodyPr>
          <a:lstStyle/>
          <a:p>
            <a:pPr eaLnBrk="1" fontAlgn="auto" hangingPunct="1">
              <a:spcAft>
                <a:spcPts val="0"/>
              </a:spcAft>
              <a:defRPr/>
            </a:pPr>
            <a:r>
              <a:rPr lang="en-US" dirty="0" smtClean="0"/>
              <a:t>uses </a:t>
            </a:r>
            <a:r>
              <a:rPr lang="en-US" b="1" dirty="0" smtClean="0"/>
              <a:t>two</a:t>
            </a:r>
            <a:r>
              <a:rPr lang="en-US" dirty="0" smtClean="0"/>
              <a:t> keys – a public &amp; a private key</a:t>
            </a:r>
            <a:endParaRPr lang="en-AU" dirty="0" smtClean="0"/>
          </a:p>
          <a:p>
            <a:pPr eaLnBrk="1" fontAlgn="auto" hangingPunct="1">
              <a:spcAft>
                <a:spcPts val="0"/>
              </a:spcAft>
              <a:defRPr/>
            </a:pPr>
            <a:r>
              <a:rPr lang="en-AU" b="1" dirty="0" smtClean="0"/>
              <a:t>asymmetric</a:t>
            </a:r>
            <a:r>
              <a:rPr lang="en-AU" dirty="0" smtClean="0"/>
              <a:t> since parties are </a:t>
            </a:r>
            <a:r>
              <a:rPr lang="en-AU" b="1" dirty="0" smtClean="0"/>
              <a:t>not</a:t>
            </a:r>
            <a:r>
              <a:rPr lang="en-AU" dirty="0" smtClean="0"/>
              <a:t> equal </a:t>
            </a:r>
            <a:endParaRPr lang="en-AU" dirty="0" smtClean="0"/>
          </a:p>
          <a:p>
            <a:pPr>
              <a:defRPr/>
            </a:pPr>
            <a:r>
              <a:rPr lang="en-US" dirty="0"/>
              <a:t>Asymmetric algorithms rely </a:t>
            </a:r>
            <a:r>
              <a:rPr lang="en-US" dirty="0">
                <a:solidFill>
                  <a:srgbClr val="00B050"/>
                </a:solidFill>
              </a:rPr>
              <a:t>on one key for encryption </a:t>
            </a:r>
            <a:r>
              <a:rPr lang="en-US" dirty="0"/>
              <a:t>and a </a:t>
            </a:r>
            <a:r>
              <a:rPr lang="en-US" dirty="0">
                <a:solidFill>
                  <a:srgbClr val="00B050"/>
                </a:solidFill>
              </a:rPr>
              <a:t>different but related key </a:t>
            </a:r>
            <a:r>
              <a:rPr lang="en-US" dirty="0"/>
              <a:t>for </a:t>
            </a:r>
            <a:r>
              <a:rPr lang="en-US" dirty="0">
                <a:solidFill>
                  <a:srgbClr val="00B050"/>
                </a:solidFill>
              </a:rPr>
              <a:t>decryption. </a:t>
            </a:r>
            <a:endParaRPr lang="en-AU" dirty="0" smtClean="0">
              <a:solidFill>
                <a:srgbClr val="00B050"/>
              </a:solidFill>
            </a:endParaRPr>
          </a:p>
          <a:p>
            <a:pPr eaLnBrk="1" fontAlgn="auto" hangingPunct="1">
              <a:spcAft>
                <a:spcPts val="0"/>
              </a:spcAft>
              <a:defRPr/>
            </a:pPr>
            <a:endParaRPr lang="en-US" dirty="0" smtClean="0"/>
          </a:p>
        </p:txBody>
      </p:sp>
    </p:spTree>
    <p:extLst>
      <p:ext uri="{BB962C8B-B14F-4D97-AF65-F5344CB8AC3E}">
        <p14:creationId xmlns:p14="http://schemas.microsoft.com/office/powerpoint/2010/main" val="309343431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3" descr="encryption.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63525" y="152400"/>
            <a:ext cx="868680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0667583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6019800"/>
          </a:xfrm>
        </p:spPr>
        <p:txBody>
          <a:bodyPr>
            <a:normAutofit fontScale="92500" lnSpcReduction="20000"/>
          </a:bodyPr>
          <a:lstStyle/>
          <a:p>
            <a:pPr marL="0" indent="0">
              <a:buNone/>
            </a:pPr>
            <a:r>
              <a:rPr lang="en-US" dirty="0">
                <a:solidFill>
                  <a:srgbClr val="00B050"/>
                </a:solidFill>
              </a:rPr>
              <a:t>The essential steps are the following</a:t>
            </a:r>
            <a:r>
              <a:rPr lang="en-US" dirty="0" smtClean="0">
                <a:solidFill>
                  <a:srgbClr val="00B050"/>
                </a:solidFill>
              </a:rPr>
              <a:t>:</a:t>
            </a:r>
          </a:p>
          <a:p>
            <a:pPr marL="0" indent="0">
              <a:buNone/>
            </a:pPr>
            <a:endParaRPr lang="en-US" dirty="0">
              <a:solidFill>
                <a:srgbClr val="00B050"/>
              </a:solidFill>
            </a:endParaRPr>
          </a:p>
          <a:p>
            <a:pPr marL="0" indent="0">
              <a:buNone/>
            </a:pPr>
            <a:r>
              <a:rPr lang="en-US" dirty="0"/>
              <a:t>1. Each user generates a pair of keys to be used for the encryption and decryption of messages.  </a:t>
            </a:r>
          </a:p>
          <a:p>
            <a:pPr marL="0" indent="0">
              <a:buNone/>
            </a:pPr>
            <a:r>
              <a:rPr lang="en-US" dirty="0"/>
              <a:t>2. Each user places one of the two keys in a public register or other accessible file. This is the public key. The companion key is kept private. </a:t>
            </a:r>
          </a:p>
          <a:p>
            <a:pPr marL="0" indent="0">
              <a:buNone/>
            </a:pPr>
            <a:r>
              <a:rPr lang="en-US" dirty="0" smtClean="0"/>
              <a:t>3. If </a:t>
            </a:r>
            <a:r>
              <a:rPr lang="en-US" dirty="0"/>
              <a:t>Bob wishes to send a confidential message to Alice, Bob encrypts the message using Alice's public key.  </a:t>
            </a:r>
          </a:p>
          <a:p>
            <a:pPr marL="0" indent="0">
              <a:buNone/>
            </a:pPr>
            <a:r>
              <a:rPr lang="en-US" dirty="0"/>
              <a:t>4. When Alice receives the message, she decrypts it using her private key. No other recipient can decrypt the message because only Alice knows Alice's private key.</a:t>
            </a:r>
          </a:p>
        </p:txBody>
      </p:sp>
      <p:sp>
        <p:nvSpPr>
          <p:cNvPr id="4" name="Slide Number Placeholder 3"/>
          <p:cNvSpPr>
            <a:spLocks noGrp="1"/>
          </p:cNvSpPr>
          <p:nvPr>
            <p:ph type="sldNum" sz="quarter" idx="12"/>
          </p:nvPr>
        </p:nvSpPr>
        <p:spPr/>
        <p:txBody>
          <a:bodyPr/>
          <a:lstStyle/>
          <a:p>
            <a:fld id="{EA205F43-80E2-4640-A934-E79BFFCB5CAF}" type="slidenum">
              <a:rPr lang="en-US" smtClean="0"/>
              <a:pPr/>
              <a:t>6</a:t>
            </a:fld>
            <a:endParaRPr lang="en-US" dirty="0"/>
          </a:p>
        </p:txBody>
      </p:sp>
    </p:spTree>
    <p:extLst>
      <p:ext uri="{BB962C8B-B14F-4D97-AF65-F5344CB8AC3E}">
        <p14:creationId xmlns:p14="http://schemas.microsoft.com/office/powerpoint/2010/main" val="9903404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457200" y="457200"/>
            <a:ext cx="8229600" cy="1143000"/>
          </a:xfrm>
        </p:spPr>
        <p:txBody>
          <a:bodyPr/>
          <a:lstStyle/>
          <a:p>
            <a:pPr eaLnBrk="1" hangingPunct="1"/>
            <a:r>
              <a:rPr lang="en-AU" smtClean="0"/>
              <a:t>Public-Key Cryptography</a:t>
            </a:r>
            <a:endParaRPr lang="en-US" smtClean="0"/>
          </a:p>
        </p:txBody>
      </p:sp>
      <p:sp>
        <p:nvSpPr>
          <p:cNvPr id="3" name="Content Placeholder 2"/>
          <p:cNvSpPr>
            <a:spLocks noGrp="1"/>
          </p:cNvSpPr>
          <p:nvPr>
            <p:ph idx="1"/>
          </p:nvPr>
        </p:nvSpPr>
        <p:spPr>
          <a:xfrm>
            <a:off x="609600" y="1828800"/>
            <a:ext cx="8229600" cy="4525963"/>
          </a:xfrm>
        </p:spPr>
        <p:txBody>
          <a:bodyPr rtlCol="0">
            <a:normAutofit fontScale="92500" lnSpcReduction="20000"/>
          </a:bodyPr>
          <a:lstStyle/>
          <a:p>
            <a:pPr eaLnBrk="1" fontAlgn="auto" hangingPunct="1">
              <a:lnSpc>
                <a:spcPct val="90000"/>
              </a:lnSpc>
              <a:spcAft>
                <a:spcPts val="0"/>
              </a:spcAft>
              <a:defRPr/>
            </a:pPr>
            <a:r>
              <a:rPr lang="en-AU" b="1" dirty="0" smtClean="0"/>
              <a:t>public-key/two-key/asymmetric</a:t>
            </a:r>
            <a:r>
              <a:rPr lang="en-AU" dirty="0" smtClean="0"/>
              <a:t> cryptography involves the use of </a:t>
            </a:r>
            <a:r>
              <a:rPr lang="en-AU" b="1" dirty="0" smtClean="0"/>
              <a:t>two</a:t>
            </a:r>
            <a:r>
              <a:rPr lang="en-AU" dirty="0" smtClean="0"/>
              <a:t> keys: </a:t>
            </a:r>
          </a:p>
          <a:p>
            <a:pPr lvl="1" eaLnBrk="1" fontAlgn="auto" hangingPunct="1">
              <a:lnSpc>
                <a:spcPct val="90000"/>
              </a:lnSpc>
              <a:spcAft>
                <a:spcPts val="0"/>
              </a:spcAft>
              <a:defRPr/>
            </a:pPr>
            <a:r>
              <a:rPr lang="en-AU" sz="3200" dirty="0" smtClean="0"/>
              <a:t>a </a:t>
            </a:r>
            <a:r>
              <a:rPr lang="en-AU" sz="3200" b="1" dirty="0" smtClean="0"/>
              <a:t>public-key</a:t>
            </a:r>
            <a:r>
              <a:rPr lang="en-AU" sz="3200" dirty="0" smtClean="0"/>
              <a:t>, which may be known by anybody, and can be used to </a:t>
            </a:r>
            <a:r>
              <a:rPr lang="en-AU" sz="3200" b="1" dirty="0" smtClean="0"/>
              <a:t>encrypt messages</a:t>
            </a:r>
            <a:r>
              <a:rPr lang="en-AU" sz="3200" dirty="0" smtClean="0"/>
              <a:t>, and </a:t>
            </a:r>
            <a:r>
              <a:rPr lang="en-AU" sz="3200" b="1" dirty="0" smtClean="0"/>
              <a:t>verify signatures</a:t>
            </a:r>
            <a:r>
              <a:rPr lang="en-AU" sz="3200" dirty="0" smtClean="0"/>
              <a:t> </a:t>
            </a:r>
          </a:p>
          <a:p>
            <a:pPr lvl="1" eaLnBrk="1" fontAlgn="auto" hangingPunct="1">
              <a:lnSpc>
                <a:spcPct val="90000"/>
              </a:lnSpc>
              <a:spcAft>
                <a:spcPts val="0"/>
              </a:spcAft>
              <a:defRPr/>
            </a:pPr>
            <a:r>
              <a:rPr lang="en-AU" sz="3200" dirty="0" smtClean="0"/>
              <a:t>a </a:t>
            </a:r>
            <a:r>
              <a:rPr lang="en-AU" sz="3200" b="1" dirty="0" smtClean="0"/>
              <a:t>private-key</a:t>
            </a:r>
            <a:r>
              <a:rPr lang="en-AU" sz="3200" dirty="0" smtClean="0"/>
              <a:t>, known only to the recipient, used to </a:t>
            </a:r>
            <a:r>
              <a:rPr lang="en-AU" sz="3200" b="1" dirty="0" smtClean="0"/>
              <a:t>decrypt messages</a:t>
            </a:r>
            <a:r>
              <a:rPr lang="en-AU" sz="3200" dirty="0" smtClean="0"/>
              <a:t>, and </a:t>
            </a:r>
            <a:r>
              <a:rPr lang="en-AU" sz="3200" b="1" dirty="0" smtClean="0"/>
              <a:t>sign</a:t>
            </a:r>
            <a:r>
              <a:rPr lang="en-AU" sz="3200" dirty="0" smtClean="0"/>
              <a:t> (create)</a:t>
            </a:r>
            <a:r>
              <a:rPr lang="en-AU" sz="3200" b="1" dirty="0" smtClean="0"/>
              <a:t> signatures</a:t>
            </a:r>
            <a:endParaRPr lang="en-AU" sz="3200" dirty="0" smtClean="0"/>
          </a:p>
          <a:p>
            <a:pPr eaLnBrk="1" fontAlgn="auto" hangingPunct="1">
              <a:lnSpc>
                <a:spcPct val="90000"/>
              </a:lnSpc>
              <a:spcAft>
                <a:spcPts val="0"/>
              </a:spcAft>
              <a:defRPr/>
            </a:pPr>
            <a:r>
              <a:rPr lang="en-AU" dirty="0" smtClean="0"/>
              <a:t>is </a:t>
            </a:r>
            <a:r>
              <a:rPr lang="en-AU" b="1" dirty="0" smtClean="0"/>
              <a:t>asymmetric</a:t>
            </a:r>
            <a:r>
              <a:rPr lang="en-AU" dirty="0" smtClean="0"/>
              <a:t> because</a:t>
            </a:r>
          </a:p>
          <a:p>
            <a:pPr lvl="1" eaLnBrk="1" fontAlgn="auto" hangingPunct="1">
              <a:lnSpc>
                <a:spcPct val="90000"/>
              </a:lnSpc>
              <a:spcAft>
                <a:spcPts val="0"/>
              </a:spcAft>
              <a:defRPr/>
            </a:pPr>
            <a:r>
              <a:rPr lang="en-AU" sz="3200" dirty="0" smtClean="0"/>
              <a:t>those who encrypt messages or verify signatures </a:t>
            </a:r>
            <a:r>
              <a:rPr lang="en-AU" sz="3200" b="1" dirty="0" smtClean="0"/>
              <a:t>cannot</a:t>
            </a:r>
            <a:r>
              <a:rPr lang="en-AU" sz="3200" dirty="0" smtClean="0"/>
              <a:t> decrypt messages or create signatures</a:t>
            </a:r>
          </a:p>
          <a:p>
            <a:pPr eaLnBrk="1" fontAlgn="auto" hangingPunct="1">
              <a:spcAft>
                <a:spcPts val="0"/>
              </a:spcAft>
              <a:defRPr/>
            </a:pPr>
            <a:endParaRPr lang="en-US" dirty="0" smtClean="0"/>
          </a:p>
        </p:txBody>
      </p:sp>
    </p:spTree>
    <p:extLst>
      <p:ext uri="{BB962C8B-B14F-4D97-AF65-F5344CB8AC3E}">
        <p14:creationId xmlns:p14="http://schemas.microsoft.com/office/powerpoint/2010/main" val="315395756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A205F43-80E2-4640-A934-E79BFFCB5CAF}" type="slidenum">
              <a:rPr lang="en-US" smtClean="0"/>
              <a:pPr/>
              <a:t>8</a:t>
            </a:fld>
            <a:endParaRPr lang="en-US" dirty="0"/>
          </a:p>
        </p:txBody>
      </p:sp>
      <p:pic>
        <p:nvPicPr>
          <p:cNvPr id="5" name="Picture 4"/>
          <p:cNvPicPr>
            <a:picLocks noChangeAspect="1"/>
          </p:cNvPicPr>
          <p:nvPr/>
        </p:nvPicPr>
        <p:blipFill rotWithShape="1">
          <a:blip r:embed="rId2"/>
          <a:srcRect l="52708" t="9375" r="2782" b="1042"/>
          <a:stretch/>
        </p:blipFill>
        <p:spPr>
          <a:xfrm>
            <a:off x="1600200" y="416844"/>
            <a:ext cx="5410200" cy="6122068"/>
          </a:xfrm>
          <a:prstGeom prst="rect">
            <a:avLst/>
          </a:prstGeom>
        </p:spPr>
      </p:pic>
    </p:spTree>
    <p:extLst>
      <p:ext uri="{BB962C8B-B14F-4D97-AF65-F5344CB8AC3E}">
        <p14:creationId xmlns:p14="http://schemas.microsoft.com/office/powerpoint/2010/main" val="39201051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pPr eaLnBrk="1" hangingPunct="1"/>
            <a:r>
              <a:rPr lang="en-AU" smtClean="0"/>
              <a:t>Public-Key Characteristics</a:t>
            </a:r>
            <a:endParaRPr lang="en-US" smtClean="0"/>
          </a:p>
        </p:txBody>
      </p:sp>
      <p:sp>
        <p:nvSpPr>
          <p:cNvPr id="3" name="Content Placeholder 2"/>
          <p:cNvSpPr>
            <a:spLocks noGrp="1"/>
          </p:cNvSpPr>
          <p:nvPr>
            <p:ph idx="1"/>
          </p:nvPr>
        </p:nvSpPr>
        <p:spPr>
          <a:xfrm>
            <a:off x="609600" y="1981200"/>
            <a:ext cx="8229600" cy="4525963"/>
          </a:xfrm>
        </p:spPr>
        <p:txBody>
          <a:bodyPr rtlCol="0">
            <a:normAutofit fontScale="92500" lnSpcReduction="10000"/>
          </a:bodyPr>
          <a:lstStyle/>
          <a:p>
            <a:pPr eaLnBrk="1" fontAlgn="auto" hangingPunct="1">
              <a:spcAft>
                <a:spcPts val="0"/>
              </a:spcAft>
              <a:defRPr/>
            </a:pPr>
            <a:r>
              <a:rPr lang="en-AU" dirty="0" smtClean="0"/>
              <a:t>Public-Key algorithms rely on two keys where:</a:t>
            </a:r>
          </a:p>
          <a:p>
            <a:pPr lvl="1" eaLnBrk="1" fontAlgn="auto" hangingPunct="1">
              <a:spcAft>
                <a:spcPts val="0"/>
              </a:spcAft>
              <a:defRPr/>
            </a:pPr>
            <a:r>
              <a:rPr lang="en-AU" sz="3200" dirty="0" smtClean="0"/>
              <a:t>it is computationally infeasible to find decryption key knowing only algorithm &amp; encryption key</a:t>
            </a:r>
          </a:p>
          <a:p>
            <a:pPr lvl="1" eaLnBrk="1" fontAlgn="auto" hangingPunct="1">
              <a:spcAft>
                <a:spcPts val="0"/>
              </a:spcAft>
              <a:defRPr/>
            </a:pPr>
            <a:r>
              <a:rPr lang="en-AU" sz="3200" dirty="0" smtClean="0"/>
              <a:t>it is computationally easy to en/decrypt messages when the relevant (en/decrypt) key is known</a:t>
            </a:r>
          </a:p>
          <a:p>
            <a:pPr lvl="1" eaLnBrk="1" fontAlgn="auto" hangingPunct="1">
              <a:spcAft>
                <a:spcPts val="0"/>
              </a:spcAft>
              <a:defRPr/>
            </a:pPr>
            <a:r>
              <a:rPr lang="en-AU" sz="3200" dirty="0" smtClean="0"/>
              <a:t>either of the two related keys can be used for encryption, with the other used for decryption (for some algorithms)</a:t>
            </a:r>
          </a:p>
          <a:p>
            <a:pPr lvl="1" eaLnBrk="1" fontAlgn="auto" hangingPunct="1">
              <a:spcAft>
                <a:spcPts val="0"/>
              </a:spcAft>
              <a:defRPr/>
            </a:pPr>
            <a:endParaRPr lang="en-AU" sz="2400" dirty="0" smtClean="0"/>
          </a:p>
          <a:p>
            <a:pPr eaLnBrk="1" fontAlgn="auto" hangingPunct="1">
              <a:spcAft>
                <a:spcPts val="0"/>
              </a:spcAft>
              <a:defRPr/>
            </a:pPr>
            <a:endParaRPr lang="en-US" dirty="0" smtClean="0"/>
          </a:p>
        </p:txBody>
      </p:sp>
    </p:spTree>
    <p:extLst>
      <p:ext uri="{BB962C8B-B14F-4D97-AF65-F5344CB8AC3E}">
        <p14:creationId xmlns:p14="http://schemas.microsoft.com/office/powerpoint/2010/main" val="152888237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eaLnBrk="1" hangingPunct="1"/>
            <a:r>
              <a:rPr lang="en-AU" smtClean="0"/>
              <a:t>Public-Key Applications</a:t>
            </a:r>
            <a:endParaRPr lang="en-US" smtClean="0"/>
          </a:p>
        </p:txBody>
      </p:sp>
      <p:sp>
        <p:nvSpPr>
          <p:cNvPr id="13315" name="Content Placeholder 2"/>
          <p:cNvSpPr>
            <a:spLocks noGrp="1"/>
          </p:cNvSpPr>
          <p:nvPr>
            <p:ph idx="1"/>
          </p:nvPr>
        </p:nvSpPr>
        <p:spPr/>
        <p:txBody>
          <a:bodyPr>
            <a:normAutofit fontScale="92500"/>
          </a:bodyPr>
          <a:lstStyle/>
          <a:p>
            <a:pPr eaLnBrk="1" hangingPunct="1"/>
            <a:r>
              <a:rPr lang="en-US" dirty="0" smtClean="0"/>
              <a:t>can classify uses into 3 categories:</a:t>
            </a:r>
          </a:p>
          <a:p>
            <a:pPr lvl="1"/>
            <a:r>
              <a:rPr lang="en-US" b="1" dirty="0" smtClean="0"/>
              <a:t>encryption/decryption</a:t>
            </a:r>
            <a:r>
              <a:rPr lang="en-US" dirty="0" smtClean="0"/>
              <a:t> (provide secrecy</a:t>
            </a:r>
            <a:r>
              <a:rPr lang="en-US" dirty="0"/>
              <a:t>) The sender encrypts a message with the recipient's public key.</a:t>
            </a:r>
            <a:endParaRPr lang="en-US" dirty="0" smtClean="0"/>
          </a:p>
          <a:p>
            <a:pPr lvl="1"/>
            <a:r>
              <a:rPr lang="en-US" b="1" dirty="0" smtClean="0"/>
              <a:t>digital signatures</a:t>
            </a:r>
            <a:r>
              <a:rPr lang="en-US" dirty="0" smtClean="0"/>
              <a:t> (provide authentication</a:t>
            </a:r>
            <a:r>
              <a:rPr lang="en-US" dirty="0"/>
              <a:t>) The sender "signs" a message with its private key</a:t>
            </a:r>
            <a:endParaRPr lang="en-US" dirty="0" smtClean="0"/>
          </a:p>
          <a:p>
            <a:pPr lvl="1"/>
            <a:r>
              <a:rPr lang="en-US" b="1" dirty="0" smtClean="0"/>
              <a:t>key exchange</a:t>
            </a:r>
            <a:r>
              <a:rPr lang="en-US" dirty="0" smtClean="0"/>
              <a:t> (of session keys</a:t>
            </a:r>
            <a:r>
              <a:rPr lang="en-US" dirty="0"/>
              <a:t>) Two sides cooperate to exchange a session key. Several different approaches are possible, involving the private key(s) of one or both parties.</a:t>
            </a:r>
          </a:p>
          <a:p>
            <a:pPr marL="457200" lvl="1" indent="0" eaLnBrk="1" hangingPunct="1">
              <a:buNone/>
            </a:pPr>
            <a:endParaRPr lang="en-US" dirty="0" smtClean="0"/>
          </a:p>
          <a:p>
            <a:pPr eaLnBrk="1" hangingPunct="1"/>
            <a:endParaRPr lang="en-US" dirty="0" smtClean="0"/>
          </a:p>
        </p:txBody>
      </p:sp>
    </p:spTree>
    <p:extLst>
      <p:ext uri="{BB962C8B-B14F-4D97-AF65-F5344CB8AC3E}">
        <p14:creationId xmlns:p14="http://schemas.microsoft.com/office/powerpoint/2010/main" val="201478233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Some </a:t>
            </a:r>
            <a:r>
              <a:rPr lang="en-US" dirty="0"/>
              <a:t>algorithms are suitable for all uses, others are specific to </a:t>
            </a:r>
            <a:r>
              <a:rPr lang="en-US" dirty="0" smtClean="0"/>
              <a:t>one</a:t>
            </a:r>
            <a:endParaRPr lang="en-US" dirty="0"/>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EA205F43-80E2-4640-A934-E79BFFCB5CAF}" type="slidenum">
              <a:rPr lang="en-US" smtClean="0"/>
              <a:pPr/>
              <a:t>11</a:t>
            </a:fld>
            <a:endParaRPr lang="en-US" dirty="0"/>
          </a:p>
        </p:txBody>
      </p:sp>
      <p:pic>
        <p:nvPicPr>
          <p:cNvPr id="5" name="Picture 4"/>
          <p:cNvPicPr>
            <a:picLocks noChangeAspect="1"/>
          </p:cNvPicPr>
          <p:nvPr/>
        </p:nvPicPr>
        <p:blipFill rotWithShape="1">
          <a:blip r:embed="rId2"/>
          <a:srcRect l="21889" t="36458" r="30088" b="29167"/>
          <a:stretch/>
        </p:blipFill>
        <p:spPr>
          <a:xfrm>
            <a:off x="228600" y="2267627"/>
            <a:ext cx="8686800" cy="3495907"/>
          </a:xfrm>
          <a:prstGeom prst="rect">
            <a:avLst/>
          </a:prstGeom>
        </p:spPr>
      </p:pic>
    </p:spTree>
    <p:extLst>
      <p:ext uri="{BB962C8B-B14F-4D97-AF65-F5344CB8AC3E}">
        <p14:creationId xmlns:p14="http://schemas.microsoft.com/office/powerpoint/2010/main" val="14020059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533400" y="381000"/>
            <a:ext cx="8229600" cy="1143000"/>
          </a:xfrm>
        </p:spPr>
        <p:txBody>
          <a:bodyPr/>
          <a:lstStyle/>
          <a:p>
            <a:pPr eaLnBrk="1" hangingPunct="1"/>
            <a:r>
              <a:rPr lang="en-AU" dirty="0" smtClean="0"/>
              <a:t>Security of Public Key Schemes</a:t>
            </a:r>
            <a:endParaRPr lang="en-US" dirty="0" smtClean="0"/>
          </a:p>
        </p:txBody>
      </p:sp>
      <p:sp>
        <p:nvSpPr>
          <p:cNvPr id="3" name="Content Placeholder 2"/>
          <p:cNvSpPr>
            <a:spLocks noGrp="1"/>
          </p:cNvSpPr>
          <p:nvPr>
            <p:ph idx="1"/>
          </p:nvPr>
        </p:nvSpPr>
        <p:spPr>
          <a:xfrm>
            <a:off x="0" y="1524000"/>
            <a:ext cx="9296400" cy="4602163"/>
          </a:xfrm>
        </p:spPr>
        <p:txBody>
          <a:bodyPr rtlCol="0">
            <a:noAutofit/>
          </a:bodyPr>
          <a:lstStyle/>
          <a:p>
            <a:pPr algn="just">
              <a:lnSpc>
                <a:spcPct val="90000"/>
              </a:lnSpc>
              <a:defRPr/>
            </a:pPr>
            <a:r>
              <a:rPr lang="en-US" sz="2400" dirty="0"/>
              <a:t>As with symmetric encryption, a public-key encryption scheme is vulnerable to a brute-force attack</a:t>
            </a:r>
            <a:r>
              <a:rPr lang="en-US" sz="2400" dirty="0" smtClean="0"/>
              <a:t>.</a:t>
            </a:r>
          </a:p>
          <a:p>
            <a:pPr algn="just">
              <a:lnSpc>
                <a:spcPct val="90000"/>
              </a:lnSpc>
              <a:defRPr/>
            </a:pPr>
            <a:r>
              <a:rPr lang="en-AU" sz="2400" dirty="0">
                <a:solidFill>
                  <a:srgbClr val="00B050"/>
                </a:solidFill>
              </a:rPr>
              <a:t>requires the use of </a:t>
            </a:r>
            <a:r>
              <a:rPr lang="en-AU" sz="2400" b="1" dirty="0">
                <a:solidFill>
                  <a:srgbClr val="00B050"/>
                </a:solidFill>
              </a:rPr>
              <a:t>very large </a:t>
            </a:r>
            <a:r>
              <a:rPr lang="en-AU" sz="2400" b="1" dirty="0" smtClean="0">
                <a:solidFill>
                  <a:srgbClr val="00B050"/>
                </a:solidFill>
              </a:rPr>
              <a:t>numbers:</a:t>
            </a:r>
            <a:endParaRPr lang="en-AU" sz="2400" b="1" dirty="0">
              <a:solidFill>
                <a:srgbClr val="00B050"/>
              </a:solidFill>
            </a:endParaRPr>
          </a:p>
          <a:p>
            <a:pPr marL="0" indent="0" algn="just">
              <a:lnSpc>
                <a:spcPct val="90000"/>
              </a:lnSpc>
              <a:buNone/>
              <a:defRPr/>
            </a:pPr>
            <a:r>
              <a:rPr lang="en-US" sz="2400" dirty="0" smtClean="0"/>
              <a:t>Use </a:t>
            </a:r>
            <a:r>
              <a:rPr lang="en-US" sz="2400" dirty="0"/>
              <a:t>large keys. </a:t>
            </a:r>
            <a:r>
              <a:rPr lang="en-US" sz="2400" dirty="0" smtClean="0"/>
              <a:t>Public-key </a:t>
            </a:r>
            <a:r>
              <a:rPr lang="en-US" sz="2400" dirty="0"/>
              <a:t>systems depend on the use of some sort of invertible mathematical function. The complexity of calculating these functions may not scale linearly with the number of bits in the key but grow more rapidly than that. Thus, the key size must be large enough to make brute-force attack impractical but small enough for practical encryption and decryption. </a:t>
            </a:r>
            <a:endParaRPr lang="en-US" sz="2400" dirty="0" smtClean="0"/>
          </a:p>
          <a:p>
            <a:pPr algn="just">
              <a:lnSpc>
                <a:spcPct val="90000"/>
              </a:lnSpc>
              <a:defRPr/>
            </a:pPr>
            <a:r>
              <a:rPr lang="en-AU" sz="2400" dirty="0">
                <a:solidFill>
                  <a:srgbClr val="00B050"/>
                </a:solidFill>
              </a:rPr>
              <a:t>hence is </a:t>
            </a:r>
            <a:r>
              <a:rPr lang="en-AU" sz="2400" b="1" dirty="0">
                <a:solidFill>
                  <a:srgbClr val="00B050"/>
                </a:solidFill>
              </a:rPr>
              <a:t>slow</a:t>
            </a:r>
            <a:r>
              <a:rPr lang="en-AU" sz="2400" dirty="0">
                <a:solidFill>
                  <a:srgbClr val="00B050"/>
                </a:solidFill>
              </a:rPr>
              <a:t> compared to private key </a:t>
            </a:r>
            <a:r>
              <a:rPr lang="en-AU" sz="2400" dirty="0" smtClean="0">
                <a:solidFill>
                  <a:srgbClr val="00B050"/>
                </a:solidFill>
              </a:rPr>
              <a:t>schemes:</a:t>
            </a:r>
            <a:endParaRPr lang="en-AU" sz="2400" dirty="0">
              <a:solidFill>
                <a:srgbClr val="00B050"/>
              </a:solidFill>
            </a:endParaRPr>
          </a:p>
          <a:p>
            <a:pPr marL="0" indent="0" algn="just">
              <a:lnSpc>
                <a:spcPct val="90000"/>
              </a:lnSpc>
              <a:buNone/>
              <a:defRPr/>
            </a:pPr>
            <a:r>
              <a:rPr lang="en-US" sz="2400" dirty="0" smtClean="0"/>
              <a:t>In </a:t>
            </a:r>
            <a:r>
              <a:rPr lang="en-US" sz="2400" dirty="0"/>
              <a:t>practice, the key sizes that have been proposed do make brute-force attack impractical but result in encryption/decryption speeds that are too slow for general-purpose use. Instead, as was mentioned earlier, public-key encryption is currently confined to key management and signature applications.</a:t>
            </a:r>
          </a:p>
          <a:p>
            <a:pPr algn="just" eaLnBrk="1" fontAlgn="auto" hangingPunct="1">
              <a:lnSpc>
                <a:spcPct val="90000"/>
              </a:lnSpc>
              <a:spcAft>
                <a:spcPts val="0"/>
              </a:spcAft>
              <a:defRPr/>
            </a:pPr>
            <a:endParaRPr lang="en-AU" sz="2400" dirty="0" smtClean="0"/>
          </a:p>
          <a:p>
            <a:pPr algn="just" eaLnBrk="1" fontAlgn="auto" hangingPunct="1">
              <a:spcAft>
                <a:spcPts val="0"/>
              </a:spcAft>
              <a:defRPr/>
            </a:pPr>
            <a:endParaRPr lang="en-US" sz="2400" dirty="0" smtClean="0"/>
          </a:p>
        </p:txBody>
      </p:sp>
    </p:spTree>
    <p:extLst>
      <p:ext uri="{BB962C8B-B14F-4D97-AF65-F5344CB8AC3E}">
        <p14:creationId xmlns:p14="http://schemas.microsoft.com/office/powerpoint/2010/main" val="45028155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hangingPunct="1"/>
            <a:r>
              <a:rPr lang="en-AU" smtClean="0"/>
              <a:t>Key Management</a:t>
            </a:r>
            <a:endParaRPr lang="en-US" smtClean="0"/>
          </a:p>
        </p:txBody>
      </p:sp>
      <p:sp>
        <p:nvSpPr>
          <p:cNvPr id="15363" name="Content Placeholder 2"/>
          <p:cNvSpPr>
            <a:spLocks noGrp="1"/>
          </p:cNvSpPr>
          <p:nvPr>
            <p:ph idx="1"/>
          </p:nvPr>
        </p:nvSpPr>
        <p:spPr/>
        <p:txBody>
          <a:bodyPr/>
          <a:lstStyle/>
          <a:p>
            <a:pPr eaLnBrk="1" hangingPunct="1"/>
            <a:r>
              <a:rPr lang="en-US" dirty="0" smtClean="0"/>
              <a:t>public-key encryption helps address </a:t>
            </a:r>
            <a:r>
              <a:rPr lang="en-AU" dirty="0" smtClean="0"/>
              <a:t>key distribution problems</a:t>
            </a:r>
          </a:p>
          <a:p>
            <a:pPr eaLnBrk="1" hangingPunct="1"/>
            <a:r>
              <a:rPr lang="en-AU" dirty="0" smtClean="0"/>
              <a:t>have two aspects of this:</a:t>
            </a:r>
          </a:p>
          <a:p>
            <a:pPr lvl="1" eaLnBrk="1" hangingPunct="1"/>
            <a:r>
              <a:rPr lang="en-US" dirty="0" smtClean="0"/>
              <a:t>distribution of public keys</a:t>
            </a:r>
          </a:p>
          <a:p>
            <a:pPr lvl="1" eaLnBrk="1" hangingPunct="1"/>
            <a:r>
              <a:rPr lang="en-US" dirty="0" smtClean="0"/>
              <a:t>use of public-key encryption to </a:t>
            </a:r>
            <a:r>
              <a:rPr lang="en-AU" dirty="0" smtClean="0"/>
              <a:t>distribute secret keys</a:t>
            </a:r>
          </a:p>
          <a:p>
            <a:pPr eaLnBrk="1" hangingPunct="1"/>
            <a:endParaRPr lang="en-US" dirty="0" smtClean="0"/>
          </a:p>
        </p:txBody>
      </p:sp>
    </p:spTree>
    <p:extLst>
      <p:ext uri="{BB962C8B-B14F-4D97-AF65-F5344CB8AC3E}">
        <p14:creationId xmlns:p14="http://schemas.microsoft.com/office/powerpoint/2010/main" val="15726187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hangingPunct="1"/>
            <a:r>
              <a:rPr lang="en-US" smtClean="0"/>
              <a:t>Distribution of Public Keys</a:t>
            </a:r>
          </a:p>
        </p:txBody>
      </p:sp>
      <p:sp>
        <p:nvSpPr>
          <p:cNvPr id="16387" name="Content Placeholder 2"/>
          <p:cNvSpPr>
            <a:spLocks noGrp="1"/>
          </p:cNvSpPr>
          <p:nvPr>
            <p:ph idx="1"/>
          </p:nvPr>
        </p:nvSpPr>
        <p:spPr/>
        <p:txBody>
          <a:bodyPr>
            <a:normAutofit fontScale="92500" lnSpcReduction="10000"/>
          </a:bodyPr>
          <a:lstStyle/>
          <a:p>
            <a:r>
              <a:rPr lang="en-US" dirty="0"/>
              <a:t>Several techniques have been proposed for the distribution of public keys. Virtually all these proposals can be grouped into the following general schemes:</a:t>
            </a:r>
          </a:p>
          <a:p>
            <a:pPr eaLnBrk="1" hangingPunct="1"/>
            <a:r>
              <a:rPr lang="en-US" dirty="0" smtClean="0"/>
              <a:t>can </a:t>
            </a:r>
            <a:r>
              <a:rPr lang="en-US" dirty="0" smtClean="0"/>
              <a:t>be considered as using one of:</a:t>
            </a:r>
          </a:p>
          <a:p>
            <a:pPr lvl="1" eaLnBrk="1" hangingPunct="1"/>
            <a:r>
              <a:rPr lang="en-AU" dirty="0" smtClean="0"/>
              <a:t>public announcement</a:t>
            </a:r>
          </a:p>
          <a:p>
            <a:pPr lvl="1" eaLnBrk="1" hangingPunct="1"/>
            <a:r>
              <a:rPr lang="en-AU" dirty="0" smtClean="0"/>
              <a:t>publicly available directory</a:t>
            </a:r>
          </a:p>
          <a:p>
            <a:pPr lvl="1" eaLnBrk="1" hangingPunct="1"/>
            <a:r>
              <a:rPr lang="en-AU" dirty="0" smtClean="0"/>
              <a:t>public-key authority</a:t>
            </a:r>
          </a:p>
          <a:p>
            <a:pPr lvl="1" eaLnBrk="1" hangingPunct="1"/>
            <a:r>
              <a:rPr lang="en-AU" dirty="0" smtClean="0"/>
              <a:t>public-key certificates</a:t>
            </a:r>
          </a:p>
          <a:p>
            <a:pPr eaLnBrk="1" hangingPunct="1"/>
            <a:endParaRPr lang="en-US" dirty="0" smtClean="0"/>
          </a:p>
        </p:txBody>
      </p:sp>
    </p:spTree>
    <p:extLst>
      <p:ext uri="{BB962C8B-B14F-4D97-AF65-F5344CB8AC3E}">
        <p14:creationId xmlns:p14="http://schemas.microsoft.com/office/powerpoint/2010/main" val="272580081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AU" smtClean="0"/>
              <a:t>Public Announcement</a:t>
            </a:r>
            <a:endParaRPr lang="en-US" smtClean="0"/>
          </a:p>
        </p:txBody>
      </p:sp>
      <p:sp>
        <p:nvSpPr>
          <p:cNvPr id="17411" name="Content Placeholder 2"/>
          <p:cNvSpPr>
            <a:spLocks noGrp="1"/>
          </p:cNvSpPr>
          <p:nvPr>
            <p:ph idx="1"/>
          </p:nvPr>
        </p:nvSpPr>
        <p:spPr/>
        <p:txBody>
          <a:bodyPr/>
          <a:lstStyle/>
          <a:p>
            <a:pPr eaLnBrk="1" hangingPunct="1">
              <a:lnSpc>
                <a:spcPct val="90000"/>
              </a:lnSpc>
            </a:pPr>
            <a:r>
              <a:rPr lang="en-US" smtClean="0"/>
              <a:t>users distribute public keys to recipients or broadcast to community at large</a:t>
            </a:r>
          </a:p>
          <a:p>
            <a:pPr lvl="1" eaLnBrk="1" hangingPunct="1">
              <a:lnSpc>
                <a:spcPct val="90000"/>
              </a:lnSpc>
            </a:pPr>
            <a:r>
              <a:rPr lang="en-US" smtClean="0"/>
              <a:t>eg. append PGP keys to email messages or post to news groups or email list</a:t>
            </a:r>
          </a:p>
          <a:p>
            <a:pPr eaLnBrk="1" hangingPunct="1">
              <a:lnSpc>
                <a:spcPct val="90000"/>
              </a:lnSpc>
            </a:pPr>
            <a:r>
              <a:rPr lang="en-US" smtClean="0"/>
              <a:t>major weakness is forgery</a:t>
            </a:r>
          </a:p>
          <a:p>
            <a:pPr lvl="1" eaLnBrk="1" hangingPunct="1">
              <a:lnSpc>
                <a:spcPct val="90000"/>
              </a:lnSpc>
            </a:pPr>
            <a:r>
              <a:rPr lang="en-US" smtClean="0"/>
              <a:t>anyone can create a key claiming to be someone else and broadcast it</a:t>
            </a:r>
          </a:p>
          <a:p>
            <a:pPr lvl="1" eaLnBrk="1" hangingPunct="1">
              <a:lnSpc>
                <a:spcPct val="90000"/>
              </a:lnSpc>
            </a:pPr>
            <a:r>
              <a:rPr lang="en-US" smtClean="0"/>
              <a:t>until forgery is discovered can masquerade as claimed user</a:t>
            </a:r>
            <a:endParaRPr lang="en-AU" smtClean="0"/>
          </a:p>
          <a:p>
            <a:pPr eaLnBrk="1" hangingPunct="1"/>
            <a:endParaRPr lang="en-US" smtClean="0"/>
          </a:p>
        </p:txBody>
      </p:sp>
    </p:spTree>
    <p:extLst>
      <p:ext uri="{BB962C8B-B14F-4D97-AF65-F5344CB8AC3E}">
        <p14:creationId xmlns:p14="http://schemas.microsoft.com/office/powerpoint/2010/main" val="352742864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AU" smtClean="0"/>
              <a:t>Publicly Available Directory</a:t>
            </a:r>
            <a:endParaRPr lang="en-US" smtClean="0"/>
          </a:p>
        </p:txBody>
      </p:sp>
      <p:sp>
        <p:nvSpPr>
          <p:cNvPr id="17411" name="Content Placeholder 2"/>
          <p:cNvSpPr>
            <a:spLocks noGrp="1"/>
          </p:cNvSpPr>
          <p:nvPr>
            <p:ph idx="1"/>
          </p:nvPr>
        </p:nvSpPr>
        <p:spPr/>
        <p:txBody>
          <a:bodyPr rtlCol="0">
            <a:normAutofit lnSpcReduction="10000"/>
          </a:bodyPr>
          <a:lstStyle/>
          <a:p>
            <a:pPr eaLnBrk="1" fontAlgn="auto" hangingPunct="1">
              <a:lnSpc>
                <a:spcPct val="90000"/>
              </a:lnSpc>
              <a:spcAft>
                <a:spcPts val="0"/>
              </a:spcAft>
              <a:defRPr/>
            </a:pPr>
            <a:r>
              <a:rPr lang="en-US" smtClean="0"/>
              <a:t>can obtain greater security by registering keys with a public directory</a:t>
            </a:r>
          </a:p>
          <a:p>
            <a:pPr eaLnBrk="1" fontAlgn="auto" hangingPunct="1">
              <a:lnSpc>
                <a:spcPct val="90000"/>
              </a:lnSpc>
              <a:spcAft>
                <a:spcPts val="0"/>
              </a:spcAft>
              <a:defRPr/>
            </a:pPr>
            <a:r>
              <a:rPr lang="en-US" smtClean="0"/>
              <a:t>directory must be trusted with properties:</a:t>
            </a:r>
          </a:p>
          <a:p>
            <a:pPr lvl="1" eaLnBrk="1" fontAlgn="auto" hangingPunct="1">
              <a:lnSpc>
                <a:spcPct val="90000"/>
              </a:lnSpc>
              <a:spcAft>
                <a:spcPts val="0"/>
              </a:spcAft>
              <a:defRPr/>
            </a:pPr>
            <a:r>
              <a:rPr lang="en-US" smtClean="0"/>
              <a:t>contains {name,public-key} entries</a:t>
            </a:r>
          </a:p>
          <a:p>
            <a:pPr lvl="1" eaLnBrk="1" fontAlgn="auto" hangingPunct="1">
              <a:lnSpc>
                <a:spcPct val="90000"/>
              </a:lnSpc>
              <a:spcAft>
                <a:spcPts val="0"/>
              </a:spcAft>
              <a:defRPr/>
            </a:pPr>
            <a:r>
              <a:rPr lang="en-US" smtClean="0"/>
              <a:t>participants register securely with directory</a:t>
            </a:r>
          </a:p>
          <a:p>
            <a:pPr lvl="1" eaLnBrk="1" fontAlgn="auto" hangingPunct="1">
              <a:lnSpc>
                <a:spcPct val="90000"/>
              </a:lnSpc>
              <a:spcAft>
                <a:spcPts val="0"/>
              </a:spcAft>
              <a:defRPr/>
            </a:pPr>
            <a:r>
              <a:rPr lang="en-US" smtClean="0"/>
              <a:t>participants can replace key at any time</a:t>
            </a:r>
          </a:p>
          <a:p>
            <a:pPr lvl="1" eaLnBrk="1" fontAlgn="auto" hangingPunct="1">
              <a:lnSpc>
                <a:spcPct val="90000"/>
              </a:lnSpc>
              <a:spcAft>
                <a:spcPts val="0"/>
              </a:spcAft>
              <a:defRPr/>
            </a:pPr>
            <a:r>
              <a:rPr lang="en-US" smtClean="0"/>
              <a:t>directory is periodically published</a:t>
            </a:r>
          </a:p>
          <a:p>
            <a:pPr lvl="1" eaLnBrk="1" fontAlgn="auto" hangingPunct="1">
              <a:lnSpc>
                <a:spcPct val="90000"/>
              </a:lnSpc>
              <a:spcAft>
                <a:spcPts val="0"/>
              </a:spcAft>
              <a:defRPr/>
            </a:pPr>
            <a:r>
              <a:rPr lang="en-US" smtClean="0"/>
              <a:t>directory can be accessed electronically</a:t>
            </a:r>
          </a:p>
          <a:p>
            <a:pPr eaLnBrk="1" fontAlgn="auto" hangingPunct="1">
              <a:lnSpc>
                <a:spcPct val="90000"/>
              </a:lnSpc>
              <a:spcAft>
                <a:spcPts val="0"/>
              </a:spcAft>
              <a:defRPr/>
            </a:pPr>
            <a:r>
              <a:rPr lang="en-US" smtClean="0"/>
              <a:t>still vulnerable to tampering or forgery</a:t>
            </a:r>
            <a:endParaRPr lang="en-AU" smtClean="0"/>
          </a:p>
          <a:p>
            <a:pPr eaLnBrk="1" fontAlgn="auto" hangingPunct="1">
              <a:spcAft>
                <a:spcPts val="0"/>
              </a:spcAft>
              <a:defRPr/>
            </a:pPr>
            <a:endParaRPr lang="en-US" smtClean="0"/>
          </a:p>
        </p:txBody>
      </p:sp>
    </p:spTree>
    <p:extLst>
      <p:ext uri="{BB962C8B-B14F-4D97-AF65-F5344CB8AC3E}">
        <p14:creationId xmlns:p14="http://schemas.microsoft.com/office/powerpoint/2010/main" val="167216014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en-AU" smtClean="0"/>
              <a:t>Public-Key Authority</a:t>
            </a:r>
            <a:endParaRPr lang="en-US" smtClean="0"/>
          </a:p>
        </p:txBody>
      </p:sp>
      <p:sp>
        <p:nvSpPr>
          <p:cNvPr id="19459" name="Content Placeholder 2"/>
          <p:cNvSpPr>
            <a:spLocks noGrp="1"/>
          </p:cNvSpPr>
          <p:nvPr>
            <p:ph idx="1"/>
          </p:nvPr>
        </p:nvSpPr>
        <p:spPr/>
        <p:txBody>
          <a:bodyPr>
            <a:normAutofit lnSpcReduction="10000"/>
          </a:bodyPr>
          <a:lstStyle/>
          <a:p>
            <a:pPr eaLnBrk="1" hangingPunct="1">
              <a:lnSpc>
                <a:spcPct val="90000"/>
              </a:lnSpc>
            </a:pPr>
            <a:r>
              <a:rPr lang="en-US" smtClean="0"/>
              <a:t>improve security by tightening control over distribution of keys from directory</a:t>
            </a:r>
          </a:p>
          <a:p>
            <a:pPr eaLnBrk="1" hangingPunct="1">
              <a:lnSpc>
                <a:spcPct val="90000"/>
              </a:lnSpc>
            </a:pPr>
            <a:r>
              <a:rPr lang="en-US" smtClean="0"/>
              <a:t>has properties of directory</a:t>
            </a:r>
          </a:p>
          <a:p>
            <a:pPr eaLnBrk="1" hangingPunct="1">
              <a:lnSpc>
                <a:spcPct val="90000"/>
              </a:lnSpc>
            </a:pPr>
            <a:r>
              <a:rPr lang="en-US" smtClean="0"/>
              <a:t>and requires users to know public key for the directory</a:t>
            </a:r>
          </a:p>
          <a:p>
            <a:pPr eaLnBrk="1" hangingPunct="1">
              <a:lnSpc>
                <a:spcPct val="90000"/>
              </a:lnSpc>
            </a:pPr>
            <a:r>
              <a:rPr lang="en-US" smtClean="0"/>
              <a:t>then users interact with directory to obtain any desired public key securely</a:t>
            </a:r>
          </a:p>
          <a:p>
            <a:pPr lvl="1" eaLnBrk="1" hangingPunct="1">
              <a:lnSpc>
                <a:spcPct val="90000"/>
              </a:lnSpc>
            </a:pPr>
            <a:r>
              <a:rPr lang="en-US" smtClean="0"/>
              <a:t>does require real-time access to directory when keys are needed</a:t>
            </a:r>
            <a:endParaRPr lang="en-AU" smtClean="0"/>
          </a:p>
          <a:p>
            <a:pPr eaLnBrk="1" hangingPunct="1"/>
            <a:endParaRPr lang="en-US" smtClean="0"/>
          </a:p>
        </p:txBody>
      </p:sp>
    </p:spTree>
    <p:extLst>
      <p:ext uri="{BB962C8B-B14F-4D97-AF65-F5344CB8AC3E}">
        <p14:creationId xmlns:p14="http://schemas.microsoft.com/office/powerpoint/2010/main" val="74205647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pPr eaLnBrk="1" hangingPunct="1"/>
            <a:r>
              <a:rPr lang="en-AU" smtClean="0"/>
              <a:t>Public-Key Certificates</a:t>
            </a:r>
            <a:endParaRPr lang="en-US" smtClean="0"/>
          </a:p>
        </p:txBody>
      </p:sp>
      <p:sp>
        <p:nvSpPr>
          <p:cNvPr id="21507" name="Content Placeholder 2"/>
          <p:cNvSpPr>
            <a:spLocks noGrp="1"/>
          </p:cNvSpPr>
          <p:nvPr>
            <p:ph idx="1"/>
          </p:nvPr>
        </p:nvSpPr>
        <p:spPr/>
        <p:txBody>
          <a:bodyPr>
            <a:normAutofit lnSpcReduction="10000"/>
          </a:bodyPr>
          <a:lstStyle/>
          <a:p>
            <a:pPr eaLnBrk="1" hangingPunct="1">
              <a:lnSpc>
                <a:spcPct val="90000"/>
              </a:lnSpc>
            </a:pPr>
            <a:r>
              <a:rPr lang="en-US" smtClean="0"/>
              <a:t>certificates allow key exchange without real-time access to </a:t>
            </a:r>
            <a:r>
              <a:rPr lang="en-AU" smtClean="0"/>
              <a:t>public-key authority</a:t>
            </a:r>
          </a:p>
          <a:p>
            <a:pPr eaLnBrk="1" hangingPunct="1">
              <a:lnSpc>
                <a:spcPct val="90000"/>
              </a:lnSpc>
            </a:pPr>
            <a:r>
              <a:rPr lang="en-US" smtClean="0"/>
              <a:t>a certificate </a:t>
            </a:r>
            <a:r>
              <a:rPr lang="en-AU" smtClean="0"/>
              <a:t>binds </a:t>
            </a:r>
            <a:r>
              <a:rPr lang="en-AU" b="1" smtClean="0"/>
              <a:t>identity</a:t>
            </a:r>
            <a:r>
              <a:rPr lang="en-AU" smtClean="0"/>
              <a:t> to </a:t>
            </a:r>
            <a:r>
              <a:rPr lang="en-AU" b="1" smtClean="0"/>
              <a:t>public key</a:t>
            </a:r>
            <a:r>
              <a:rPr lang="en-AU" smtClean="0"/>
              <a:t> </a:t>
            </a:r>
          </a:p>
          <a:p>
            <a:pPr lvl="1" eaLnBrk="1" hangingPunct="1">
              <a:lnSpc>
                <a:spcPct val="90000"/>
              </a:lnSpc>
            </a:pPr>
            <a:r>
              <a:rPr lang="en-AU" smtClean="0"/>
              <a:t>usually with other info such as period of validity, rights of use etc</a:t>
            </a:r>
          </a:p>
          <a:p>
            <a:pPr eaLnBrk="1" hangingPunct="1">
              <a:lnSpc>
                <a:spcPct val="90000"/>
              </a:lnSpc>
            </a:pPr>
            <a:r>
              <a:rPr lang="en-AU" smtClean="0"/>
              <a:t>with all contents </a:t>
            </a:r>
            <a:r>
              <a:rPr lang="en-AU" b="1" smtClean="0"/>
              <a:t>signed</a:t>
            </a:r>
            <a:r>
              <a:rPr lang="en-AU" smtClean="0"/>
              <a:t> by a trusted Public-Key or Certificate Authority (CA)</a:t>
            </a:r>
          </a:p>
          <a:p>
            <a:pPr eaLnBrk="1" hangingPunct="1">
              <a:lnSpc>
                <a:spcPct val="90000"/>
              </a:lnSpc>
            </a:pPr>
            <a:r>
              <a:rPr lang="en-AU" smtClean="0"/>
              <a:t>can be verified by anyone who knows the public-key authorities public-key </a:t>
            </a:r>
          </a:p>
          <a:p>
            <a:pPr eaLnBrk="1" hangingPunct="1"/>
            <a:endParaRPr lang="en-US" smtClean="0"/>
          </a:p>
        </p:txBody>
      </p:sp>
    </p:spTree>
    <p:extLst>
      <p:ext uri="{BB962C8B-B14F-4D97-AF65-F5344CB8AC3E}">
        <p14:creationId xmlns:p14="http://schemas.microsoft.com/office/powerpoint/2010/main" val="4249243040"/>
      </p:ext>
    </p:extLst>
  </p:cSld>
  <p:clrMapOvr>
    <a:masterClrMapping/>
  </p:clrMapOvr>
  <p:timing>
    <p:tnLst>
      <p:par>
        <p:cTn id="1" dur="indefinite" restart="never" nodeType="tmRoot"/>
      </p:par>
    </p:tnLst>
  </p:timing>
</p:sld>
</file>

<file path=ppt/theme/theme1.xml><?xml version="1.0" encoding="utf-8"?>
<a:theme xmlns:a="http://schemas.openxmlformats.org/drawingml/2006/main" name="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47D6EB70-AC5D-4C93-8EC9-DDBA92A97C78}" vid="{AD4A3A70-3E62-4EFF-A645-92967231B92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HNDIT</Template>
  <TotalTime>1120</TotalTime>
  <Words>896</Words>
  <Application>Microsoft Office PowerPoint</Application>
  <PresentationFormat>On-screen Show (4:3)</PresentationFormat>
  <Paragraphs>85</Paragraphs>
  <Slides>18</Slides>
  <Notes>1</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18</vt:i4>
      </vt:variant>
    </vt:vector>
  </HeadingPairs>
  <TitlesOfParts>
    <vt:vector size="23" baseType="lpstr">
      <vt:lpstr>Arial</vt:lpstr>
      <vt:lpstr>Calibri</vt:lpstr>
      <vt:lpstr>Times New Roman</vt:lpstr>
      <vt:lpstr>HNDIT</vt:lpstr>
      <vt:lpstr>1_HNDIT</vt:lpstr>
      <vt:lpstr>HNDIT2301: Operating System and Information Security</vt:lpstr>
      <vt:lpstr>Asymmetric Encryption </vt:lpstr>
      <vt:lpstr>Why Asymmetric Encryption?</vt:lpstr>
      <vt:lpstr>Asymmetric (Public Key) Encryption</vt:lpstr>
      <vt:lpstr>PowerPoint Presentation</vt:lpstr>
      <vt:lpstr>PowerPoint Presentation</vt:lpstr>
      <vt:lpstr>Public-Key Cryptography</vt:lpstr>
      <vt:lpstr>PowerPoint Presentation</vt:lpstr>
      <vt:lpstr>Public-Key Characteristics</vt:lpstr>
      <vt:lpstr>Public-Key Applications</vt:lpstr>
      <vt:lpstr>Some algorithms are suitable for all uses, others are specific to one</vt:lpstr>
      <vt:lpstr>Security of Public Key Schemes</vt:lpstr>
      <vt:lpstr>Key Management</vt:lpstr>
      <vt:lpstr>Distribution of Public Keys</vt:lpstr>
      <vt:lpstr>Public Announcement</vt:lpstr>
      <vt:lpstr>Publicly Available Directory</vt:lpstr>
      <vt:lpstr>Public-Key Authority</vt:lpstr>
      <vt:lpstr>Public-Key Certificates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Asus X55</dc:creator>
  <cp:lastModifiedBy>Admin</cp:lastModifiedBy>
  <cp:revision>153</cp:revision>
  <dcterms:created xsi:type="dcterms:W3CDTF">2014-03-07T13:02:25Z</dcterms:created>
  <dcterms:modified xsi:type="dcterms:W3CDTF">2018-06-06T11:44:53Z</dcterms:modified>
</cp:coreProperties>
</file>