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27"/>
  </p:notesMasterIdLst>
  <p:sldIdLst>
    <p:sldId id="270" r:id="rId3"/>
    <p:sldId id="274" r:id="rId4"/>
    <p:sldId id="275" r:id="rId5"/>
    <p:sldId id="276" r:id="rId6"/>
    <p:sldId id="277" r:id="rId7"/>
    <p:sldId id="278" r:id="rId8"/>
    <p:sldId id="279" r:id="rId9"/>
    <p:sldId id="280" r:id="rId10"/>
    <p:sldId id="281" r:id="rId11"/>
    <p:sldId id="282" r:id="rId12"/>
    <p:sldId id="283" r:id="rId13"/>
    <p:sldId id="284" r:id="rId14"/>
    <p:sldId id="285" r:id="rId15"/>
    <p:sldId id="286" r:id="rId16"/>
    <p:sldId id="287" r:id="rId17"/>
    <p:sldId id="288" r:id="rId18"/>
    <p:sldId id="289" r:id="rId19"/>
    <p:sldId id="290" r:id="rId20"/>
    <p:sldId id="291" r:id="rId21"/>
    <p:sldId id="292" r:id="rId22"/>
    <p:sldId id="293" r:id="rId23"/>
    <p:sldId id="294" r:id="rId24"/>
    <p:sldId id="295" r:id="rId25"/>
    <p:sldId id="296"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31" autoAdjust="0"/>
    <p:restoredTop sz="94660"/>
  </p:normalViewPr>
  <p:slideViewPr>
    <p:cSldViewPr>
      <p:cViewPr varScale="1">
        <p:scale>
          <a:sx n="70" d="100"/>
          <a:sy n="70" d="100"/>
        </p:scale>
        <p:origin x="540" y="72"/>
      </p:cViewPr>
      <p:guideLst>
        <p:guide orient="horz" pos="2160"/>
        <p:guide pos="2880"/>
      </p:guideLst>
    </p:cSldViewPr>
  </p:slideViewPr>
  <p:notesTextViewPr>
    <p:cViewPr>
      <p:scale>
        <a:sx n="75" d="100"/>
        <a:sy n="75" d="100"/>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4723204-145E-4E9A-8825-0DF9FD80C698}" type="datetimeFigureOut">
              <a:rPr lang="en-US" smtClean="0"/>
              <a:pPr/>
              <a:t>28/8/2018</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A677AEE-D46A-4C91-9543-7FBC6ED44F7E}" type="slidenum">
              <a:rPr lang="en-US" smtClean="0"/>
              <a:pPr/>
              <a:t>‹#›</a:t>
            </a:fld>
            <a:endParaRPr lang="en-US" dirty="0"/>
          </a:p>
        </p:txBody>
      </p:sp>
    </p:spTree>
    <p:extLst>
      <p:ext uri="{BB962C8B-B14F-4D97-AF65-F5344CB8AC3E}">
        <p14:creationId xmlns:p14="http://schemas.microsoft.com/office/powerpoint/2010/main" val="11851384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02308AD-CF68-426A-90FA-99268130AF8F}" type="slidenum">
              <a:rPr lang="en-AU"/>
              <a:pPr eaLnBrk="1" hangingPunct="1"/>
              <a:t>1</a:t>
            </a:fld>
            <a:endParaRPr lang="en-AU"/>
          </a:p>
        </p:txBody>
      </p:sp>
      <p:sp>
        <p:nvSpPr>
          <p:cNvPr id="33795" name="Rectangle 2"/>
          <p:cNvSpPr>
            <a:spLocks noGrp="1" noRot="1" noChangeAspect="1" noChangeArrowheads="1" noTextEdit="1"/>
          </p:cNvSpPr>
          <p:nvPr>
            <p:ph type="sldImg"/>
          </p:nvPr>
        </p:nvSpPr>
        <p:spPr>
          <a:solidFill>
            <a:srgbClr val="FFFFFF"/>
          </a:solidFill>
          <a:ln/>
        </p:spPr>
      </p:sp>
      <p:sp>
        <p:nvSpPr>
          <p:cNvPr id="33796" name="Rectangle 3"/>
          <p:cNvSpPr>
            <a:spLocks noGrp="1" noChangeArrowheads="1"/>
          </p:cNvSpPr>
          <p:nvPr>
            <p:ph type="body" idx="1"/>
          </p:nvPr>
        </p:nvSpPr>
        <p:spPr>
          <a:solidFill>
            <a:srgbClr val="FFFFFF"/>
          </a:solidFill>
          <a:ln>
            <a:solidFill>
              <a:srgbClr val="000000"/>
            </a:solidFill>
          </a:ln>
        </p:spPr>
        <p:txBody>
          <a:bodyPr/>
          <a:lstStyle/>
          <a:p>
            <a:pPr eaLnBrk="1" hangingPunct="1"/>
            <a:r>
              <a:rPr lang="en-US" smtClean="0"/>
              <a:t>Lecture slides by Lawrie Brown for “Cryptography and Network Security”, 4/e, by William Stallings, Chapter 20 – “Firewalls”.</a:t>
            </a:r>
            <a:endParaRPr lang="en-AU" smtClean="0"/>
          </a:p>
          <a:p>
            <a:pPr eaLnBrk="1" hangingPunct="1"/>
            <a:endParaRPr lang="en-US" smtClean="0"/>
          </a:p>
        </p:txBody>
      </p:sp>
    </p:spTree>
    <p:extLst>
      <p:ext uri="{BB962C8B-B14F-4D97-AF65-F5344CB8AC3E}">
        <p14:creationId xmlns:p14="http://schemas.microsoft.com/office/powerpoint/2010/main" val="5584452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BFBF999-0D64-4E47-A5ED-02479F7F1018}" type="slidenum">
              <a:rPr lang="en-AU" altLang="en-US"/>
              <a:pPr eaLnBrk="1" hangingPunct="1"/>
              <a:t>2</a:t>
            </a:fld>
            <a:endParaRPr lang="en-AU" altLang="en-US"/>
          </a:p>
        </p:txBody>
      </p:sp>
      <p:sp>
        <p:nvSpPr>
          <p:cNvPr id="34819" name="Rectangle 1026"/>
          <p:cNvSpPr>
            <a:spLocks noRot="1" noChangeArrowheads="1" noTextEdit="1"/>
          </p:cNvSpPr>
          <p:nvPr>
            <p:ph type="sldImg"/>
          </p:nvPr>
        </p:nvSpPr>
        <p:spPr>
          <a:ln/>
        </p:spPr>
      </p:sp>
      <p:sp>
        <p:nvSpPr>
          <p:cNvPr id="34820"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A significant security problem for networked systems is hostile, or at least unwanted, trespass being unauthorized login or use of a system, by local or remote users; or by software such as a virus, worm, or Trojan horse. </a:t>
            </a:r>
          </a:p>
          <a:p>
            <a:pPr eaLnBrk="1" hangingPunct="1"/>
            <a:r>
              <a:rPr lang="en-US" altLang="en-US" smtClean="0"/>
              <a:t>One of the two most publicized threats to security is the intruder (or hacker or cracker), which Anderson identified three classes of:</a:t>
            </a:r>
          </a:p>
          <a:p>
            <a:pPr eaLnBrk="1" hangingPunct="1"/>
            <a:r>
              <a:rPr lang="en-US" altLang="en-US" smtClean="0"/>
              <a:t>• Masquerader: An individual who is not authorized to use the computer (outsider)</a:t>
            </a:r>
          </a:p>
          <a:p>
            <a:pPr eaLnBrk="1" hangingPunct="1"/>
            <a:r>
              <a:rPr lang="en-US" altLang="en-US" smtClean="0"/>
              <a:t>• Misfeasor: A legitimate user who accesses unauthorized data, programs, or resources (insider)</a:t>
            </a:r>
          </a:p>
          <a:p>
            <a:pPr eaLnBrk="1" hangingPunct="1"/>
            <a:r>
              <a:rPr lang="en-US" altLang="en-US" smtClean="0"/>
              <a:t>• Clandestine user: An individual who seizes supervisory control of the system and uses this control to evade auditing and access controls or to suppress audit collection (either)</a:t>
            </a:r>
          </a:p>
          <a:p>
            <a:pPr eaLnBrk="1" hangingPunct="1"/>
            <a:r>
              <a:rPr lang="en-US" altLang="en-US" smtClean="0"/>
              <a:t>Intruder attacks range from the benign (simply exploring net to see what is there); to the serious (who attempt to read privileged data, perform unauthorized modifications, or disrupt system)</a:t>
            </a:r>
          </a:p>
        </p:txBody>
      </p:sp>
    </p:spTree>
    <p:extLst>
      <p:ext uri="{BB962C8B-B14F-4D97-AF65-F5344CB8AC3E}">
        <p14:creationId xmlns:p14="http://schemas.microsoft.com/office/powerpoint/2010/main" val="30215790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FE338A6-C443-4641-84CD-B4B2FB052B1F}" type="slidenum">
              <a:rPr lang="en-AU" altLang="en-US"/>
              <a:pPr eaLnBrk="1" hangingPunct="1"/>
              <a:t>3</a:t>
            </a:fld>
            <a:endParaRPr lang="en-AU" altLang="en-US"/>
          </a:p>
        </p:txBody>
      </p:sp>
      <p:sp>
        <p:nvSpPr>
          <p:cNvPr id="35843" name="Rectangle 2"/>
          <p:cNvSpPr>
            <a:spLocks noRot="1" noChangeArrowheads="1" noTextEdit="1"/>
          </p:cNvSpPr>
          <p:nvPr>
            <p:ph type="sldImg"/>
          </p:nvPr>
        </p:nvSpPr>
        <p:spPr>
          <a:ln/>
        </p:spPr>
      </p:sp>
      <p:sp>
        <p:nvSpPr>
          <p:cNvPr id="35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The intruder threat has been well publicized,particularly because of the famous “Wily Hacker”incident of 1986–1987, documented by Cliff Stoll. Benign intruders might be tolerable, although they do consume resources and may slow performance for legitimate users. However, there is no way in advance to know whether an intruder will be benign or malign. Intruders may use compromised systems to launch attacks on other systems, further degrading performance.</a:t>
            </a:r>
          </a:p>
          <a:p>
            <a:pPr eaLnBrk="1" hangingPunct="1"/>
            <a:r>
              <a:rPr lang="en-US" altLang="en-US" smtClean="0"/>
              <a:t>One of the results of the growing awareness of the intruder problem has been the establishment of a number of computer emergency response teams (CERTs). These cooperative ventures collect information about system vulnerabilities and disseminate it to systems managers. </a:t>
            </a:r>
          </a:p>
          <a:p>
            <a:pPr eaLnBrk="1" hangingPunct="1"/>
            <a:endParaRPr lang="en-US" altLang="en-US" smtClean="0"/>
          </a:p>
        </p:txBody>
      </p:sp>
    </p:spTree>
    <p:extLst>
      <p:ext uri="{BB962C8B-B14F-4D97-AF65-F5344CB8AC3E}">
        <p14:creationId xmlns:p14="http://schemas.microsoft.com/office/powerpoint/2010/main" val="1722193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97F48ED-7565-4863-A2E6-3979AB4D38C3}" type="slidenum">
              <a:rPr lang="en-AU" altLang="en-US"/>
              <a:pPr eaLnBrk="1" hangingPunct="1"/>
              <a:t>4</a:t>
            </a:fld>
            <a:endParaRPr lang="en-AU" altLang="en-US"/>
          </a:p>
        </p:txBody>
      </p:sp>
      <p:sp>
        <p:nvSpPr>
          <p:cNvPr id="36867" name="Rectangle 1026"/>
          <p:cNvSpPr>
            <a:spLocks noRot="1" noChangeArrowheads="1" noTextEdit="1"/>
          </p:cNvSpPr>
          <p:nvPr>
            <p:ph type="sldImg"/>
          </p:nvPr>
        </p:nvSpPr>
        <p:spPr>
          <a:ln/>
        </p:spPr>
      </p:sp>
      <p:sp>
        <p:nvSpPr>
          <p:cNvPr id="36868"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i="1" smtClean="0">
                <a:solidFill>
                  <a:srgbClr val="0000FF"/>
                </a:solidFill>
                <a:latin typeface="Times-Italic" charset="0"/>
              </a:rPr>
              <a:t>Knowing the standard attack methods is a key element in limiting your vulnerability. The basic </a:t>
            </a:r>
            <a:r>
              <a:rPr lang="en-US" altLang="en-US" smtClean="0"/>
              <a:t>aim is to gain access and/or increase privileges on some system. The </a:t>
            </a:r>
            <a:r>
              <a:rPr lang="en-AU" altLang="en-US" smtClean="0"/>
              <a:t>basic attack methodology list is taken from </a:t>
            </a:r>
            <a:r>
              <a:rPr lang="en-US" altLang="en-US" smtClean="0">
                <a:solidFill>
                  <a:srgbClr val="800080"/>
                </a:solidFill>
                <a:latin typeface="Times-Roman" charset="0"/>
              </a:rPr>
              <a:t>McClure et al</a:t>
            </a:r>
            <a:r>
              <a:rPr lang="en-US" altLang="en-US" i="1" smtClean="0">
                <a:solidFill>
                  <a:srgbClr val="0000FF"/>
                </a:solidFill>
                <a:latin typeface="Times-Italic" charset="0"/>
              </a:rPr>
              <a:t> "Hacking Exposed".</a:t>
            </a:r>
          </a:p>
          <a:p>
            <a:pPr eaLnBrk="1" hangingPunct="1"/>
            <a:r>
              <a:rPr lang="en-US" altLang="en-US" i="1" smtClean="0">
                <a:solidFill>
                  <a:srgbClr val="0000FF"/>
                </a:solidFill>
                <a:latin typeface="Times-Italic" charset="0"/>
              </a:rPr>
              <a:t>A basic technique for gaining access is to acquire a user (preferably administrator) password, so the attacker can login and exercise all the </a:t>
            </a:r>
            <a:r>
              <a:rPr lang="en-US" altLang="en-US" smtClean="0"/>
              <a:t>access rights of the account owner.</a:t>
            </a:r>
          </a:p>
        </p:txBody>
      </p:sp>
    </p:spTree>
    <p:extLst>
      <p:ext uri="{BB962C8B-B14F-4D97-AF65-F5344CB8AC3E}">
        <p14:creationId xmlns:p14="http://schemas.microsoft.com/office/powerpoint/2010/main" val="32419329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9C7D4A5-72B0-4B9A-90D5-1E1793E2C6B8}" type="slidenum">
              <a:rPr lang="en-AU" altLang="en-US"/>
              <a:pPr eaLnBrk="1" hangingPunct="1"/>
              <a:t>5</a:t>
            </a:fld>
            <a:endParaRPr lang="en-AU" altLang="en-US"/>
          </a:p>
        </p:txBody>
      </p:sp>
      <p:sp>
        <p:nvSpPr>
          <p:cNvPr id="37891" name="Rectangle 2"/>
          <p:cNvSpPr>
            <a:spLocks noRot="1" noChangeArrowheads="1" noTextEdit="1"/>
          </p:cNvSpPr>
          <p:nvPr>
            <p:ph type="sldImg"/>
          </p:nvPr>
        </p:nvSpPr>
        <p:spPr>
          <a:ln/>
        </p:spPr>
      </p:sp>
      <p:sp>
        <p:nvSpPr>
          <p:cNvPr id="378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AU" altLang="en-US" smtClean="0"/>
              <a:t>Password guessing is a common attack. If an attacker has obtained a poorly protected password file, then can mount attack off-line, so target is unaware of its progress. Some O/S take less care than others with their password files. If have to actually attempt to login to check guesses, then system should detect an abnormal number of failed logins, and hence trigger appropriate countermeasures by admins/security. Likelihood of success depends very much on how well the passwords are chosen. Unfortunately, users often don’t choose well (see later).</a:t>
            </a:r>
          </a:p>
        </p:txBody>
      </p:sp>
    </p:spTree>
    <p:extLst>
      <p:ext uri="{BB962C8B-B14F-4D97-AF65-F5344CB8AC3E}">
        <p14:creationId xmlns:p14="http://schemas.microsoft.com/office/powerpoint/2010/main" val="25928483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C660954-377A-41C8-AC33-A32FEF50CB26}" type="slidenum">
              <a:rPr lang="en-AU" altLang="en-US"/>
              <a:pPr eaLnBrk="1" hangingPunct="1"/>
              <a:t>6</a:t>
            </a:fld>
            <a:endParaRPr lang="en-AU" altLang="en-US"/>
          </a:p>
        </p:txBody>
      </p:sp>
      <p:sp>
        <p:nvSpPr>
          <p:cNvPr id="38915" name="Rectangle 2"/>
          <p:cNvSpPr>
            <a:spLocks noRot="1" noChangeArrowheads="1" noTextEdit="1"/>
          </p:cNvSpPr>
          <p:nvPr>
            <p:ph type="sldImg"/>
          </p:nvPr>
        </p:nvSpPr>
        <p:spPr>
          <a:ln/>
        </p:spPr>
      </p:sp>
      <p:sp>
        <p:nvSpPr>
          <p:cNvPr id="389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AU" altLang="en-US" smtClean="0"/>
              <a:t>There is also a range of ways of "capturing" a login/password pair, from the low-tech looking over the shoulder, to the use of Trojan Horse programs (eg. game program or nifty utility with a covert function as well as the overt behaviour), to sophisticated network monitoring tools, or extracting recorded info after a successful login - say from web history or cache, or last number dialed memory on phones etc. Need to educate users to be aware of whose around, to check they really are interacting with the computer system (trusted path), to beware of unknown source s/w, to use secure network connections (HTTPS, SSH, SSL), to flush browser/phone histories after use etc.</a:t>
            </a:r>
          </a:p>
        </p:txBody>
      </p:sp>
    </p:spTree>
    <p:extLst>
      <p:ext uri="{BB962C8B-B14F-4D97-AF65-F5344CB8AC3E}">
        <p14:creationId xmlns:p14="http://schemas.microsoft.com/office/powerpoint/2010/main" val="24217709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A7A48EC-E0EF-4E52-B02B-405B584DE157}" type="slidenum">
              <a:rPr lang="en-AU" altLang="en-US"/>
              <a:pPr eaLnBrk="1" hangingPunct="1"/>
              <a:t>7</a:t>
            </a:fld>
            <a:endParaRPr lang="en-AU" altLang="en-US"/>
          </a:p>
        </p:txBody>
      </p:sp>
      <p:sp>
        <p:nvSpPr>
          <p:cNvPr id="39939" name="Rectangle 2"/>
          <p:cNvSpPr>
            <a:spLocks noRot="1" noChangeArrowheads="1" noTextEdit="1"/>
          </p:cNvSpPr>
          <p:nvPr>
            <p:ph type="sldImg"/>
          </p:nvPr>
        </p:nvSpPr>
        <p:spPr>
          <a:ln/>
        </p:spPr>
      </p:sp>
      <p:sp>
        <p:nvSpPr>
          <p:cNvPr id="399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Inevitably, the best intrusion prevention system will fail. A system’s second line of defense is intrusion detection, which aims to detect intrusions so can: block access &amp; minimize damage if detected quickly; act as deterrent given chance of being caught; or can collect info on intruders to improve future security.</a:t>
            </a:r>
          </a:p>
          <a:p>
            <a:pPr eaLnBrk="1" hangingPunct="1"/>
            <a:r>
              <a:rPr lang="en-US" altLang="en-US" smtClean="0"/>
              <a:t>Intrusion detection is based on the assumption that the behavior of the intruder differs from that of a legitimate user in ways that can be quantified. This is imperfect at best.</a:t>
            </a:r>
          </a:p>
          <a:p>
            <a:pPr lvl="1" eaLnBrk="1" hangingPunct="1"/>
            <a:endParaRPr lang="en-US" altLang="en-US" smtClean="0"/>
          </a:p>
        </p:txBody>
      </p:sp>
    </p:spTree>
    <p:extLst>
      <p:ext uri="{BB962C8B-B14F-4D97-AF65-F5344CB8AC3E}">
        <p14:creationId xmlns:p14="http://schemas.microsoft.com/office/powerpoint/2010/main" val="6363901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BCB6B32-42BD-472B-9625-A85E11C0C324}" type="slidenum">
              <a:rPr lang="en-AU" altLang="en-US"/>
              <a:pPr eaLnBrk="1" hangingPunct="1"/>
              <a:t>8</a:t>
            </a:fld>
            <a:endParaRPr lang="en-AU" altLang="en-US"/>
          </a:p>
        </p:txBody>
      </p:sp>
      <p:sp>
        <p:nvSpPr>
          <p:cNvPr id="40963" name="Rectangle 1026"/>
          <p:cNvSpPr>
            <a:spLocks noRot="1" noChangeArrowheads="1" noTextEdit="1"/>
          </p:cNvSpPr>
          <p:nvPr>
            <p:ph type="sldImg"/>
          </p:nvPr>
        </p:nvSpPr>
        <p:spPr>
          <a:ln/>
        </p:spPr>
      </p:sp>
      <p:sp>
        <p:nvSpPr>
          <p:cNvPr id="40964"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mtClean="0"/>
              <a:t>Can identify the following approaches to intrusion detection: </a:t>
            </a:r>
          </a:p>
          <a:p>
            <a:pPr marL="228600" indent="-228600" eaLnBrk="1" hangingPunct="1">
              <a:buFont typeface="Times" panose="02020603050405020304" pitchFamily="18" charset="0"/>
              <a:buAutoNum type="arabicPeriod"/>
            </a:pPr>
            <a:r>
              <a:rPr lang="en-US" altLang="en-US" smtClean="0"/>
              <a:t> Statistical anomaly detection: collect data relating to the behavior of legitimate users, then use statistical tests to determine with a high level of confidence whether new behavior is legitimate user behavior or not.</a:t>
            </a:r>
          </a:p>
          <a:p>
            <a:pPr marL="228600" indent="-228600" eaLnBrk="1" hangingPunct="1">
              <a:buFont typeface="Times" panose="02020603050405020304" pitchFamily="18" charset="0"/>
              <a:buNone/>
            </a:pPr>
            <a:r>
              <a:rPr lang="en-US" altLang="en-US" smtClean="0"/>
              <a:t>  a. Threshold detection: define thresholds, independent of user, for the frequency of occurrence of events. </a:t>
            </a:r>
          </a:p>
          <a:p>
            <a:pPr marL="228600" indent="-228600" eaLnBrk="1" hangingPunct="1">
              <a:buFont typeface="Times" panose="02020603050405020304" pitchFamily="18" charset="0"/>
              <a:buNone/>
            </a:pPr>
            <a:r>
              <a:rPr lang="en-US" altLang="en-US" smtClean="0"/>
              <a:t>  b. Profile based: develop profile of activity of each user and use to detect changes in the behavior </a:t>
            </a:r>
          </a:p>
          <a:p>
            <a:pPr marL="228600" indent="-228600" eaLnBrk="1" hangingPunct="1">
              <a:buFont typeface="Times" panose="02020603050405020304" pitchFamily="18" charset="0"/>
              <a:buNone/>
            </a:pPr>
            <a:r>
              <a:rPr lang="en-US" altLang="en-US" smtClean="0"/>
              <a:t>2. Rule-based detection: attempt to define a set of rules used to decide if  given behavior is an intruder</a:t>
            </a:r>
          </a:p>
          <a:p>
            <a:pPr marL="228600" indent="-228600" eaLnBrk="1" hangingPunct="1">
              <a:buFont typeface="Times" panose="02020603050405020304" pitchFamily="18" charset="0"/>
              <a:buNone/>
            </a:pPr>
            <a:r>
              <a:rPr lang="en-US" altLang="en-US" smtClean="0"/>
              <a:t>  a. Anomaly detection: rules detect deviation from previous usage patterns</a:t>
            </a:r>
          </a:p>
          <a:p>
            <a:pPr marL="228600" indent="-228600" eaLnBrk="1" hangingPunct="1">
              <a:buFont typeface="Times" panose="02020603050405020304" pitchFamily="18" charset="0"/>
              <a:buNone/>
            </a:pPr>
            <a:r>
              <a:rPr lang="en-US" altLang="en-US" smtClean="0"/>
              <a:t>  b. Penetration identification: expert system approach that searches for suspicious behavior</a:t>
            </a:r>
          </a:p>
        </p:txBody>
      </p:sp>
    </p:spTree>
    <p:extLst>
      <p:ext uri="{BB962C8B-B14F-4D97-AF65-F5344CB8AC3E}">
        <p14:creationId xmlns:p14="http://schemas.microsoft.com/office/powerpoint/2010/main" val="6616226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D7139A0-876A-4FC2-B416-0020AE496914}" type="slidenum">
              <a:rPr lang="en-AU" altLang="en-US"/>
              <a:pPr eaLnBrk="1" hangingPunct="1"/>
              <a:t>9</a:t>
            </a:fld>
            <a:endParaRPr lang="en-AU" altLang="en-US"/>
          </a:p>
        </p:txBody>
      </p:sp>
      <p:sp>
        <p:nvSpPr>
          <p:cNvPr id="41987" name="Rectangle 1026"/>
          <p:cNvSpPr>
            <a:spLocks noRot="1" noChangeArrowheads="1" noTextEdit="1"/>
          </p:cNvSpPr>
          <p:nvPr>
            <p:ph type="sldImg"/>
          </p:nvPr>
        </p:nvSpPr>
        <p:spPr>
          <a:ln/>
        </p:spPr>
      </p:sp>
      <p:sp>
        <p:nvSpPr>
          <p:cNvPr id="41988"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A fundamental tool for intrusion detection is the audit record. Some record of ongoing activity by users must be maintained as input to an intrusion detection system. Basically,two plans are used: </a:t>
            </a:r>
          </a:p>
          <a:p>
            <a:pPr eaLnBrk="1" hangingPunct="1"/>
            <a:r>
              <a:rPr lang="en-US" altLang="en-US" smtClean="0"/>
              <a:t>• Native audit records: Virtually all main O/S’s include accounting software that collects information on user activity, advantage is its already there, disadvantage is it may not contain the needed information </a:t>
            </a:r>
          </a:p>
          <a:p>
            <a:pPr eaLnBrk="1" hangingPunct="1"/>
            <a:r>
              <a:rPr lang="en-US" altLang="en-US" smtClean="0"/>
              <a:t>• Detection-specific audit records: implement collection facility to generates custom audit records with desired info, advantage is it can be vendor independent and portable, disadvantage is extra overhead involved</a:t>
            </a:r>
          </a:p>
        </p:txBody>
      </p:sp>
    </p:spTree>
    <p:extLst>
      <p:ext uri="{BB962C8B-B14F-4D97-AF65-F5344CB8AC3E}">
        <p14:creationId xmlns:p14="http://schemas.microsoft.com/office/powerpoint/2010/main" val="3729434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7058CBF-51DF-48D0-8760-04B4017869C8}" type="slidenum">
              <a:rPr lang="en-AU" altLang="en-US"/>
              <a:pPr eaLnBrk="1" hangingPunct="1"/>
              <a:t>10</a:t>
            </a:fld>
            <a:endParaRPr lang="en-AU" altLang="en-US"/>
          </a:p>
        </p:txBody>
      </p:sp>
      <p:sp>
        <p:nvSpPr>
          <p:cNvPr id="43011" name="Rectangle 2"/>
          <p:cNvSpPr>
            <a:spLocks noRot="1" noChangeArrowheads="1" noTextEdit="1"/>
          </p:cNvSpPr>
          <p:nvPr>
            <p:ph type="sldImg"/>
          </p:nvPr>
        </p:nvSpPr>
        <p:spPr>
          <a:ln/>
        </p:spPr>
      </p:sp>
      <p:sp>
        <p:nvSpPr>
          <p:cNvPr id="430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Statistical anomaly detection techniques cover threshold detection and profile-based systems. </a:t>
            </a:r>
          </a:p>
          <a:p>
            <a:pPr eaLnBrk="1" hangingPunct="1"/>
            <a:r>
              <a:rPr lang="en-US" altLang="en-US" smtClean="0"/>
              <a:t>Threshold detection involves counting no occurrences of a specific event type over an interval of time, if count surpasses a reasonable number, then intrusion is assumed. By itself, is a crude and ineffective detector of even moderately sophisticated attacks.</a:t>
            </a:r>
          </a:p>
          <a:p>
            <a:pPr eaLnBrk="1" hangingPunct="1"/>
            <a:r>
              <a:rPr lang="en-US" altLang="en-US" smtClean="0"/>
              <a:t>Profile-based anomaly detection focuses on characterizing past behavior of users or groups, and then detecting significant deviations. A profile may consist of a set of parameters, so that deviation on just a single parameter may not be sufficient in itself to signal an alert. Foundation of this approach is analysis of audit records. </a:t>
            </a:r>
          </a:p>
        </p:txBody>
      </p:sp>
    </p:spTree>
    <p:extLst>
      <p:ext uri="{BB962C8B-B14F-4D97-AF65-F5344CB8AC3E}">
        <p14:creationId xmlns:p14="http://schemas.microsoft.com/office/powerpoint/2010/main" val="37815042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B14BBE5-9EB7-4362-82C7-D7FBF12F11A9}" type="slidenum">
              <a:rPr lang="en-AU" altLang="en-US"/>
              <a:pPr eaLnBrk="1" hangingPunct="1"/>
              <a:t>11</a:t>
            </a:fld>
            <a:endParaRPr lang="en-AU" altLang="en-US"/>
          </a:p>
        </p:txBody>
      </p:sp>
      <p:sp>
        <p:nvSpPr>
          <p:cNvPr id="44035" name="Rectangle 2"/>
          <p:cNvSpPr>
            <a:spLocks noRot="1" noChangeArrowheads="1" noTextEdit="1"/>
          </p:cNvSpPr>
          <p:nvPr>
            <p:ph type="sldImg"/>
          </p:nvPr>
        </p:nvSpPr>
        <p:spPr>
          <a:ln/>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An analysis of audit records over a period of time can be used to determine the activity profile of the average user. Then current audit records are used as input to detect intrusion, by analyzing incoming audit records to determine deviation from average behavior. Examples of metrics that are useful for profile-based intrusion detection are: counter, gauge, interval timer, resource use. Given these general metrics, various tests can be performed to determine whether current activity fits within acceptable limits, such as: Mean and standard deviation, Multivariate, Markov process,  Time series, Operational; as discussed in the text.</a:t>
            </a:r>
          </a:p>
          <a:p>
            <a:pPr eaLnBrk="1" hangingPunct="1"/>
            <a:r>
              <a:rPr lang="en-US" altLang="en-US" smtClean="0"/>
              <a:t>Stallings Table18.1 shows various measures considered or tested for the Stanford Research Institute (SRI) intrusion detection system.</a:t>
            </a:r>
          </a:p>
          <a:p>
            <a:pPr eaLnBrk="1" hangingPunct="1"/>
            <a:r>
              <a:rPr lang="en-US" altLang="en-US" smtClean="0"/>
              <a:t>The main advantage of the use of statistical profiles is that a prior knowledge of security flaws is not required. Thus it should be readily portable among a variety of systems. </a:t>
            </a:r>
            <a:endParaRPr lang="en-AU" altLang="en-US" smtClean="0"/>
          </a:p>
        </p:txBody>
      </p:sp>
    </p:spTree>
    <p:extLst>
      <p:ext uri="{BB962C8B-B14F-4D97-AF65-F5344CB8AC3E}">
        <p14:creationId xmlns:p14="http://schemas.microsoft.com/office/powerpoint/2010/main" val="36148869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CF1E29E-983A-45D8-A66E-3752FA72CB91}" type="slidenum">
              <a:rPr lang="en-AU" altLang="en-US"/>
              <a:pPr eaLnBrk="1" hangingPunct="1"/>
              <a:t>12</a:t>
            </a:fld>
            <a:endParaRPr lang="en-AU" altLang="en-US"/>
          </a:p>
        </p:txBody>
      </p:sp>
      <p:sp>
        <p:nvSpPr>
          <p:cNvPr id="45059" name="Rectangle 2"/>
          <p:cNvSpPr>
            <a:spLocks noRot="1" noChangeArrowheads="1" noTextEdit="1"/>
          </p:cNvSpPr>
          <p:nvPr>
            <p:ph type="sldImg"/>
          </p:nvPr>
        </p:nvSpPr>
        <p:spPr>
          <a:ln/>
        </p:spPr>
      </p:sp>
      <p:sp>
        <p:nvSpPr>
          <p:cNvPr id="450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Rule-based techniques detect intrusion by observing events in the system and applying a set of rules that lead to a decision regarding whether a given pattern of activity is or is not suspicious. Can characterize approaches as either anomaly detection or penetration identification, although there is overlap. Rule-based anomaly detection is similar in terms of its approach and strengths to statistical anomaly detection. Historical audit records are analyzed to identify usage patterns and to automatically generate rules that describe those patterns. Current behavior is then observed and matched against the set of rules to see if it conforms to any historically observed pattern of behavior. As with statistical anomaly detection, rule-based anomaly detection does not require knowledge of security vulnerabilities within the system.</a:t>
            </a:r>
          </a:p>
        </p:txBody>
      </p:sp>
    </p:spTree>
    <p:extLst>
      <p:ext uri="{BB962C8B-B14F-4D97-AF65-F5344CB8AC3E}">
        <p14:creationId xmlns:p14="http://schemas.microsoft.com/office/powerpoint/2010/main" val="24993843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56A1E07-A4B6-4B6B-83EC-C62B38065D39}" type="slidenum">
              <a:rPr lang="en-AU" altLang="en-US"/>
              <a:pPr eaLnBrk="1" hangingPunct="1"/>
              <a:t>13</a:t>
            </a:fld>
            <a:endParaRPr lang="en-AU" altLang="en-US"/>
          </a:p>
        </p:txBody>
      </p:sp>
      <p:sp>
        <p:nvSpPr>
          <p:cNvPr id="46083" name="Rectangle 1026"/>
          <p:cNvSpPr>
            <a:spLocks noRot="1" noChangeArrowheads="1" noTextEdit="1"/>
          </p:cNvSpPr>
          <p:nvPr>
            <p:ph type="sldImg"/>
          </p:nvPr>
        </p:nvSpPr>
        <p:spPr>
          <a:ln/>
        </p:spPr>
      </p:sp>
      <p:sp>
        <p:nvSpPr>
          <p:cNvPr id="46084"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Rule-based penetration identification takes a very different approach based on expert system technology. It uses rules for identifying known penetrations or penetrations that would exploit known weaknesses, or identify suspicious behavior. The rules used are specific to machine and operating system. The rules are generated by “experts”, from interviews of system administrators and security analysts. Thus the strength of the approach depends on the skill of those involved in setting up the rules.</a:t>
            </a:r>
          </a:p>
        </p:txBody>
      </p:sp>
    </p:spTree>
    <p:extLst>
      <p:ext uri="{BB962C8B-B14F-4D97-AF65-F5344CB8AC3E}">
        <p14:creationId xmlns:p14="http://schemas.microsoft.com/office/powerpoint/2010/main" val="8137128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6F211A3-46C1-4145-B3DF-C66C18740EA6}" type="slidenum">
              <a:rPr lang="en-AU" altLang="en-US"/>
              <a:pPr eaLnBrk="1" hangingPunct="1"/>
              <a:t>14</a:t>
            </a:fld>
            <a:endParaRPr lang="en-AU" altLang="en-US"/>
          </a:p>
        </p:txBody>
      </p:sp>
      <p:sp>
        <p:nvSpPr>
          <p:cNvPr id="47107" name="Rectangle 1026"/>
          <p:cNvSpPr>
            <a:spLocks noRot="1" noChangeArrowheads="1" noTextEdit="1"/>
          </p:cNvSpPr>
          <p:nvPr>
            <p:ph type="sldImg"/>
          </p:nvPr>
        </p:nvSpPr>
        <p:spPr>
          <a:ln/>
        </p:spPr>
      </p:sp>
      <p:sp>
        <p:nvSpPr>
          <p:cNvPr id="47108"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To be of practical use, an intrusion detection system should detect a substantial percentage of intrusions while keeping the false alarm rate at an acceptable level. If only a modest percentage of actual intrusions are detected, the system provides a false sense of security. On the other hand, if the system frequently triggers an alert when there is no intrusion (a false alarm), then either system managers will begin to ignore the alarms, or much time will be wasted analyzing the false alarms. Unfortunately, because of the nature of the probabilities involved, it is very difficult to meet the standard of high rate of detections with a low rate of false alarms. A study of existing intrusion detection systems indicated that current systems have not overcome the problem of the base-rate fallacy. </a:t>
            </a:r>
          </a:p>
        </p:txBody>
      </p:sp>
    </p:spTree>
    <p:extLst>
      <p:ext uri="{BB962C8B-B14F-4D97-AF65-F5344CB8AC3E}">
        <p14:creationId xmlns:p14="http://schemas.microsoft.com/office/powerpoint/2010/main" val="9440919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AD2EDD0-B7B6-4DEB-809B-716DDEBCE5DF}" type="slidenum">
              <a:rPr lang="en-AU" altLang="en-US"/>
              <a:pPr eaLnBrk="1" hangingPunct="1"/>
              <a:t>15</a:t>
            </a:fld>
            <a:endParaRPr lang="en-AU" altLang="en-US"/>
          </a:p>
        </p:txBody>
      </p:sp>
      <p:sp>
        <p:nvSpPr>
          <p:cNvPr id="48131" name="Rectangle 1026"/>
          <p:cNvSpPr>
            <a:spLocks noRot="1" noChangeArrowheads="1" noTextEdit="1"/>
          </p:cNvSpPr>
          <p:nvPr>
            <p:ph type="sldImg"/>
          </p:nvPr>
        </p:nvSpPr>
        <p:spPr>
          <a:ln/>
        </p:spPr>
      </p:sp>
      <p:sp>
        <p:nvSpPr>
          <p:cNvPr id="48132"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Until recently, work on intrusion detection systems focused on single-system standalone facilities. The typical organization, however, needs to defend a distributed collection of hosts supported by a LAN or internetwork, where a more effective defense can be achieved by coordination and cooperation among intrusion detection systems across the network. </a:t>
            </a:r>
          </a:p>
          <a:p>
            <a:pPr eaLnBrk="1" hangingPunct="1"/>
            <a:r>
              <a:rPr lang="en-US" altLang="en-US" smtClean="0"/>
              <a:t>Porras points out the following major issues in the design of a distributed IDS:</a:t>
            </a:r>
          </a:p>
          <a:p>
            <a:pPr eaLnBrk="1" hangingPunct="1"/>
            <a:r>
              <a:rPr lang="en-US" altLang="en-US" smtClean="0"/>
              <a:t>• A distributed intrusion detection system may need to deal with different audit record formats</a:t>
            </a:r>
          </a:p>
          <a:p>
            <a:pPr eaLnBrk="1" hangingPunct="1"/>
            <a:r>
              <a:rPr lang="en-US" altLang="en-US" smtClean="0"/>
              <a:t>• One or more nodes in the network will serve as collection and analysis points for the data, which must be securely transmitted to them</a:t>
            </a:r>
          </a:p>
          <a:p>
            <a:pPr eaLnBrk="1" hangingPunct="1"/>
            <a:r>
              <a:rPr lang="en-US" altLang="en-US" smtClean="0"/>
              <a:t>• Either a centralized (single point, easier but bottleneck) or decentralized (multiple centers must coordinate) architecture can be used.</a:t>
            </a:r>
          </a:p>
        </p:txBody>
      </p:sp>
    </p:spTree>
    <p:extLst>
      <p:ext uri="{BB962C8B-B14F-4D97-AF65-F5344CB8AC3E}">
        <p14:creationId xmlns:p14="http://schemas.microsoft.com/office/powerpoint/2010/main" val="34647342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69AB396-1429-4AAD-AF7B-B803DED5524B}" type="slidenum">
              <a:rPr lang="en-AU" altLang="en-US"/>
              <a:pPr eaLnBrk="1" hangingPunct="1"/>
              <a:t>16</a:t>
            </a:fld>
            <a:endParaRPr lang="en-AU" altLang="en-US"/>
          </a:p>
        </p:txBody>
      </p:sp>
      <p:sp>
        <p:nvSpPr>
          <p:cNvPr id="49155" name="Rectangle 2"/>
          <p:cNvSpPr>
            <a:spLocks noRot="1" noChangeArrowheads="1" noTextEdit="1"/>
          </p:cNvSpPr>
          <p:nvPr>
            <p:ph type="sldImg"/>
          </p:nvPr>
        </p:nvSpPr>
        <p:spPr>
          <a:ln/>
        </p:spPr>
      </p:sp>
      <p:sp>
        <p:nvSpPr>
          <p:cNvPr id="491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Stallings Figure18.2 shows the overall architecture, consisting of three main components, of the system independent distributed IDS developed at the University of California at Davis. The components are:</a:t>
            </a:r>
          </a:p>
          <a:p>
            <a:pPr eaLnBrk="1" hangingPunct="1"/>
            <a:r>
              <a:rPr lang="en-US" altLang="en-US" smtClean="0"/>
              <a:t>• Host agent module: audit collection module operating as a background process on a monitored system</a:t>
            </a:r>
          </a:p>
          <a:p>
            <a:pPr eaLnBrk="1" hangingPunct="1"/>
            <a:r>
              <a:rPr lang="en-US" altLang="en-US" smtClean="0"/>
              <a:t>• LAN monitor agent module: like a host agent module except it analyzes LAN traffic </a:t>
            </a:r>
          </a:p>
          <a:p>
            <a:pPr eaLnBrk="1" hangingPunct="1"/>
            <a:r>
              <a:rPr lang="en-US" altLang="en-US" smtClean="0"/>
              <a:t>• Central manager module: Receives reports from LAN monitor and host agents and processes and correlates these reports to detect intrusion</a:t>
            </a:r>
            <a:endParaRPr lang="en-AU" altLang="en-US" smtClean="0"/>
          </a:p>
        </p:txBody>
      </p:sp>
    </p:spTree>
    <p:extLst>
      <p:ext uri="{BB962C8B-B14F-4D97-AF65-F5344CB8AC3E}">
        <p14:creationId xmlns:p14="http://schemas.microsoft.com/office/powerpoint/2010/main" val="36180327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712B7DD-B996-40D6-8487-14249F6FF3D8}" type="slidenum">
              <a:rPr lang="en-AU" altLang="en-US"/>
              <a:pPr eaLnBrk="1" hangingPunct="1"/>
              <a:t>17</a:t>
            </a:fld>
            <a:endParaRPr lang="en-AU" altLang="en-US"/>
          </a:p>
        </p:txBody>
      </p:sp>
      <p:sp>
        <p:nvSpPr>
          <p:cNvPr id="50179" name="Rectangle 2"/>
          <p:cNvSpPr>
            <a:spLocks noRot="1" noChangeArrowheads="1" noTextEdit="1"/>
          </p:cNvSpPr>
          <p:nvPr>
            <p:ph type="sldImg"/>
          </p:nvPr>
        </p:nvSpPr>
        <p:spPr>
          <a:ln/>
        </p:spPr>
      </p:sp>
      <p:sp>
        <p:nvSpPr>
          <p:cNvPr id="501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Stallings Figure 18.3 shows the general approach that is taken. The agent captures each native O/S audit record, &amp; applies a filter that retains only records of security interest. These records are then reformatted into a standardized format (HAR). Then a template-driven logic module analyzes the records for suspicious activity. When suspicious activity is detected, an alert is sent to the central manager. The central manager includes an expert system that can draw inferences from received data. The manager may also query individual systems for copies of HARs to correlate with those from other agents. </a:t>
            </a:r>
            <a:endParaRPr lang="en-AU" altLang="en-US" smtClean="0"/>
          </a:p>
        </p:txBody>
      </p:sp>
    </p:spTree>
    <p:extLst>
      <p:ext uri="{BB962C8B-B14F-4D97-AF65-F5344CB8AC3E}">
        <p14:creationId xmlns:p14="http://schemas.microsoft.com/office/powerpoint/2010/main" val="9555361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47E6572-8B1F-4599-8C1A-D9855C834F78}" type="slidenum">
              <a:rPr lang="en-AU" altLang="en-US"/>
              <a:pPr eaLnBrk="1" hangingPunct="1"/>
              <a:t>18</a:t>
            </a:fld>
            <a:endParaRPr lang="en-AU" altLang="en-US"/>
          </a:p>
        </p:txBody>
      </p:sp>
      <p:sp>
        <p:nvSpPr>
          <p:cNvPr id="51203" name="Rectangle 1026"/>
          <p:cNvSpPr>
            <a:spLocks noRot="1" noChangeArrowheads="1" noTextEdit="1"/>
          </p:cNvSpPr>
          <p:nvPr>
            <p:ph type="sldImg"/>
          </p:nvPr>
        </p:nvSpPr>
        <p:spPr>
          <a:ln/>
        </p:spPr>
      </p:sp>
      <p:sp>
        <p:nvSpPr>
          <p:cNvPr id="51204"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Honeypots are decoy systems, designed to lure a potential attacker away from critical systems, and:</a:t>
            </a:r>
          </a:p>
          <a:p>
            <a:pPr eaLnBrk="1" hangingPunct="1"/>
            <a:r>
              <a:rPr lang="en-US" altLang="en-US" smtClean="0"/>
              <a:t>• divert an attacker from accessing critical systems</a:t>
            </a:r>
          </a:p>
          <a:p>
            <a:pPr eaLnBrk="1" hangingPunct="1"/>
            <a:r>
              <a:rPr lang="en-US" altLang="en-US" smtClean="0"/>
              <a:t>• collect information about the attacker’s activity</a:t>
            </a:r>
          </a:p>
          <a:p>
            <a:pPr eaLnBrk="1" hangingPunct="1"/>
            <a:r>
              <a:rPr lang="en-US" altLang="en-US" smtClean="0"/>
              <a:t>• encourage the attacker to stay on the system long enough for administrators to respond </a:t>
            </a:r>
          </a:p>
          <a:p>
            <a:pPr eaLnBrk="1" hangingPunct="1"/>
            <a:r>
              <a:rPr lang="en-US" altLang="en-US" smtClean="0"/>
              <a:t>These systems are filled with fabricated information designed to appear valuable but which any legitimate user of the system wouldn’t access, thus, any access is suspect.</a:t>
            </a:r>
          </a:p>
          <a:p>
            <a:pPr eaLnBrk="1" hangingPunct="1"/>
            <a:r>
              <a:rPr lang="en-US" altLang="en-US" smtClean="0"/>
              <a:t>They are instrumented with sensitive monitors and event loggers that detect these accesses and collect information about the attacker’s activities.</a:t>
            </a:r>
          </a:p>
          <a:p>
            <a:pPr eaLnBrk="1" hangingPunct="1"/>
            <a:r>
              <a:rPr lang="en-US" altLang="en-US" smtClean="0"/>
              <a:t>Have seen evolution from single host honeypots to honeynets of multiple dispersed systems.</a:t>
            </a:r>
          </a:p>
          <a:p>
            <a:pPr eaLnBrk="1" hangingPunct="1"/>
            <a:r>
              <a:rPr lang="en-US" altLang="en-US" smtClean="0"/>
              <a:t>The IETF Intrusion Detection Working Group is currently drafting standards to support interoperability of IDS info (both honeypot and normal IDS) over a wide range of systems &amp; O/S’s.</a:t>
            </a:r>
          </a:p>
        </p:txBody>
      </p:sp>
    </p:spTree>
    <p:extLst>
      <p:ext uri="{BB962C8B-B14F-4D97-AF65-F5344CB8AC3E}">
        <p14:creationId xmlns:p14="http://schemas.microsoft.com/office/powerpoint/2010/main" val="360474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E12455B-56E2-447B-ACF3-929398436D9B}" type="slidenum">
              <a:rPr lang="en-AU" altLang="en-US"/>
              <a:pPr eaLnBrk="1" hangingPunct="1"/>
              <a:t>19</a:t>
            </a:fld>
            <a:endParaRPr lang="en-AU" altLang="en-US"/>
          </a:p>
        </p:txBody>
      </p:sp>
      <p:sp>
        <p:nvSpPr>
          <p:cNvPr id="52227" name="Rectangle 2"/>
          <p:cNvSpPr>
            <a:spLocks noRot="1" noChangeArrowheads="1" noTextEdit="1"/>
          </p:cNvSpPr>
          <p:nvPr>
            <p:ph type="sldImg"/>
          </p:nvPr>
        </p:nvSpPr>
        <p:spPr>
          <a:ln/>
        </p:spPr>
      </p:sp>
      <p:sp>
        <p:nvSpPr>
          <p:cNvPr id="52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The front line of defense against intruders is the password system, where a user provides a name/login identifier (ID) and a password. The password serves to authenticate the ID of the individual logging on to the system. Passwords are usually stored encrypted rather than in the clear (which would make them more vulnerable to theft). Unix systems traditionally used a multiple DES variant with salt as a one-way hash function (see text). More recent O/S’s use a cryptographic hash function (eg. MD5). The file containing these passwords hashes needs access control protections to make guessing attacks harder.</a:t>
            </a:r>
          </a:p>
          <a:p>
            <a:pPr lvl="1" eaLnBrk="1" hangingPunct="1"/>
            <a:endParaRPr lang="en-US" altLang="en-US" smtClean="0"/>
          </a:p>
        </p:txBody>
      </p:sp>
    </p:spTree>
    <p:extLst>
      <p:ext uri="{BB962C8B-B14F-4D97-AF65-F5344CB8AC3E}">
        <p14:creationId xmlns:p14="http://schemas.microsoft.com/office/powerpoint/2010/main" val="27989403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D78E391-E641-4710-B572-73DC1E1B1283}" type="slidenum">
              <a:rPr lang="en-AU" altLang="en-US"/>
              <a:pPr eaLnBrk="1" hangingPunct="1"/>
              <a:t>20</a:t>
            </a:fld>
            <a:endParaRPr lang="en-AU" altLang="en-US"/>
          </a:p>
        </p:txBody>
      </p:sp>
      <p:sp>
        <p:nvSpPr>
          <p:cNvPr id="53251" name="Rectangle 2"/>
          <p:cNvSpPr>
            <a:spLocks noRot="1" noChangeArrowheads="1" noTextEdit="1"/>
          </p:cNvSpPr>
          <p:nvPr>
            <p:ph type="sldImg"/>
          </p:nvPr>
        </p:nvSpPr>
        <p:spPr>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Studies have shown that users tend to choose poor passwords too often.</a:t>
            </a:r>
          </a:p>
          <a:p>
            <a:pPr eaLnBrk="1" hangingPunct="1"/>
            <a:r>
              <a:rPr lang="en-US" altLang="en-US" smtClean="0"/>
              <a:t>A study at Purdue University in 1992 observed password change choices on 54 machines, for 7000 users, and found almost 3% of the passwords were three characters or fewer in length, easily exhaustively searched!</a:t>
            </a:r>
          </a:p>
          <a:p>
            <a:pPr eaLnBrk="1" hangingPunct="1"/>
            <a:r>
              <a:rPr lang="en-US" altLang="en-US" smtClean="0"/>
              <a:t>Password length is only part of the problem, since many people pick a password that is guessable, such as their own name, their street name, a common dictionary word, and so forth. This makes the job of password cracking straightforward.</a:t>
            </a:r>
          </a:p>
          <a:p>
            <a:pPr eaLnBrk="1" hangingPunct="1"/>
            <a:r>
              <a:rPr lang="en-US" altLang="en-US" smtClean="0"/>
              <a:t>A study by Klein 1990 collected UNIX password files, containing nearly 14,000 encrypted passwords, and found nearly one-fourth of these passwords were guessable.</a:t>
            </a:r>
          </a:p>
          <a:p>
            <a:pPr eaLnBrk="1" hangingPunct="1"/>
            <a:r>
              <a:rPr lang="en-US" altLang="en-US" smtClean="0"/>
              <a:t>A strategy is needed to force users to select passwords that are difficult to guess. </a:t>
            </a:r>
          </a:p>
        </p:txBody>
      </p:sp>
    </p:spTree>
    <p:extLst>
      <p:ext uri="{BB962C8B-B14F-4D97-AF65-F5344CB8AC3E}">
        <p14:creationId xmlns:p14="http://schemas.microsoft.com/office/powerpoint/2010/main" val="26858977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1556501-71CA-4F55-A53F-6246379BED10}" type="slidenum">
              <a:rPr lang="en-AU" altLang="en-US"/>
              <a:pPr eaLnBrk="1" hangingPunct="1"/>
              <a:t>21</a:t>
            </a:fld>
            <a:endParaRPr lang="en-AU" altLang="en-US"/>
          </a:p>
        </p:txBody>
      </p:sp>
      <p:sp>
        <p:nvSpPr>
          <p:cNvPr id="54275" name="Rectangle 2"/>
          <p:cNvSpPr>
            <a:spLocks noChangeArrowheads="1" noTextEdit="1"/>
          </p:cNvSpPr>
          <p:nvPr>
            <p:ph type="sldImg"/>
          </p:nvPr>
        </p:nvSpPr>
        <p:spPr>
          <a:solidFill>
            <a:srgbClr val="FFFFFF"/>
          </a:solidFill>
          <a:ln/>
        </p:spPr>
      </p:sp>
      <p:sp>
        <p:nvSpPr>
          <p:cNvPr id="54276" name="Rectangle 3"/>
          <p:cNvSpPr>
            <a:spLocks noChangeArrowheads="1"/>
          </p:cNvSpPr>
          <p:nvPr>
            <p:ph type="body" idx="1"/>
          </p:nvPr>
        </p:nvSpPr>
        <p:spPr>
          <a:solidFill>
            <a:srgbClr val="FFFFFF"/>
          </a:solidFill>
          <a:ln>
            <a:solidFill>
              <a:srgbClr val="000000"/>
            </a:solidFill>
          </a:ln>
        </p:spPr>
        <p:txBody>
          <a:bodyPr/>
          <a:lstStyle/>
          <a:p>
            <a:pPr eaLnBrk="1" hangingPunct="1"/>
            <a:r>
              <a:rPr lang="en-US" altLang="en-US" smtClean="0"/>
              <a:t>Goal is to eliminate guessable passwords while allowing user to select a memorable password. Four basic techniques are in use: education, computer generation, reactive checking &amp; proactive checking.</a:t>
            </a:r>
            <a:endParaRPr lang="en-AU" altLang="en-US" smtClean="0"/>
          </a:p>
          <a:p>
            <a:pPr eaLnBrk="1" hangingPunct="1"/>
            <a:r>
              <a:rPr lang="en-US" altLang="en-US" smtClean="0"/>
              <a:t>The user education strategy tells users the importance of using hard-to-guess passwords and provides guidelines for selecting strong passwords</a:t>
            </a:r>
            <a:r>
              <a:rPr lang="en-AU" altLang="en-US" smtClean="0"/>
              <a:t>, but it needs their cooperation. The problem is that many </a:t>
            </a:r>
            <a:r>
              <a:rPr lang="en-US" altLang="en-US" smtClean="0"/>
              <a:t>users will simply ignore the guidelines.</a:t>
            </a:r>
            <a:endParaRPr lang="en-AU" altLang="en-US" smtClean="0"/>
          </a:p>
        </p:txBody>
      </p:sp>
    </p:spTree>
    <p:extLst>
      <p:ext uri="{BB962C8B-B14F-4D97-AF65-F5344CB8AC3E}">
        <p14:creationId xmlns:p14="http://schemas.microsoft.com/office/powerpoint/2010/main" val="39669018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F6E7C3E-3E6C-48BD-A469-47836A359EAD}" type="slidenum">
              <a:rPr lang="en-AU" altLang="en-US"/>
              <a:pPr eaLnBrk="1" hangingPunct="1"/>
              <a:t>22</a:t>
            </a:fld>
            <a:endParaRPr lang="en-AU" altLang="en-US"/>
          </a:p>
        </p:txBody>
      </p:sp>
      <p:sp>
        <p:nvSpPr>
          <p:cNvPr id="55299" name="Rectangle 2"/>
          <p:cNvSpPr>
            <a:spLocks noChangeArrowheads="1" noTextEdit="1"/>
          </p:cNvSpPr>
          <p:nvPr>
            <p:ph type="sldImg"/>
          </p:nvPr>
        </p:nvSpPr>
        <p:spPr>
          <a:solidFill>
            <a:srgbClr val="FFFFFF"/>
          </a:solidFill>
          <a:ln/>
        </p:spPr>
      </p:sp>
      <p:sp>
        <p:nvSpPr>
          <p:cNvPr id="55300" name="Rectangle 3"/>
          <p:cNvSpPr>
            <a:spLocks noChangeArrowheads="1"/>
          </p:cNvSpPr>
          <p:nvPr>
            <p:ph type="body" idx="1"/>
          </p:nvPr>
        </p:nvSpPr>
        <p:spPr>
          <a:solidFill>
            <a:srgbClr val="FFFFFF"/>
          </a:solidFill>
          <a:ln>
            <a:solidFill>
              <a:srgbClr val="000000"/>
            </a:solidFill>
          </a:ln>
        </p:spPr>
        <p:txBody>
          <a:bodyPr/>
          <a:lstStyle/>
          <a:p>
            <a:pPr eaLnBrk="1" hangingPunct="1"/>
            <a:r>
              <a:rPr lang="en-US" altLang="en-US" smtClean="0"/>
              <a:t>Computer-generated passwords create a password for the user, but have problems. If the passwords are quite random in nature, users will not be able to remember them. Even if the password is pronounceable, the user may have difficulty remembering it and so be tempted to write it down. In general, computer-generated password schemes have a history of poor acceptance by users. FIPS PUB 181 defines one of the best-designed automated password generators. The standard includes not only a description of the approach but also a complete listing of the C source code of the algorithm, which generates words by forming a random set of pronounceable syllables and concatenating them to form a word.</a:t>
            </a:r>
          </a:p>
        </p:txBody>
      </p:sp>
    </p:spTree>
    <p:extLst>
      <p:ext uri="{BB962C8B-B14F-4D97-AF65-F5344CB8AC3E}">
        <p14:creationId xmlns:p14="http://schemas.microsoft.com/office/powerpoint/2010/main" val="5619169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32B458C-9826-4A98-9F7F-A0BF0D6D6941}" type="slidenum">
              <a:rPr lang="en-AU" altLang="en-US"/>
              <a:pPr eaLnBrk="1" hangingPunct="1"/>
              <a:t>23</a:t>
            </a:fld>
            <a:endParaRPr lang="en-AU" altLang="en-US"/>
          </a:p>
        </p:txBody>
      </p:sp>
      <p:sp>
        <p:nvSpPr>
          <p:cNvPr id="56323" name="Rectangle 2"/>
          <p:cNvSpPr>
            <a:spLocks noRot="1" noChangeArrowheads="1" noTextEdit="1"/>
          </p:cNvSpPr>
          <p:nvPr>
            <p:ph type="sldImg"/>
          </p:nvPr>
        </p:nvSpPr>
        <p:spPr>
          <a:ln/>
        </p:spPr>
      </p:sp>
      <p:sp>
        <p:nvSpPr>
          <p:cNvPr id="56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A reactive password checking strategy is one in which the system periodically runs its own password cracker to find guessable passwords. The system cancels any passwords that are guessed and notifies the user. Drawbacks are that it is resource intensive if the job is done right, and any existing passwords remain vulnerable until the reactive password checker finds them. </a:t>
            </a:r>
            <a:endParaRPr lang="en-AU" altLang="en-US" smtClean="0"/>
          </a:p>
        </p:txBody>
      </p:sp>
    </p:spTree>
    <p:extLst>
      <p:ext uri="{BB962C8B-B14F-4D97-AF65-F5344CB8AC3E}">
        <p14:creationId xmlns:p14="http://schemas.microsoft.com/office/powerpoint/2010/main" val="22521485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5D10D27-D622-4D42-AEBB-5D5276C3A341}" type="slidenum">
              <a:rPr lang="en-AU" altLang="en-US"/>
              <a:pPr eaLnBrk="1" hangingPunct="1"/>
              <a:t>24</a:t>
            </a:fld>
            <a:endParaRPr lang="en-AU" altLang="en-US"/>
          </a:p>
        </p:txBody>
      </p:sp>
      <p:sp>
        <p:nvSpPr>
          <p:cNvPr id="57347" name="Rectangle 1026"/>
          <p:cNvSpPr>
            <a:spLocks noRot="1" noChangeArrowheads="1" noTextEdit="1"/>
          </p:cNvSpPr>
          <p:nvPr>
            <p:ph type="sldImg"/>
          </p:nvPr>
        </p:nvSpPr>
        <p:spPr>
          <a:ln/>
        </p:spPr>
      </p:sp>
      <p:sp>
        <p:nvSpPr>
          <p:cNvPr id="57348"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The most promising approach to improved password security is a proactive password checker, where a user is allowed to select his or her own password, but the system checks to see if it is allowable and rejects it if not. The trick is to strike a balance between user acceptability and strength. </a:t>
            </a:r>
          </a:p>
          <a:p>
            <a:pPr eaLnBrk="1" hangingPunct="1"/>
            <a:r>
              <a:rPr lang="en-US" altLang="en-US" smtClean="0"/>
              <a:t>The first approach is a simple system for rule enforcement, enforcing say guidelines from user education. May not be good enough. Another approach is to compile a large dictionary of possible “bad”passwords, and check user passwords against this disapproved list. But this can be very large &amp; slow to search. A third approach is based on rejecting words using either a Markov model of guessable passwords, or a Bloom filter. Both attempt to identify good or bad passwords without keeping large dictionaries. See text for details.</a:t>
            </a:r>
          </a:p>
        </p:txBody>
      </p:sp>
    </p:spTree>
    <p:extLst>
      <p:ext uri="{BB962C8B-B14F-4D97-AF65-F5344CB8AC3E}">
        <p14:creationId xmlns:p14="http://schemas.microsoft.com/office/powerpoint/2010/main" val="97933475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E2B9C55-B1F5-4DCD-B44C-56F4D10DFF02}" type="datetime1">
              <a:rPr lang="en-US" smtClean="0"/>
              <a:t>28/8/2018</a:t>
            </a:fld>
            <a:endParaRPr lang="en-US" dirty="0"/>
          </a:p>
        </p:txBody>
      </p:sp>
      <p:sp>
        <p:nvSpPr>
          <p:cNvPr id="5" name="Footer Placeholder 4"/>
          <p:cNvSpPr>
            <a:spLocks noGrp="1"/>
          </p:cNvSpPr>
          <p:nvPr>
            <p:ph type="ftr" sz="quarter" idx="11"/>
          </p:nvPr>
        </p:nvSpPr>
        <p:spPr/>
        <p:txBody>
          <a:bodyPr/>
          <a:lstStyle>
            <a:lvl1pPr>
              <a:defRPr/>
            </a:lvl1p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pic>
        <p:nvPicPr>
          <p:cNvPr id="1027" name="Picture 3" descr="C:\Users\Dell PC\Desktop\mainpag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38" y="2133600"/>
            <a:ext cx="9162738" cy="2362200"/>
          </a:xfrm>
          <a:prstGeom prst="rect">
            <a:avLst/>
          </a:prstGeom>
          <a:noFill/>
          <a:extLst>
            <a:ext uri="{909E8E84-426E-40DD-AFC4-6F175D3DCCD1}">
              <a14:hiddenFill xmlns:a14="http://schemas.microsoft.com/office/drawing/2010/main">
                <a:solidFill>
                  <a:srgbClr val="FFFFFF"/>
                </a:solidFill>
              </a14:hiddenFill>
            </a:ext>
          </a:extLst>
        </p:spPr>
      </p:pic>
      <p:sp>
        <p:nvSpPr>
          <p:cNvPr id="3" name="Subtitle 2"/>
          <p:cNvSpPr>
            <a:spLocks noGrp="1"/>
          </p:cNvSpPr>
          <p:nvPr>
            <p:ph type="subTitle" idx="1" hasCustomPrompt="1"/>
          </p:nvPr>
        </p:nvSpPr>
        <p:spPr>
          <a:xfrm>
            <a:off x="295431" y="4800600"/>
            <a:ext cx="8696169" cy="609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Chapter Title style</a:t>
            </a:r>
            <a:endParaRPr lang="en-US" dirty="0"/>
          </a:p>
        </p:txBody>
      </p:sp>
      <p:sp>
        <p:nvSpPr>
          <p:cNvPr id="2" name="Title 1"/>
          <p:cNvSpPr>
            <a:spLocks noGrp="1"/>
          </p:cNvSpPr>
          <p:nvPr>
            <p:ph type="ctrTitle" hasCustomPrompt="1"/>
          </p:nvPr>
        </p:nvSpPr>
        <p:spPr>
          <a:xfrm>
            <a:off x="228600" y="2247901"/>
            <a:ext cx="3886200" cy="1981199"/>
          </a:xfrm>
        </p:spPr>
        <p:txBody>
          <a:bodyPr/>
          <a:lstStyle>
            <a:lvl1pPr>
              <a:defRPr/>
            </a:lvl1pPr>
          </a:lstStyle>
          <a:p>
            <a:r>
              <a:rPr lang="en-US" dirty="0" smtClean="0"/>
              <a:t>Click to edit Course Title style</a:t>
            </a:r>
            <a:endParaRPr lang="en-US" dirty="0"/>
          </a:p>
        </p:txBody>
      </p:sp>
    </p:spTree>
    <p:extLst>
      <p:ext uri="{BB962C8B-B14F-4D97-AF65-F5344CB8AC3E}">
        <p14:creationId xmlns:p14="http://schemas.microsoft.com/office/powerpoint/2010/main" val="130212749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96DC9F0-F6FA-4EF5-9B02-32D7E772F3DA}" type="datetime1">
              <a:rPr lang="en-US" smtClean="0"/>
              <a:t>28/8/2018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pic>
        <p:nvPicPr>
          <p:cNvPr id="1026" name="Picture 2" descr="C:\Users\Dell PC\Desktop\template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763"/>
            <a:ext cx="9144000" cy="35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817285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A32B24C-E9C5-4837-990A-2D89EDE17F40}" type="datetime1">
              <a:rPr lang="en-US" smtClean="0"/>
              <a:t>28/8/2018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49441087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B2C1C87-DFFE-40DD-88ED-115007FBF96B}" type="datetime1">
              <a:rPr lang="en-US" smtClean="0"/>
              <a:t>28/8/2018</a:t>
            </a:fld>
            <a:endParaRPr lang="en-US" dirty="0"/>
          </a:p>
        </p:txBody>
      </p:sp>
      <p:sp>
        <p:nvSpPr>
          <p:cNvPr id="6" name="Footer Placeholder 5"/>
          <p:cNvSpPr>
            <a:spLocks noGrp="1"/>
          </p:cNvSpPr>
          <p:nvPr>
            <p:ph type="ftr" sz="quarter" idx="11"/>
          </p:nvPr>
        </p:nvSpPr>
        <p:spPr/>
        <p:txBody>
          <a:bodyPr/>
          <a:lstStyle/>
          <a:p>
            <a:r>
              <a:rPr lang="en-US" smtClean="0"/>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113481567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7910CCB-6840-48E9-8232-4140365FD666}" type="datetime1">
              <a:rPr lang="en-US" smtClean="0"/>
              <a:t>28/8/2018</a:t>
            </a:fld>
            <a:endParaRPr lang="en-US" dirty="0"/>
          </a:p>
        </p:txBody>
      </p:sp>
      <p:sp>
        <p:nvSpPr>
          <p:cNvPr id="8" name="Footer Placeholder 7"/>
          <p:cNvSpPr>
            <a:spLocks noGrp="1"/>
          </p:cNvSpPr>
          <p:nvPr>
            <p:ph type="ftr" sz="quarter" idx="11"/>
          </p:nvPr>
        </p:nvSpPr>
        <p:spPr/>
        <p:txBody>
          <a:bodyPr/>
          <a:lstStyle/>
          <a:p>
            <a:r>
              <a:rPr lang="en-US" smtClean="0"/>
              <a:t>(c) Dept. of Industrial Mgt, 2013</a:t>
            </a:r>
            <a:endParaRPr lang="en-US" dirty="0"/>
          </a:p>
        </p:txBody>
      </p:sp>
      <p:sp>
        <p:nvSpPr>
          <p:cNvPr id="9" name="Slide Number Placeholder 8"/>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511861287"/>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6DC12BC-620C-4804-A68B-E5D136F30A82}" type="datetime1">
              <a:rPr lang="en-US" smtClean="0"/>
              <a:t>28/8/2018</a:t>
            </a:fld>
            <a:endParaRPr lang="en-US" dirty="0"/>
          </a:p>
        </p:txBody>
      </p:sp>
      <p:sp>
        <p:nvSpPr>
          <p:cNvPr id="4" name="Footer Placeholder 3"/>
          <p:cNvSpPr>
            <a:spLocks noGrp="1"/>
          </p:cNvSpPr>
          <p:nvPr>
            <p:ph type="ftr" sz="quarter" idx="11"/>
          </p:nvPr>
        </p:nvSpPr>
        <p:spPr/>
        <p:txBody>
          <a:bodyPr/>
          <a:lstStyle/>
          <a:p>
            <a:r>
              <a:rPr lang="en-US" smtClean="0"/>
              <a:t>(c) Dept. of Industrial Mgt, 2013</a:t>
            </a:r>
            <a:endParaRPr lang="en-US" dirty="0"/>
          </a:p>
        </p:txBody>
      </p:sp>
      <p:sp>
        <p:nvSpPr>
          <p:cNvPr id="5" name="Slide Number Placeholder 4"/>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06419643"/>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1E3FF4-2F5D-4D00-8619-BEEFC2A769C0}" type="datetime1">
              <a:rPr lang="en-US" smtClean="0"/>
              <a:t>28/8/2018</a:t>
            </a:fld>
            <a:endParaRPr lang="en-US" dirty="0"/>
          </a:p>
        </p:txBody>
      </p:sp>
      <p:sp>
        <p:nvSpPr>
          <p:cNvPr id="3" name="Footer Placeholder 2"/>
          <p:cNvSpPr>
            <a:spLocks noGrp="1"/>
          </p:cNvSpPr>
          <p:nvPr>
            <p:ph type="ftr" sz="quarter" idx="11"/>
          </p:nvPr>
        </p:nvSpPr>
        <p:spPr/>
        <p:txBody>
          <a:bodyPr/>
          <a:lstStyle/>
          <a:p>
            <a:r>
              <a:rPr lang="en-US" smtClean="0"/>
              <a:t>(c) Dept. of Industrial Mgt, 2013</a:t>
            </a:r>
            <a:endParaRPr lang="en-US" dirty="0"/>
          </a:p>
        </p:txBody>
      </p:sp>
      <p:sp>
        <p:nvSpPr>
          <p:cNvPr id="4" name="Slide Number Placeholder 3"/>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666640643"/>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7DA6F5A-D08C-4C6E-9A94-889EC7EE21A6}" type="datetime1">
              <a:rPr lang="en-US" smtClean="0"/>
              <a:t>28/8/2018</a:t>
            </a:fld>
            <a:endParaRPr lang="en-US" dirty="0"/>
          </a:p>
        </p:txBody>
      </p:sp>
      <p:sp>
        <p:nvSpPr>
          <p:cNvPr id="6" name="Footer Placeholder 5"/>
          <p:cNvSpPr>
            <a:spLocks noGrp="1"/>
          </p:cNvSpPr>
          <p:nvPr>
            <p:ph type="ftr" sz="quarter" idx="11"/>
          </p:nvPr>
        </p:nvSpPr>
        <p:spPr/>
        <p:txBody>
          <a:bodyPr/>
          <a:lstStyle/>
          <a:p>
            <a:r>
              <a:rPr lang="en-US" smtClean="0"/>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1144932376"/>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0A478FA-CAA3-494E-AE22-6AE9783FAB5B}" type="datetime1">
              <a:rPr lang="en-US" smtClean="0"/>
              <a:t>28/8/2018</a:t>
            </a:fld>
            <a:endParaRPr lang="en-US" dirty="0"/>
          </a:p>
        </p:txBody>
      </p:sp>
      <p:sp>
        <p:nvSpPr>
          <p:cNvPr id="6" name="Footer Placeholder 5"/>
          <p:cNvSpPr>
            <a:spLocks noGrp="1"/>
          </p:cNvSpPr>
          <p:nvPr>
            <p:ph type="ftr" sz="quarter" idx="11"/>
          </p:nvPr>
        </p:nvSpPr>
        <p:spPr/>
        <p:txBody>
          <a:bodyPr/>
          <a:lstStyle/>
          <a:p>
            <a:r>
              <a:rPr lang="en-US" smtClean="0"/>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514718428"/>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821B3BF-CA00-44EF-B758-B15ECF3DFDAF}" type="datetime1">
              <a:rPr lang="en-US" smtClean="0"/>
              <a:t>28/8/2018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522774441"/>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A16D5A7-B666-4055-9430-CD0CBCBD1CF8}" type="datetime1">
              <a:rPr lang="en-US" smtClean="0"/>
              <a:t>28/8/2018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286135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057400"/>
            <a:ext cx="9144000" cy="2566851"/>
          </a:xfrm>
          <a:prstGeom prst="rect">
            <a:avLst/>
          </a:prstGeom>
        </p:spPr>
      </p:pic>
      <p:sp>
        <p:nvSpPr>
          <p:cNvPr id="4" name="Date Placeholder 3"/>
          <p:cNvSpPr>
            <a:spLocks noGrp="1"/>
          </p:cNvSpPr>
          <p:nvPr>
            <p:ph type="dt" sz="half" idx="10"/>
          </p:nvPr>
        </p:nvSpPr>
        <p:spPr/>
        <p:txBody>
          <a:bodyPr/>
          <a:lstStyle/>
          <a:p>
            <a:fld id="{8E2B9C55-B1F5-4DCD-B44C-56F4D10DFF02}" type="datetime1">
              <a:rPr lang="en-US" smtClean="0"/>
              <a:t>28/8/2018</a:t>
            </a:fld>
            <a:endParaRPr lang="en-US" dirty="0"/>
          </a:p>
        </p:txBody>
      </p:sp>
      <p:sp>
        <p:nvSpPr>
          <p:cNvPr id="5" name="Footer Placeholder 4"/>
          <p:cNvSpPr>
            <a:spLocks noGrp="1"/>
          </p:cNvSpPr>
          <p:nvPr>
            <p:ph type="ftr" sz="quarter" idx="11"/>
          </p:nvPr>
        </p:nvSpPr>
        <p:spPr/>
        <p:txBody>
          <a:bodyPr/>
          <a:lstStyle>
            <a:lvl1pPr>
              <a:defRPr/>
            </a:lvl1p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
        <p:nvSpPr>
          <p:cNvPr id="3" name="Subtitle 2"/>
          <p:cNvSpPr>
            <a:spLocks noGrp="1"/>
          </p:cNvSpPr>
          <p:nvPr>
            <p:ph type="subTitle" idx="1" hasCustomPrompt="1"/>
          </p:nvPr>
        </p:nvSpPr>
        <p:spPr>
          <a:xfrm>
            <a:off x="295431" y="4800600"/>
            <a:ext cx="8696169" cy="609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Chapter Title style</a:t>
            </a:r>
            <a:endParaRPr lang="en-US" dirty="0"/>
          </a:p>
        </p:txBody>
      </p:sp>
      <p:sp>
        <p:nvSpPr>
          <p:cNvPr id="2" name="Title 1"/>
          <p:cNvSpPr>
            <a:spLocks noGrp="1"/>
          </p:cNvSpPr>
          <p:nvPr>
            <p:ph type="ctrTitle" hasCustomPrompt="1"/>
          </p:nvPr>
        </p:nvSpPr>
        <p:spPr>
          <a:xfrm>
            <a:off x="4953000" y="2362201"/>
            <a:ext cx="3886200" cy="1981199"/>
          </a:xfrm>
        </p:spPr>
        <p:txBody>
          <a:bodyPr/>
          <a:lstStyle>
            <a:lvl1pPr>
              <a:defRPr/>
            </a:lvl1pPr>
          </a:lstStyle>
          <a:p>
            <a:r>
              <a:rPr lang="en-US" dirty="0" smtClean="0"/>
              <a:t>Click to edit Course Title style</a:t>
            </a:r>
            <a:endParaRPr lang="en-US" dirty="0"/>
          </a:p>
        </p:txBody>
      </p:sp>
    </p:spTree>
    <p:extLst>
      <p:ext uri="{BB962C8B-B14F-4D97-AF65-F5344CB8AC3E}">
        <p14:creationId xmlns:p14="http://schemas.microsoft.com/office/powerpoint/2010/main" val="4000367739"/>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96DC9F0-F6FA-4EF5-9B02-32D7E772F3DA}" type="datetime1">
              <a:rPr lang="en-US" smtClean="0"/>
              <a:t>28/8/2018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392037315"/>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A32B24C-E9C5-4837-990A-2D89EDE17F40}" type="datetime1">
              <a:rPr lang="en-US" smtClean="0"/>
              <a:t>28/8/2018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3433060398"/>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B2C1C87-DFFE-40DD-88ED-115007FBF96B}" type="datetime1">
              <a:rPr lang="en-US" smtClean="0"/>
              <a:t>28/8/2018</a:t>
            </a:fld>
            <a:endParaRPr lang="en-US" dirty="0"/>
          </a:p>
        </p:txBody>
      </p:sp>
      <p:sp>
        <p:nvSpPr>
          <p:cNvPr id="6" name="Footer Placeholder 5"/>
          <p:cNvSpPr>
            <a:spLocks noGrp="1"/>
          </p:cNvSpPr>
          <p:nvPr>
            <p:ph type="ftr" sz="quarter" idx="11"/>
          </p:nvPr>
        </p:nvSpPr>
        <p:spPr/>
        <p:txBody>
          <a:bodyPr/>
          <a:lstStyle/>
          <a:p>
            <a:r>
              <a:rPr lang="en-US" smtClean="0"/>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3768885867"/>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7910CCB-6840-48E9-8232-4140365FD666}" type="datetime1">
              <a:rPr lang="en-US" smtClean="0"/>
              <a:t>28/8/2018</a:t>
            </a:fld>
            <a:endParaRPr lang="en-US" dirty="0"/>
          </a:p>
        </p:txBody>
      </p:sp>
      <p:sp>
        <p:nvSpPr>
          <p:cNvPr id="8" name="Footer Placeholder 7"/>
          <p:cNvSpPr>
            <a:spLocks noGrp="1"/>
          </p:cNvSpPr>
          <p:nvPr>
            <p:ph type="ftr" sz="quarter" idx="11"/>
          </p:nvPr>
        </p:nvSpPr>
        <p:spPr/>
        <p:txBody>
          <a:bodyPr/>
          <a:lstStyle/>
          <a:p>
            <a:r>
              <a:rPr lang="en-US" smtClean="0"/>
              <a:t>(c) Dept. of Industrial Mgt, 2013</a:t>
            </a:r>
            <a:endParaRPr lang="en-US" dirty="0"/>
          </a:p>
        </p:txBody>
      </p:sp>
      <p:sp>
        <p:nvSpPr>
          <p:cNvPr id="9" name="Slide Number Placeholder 8"/>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3014733444"/>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6DC12BC-620C-4804-A68B-E5D136F30A82}" type="datetime1">
              <a:rPr lang="en-US" smtClean="0"/>
              <a:t>28/8/2018</a:t>
            </a:fld>
            <a:endParaRPr lang="en-US" dirty="0"/>
          </a:p>
        </p:txBody>
      </p:sp>
      <p:sp>
        <p:nvSpPr>
          <p:cNvPr id="4" name="Footer Placeholder 3"/>
          <p:cNvSpPr>
            <a:spLocks noGrp="1"/>
          </p:cNvSpPr>
          <p:nvPr>
            <p:ph type="ftr" sz="quarter" idx="11"/>
          </p:nvPr>
        </p:nvSpPr>
        <p:spPr/>
        <p:txBody>
          <a:bodyPr/>
          <a:lstStyle/>
          <a:p>
            <a:r>
              <a:rPr lang="en-US" smtClean="0"/>
              <a:t>(c) Dept. of Industrial Mgt, 2013</a:t>
            </a:r>
            <a:endParaRPr lang="en-US" dirty="0"/>
          </a:p>
        </p:txBody>
      </p:sp>
      <p:sp>
        <p:nvSpPr>
          <p:cNvPr id="5" name="Slide Number Placeholder 4"/>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4293690693"/>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1E3FF4-2F5D-4D00-8619-BEEFC2A769C0}" type="datetime1">
              <a:rPr lang="en-US" smtClean="0"/>
              <a:t>28/8/2018</a:t>
            </a:fld>
            <a:endParaRPr lang="en-US" dirty="0"/>
          </a:p>
        </p:txBody>
      </p:sp>
      <p:sp>
        <p:nvSpPr>
          <p:cNvPr id="3" name="Footer Placeholder 2"/>
          <p:cNvSpPr>
            <a:spLocks noGrp="1"/>
          </p:cNvSpPr>
          <p:nvPr>
            <p:ph type="ftr" sz="quarter" idx="11"/>
          </p:nvPr>
        </p:nvSpPr>
        <p:spPr/>
        <p:txBody>
          <a:bodyPr/>
          <a:lstStyle/>
          <a:p>
            <a:r>
              <a:rPr lang="en-US" smtClean="0"/>
              <a:t>(c) Dept. of Industrial Mgt, 2013</a:t>
            </a:r>
            <a:endParaRPr lang="en-US" dirty="0"/>
          </a:p>
        </p:txBody>
      </p:sp>
      <p:sp>
        <p:nvSpPr>
          <p:cNvPr id="4" name="Slide Number Placeholder 3"/>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244137634"/>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7DA6F5A-D08C-4C6E-9A94-889EC7EE21A6}" type="datetime1">
              <a:rPr lang="en-US" smtClean="0"/>
              <a:t>28/8/2018</a:t>
            </a:fld>
            <a:endParaRPr lang="en-US" dirty="0"/>
          </a:p>
        </p:txBody>
      </p:sp>
      <p:sp>
        <p:nvSpPr>
          <p:cNvPr id="6" name="Footer Placeholder 5"/>
          <p:cNvSpPr>
            <a:spLocks noGrp="1"/>
          </p:cNvSpPr>
          <p:nvPr>
            <p:ph type="ftr" sz="quarter" idx="11"/>
          </p:nvPr>
        </p:nvSpPr>
        <p:spPr/>
        <p:txBody>
          <a:bodyPr/>
          <a:lstStyle/>
          <a:p>
            <a:r>
              <a:rPr lang="en-US" smtClean="0"/>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147150602"/>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0A478FA-CAA3-494E-AE22-6AE9783FAB5B}" type="datetime1">
              <a:rPr lang="en-US" smtClean="0"/>
              <a:t>28/8/2018</a:t>
            </a:fld>
            <a:endParaRPr lang="en-US" dirty="0"/>
          </a:p>
        </p:txBody>
      </p:sp>
      <p:sp>
        <p:nvSpPr>
          <p:cNvPr id="6" name="Footer Placeholder 5"/>
          <p:cNvSpPr>
            <a:spLocks noGrp="1"/>
          </p:cNvSpPr>
          <p:nvPr>
            <p:ph type="ftr" sz="quarter" idx="11"/>
          </p:nvPr>
        </p:nvSpPr>
        <p:spPr/>
        <p:txBody>
          <a:bodyPr/>
          <a:lstStyle/>
          <a:p>
            <a:r>
              <a:rPr lang="en-US" smtClean="0"/>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525436515"/>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821B3BF-CA00-44EF-B758-B15ECF3DFDAF}" type="datetime1">
              <a:rPr lang="en-US" smtClean="0"/>
              <a:t>28/8/2018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4031546261"/>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A16D5A7-B666-4055-9430-CD0CBCBD1CF8}" type="datetime1">
              <a:rPr lang="en-US" smtClean="0"/>
              <a:t>28/8/2018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808225847"/>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3.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0"/>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905000"/>
            <a:ext cx="8229600" cy="42211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12FDDB-310E-4072-8B61-ACE857F405FC}" type="datetime1">
              <a:rPr lang="en-US" smtClean="0"/>
              <a:t>28/8/2018</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(c) Dept. of Industrial Mgt, 2013</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205F43-80E2-4640-A934-E79BFFCB5CAF}" type="slidenum">
              <a:rPr lang="en-US" smtClean="0"/>
              <a:pPr/>
              <a:t>‹#›</a:t>
            </a:fld>
            <a:endParaRPr lang="en-US" dirty="0"/>
          </a:p>
        </p:txBody>
      </p:sp>
      <p:pic>
        <p:nvPicPr>
          <p:cNvPr id="8" name="Picture 2" descr="C:\Users\Dell PC\Desktop\template2.jpg"/>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4763"/>
            <a:ext cx="9144000" cy="35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03840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0"/>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905000"/>
            <a:ext cx="8229600" cy="42211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12FDDB-310E-4072-8B61-ACE857F405FC}" type="datetime1">
              <a:rPr lang="en-US" smtClean="0"/>
              <a:t>28/8/2018</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(c) Dept. of Industrial Mgt, 2013</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205F43-80E2-4640-A934-E79BFFCB5CAF}" type="slidenum">
              <a:rPr lang="en-US" smtClean="0"/>
              <a:pPr/>
              <a:t>‹#›</a:t>
            </a:fld>
            <a:endParaRPr lang="en-US" dirty="0"/>
          </a:p>
        </p:txBody>
      </p:sp>
      <p:pic>
        <p:nvPicPr>
          <p:cNvPr id="7" name="Picture 6"/>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0" y="0"/>
            <a:ext cx="9144000" cy="381000"/>
          </a:xfrm>
          <a:prstGeom prst="rect">
            <a:avLst/>
          </a:prstGeom>
        </p:spPr>
      </p:pic>
    </p:spTree>
    <p:extLst>
      <p:ext uri="{BB962C8B-B14F-4D97-AF65-F5344CB8AC3E}">
        <p14:creationId xmlns:p14="http://schemas.microsoft.com/office/powerpoint/2010/main" val="168926587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itle 3"/>
          <p:cNvSpPr>
            <a:spLocks noGrp="1"/>
          </p:cNvSpPr>
          <p:nvPr>
            <p:ph type="ctrTitle"/>
          </p:nvPr>
        </p:nvSpPr>
        <p:spPr>
          <a:xfrm>
            <a:off x="1295400" y="4669596"/>
            <a:ext cx="6934200" cy="1981200"/>
          </a:xfrm>
        </p:spPr>
        <p:txBody>
          <a:bodyPr/>
          <a:lstStyle/>
          <a:p>
            <a:pPr eaLnBrk="1" hangingPunct="1"/>
            <a:r>
              <a:rPr lang="en-US" dirty="0"/>
              <a:t>6</a:t>
            </a:r>
            <a:r>
              <a:rPr lang="en-US" dirty="0" smtClean="0"/>
              <a:t>. Network Security</a:t>
            </a:r>
          </a:p>
        </p:txBody>
      </p:sp>
      <p:sp>
        <p:nvSpPr>
          <p:cNvPr id="4" name="Title 1"/>
          <p:cNvSpPr txBox="1">
            <a:spLocks/>
          </p:cNvSpPr>
          <p:nvPr/>
        </p:nvSpPr>
        <p:spPr>
          <a:xfrm>
            <a:off x="4876800" y="2209800"/>
            <a:ext cx="3886200" cy="1981200"/>
          </a:xfrm>
          <a:prstGeom prst="rect">
            <a:avLst/>
          </a:prstGeom>
        </p:spPr>
        <p:txBody>
          <a:bodyPr vert="horz" lIns="91440" tIns="45720" rIns="91440" bIns="45720" rtlCol="0" anchor="ctr">
            <a:normAutofit fontScale="825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mtClean="0"/>
              <a:t>Operating Systems and Computer Security</a:t>
            </a:r>
            <a:endParaRPr lang="en-US" dirty="0"/>
          </a:p>
        </p:txBody>
      </p:sp>
      <p:sp>
        <p:nvSpPr>
          <p:cNvPr id="5" name="Rectangle 2"/>
          <p:cNvSpPr txBox="1">
            <a:spLocks noChangeArrowheads="1"/>
          </p:cNvSpPr>
          <p:nvPr/>
        </p:nvSpPr>
        <p:spPr>
          <a:xfrm>
            <a:off x="762000" y="457200"/>
            <a:ext cx="7391400" cy="154305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dirty="0" smtClean="0"/>
              <a:t>Intruder Detection</a:t>
            </a:r>
            <a:endParaRPr lang="en-AU" altLang="en-US" dirty="0" smtClean="0"/>
          </a:p>
        </p:txBody>
      </p:sp>
    </p:spTree>
    <p:extLst>
      <p:ext uri="{BB962C8B-B14F-4D97-AF65-F5344CB8AC3E}">
        <p14:creationId xmlns:p14="http://schemas.microsoft.com/office/powerpoint/2010/main" val="261027791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ltLang="en-US" smtClean="0"/>
              <a:t>Intruders</a:t>
            </a:r>
            <a:endParaRPr lang="en-AU" altLang="en-US" smtClean="0"/>
          </a:p>
        </p:txBody>
      </p:sp>
      <p:sp>
        <p:nvSpPr>
          <p:cNvPr id="7171" name="Rectangle 3"/>
          <p:cNvSpPr>
            <a:spLocks noGrp="1" noChangeArrowheads="1"/>
          </p:cNvSpPr>
          <p:nvPr>
            <p:ph idx="1"/>
          </p:nvPr>
        </p:nvSpPr>
        <p:spPr>
          <a:xfrm>
            <a:off x="457200" y="1214438"/>
            <a:ext cx="8229600" cy="4911725"/>
          </a:xfrm>
        </p:spPr>
        <p:txBody>
          <a:bodyPr/>
          <a:lstStyle/>
          <a:p>
            <a:r>
              <a:rPr lang="en-US" altLang="en-US" smtClean="0"/>
              <a:t>significant issue for networked systems is hostile or unwanted access</a:t>
            </a:r>
          </a:p>
          <a:p>
            <a:r>
              <a:rPr lang="en-US" altLang="en-US" smtClean="0"/>
              <a:t>either via network or local</a:t>
            </a:r>
          </a:p>
          <a:p>
            <a:r>
              <a:rPr lang="en-US" altLang="en-US" smtClean="0"/>
              <a:t>can identify classes of intruders:</a:t>
            </a:r>
          </a:p>
          <a:p>
            <a:pPr lvl="1"/>
            <a:r>
              <a:rPr lang="en-US" altLang="en-US" smtClean="0"/>
              <a:t>masquerader</a:t>
            </a:r>
          </a:p>
          <a:p>
            <a:pPr lvl="1"/>
            <a:r>
              <a:rPr lang="en-US" altLang="en-US" smtClean="0"/>
              <a:t>misfeasor</a:t>
            </a:r>
          </a:p>
          <a:p>
            <a:pPr lvl="1"/>
            <a:r>
              <a:rPr lang="en-US" altLang="en-US" smtClean="0"/>
              <a:t>clandestine user</a:t>
            </a:r>
          </a:p>
          <a:p>
            <a:r>
              <a:rPr lang="en-US" altLang="en-US" smtClean="0"/>
              <a:t>varying levels of competence</a:t>
            </a:r>
          </a:p>
          <a:p>
            <a:pPr lvl="1"/>
            <a:r>
              <a:rPr lang="en-US" altLang="en-US" smtClean="0"/>
              <a:t>Benign to Malignant</a:t>
            </a:r>
          </a:p>
          <a:p>
            <a:endParaRPr lang="en-AU" altLang="en-US" smtClean="0"/>
          </a:p>
        </p:txBody>
      </p:sp>
    </p:spTree>
    <p:extLst>
      <p:ext uri="{BB962C8B-B14F-4D97-AF65-F5344CB8AC3E}">
        <p14:creationId xmlns:p14="http://schemas.microsoft.com/office/powerpoint/2010/main" val="23554305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mtClean="0"/>
              <a:t>Intruders</a:t>
            </a:r>
            <a:endParaRPr lang="en-AU" altLang="en-US" smtClean="0"/>
          </a:p>
        </p:txBody>
      </p:sp>
      <p:sp>
        <p:nvSpPr>
          <p:cNvPr id="6147" name="Rectangle 3"/>
          <p:cNvSpPr>
            <a:spLocks noGrp="1" noChangeArrowheads="1"/>
          </p:cNvSpPr>
          <p:nvPr>
            <p:ph idx="1"/>
          </p:nvPr>
        </p:nvSpPr>
        <p:spPr/>
        <p:txBody>
          <a:bodyPr rtlCol="0">
            <a:normAutofit lnSpcReduction="10000"/>
          </a:bodyPr>
          <a:lstStyle/>
          <a:p>
            <a:pPr fontAlgn="auto">
              <a:spcAft>
                <a:spcPts val="0"/>
              </a:spcAft>
              <a:defRPr/>
            </a:pPr>
            <a:r>
              <a:rPr lang="en-US" smtClean="0"/>
              <a:t>clearly a growing publicized problem</a:t>
            </a:r>
          </a:p>
          <a:p>
            <a:pPr lvl="1" fontAlgn="auto">
              <a:spcAft>
                <a:spcPts val="0"/>
              </a:spcAft>
              <a:defRPr/>
            </a:pPr>
            <a:r>
              <a:rPr lang="en-US" smtClean="0"/>
              <a:t>from “Wily Hacker” in 1986/87</a:t>
            </a:r>
          </a:p>
          <a:p>
            <a:pPr lvl="1" fontAlgn="auto">
              <a:spcAft>
                <a:spcPts val="0"/>
              </a:spcAft>
              <a:defRPr/>
            </a:pPr>
            <a:r>
              <a:rPr lang="en-US" smtClean="0"/>
              <a:t>to clearly escalating CERT stats</a:t>
            </a:r>
          </a:p>
          <a:p>
            <a:pPr fontAlgn="auto">
              <a:spcAft>
                <a:spcPts val="0"/>
              </a:spcAft>
              <a:defRPr/>
            </a:pPr>
            <a:r>
              <a:rPr lang="en-US" smtClean="0"/>
              <a:t>may seem benign, but still cost resources</a:t>
            </a:r>
          </a:p>
          <a:p>
            <a:pPr fontAlgn="auto">
              <a:spcAft>
                <a:spcPts val="0"/>
              </a:spcAft>
              <a:defRPr/>
            </a:pPr>
            <a:r>
              <a:rPr lang="en-US" smtClean="0"/>
              <a:t>may use compromised system to launch other attacks</a:t>
            </a:r>
          </a:p>
          <a:p>
            <a:pPr fontAlgn="auto">
              <a:spcAft>
                <a:spcPts val="0"/>
              </a:spcAft>
              <a:defRPr/>
            </a:pPr>
            <a:r>
              <a:rPr lang="en-US" smtClean="0"/>
              <a:t>awareness of intruders has led to the development of CERTs</a:t>
            </a:r>
            <a:endParaRPr lang="en-AU" smtClean="0"/>
          </a:p>
        </p:txBody>
      </p:sp>
    </p:spTree>
    <p:extLst>
      <p:ext uri="{BB962C8B-B14F-4D97-AF65-F5344CB8AC3E}">
        <p14:creationId xmlns:p14="http://schemas.microsoft.com/office/powerpoint/2010/main" val="19479043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altLang="en-US" smtClean="0"/>
              <a:t>Intrusion Techniques</a:t>
            </a:r>
            <a:endParaRPr lang="en-AU" altLang="en-US" smtClean="0"/>
          </a:p>
        </p:txBody>
      </p:sp>
      <p:sp>
        <p:nvSpPr>
          <p:cNvPr id="7171" name="Rectangle 3"/>
          <p:cNvSpPr>
            <a:spLocks noGrp="1" noChangeArrowheads="1"/>
          </p:cNvSpPr>
          <p:nvPr>
            <p:ph idx="1"/>
          </p:nvPr>
        </p:nvSpPr>
        <p:spPr/>
        <p:txBody>
          <a:bodyPr rtlCol="0">
            <a:normAutofit lnSpcReduction="10000"/>
          </a:bodyPr>
          <a:lstStyle/>
          <a:p>
            <a:pPr fontAlgn="auto">
              <a:lnSpc>
                <a:spcPct val="90000"/>
              </a:lnSpc>
              <a:spcAft>
                <a:spcPts val="0"/>
              </a:spcAft>
              <a:defRPr/>
            </a:pPr>
            <a:r>
              <a:rPr lang="en-US" smtClean="0"/>
              <a:t>aim to gain access and/or increase privileges on a system</a:t>
            </a:r>
            <a:endParaRPr lang="en-AU" smtClean="0"/>
          </a:p>
          <a:p>
            <a:pPr fontAlgn="auto">
              <a:lnSpc>
                <a:spcPct val="90000"/>
              </a:lnSpc>
              <a:spcAft>
                <a:spcPts val="0"/>
              </a:spcAft>
              <a:defRPr/>
            </a:pPr>
            <a:r>
              <a:rPr lang="en-AU" smtClean="0"/>
              <a:t>basic attack methodology </a:t>
            </a:r>
          </a:p>
          <a:p>
            <a:pPr lvl="1" fontAlgn="auto">
              <a:lnSpc>
                <a:spcPct val="90000"/>
              </a:lnSpc>
              <a:spcAft>
                <a:spcPts val="0"/>
              </a:spcAft>
              <a:defRPr/>
            </a:pPr>
            <a:r>
              <a:rPr lang="en-AU" smtClean="0"/>
              <a:t>target acquisition and information gathering </a:t>
            </a:r>
          </a:p>
          <a:p>
            <a:pPr lvl="1" fontAlgn="auto">
              <a:lnSpc>
                <a:spcPct val="90000"/>
              </a:lnSpc>
              <a:spcAft>
                <a:spcPts val="0"/>
              </a:spcAft>
              <a:defRPr/>
            </a:pPr>
            <a:r>
              <a:rPr lang="en-AU" smtClean="0"/>
              <a:t>initial access </a:t>
            </a:r>
          </a:p>
          <a:p>
            <a:pPr lvl="1" fontAlgn="auto">
              <a:lnSpc>
                <a:spcPct val="90000"/>
              </a:lnSpc>
              <a:spcAft>
                <a:spcPts val="0"/>
              </a:spcAft>
              <a:defRPr/>
            </a:pPr>
            <a:r>
              <a:rPr lang="en-AU" smtClean="0"/>
              <a:t>privilege escalation </a:t>
            </a:r>
          </a:p>
          <a:p>
            <a:pPr lvl="1" fontAlgn="auto">
              <a:lnSpc>
                <a:spcPct val="90000"/>
              </a:lnSpc>
              <a:spcAft>
                <a:spcPts val="0"/>
              </a:spcAft>
              <a:defRPr/>
            </a:pPr>
            <a:r>
              <a:rPr lang="en-AU" smtClean="0"/>
              <a:t>covering tracks </a:t>
            </a:r>
          </a:p>
          <a:p>
            <a:pPr fontAlgn="auto">
              <a:lnSpc>
                <a:spcPct val="90000"/>
              </a:lnSpc>
              <a:spcAft>
                <a:spcPts val="0"/>
              </a:spcAft>
              <a:defRPr/>
            </a:pPr>
            <a:r>
              <a:rPr lang="en-US" smtClean="0"/>
              <a:t>key goal often is to acquire passwords</a:t>
            </a:r>
            <a:endParaRPr lang="en-AU" smtClean="0"/>
          </a:p>
          <a:p>
            <a:pPr fontAlgn="auto">
              <a:lnSpc>
                <a:spcPct val="90000"/>
              </a:lnSpc>
              <a:spcAft>
                <a:spcPts val="0"/>
              </a:spcAft>
              <a:defRPr/>
            </a:pPr>
            <a:r>
              <a:rPr lang="en-US" smtClean="0"/>
              <a:t>so then exercise access rights of owner</a:t>
            </a:r>
            <a:endParaRPr lang="en-AU" smtClean="0"/>
          </a:p>
        </p:txBody>
      </p:sp>
    </p:spTree>
    <p:extLst>
      <p:ext uri="{BB962C8B-B14F-4D97-AF65-F5344CB8AC3E}">
        <p14:creationId xmlns:p14="http://schemas.microsoft.com/office/powerpoint/2010/main" val="19777102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altLang="en-US" smtClean="0"/>
              <a:t>Password Guessing</a:t>
            </a:r>
            <a:endParaRPr lang="en-AU" altLang="en-US" smtClean="0"/>
          </a:p>
        </p:txBody>
      </p:sp>
      <p:sp>
        <p:nvSpPr>
          <p:cNvPr id="10243" name="Rectangle 3"/>
          <p:cNvSpPr>
            <a:spLocks noGrp="1" noChangeArrowheads="1"/>
          </p:cNvSpPr>
          <p:nvPr>
            <p:ph idx="1"/>
          </p:nvPr>
        </p:nvSpPr>
        <p:spPr>
          <a:xfrm>
            <a:off x="457200" y="1371600"/>
            <a:ext cx="8229600" cy="5257800"/>
          </a:xfrm>
        </p:spPr>
        <p:txBody>
          <a:bodyPr/>
          <a:lstStyle/>
          <a:p>
            <a:r>
              <a:rPr lang="en-AU" altLang="en-US" sz="2800" smtClean="0"/>
              <a:t>one of the most common attacks</a:t>
            </a:r>
          </a:p>
          <a:p>
            <a:r>
              <a:rPr lang="en-AU" altLang="en-US" sz="2800" smtClean="0"/>
              <a:t>attacker knows a login (from email/web page etc) </a:t>
            </a:r>
          </a:p>
          <a:p>
            <a:r>
              <a:rPr lang="en-AU" altLang="en-US" sz="2800" smtClean="0"/>
              <a:t>then attempts to guess password for it </a:t>
            </a:r>
          </a:p>
          <a:p>
            <a:pPr lvl="1"/>
            <a:r>
              <a:rPr lang="en-US" altLang="en-US" sz="2400" smtClean="0"/>
              <a:t>defaults, short passwords, </a:t>
            </a:r>
            <a:r>
              <a:rPr lang="en-AU" altLang="en-US" sz="2400" smtClean="0"/>
              <a:t>common word searches</a:t>
            </a:r>
          </a:p>
          <a:p>
            <a:pPr lvl="1"/>
            <a:r>
              <a:rPr lang="en-AU" altLang="en-US" sz="2400" smtClean="0"/>
              <a:t>user info (variations on names, birthday, phone, common words/interests) </a:t>
            </a:r>
          </a:p>
          <a:p>
            <a:pPr lvl="1"/>
            <a:r>
              <a:rPr lang="en-AU" altLang="en-US" sz="2400" smtClean="0"/>
              <a:t>exhaustively searching all possible passwords</a:t>
            </a:r>
            <a:r>
              <a:rPr lang="en-AU" altLang="en-US" sz="2000" smtClean="0"/>
              <a:t> </a:t>
            </a:r>
          </a:p>
          <a:p>
            <a:r>
              <a:rPr lang="en-AU" altLang="en-US" sz="2800" smtClean="0"/>
              <a:t>check by login or against stolen password file </a:t>
            </a:r>
          </a:p>
          <a:p>
            <a:r>
              <a:rPr lang="en-AU" altLang="en-US" sz="2800" smtClean="0"/>
              <a:t>success depends on password chosen by user</a:t>
            </a:r>
          </a:p>
          <a:p>
            <a:r>
              <a:rPr lang="en-AU" altLang="en-US" sz="2800" smtClean="0"/>
              <a:t>surveys show many users choose poorly </a:t>
            </a:r>
          </a:p>
        </p:txBody>
      </p:sp>
    </p:spTree>
    <p:extLst>
      <p:ext uri="{BB962C8B-B14F-4D97-AF65-F5344CB8AC3E}">
        <p14:creationId xmlns:p14="http://schemas.microsoft.com/office/powerpoint/2010/main" val="14519222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altLang="en-US" smtClean="0"/>
              <a:t>Password Capture</a:t>
            </a:r>
            <a:endParaRPr lang="en-AU" altLang="en-US" smtClean="0"/>
          </a:p>
        </p:txBody>
      </p:sp>
      <p:sp>
        <p:nvSpPr>
          <p:cNvPr id="9219" name="Rectangle 3"/>
          <p:cNvSpPr>
            <a:spLocks noGrp="1" noChangeArrowheads="1"/>
          </p:cNvSpPr>
          <p:nvPr>
            <p:ph idx="1"/>
          </p:nvPr>
        </p:nvSpPr>
        <p:spPr/>
        <p:txBody>
          <a:bodyPr rtlCol="0">
            <a:normAutofit lnSpcReduction="10000"/>
          </a:bodyPr>
          <a:lstStyle/>
          <a:p>
            <a:pPr fontAlgn="auto">
              <a:spcAft>
                <a:spcPts val="0"/>
              </a:spcAft>
              <a:defRPr/>
            </a:pPr>
            <a:r>
              <a:rPr lang="en-AU" sz="2800" smtClean="0"/>
              <a:t>another attack involves </a:t>
            </a:r>
            <a:r>
              <a:rPr lang="en-AU" sz="2800" b="1" smtClean="0"/>
              <a:t>password capture</a:t>
            </a:r>
            <a:r>
              <a:rPr lang="en-AU" sz="2800" smtClean="0"/>
              <a:t> </a:t>
            </a:r>
          </a:p>
          <a:p>
            <a:pPr lvl="1" fontAlgn="auto">
              <a:spcAft>
                <a:spcPts val="0"/>
              </a:spcAft>
              <a:defRPr/>
            </a:pPr>
            <a:r>
              <a:rPr lang="en-AU" sz="2400" smtClean="0"/>
              <a:t>watching over shoulder as password is entered </a:t>
            </a:r>
          </a:p>
          <a:p>
            <a:pPr lvl="1" fontAlgn="auto">
              <a:spcAft>
                <a:spcPts val="0"/>
              </a:spcAft>
              <a:defRPr/>
            </a:pPr>
            <a:r>
              <a:rPr lang="en-AU" sz="2400" smtClean="0"/>
              <a:t>using a trojan horse program to collect</a:t>
            </a:r>
          </a:p>
          <a:p>
            <a:pPr lvl="1" fontAlgn="auto">
              <a:spcAft>
                <a:spcPts val="0"/>
              </a:spcAft>
              <a:defRPr/>
            </a:pPr>
            <a:r>
              <a:rPr lang="en-AU" sz="2400" smtClean="0"/>
              <a:t>monitoring an insecure network login </a:t>
            </a:r>
          </a:p>
          <a:p>
            <a:pPr lvl="2" fontAlgn="auto">
              <a:spcAft>
                <a:spcPts val="0"/>
              </a:spcAft>
              <a:defRPr/>
            </a:pPr>
            <a:r>
              <a:rPr lang="en-AU" sz="2000" smtClean="0"/>
              <a:t>eg. telnet, FTP, web, email</a:t>
            </a:r>
          </a:p>
          <a:p>
            <a:pPr lvl="1" fontAlgn="auto">
              <a:spcAft>
                <a:spcPts val="0"/>
              </a:spcAft>
              <a:defRPr/>
            </a:pPr>
            <a:r>
              <a:rPr lang="en-AU" sz="2400" smtClean="0"/>
              <a:t>extracting recorded info after successful login (web history/cache, last number dialed etc) </a:t>
            </a:r>
          </a:p>
          <a:p>
            <a:pPr fontAlgn="auto">
              <a:spcAft>
                <a:spcPts val="0"/>
              </a:spcAft>
              <a:defRPr/>
            </a:pPr>
            <a:r>
              <a:rPr lang="en-AU" sz="2800" smtClean="0"/>
              <a:t>using valid login/password can impersonate user</a:t>
            </a:r>
          </a:p>
          <a:p>
            <a:pPr fontAlgn="auto">
              <a:spcAft>
                <a:spcPts val="0"/>
              </a:spcAft>
              <a:defRPr/>
            </a:pPr>
            <a:r>
              <a:rPr lang="en-AU" sz="2800" smtClean="0"/>
              <a:t>users need to be educated to use suitable precautions/countermeasures </a:t>
            </a:r>
          </a:p>
        </p:txBody>
      </p:sp>
    </p:spTree>
    <p:extLst>
      <p:ext uri="{BB962C8B-B14F-4D97-AF65-F5344CB8AC3E}">
        <p14:creationId xmlns:p14="http://schemas.microsoft.com/office/powerpoint/2010/main" val="14425675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US" altLang="en-US" smtClean="0"/>
              <a:t>Intrusion Detection</a:t>
            </a:r>
            <a:endParaRPr lang="en-AU" altLang="en-US" smtClean="0"/>
          </a:p>
        </p:txBody>
      </p:sp>
      <p:sp>
        <p:nvSpPr>
          <p:cNvPr id="12291" name="Rectangle 3"/>
          <p:cNvSpPr>
            <a:spLocks noGrp="1" noChangeArrowheads="1"/>
          </p:cNvSpPr>
          <p:nvPr>
            <p:ph idx="1"/>
          </p:nvPr>
        </p:nvSpPr>
        <p:spPr/>
        <p:txBody>
          <a:bodyPr>
            <a:normAutofit lnSpcReduction="10000"/>
          </a:bodyPr>
          <a:lstStyle/>
          <a:p>
            <a:r>
              <a:rPr lang="en-US" altLang="en-US" smtClean="0"/>
              <a:t>inevitably will have security failures</a:t>
            </a:r>
          </a:p>
          <a:p>
            <a:r>
              <a:rPr lang="en-US" altLang="en-US" smtClean="0"/>
              <a:t>so need also to detect intrusions so can</a:t>
            </a:r>
          </a:p>
          <a:p>
            <a:pPr lvl="1"/>
            <a:r>
              <a:rPr lang="en-US" altLang="en-US" smtClean="0"/>
              <a:t>block if detected quickly</a:t>
            </a:r>
          </a:p>
          <a:p>
            <a:pPr lvl="1"/>
            <a:r>
              <a:rPr lang="en-US" altLang="en-US" smtClean="0"/>
              <a:t>act as deterrent</a:t>
            </a:r>
          </a:p>
          <a:p>
            <a:pPr lvl="1"/>
            <a:r>
              <a:rPr lang="en-US" altLang="en-US" smtClean="0"/>
              <a:t>collect info to improve security</a:t>
            </a:r>
          </a:p>
          <a:p>
            <a:r>
              <a:rPr lang="en-US" altLang="en-US" smtClean="0"/>
              <a:t>assume intruder will behave differently to a legitimate user</a:t>
            </a:r>
          </a:p>
          <a:p>
            <a:pPr lvl="1"/>
            <a:r>
              <a:rPr lang="en-US" altLang="en-US" smtClean="0"/>
              <a:t>but will have imperfect distinction between</a:t>
            </a:r>
            <a:endParaRPr lang="en-AU" altLang="en-US" smtClean="0"/>
          </a:p>
        </p:txBody>
      </p:sp>
    </p:spTree>
    <p:extLst>
      <p:ext uri="{BB962C8B-B14F-4D97-AF65-F5344CB8AC3E}">
        <p14:creationId xmlns:p14="http://schemas.microsoft.com/office/powerpoint/2010/main" val="41610058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altLang="en-US" sz="4000" smtClean="0"/>
              <a:t>Approaches to Intrusion Detection</a:t>
            </a:r>
            <a:endParaRPr lang="en-AU" altLang="en-US" sz="4000" smtClean="0"/>
          </a:p>
        </p:txBody>
      </p:sp>
      <p:sp>
        <p:nvSpPr>
          <p:cNvPr id="13315" name="Rectangle 3"/>
          <p:cNvSpPr>
            <a:spLocks noGrp="1" noChangeArrowheads="1"/>
          </p:cNvSpPr>
          <p:nvPr>
            <p:ph idx="1"/>
          </p:nvPr>
        </p:nvSpPr>
        <p:spPr/>
        <p:txBody>
          <a:bodyPr/>
          <a:lstStyle/>
          <a:p>
            <a:r>
              <a:rPr lang="en-US" altLang="en-US" smtClean="0"/>
              <a:t>statistical anomaly detection</a:t>
            </a:r>
          </a:p>
          <a:p>
            <a:pPr lvl="1"/>
            <a:r>
              <a:rPr lang="en-US" altLang="en-US" smtClean="0"/>
              <a:t>threshold</a:t>
            </a:r>
          </a:p>
          <a:p>
            <a:pPr lvl="1"/>
            <a:r>
              <a:rPr lang="en-US" altLang="en-US" smtClean="0"/>
              <a:t>profile based</a:t>
            </a:r>
          </a:p>
          <a:p>
            <a:r>
              <a:rPr lang="en-US" altLang="en-US" smtClean="0"/>
              <a:t>rule-based detection</a:t>
            </a:r>
          </a:p>
          <a:p>
            <a:pPr lvl="1"/>
            <a:r>
              <a:rPr lang="en-US" altLang="en-US" smtClean="0"/>
              <a:t>anomaly</a:t>
            </a:r>
          </a:p>
          <a:p>
            <a:pPr lvl="1"/>
            <a:r>
              <a:rPr lang="en-US" altLang="en-US" smtClean="0"/>
              <a:t>penetration identification</a:t>
            </a:r>
            <a:endParaRPr lang="en-AU" altLang="en-US" smtClean="0"/>
          </a:p>
        </p:txBody>
      </p:sp>
    </p:spTree>
    <p:extLst>
      <p:ext uri="{BB962C8B-B14F-4D97-AF65-F5344CB8AC3E}">
        <p14:creationId xmlns:p14="http://schemas.microsoft.com/office/powerpoint/2010/main" val="17560358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altLang="en-US" smtClean="0"/>
              <a:t>Audit Records</a:t>
            </a:r>
            <a:endParaRPr lang="en-AU" altLang="en-US" smtClean="0"/>
          </a:p>
        </p:txBody>
      </p:sp>
      <p:sp>
        <p:nvSpPr>
          <p:cNvPr id="14339" name="Rectangle 3"/>
          <p:cNvSpPr>
            <a:spLocks noGrp="1" noChangeArrowheads="1"/>
          </p:cNvSpPr>
          <p:nvPr>
            <p:ph idx="1"/>
          </p:nvPr>
        </p:nvSpPr>
        <p:spPr/>
        <p:txBody>
          <a:bodyPr>
            <a:normAutofit lnSpcReduction="10000"/>
          </a:bodyPr>
          <a:lstStyle/>
          <a:p>
            <a:r>
              <a:rPr lang="en-US" altLang="en-US" smtClean="0"/>
              <a:t>fundamental tool for intrusion detection</a:t>
            </a:r>
          </a:p>
          <a:p>
            <a:r>
              <a:rPr lang="en-US" altLang="en-US" smtClean="0"/>
              <a:t>native audit records</a:t>
            </a:r>
          </a:p>
          <a:p>
            <a:pPr lvl="1"/>
            <a:r>
              <a:rPr lang="en-US" altLang="en-US" smtClean="0"/>
              <a:t>part of all common multi-user O/S</a:t>
            </a:r>
          </a:p>
          <a:p>
            <a:pPr lvl="1"/>
            <a:r>
              <a:rPr lang="en-US" altLang="en-US" smtClean="0"/>
              <a:t>already present for use</a:t>
            </a:r>
          </a:p>
          <a:p>
            <a:pPr lvl="1"/>
            <a:r>
              <a:rPr lang="en-US" altLang="en-US" smtClean="0"/>
              <a:t>may not have info wanted in desired form</a:t>
            </a:r>
          </a:p>
          <a:p>
            <a:r>
              <a:rPr lang="en-US" altLang="en-US" smtClean="0"/>
              <a:t>detection-specific audit records</a:t>
            </a:r>
          </a:p>
          <a:p>
            <a:pPr lvl="1"/>
            <a:r>
              <a:rPr lang="en-US" altLang="en-US" smtClean="0"/>
              <a:t>created specifically to collect wanted info</a:t>
            </a:r>
          </a:p>
          <a:p>
            <a:pPr lvl="1"/>
            <a:r>
              <a:rPr lang="en-US" altLang="en-US" smtClean="0"/>
              <a:t>at cost of additional overhead on system</a:t>
            </a:r>
            <a:endParaRPr lang="en-AU" altLang="en-US" smtClean="0"/>
          </a:p>
        </p:txBody>
      </p:sp>
    </p:spTree>
    <p:extLst>
      <p:ext uri="{BB962C8B-B14F-4D97-AF65-F5344CB8AC3E}">
        <p14:creationId xmlns:p14="http://schemas.microsoft.com/office/powerpoint/2010/main" val="27890724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AU" altLang="en-US" smtClean="0"/>
              <a:t>Statistical Anomaly Detection</a:t>
            </a:r>
          </a:p>
        </p:txBody>
      </p:sp>
      <p:sp>
        <p:nvSpPr>
          <p:cNvPr id="15363" name="Rectangle 3"/>
          <p:cNvSpPr>
            <a:spLocks noGrp="1" noChangeArrowheads="1"/>
          </p:cNvSpPr>
          <p:nvPr>
            <p:ph idx="1"/>
          </p:nvPr>
        </p:nvSpPr>
        <p:spPr/>
        <p:txBody>
          <a:bodyPr>
            <a:normAutofit lnSpcReduction="10000"/>
          </a:bodyPr>
          <a:lstStyle/>
          <a:p>
            <a:r>
              <a:rPr lang="en-US" altLang="en-US" smtClean="0"/>
              <a:t>threshold detection</a:t>
            </a:r>
          </a:p>
          <a:p>
            <a:pPr lvl="1"/>
            <a:r>
              <a:rPr lang="en-US" altLang="en-US" smtClean="0"/>
              <a:t>count occurrences of specific event over time</a:t>
            </a:r>
          </a:p>
          <a:p>
            <a:pPr lvl="1"/>
            <a:r>
              <a:rPr lang="en-US" altLang="en-US" smtClean="0"/>
              <a:t>if exceed reasonable value assume intrusion</a:t>
            </a:r>
          </a:p>
          <a:p>
            <a:pPr lvl="1"/>
            <a:r>
              <a:rPr lang="en-US" altLang="en-US" smtClean="0"/>
              <a:t>alone is a crude &amp; ineffective detector</a:t>
            </a:r>
          </a:p>
          <a:p>
            <a:r>
              <a:rPr lang="en-US" altLang="en-US" smtClean="0"/>
              <a:t>profile based</a:t>
            </a:r>
          </a:p>
          <a:p>
            <a:pPr lvl="1"/>
            <a:r>
              <a:rPr lang="en-US" altLang="en-US" smtClean="0"/>
              <a:t>characterize past behavior of users</a:t>
            </a:r>
          </a:p>
          <a:p>
            <a:pPr lvl="1"/>
            <a:r>
              <a:rPr lang="en-US" altLang="en-US" smtClean="0"/>
              <a:t>detect significant deviations from this</a:t>
            </a:r>
          </a:p>
          <a:p>
            <a:pPr lvl="1"/>
            <a:r>
              <a:rPr lang="en-US" altLang="en-US" smtClean="0"/>
              <a:t>profile usually multi-parameter</a:t>
            </a:r>
            <a:endParaRPr lang="en-AU" altLang="en-US" smtClean="0"/>
          </a:p>
        </p:txBody>
      </p:sp>
    </p:spTree>
    <p:extLst>
      <p:ext uri="{BB962C8B-B14F-4D97-AF65-F5344CB8AC3E}">
        <p14:creationId xmlns:p14="http://schemas.microsoft.com/office/powerpoint/2010/main" val="2773294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altLang="en-US" smtClean="0"/>
              <a:t>Audit Record Analysis</a:t>
            </a:r>
            <a:endParaRPr lang="en-AU" altLang="en-US" smtClean="0"/>
          </a:p>
        </p:txBody>
      </p:sp>
      <p:sp>
        <p:nvSpPr>
          <p:cNvPr id="16387" name="Rectangle 3"/>
          <p:cNvSpPr>
            <a:spLocks noGrp="1" noChangeArrowheads="1"/>
          </p:cNvSpPr>
          <p:nvPr>
            <p:ph idx="1"/>
          </p:nvPr>
        </p:nvSpPr>
        <p:spPr/>
        <p:txBody>
          <a:bodyPr>
            <a:normAutofit lnSpcReduction="10000"/>
          </a:bodyPr>
          <a:lstStyle/>
          <a:p>
            <a:r>
              <a:rPr lang="en-US" altLang="en-US" smtClean="0"/>
              <a:t>foundation of statistical approaches</a:t>
            </a:r>
          </a:p>
          <a:p>
            <a:r>
              <a:rPr lang="en-US" altLang="en-US" smtClean="0"/>
              <a:t>analyze records to get metrics over time</a:t>
            </a:r>
          </a:p>
          <a:p>
            <a:pPr lvl="1"/>
            <a:r>
              <a:rPr lang="en-US" altLang="en-US" smtClean="0"/>
              <a:t>counter, gauge, interval timer, resource use</a:t>
            </a:r>
          </a:p>
          <a:p>
            <a:r>
              <a:rPr lang="en-US" altLang="en-US" smtClean="0"/>
              <a:t>use various tests on these to determine if current behavior is acceptable</a:t>
            </a:r>
          </a:p>
          <a:p>
            <a:pPr lvl="1"/>
            <a:r>
              <a:rPr lang="en-US" altLang="en-US" smtClean="0"/>
              <a:t>mean &amp; standard deviation, multivariate, markov process, time series, operational</a:t>
            </a:r>
          </a:p>
          <a:p>
            <a:r>
              <a:rPr lang="en-US" altLang="en-US" smtClean="0"/>
              <a:t>key advantage is no prior knowledge used</a:t>
            </a:r>
            <a:endParaRPr lang="en-AU" altLang="en-US" smtClean="0"/>
          </a:p>
        </p:txBody>
      </p:sp>
    </p:spTree>
    <p:extLst>
      <p:ext uri="{BB962C8B-B14F-4D97-AF65-F5344CB8AC3E}">
        <p14:creationId xmlns:p14="http://schemas.microsoft.com/office/powerpoint/2010/main" val="39117497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AU" altLang="en-US" smtClean="0"/>
              <a:t>Rule-Based Intrusion Detection</a:t>
            </a:r>
          </a:p>
        </p:txBody>
      </p:sp>
      <p:sp>
        <p:nvSpPr>
          <p:cNvPr id="17411" name="Rectangle 3"/>
          <p:cNvSpPr>
            <a:spLocks noGrp="1" noChangeArrowheads="1"/>
          </p:cNvSpPr>
          <p:nvPr>
            <p:ph idx="1"/>
          </p:nvPr>
        </p:nvSpPr>
        <p:spPr/>
        <p:txBody>
          <a:bodyPr/>
          <a:lstStyle/>
          <a:p>
            <a:pPr>
              <a:lnSpc>
                <a:spcPct val="90000"/>
              </a:lnSpc>
            </a:pPr>
            <a:r>
              <a:rPr lang="en-US" altLang="en-US" smtClean="0"/>
              <a:t>observe events on system &amp; apply rules to decide if activity is suspicious or not</a:t>
            </a:r>
          </a:p>
          <a:p>
            <a:pPr>
              <a:lnSpc>
                <a:spcPct val="90000"/>
              </a:lnSpc>
            </a:pPr>
            <a:r>
              <a:rPr lang="en-AU" altLang="en-US" smtClean="0"/>
              <a:t>rule-based anomaly detection</a:t>
            </a:r>
          </a:p>
          <a:p>
            <a:pPr lvl="1">
              <a:lnSpc>
                <a:spcPct val="90000"/>
              </a:lnSpc>
            </a:pPr>
            <a:r>
              <a:rPr lang="en-US" altLang="en-US" smtClean="0"/>
              <a:t>analyze historical audit records to identify usage patterns &amp; auto-generate rules for them</a:t>
            </a:r>
          </a:p>
          <a:p>
            <a:pPr lvl="1">
              <a:lnSpc>
                <a:spcPct val="90000"/>
              </a:lnSpc>
            </a:pPr>
            <a:r>
              <a:rPr lang="en-US" altLang="en-US" smtClean="0"/>
              <a:t>then observe current behavior &amp; match against rules to see if conforms</a:t>
            </a:r>
          </a:p>
          <a:p>
            <a:pPr lvl="1">
              <a:lnSpc>
                <a:spcPct val="90000"/>
              </a:lnSpc>
            </a:pPr>
            <a:r>
              <a:rPr lang="en-US" altLang="en-US" smtClean="0"/>
              <a:t>like </a:t>
            </a:r>
            <a:r>
              <a:rPr lang="en-AU" altLang="en-US" smtClean="0"/>
              <a:t>statistical anomaly detection does not require </a:t>
            </a:r>
            <a:r>
              <a:rPr lang="en-US" altLang="en-US" smtClean="0"/>
              <a:t>prior knowledge of security flaws</a:t>
            </a:r>
            <a:endParaRPr lang="en-AU" altLang="en-US" smtClean="0"/>
          </a:p>
        </p:txBody>
      </p:sp>
    </p:spTree>
    <p:extLst>
      <p:ext uri="{BB962C8B-B14F-4D97-AF65-F5344CB8AC3E}">
        <p14:creationId xmlns:p14="http://schemas.microsoft.com/office/powerpoint/2010/main" val="12763077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AU" altLang="en-US" smtClean="0"/>
              <a:t>Rule-Based Intrusion Detection</a:t>
            </a:r>
          </a:p>
        </p:txBody>
      </p:sp>
      <p:sp>
        <p:nvSpPr>
          <p:cNvPr id="18435" name="Rectangle 3"/>
          <p:cNvSpPr>
            <a:spLocks noGrp="1" noChangeArrowheads="1"/>
          </p:cNvSpPr>
          <p:nvPr>
            <p:ph idx="1"/>
          </p:nvPr>
        </p:nvSpPr>
        <p:spPr>
          <a:xfrm>
            <a:off x="457200" y="1676400"/>
            <a:ext cx="8229600" cy="4876800"/>
          </a:xfrm>
        </p:spPr>
        <p:txBody>
          <a:bodyPr/>
          <a:lstStyle/>
          <a:p>
            <a:r>
              <a:rPr lang="en-AU" altLang="en-US" smtClean="0"/>
              <a:t>rule-based penetration identification</a:t>
            </a:r>
          </a:p>
          <a:p>
            <a:pPr lvl="1"/>
            <a:r>
              <a:rPr lang="en-US" altLang="en-US" smtClean="0"/>
              <a:t>uses expert systems technology</a:t>
            </a:r>
          </a:p>
          <a:p>
            <a:pPr lvl="1"/>
            <a:r>
              <a:rPr lang="en-US" altLang="en-US" smtClean="0"/>
              <a:t>with rules identifying known penetration, weakness patterns, or suspicious behavior</a:t>
            </a:r>
          </a:p>
          <a:p>
            <a:pPr lvl="1"/>
            <a:r>
              <a:rPr lang="en-US" altLang="en-US" smtClean="0"/>
              <a:t>compare audit records or states against rules</a:t>
            </a:r>
            <a:endParaRPr lang="en-AU" altLang="en-US" smtClean="0"/>
          </a:p>
          <a:p>
            <a:pPr lvl="1"/>
            <a:r>
              <a:rPr lang="en-US" altLang="en-US" smtClean="0"/>
              <a:t>rules usually machine &amp; O/S specific</a:t>
            </a:r>
          </a:p>
          <a:p>
            <a:pPr lvl="1"/>
            <a:r>
              <a:rPr lang="en-US" altLang="en-US" smtClean="0"/>
              <a:t>rules are generated by experts who interview &amp; codify knowledge of security admins</a:t>
            </a:r>
          </a:p>
          <a:p>
            <a:pPr lvl="1"/>
            <a:r>
              <a:rPr lang="en-US" altLang="en-US" smtClean="0"/>
              <a:t>quality depends on how well this is done</a:t>
            </a:r>
          </a:p>
        </p:txBody>
      </p:sp>
    </p:spTree>
    <p:extLst>
      <p:ext uri="{BB962C8B-B14F-4D97-AF65-F5344CB8AC3E}">
        <p14:creationId xmlns:p14="http://schemas.microsoft.com/office/powerpoint/2010/main" val="40084323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AU" altLang="en-US" smtClean="0"/>
              <a:t>Base-Rate Fallacy</a:t>
            </a:r>
          </a:p>
        </p:txBody>
      </p:sp>
      <p:sp>
        <p:nvSpPr>
          <p:cNvPr id="19459" name="Rectangle 3"/>
          <p:cNvSpPr>
            <a:spLocks noGrp="1" noChangeArrowheads="1"/>
          </p:cNvSpPr>
          <p:nvPr>
            <p:ph idx="1"/>
          </p:nvPr>
        </p:nvSpPr>
        <p:spPr/>
        <p:txBody>
          <a:bodyPr>
            <a:normAutofit lnSpcReduction="10000"/>
          </a:bodyPr>
          <a:lstStyle/>
          <a:p>
            <a:r>
              <a:rPr lang="en-US" altLang="en-US" smtClean="0"/>
              <a:t>practically an intrusion detection system needs to detect a substantial percentage of intrusions with few false alarms</a:t>
            </a:r>
          </a:p>
          <a:p>
            <a:pPr lvl="1"/>
            <a:r>
              <a:rPr lang="en-US" altLang="en-US" smtClean="0"/>
              <a:t>if too few intrusions detected -&gt; false security</a:t>
            </a:r>
          </a:p>
          <a:p>
            <a:pPr lvl="1"/>
            <a:r>
              <a:rPr lang="en-US" altLang="en-US" smtClean="0"/>
              <a:t>if too many false alarms -&gt; ignore / waste time</a:t>
            </a:r>
          </a:p>
          <a:p>
            <a:r>
              <a:rPr lang="en-US" altLang="en-US" smtClean="0"/>
              <a:t>this is very hard to do</a:t>
            </a:r>
          </a:p>
          <a:p>
            <a:r>
              <a:rPr lang="en-US" altLang="en-US" smtClean="0"/>
              <a:t>existing systems seem not to have a good record</a:t>
            </a:r>
            <a:endParaRPr lang="en-AU" altLang="en-US" smtClean="0"/>
          </a:p>
        </p:txBody>
      </p:sp>
    </p:spTree>
    <p:extLst>
      <p:ext uri="{BB962C8B-B14F-4D97-AF65-F5344CB8AC3E}">
        <p14:creationId xmlns:p14="http://schemas.microsoft.com/office/powerpoint/2010/main" val="23670032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AU" altLang="en-US" smtClean="0"/>
              <a:t>Distributed Intrusion Detection</a:t>
            </a:r>
          </a:p>
        </p:txBody>
      </p:sp>
      <p:sp>
        <p:nvSpPr>
          <p:cNvPr id="20483" name="Rectangle 3"/>
          <p:cNvSpPr>
            <a:spLocks noGrp="1" noChangeArrowheads="1"/>
          </p:cNvSpPr>
          <p:nvPr>
            <p:ph idx="1"/>
          </p:nvPr>
        </p:nvSpPr>
        <p:spPr/>
        <p:txBody>
          <a:bodyPr>
            <a:normAutofit lnSpcReduction="10000"/>
          </a:bodyPr>
          <a:lstStyle/>
          <a:p>
            <a:r>
              <a:rPr lang="en-US" altLang="en-US" smtClean="0"/>
              <a:t>traditional focus is on single systems</a:t>
            </a:r>
          </a:p>
          <a:p>
            <a:r>
              <a:rPr lang="en-US" altLang="en-US" smtClean="0"/>
              <a:t>but typically have networked systems</a:t>
            </a:r>
          </a:p>
          <a:p>
            <a:r>
              <a:rPr lang="en-US" altLang="en-US" smtClean="0"/>
              <a:t>more effective defense has these working together to detect intrusions</a:t>
            </a:r>
          </a:p>
          <a:p>
            <a:r>
              <a:rPr lang="en-US" altLang="en-US" smtClean="0"/>
              <a:t>issues</a:t>
            </a:r>
          </a:p>
          <a:p>
            <a:pPr lvl="1"/>
            <a:r>
              <a:rPr lang="en-US" altLang="en-US" smtClean="0"/>
              <a:t>dealing with varying audit record formats</a:t>
            </a:r>
          </a:p>
          <a:p>
            <a:pPr lvl="1"/>
            <a:r>
              <a:rPr lang="en-US" altLang="en-US" smtClean="0"/>
              <a:t>integrity &amp; confidentiality of networked data</a:t>
            </a:r>
          </a:p>
          <a:p>
            <a:pPr lvl="1"/>
            <a:r>
              <a:rPr lang="en-US" altLang="en-US" smtClean="0"/>
              <a:t>centralized or decentralized architecture</a:t>
            </a:r>
            <a:endParaRPr lang="en-AU" altLang="en-US" smtClean="0"/>
          </a:p>
        </p:txBody>
      </p:sp>
    </p:spTree>
    <p:extLst>
      <p:ext uri="{BB962C8B-B14F-4D97-AF65-F5344CB8AC3E}">
        <p14:creationId xmlns:p14="http://schemas.microsoft.com/office/powerpoint/2010/main" val="32878593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rtlCol="0">
            <a:normAutofit fontScale="90000"/>
          </a:bodyPr>
          <a:lstStyle/>
          <a:p>
            <a:pPr fontAlgn="auto">
              <a:spcAft>
                <a:spcPts val="0"/>
              </a:spcAft>
              <a:defRPr/>
            </a:pPr>
            <a:r>
              <a:rPr lang="en-AU" sz="4000" smtClean="0"/>
              <a:t>Distributed Intrusion Detection - Architecture</a:t>
            </a:r>
          </a:p>
        </p:txBody>
      </p:sp>
      <p:pic>
        <p:nvPicPr>
          <p:cNvPr id="21507" name="Picture 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138238" y="1954213"/>
            <a:ext cx="6867525" cy="4122737"/>
          </a:xfrm>
          <a:noFill/>
        </p:spPr>
      </p:pic>
    </p:spTree>
    <p:extLst>
      <p:ext uri="{BB962C8B-B14F-4D97-AF65-F5344CB8AC3E}">
        <p14:creationId xmlns:p14="http://schemas.microsoft.com/office/powerpoint/2010/main" val="20463388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1026"/>
          <p:cNvSpPr>
            <a:spLocks noGrp="1" noChangeArrowheads="1"/>
          </p:cNvSpPr>
          <p:nvPr>
            <p:ph type="title"/>
          </p:nvPr>
        </p:nvSpPr>
        <p:spPr/>
        <p:txBody>
          <a:bodyPr rtlCol="0">
            <a:normAutofit fontScale="90000"/>
          </a:bodyPr>
          <a:lstStyle/>
          <a:p>
            <a:pPr fontAlgn="auto">
              <a:spcAft>
                <a:spcPts val="0"/>
              </a:spcAft>
              <a:defRPr/>
            </a:pPr>
            <a:r>
              <a:rPr lang="en-AU" sz="4000" smtClean="0"/>
              <a:t>Distributed Intrusion Detection – Agent Implementation</a:t>
            </a:r>
          </a:p>
        </p:txBody>
      </p:sp>
      <p:pic>
        <p:nvPicPr>
          <p:cNvPr id="22531" name="Picture 1027"/>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763713" y="1676400"/>
            <a:ext cx="5472112" cy="4454525"/>
          </a:xfrm>
          <a:noFill/>
        </p:spPr>
      </p:pic>
    </p:spTree>
    <p:extLst>
      <p:ext uri="{BB962C8B-B14F-4D97-AF65-F5344CB8AC3E}">
        <p14:creationId xmlns:p14="http://schemas.microsoft.com/office/powerpoint/2010/main" val="39902297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smtClean="0"/>
              <a:t>Honeypots</a:t>
            </a:r>
            <a:endParaRPr lang="en-AU" altLang="en-US" smtClean="0"/>
          </a:p>
        </p:txBody>
      </p:sp>
      <p:sp>
        <p:nvSpPr>
          <p:cNvPr id="23555" name="Rectangle 3"/>
          <p:cNvSpPr>
            <a:spLocks noGrp="1" noChangeArrowheads="1"/>
          </p:cNvSpPr>
          <p:nvPr>
            <p:ph idx="1"/>
          </p:nvPr>
        </p:nvSpPr>
        <p:spPr>
          <a:xfrm>
            <a:off x="457200" y="1447800"/>
            <a:ext cx="8229600" cy="5029200"/>
          </a:xfrm>
        </p:spPr>
        <p:txBody>
          <a:bodyPr/>
          <a:lstStyle/>
          <a:p>
            <a:pPr>
              <a:lnSpc>
                <a:spcPct val="90000"/>
              </a:lnSpc>
            </a:pPr>
            <a:r>
              <a:rPr lang="en-US" altLang="en-US" smtClean="0"/>
              <a:t>decoy systems to lure attackers</a:t>
            </a:r>
          </a:p>
          <a:p>
            <a:pPr lvl="1">
              <a:lnSpc>
                <a:spcPct val="90000"/>
              </a:lnSpc>
            </a:pPr>
            <a:r>
              <a:rPr lang="en-US" altLang="en-US" smtClean="0"/>
              <a:t>away from accessing critical systems</a:t>
            </a:r>
          </a:p>
          <a:p>
            <a:pPr lvl="1">
              <a:lnSpc>
                <a:spcPct val="90000"/>
              </a:lnSpc>
            </a:pPr>
            <a:r>
              <a:rPr lang="en-US" altLang="en-US" smtClean="0"/>
              <a:t>to collect information of their activities</a:t>
            </a:r>
          </a:p>
          <a:p>
            <a:pPr lvl="1">
              <a:lnSpc>
                <a:spcPct val="90000"/>
              </a:lnSpc>
            </a:pPr>
            <a:r>
              <a:rPr lang="en-US" altLang="en-US" smtClean="0"/>
              <a:t>to encourage attacker to stay on system so administrator can respond</a:t>
            </a:r>
          </a:p>
          <a:p>
            <a:pPr>
              <a:lnSpc>
                <a:spcPct val="90000"/>
              </a:lnSpc>
            </a:pPr>
            <a:r>
              <a:rPr lang="en-US" altLang="en-US" smtClean="0"/>
              <a:t>are filled with fabricated information</a:t>
            </a:r>
          </a:p>
          <a:p>
            <a:pPr>
              <a:lnSpc>
                <a:spcPct val="90000"/>
              </a:lnSpc>
            </a:pPr>
            <a:r>
              <a:rPr lang="en-US" altLang="en-US" smtClean="0"/>
              <a:t>instrumented to collect detailed information on attackers activities</a:t>
            </a:r>
          </a:p>
          <a:p>
            <a:pPr>
              <a:lnSpc>
                <a:spcPct val="90000"/>
              </a:lnSpc>
            </a:pPr>
            <a:r>
              <a:rPr lang="en-US" altLang="en-US" smtClean="0"/>
              <a:t>single or multiple networked systems</a:t>
            </a:r>
          </a:p>
          <a:p>
            <a:pPr>
              <a:lnSpc>
                <a:spcPct val="90000"/>
              </a:lnSpc>
            </a:pPr>
            <a:r>
              <a:rPr lang="en-AU" altLang="en-US" smtClean="0"/>
              <a:t>cf IETF Intrusion Detection WG standards</a:t>
            </a:r>
          </a:p>
        </p:txBody>
      </p:sp>
    </p:spTree>
    <p:extLst>
      <p:ext uri="{BB962C8B-B14F-4D97-AF65-F5344CB8AC3E}">
        <p14:creationId xmlns:p14="http://schemas.microsoft.com/office/powerpoint/2010/main" val="28392861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ltLang="en-US" smtClean="0"/>
              <a:t>Password Management</a:t>
            </a:r>
            <a:endParaRPr lang="en-AU" altLang="en-US" smtClean="0"/>
          </a:p>
        </p:txBody>
      </p:sp>
      <p:sp>
        <p:nvSpPr>
          <p:cNvPr id="24579" name="Rectangle 3"/>
          <p:cNvSpPr>
            <a:spLocks noGrp="1" noChangeArrowheads="1"/>
          </p:cNvSpPr>
          <p:nvPr>
            <p:ph idx="1"/>
          </p:nvPr>
        </p:nvSpPr>
        <p:spPr/>
        <p:txBody>
          <a:bodyPr>
            <a:normAutofit lnSpcReduction="10000"/>
          </a:bodyPr>
          <a:lstStyle/>
          <a:p>
            <a:r>
              <a:rPr lang="en-US" altLang="en-US" smtClean="0"/>
              <a:t>front-line defense against intruders</a:t>
            </a:r>
          </a:p>
          <a:p>
            <a:r>
              <a:rPr lang="en-US" altLang="en-US" smtClean="0"/>
              <a:t>users supply both:</a:t>
            </a:r>
          </a:p>
          <a:p>
            <a:pPr lvl="1"/>
            <a:r>
              <a:rPr lang="en-US" altLang="en-US" smtClean="0"/>
              <a:t>login – determines privileges of that user</a:t>
            </a:r>
          </a:p>
          <a:p>
            <a:pPr lvl="1"/>
            <a:r>
              <a:rPr lang="en-US" altLang="en-US" smtClean="0"/>
              <a:t>password – to identify them</a:t>
            </a:r>
          </a:p>
          <a:p>
            <a:r>
              <a:rPr lang="en-US" altLang="en-US" smtClean="0"/>
              <a:t>passwords often stored encrypted</a:t>
            </a:r>
          </a:p>
          <a:p>
            <a:pPr lvl="1"/>
            <a:r>
              <a:rPr lang="en-US" altLang="en-US" smtClean="0"/>
              <a:t>Unix uses multiple DES (variant with salt)</a:t>
            </a:r>
          </a:p>
          <a:p>
            <a:pPr lvl="1"/>
            <a:r>
              <a:rPr lang="en-US" altLang="en-US" smtClean="0"/>
              <a:t>more recent systems use crypto hash function</a:t>
            </a:r>
          </a:p>
          <a:p>
            <a:r>
              <a:rPr lang="en-AU" altLang="en-US" smtClean="0"/>
              <a:t>should protect password file on system</a:t>
            </a:r>
          </a:p>
        </p:txBody>
      </p:sp>
    </p:spTree>
    <p:extLst>
      <p:ext uri="{BB962C8B-B14F-4D97-AF65-F5344CB8AC3E}">
        <p14:creationId xmlns:p14="http://schemas.microsoft.com/office/powerpoint/2010/main" val="18687077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AU" altLang="en-US" smtClean="0"/>
              <a:t>Password Studies</a:t>
            </a:r>
          </a:p>
        </p:txBody>
      </p:sp>
      <p:sp>
        <p:nvSpPr>
          <p:cNvPr id="25603" name="Rectangle 3"/>
          <p:cNvSpPr>
            <a:spLocks noGrp="1" noChangeArrowheads="1"/>
          </p:cNvSpPr>
          <p:nvPr>
            <p:ph idx="1"/>
          </p:nvPr>
        </p:nvSpPr>
        <p:spPr/>
        <p:txBody>
          <a:bodyPr/>
          <a:lstStyle/>
          <a:p>
            <a:r>
              <a:rPr lang="en-AU" altLang="en-US" smtClean="0"/>
              <a:t>Purdue 1992 - many short passwords</a:t>
            </a:r>
          </a:p>
          <a:p>
            <a:r>
              <a:rPr lang="en-AU" altLang="en-US" smtClean="0"/>
              <a:t>Klein 1990 - many guessable passwords</a:t>
            </a:r>
          </a:p>
          <a:p>
            <a:r>
              <a:rPr lang="en-AU" altLang="en-US" smtClean="0"/>
              <a:t>conclusion is that users choose poor passwords too often</a:t>
            </a:r>
          </a:p>
          <a:p>
            <a:r>
              <a:rPr lang="en-AU" altLang="en-US" smtClean="0"/>
              <a:t>need some approach to counter this</a:t>
            </a:r>
          </a:p>
        </p:txBody>
      </p:sp>
    </p:spTree>
    <p:extLst>
      <p:ext uri="{BB962C8B-B14F-4D97-AF65-F5344CB8AC3E}">
        <p14:creationId xmlns:p14="http://schemas.microsoft.com/office/powerpoint/2010/main" val="25149779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AU" altLang="en-US" smtClean="0"/>
              <a:t>Managing Passwords - Education</a:t>
            </a:r>
          </a:p>
        </p:txBody>
      </p:sp>
      <p:sp>
        <p:nvSpPr>
          <p:cNvPr id="26627" name="Rectangle 3"/>
          <p:cNvSpPr>
            <a:spLocks noGrp="1" noChangeArrowheads="1"/>
          </p:cNvSpPr>
          <p:nvPr>
            <p:ph idx="1"/>
          </p:nvPr>
        </p:nvSpPr>
        <p:spPr/>
        <p:txBody>
          <a:bodyPr>
            <a:normAutofit lnSpcReduction="10000"/>
          </a:bodyPr>
          <a:lstStyle/>
          <a:p>
            <a:r>
              <a:rPr lang="en-AU" altLang="en-US" smtClean="0"/>
              <a:t>can use policies and good user education </a:t>
            </a:r>
          </a:p>
          <a:p>
            <a:r>
              <a:rPr lang="en-AU" altLang="en-US" smtClean="0"/>
              <a:t>educate on importance of good passwords</a:t>
            </a:r>
          </a:p>
          <a:p>
            <a:r>
              <a:rPr lang="en-AU" altLang="en-US" smtClean="0"/>
              <a:t>give guidelines for good passwords </a:t>
            </a:r>
          </a:p>
          <a:p>
            <a:pPr lvl="1"/>
            <a:r>
              <a:rPr lang="en-AU" altLang="en-US" smtClean="0"/>
              <a:t>minimum length (&gt;6) </a:t>
            </a:r>
          </a:p>
          <a:p>
            <a:pPr lvl="1"/>
            <a:r>
              <a:rPr lang="en-AU" altLang="en-US" smtClean="0"/>
              <a:t>require a mix of upper &amp; lower case letters, numbers, punctuation </a:t>
            </a:r>
          </a:p>
          <a:p>
            <a:pPr lvl="1"/>
            <a:r>
              <a:rPr lang="en-AU" altLang="en-US" smtClean="0"/>
              <a:t>not dictionary words</a:t>
            </a:r>
          </a:p>
          <a:p>
            <a:r>
              <a:rPr lang="en-AU" altLang="en-US" smtClean="0"/>
              <a:t>but likely to be ignored by many users</a:t>
            </a:r>
          </a:p>
        </p:txBody>
      </p:sp>
    </p:spTree>
    <p:extLst>
      <p:ext uri="{BB962C8B-B14F-4D97-AF65-F5344CB8AC3E}">
        <p14:creationId xmlns:p14="http://schemas.microsoft.com/office/powerpoint/2010/main" val="31884744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1026"/>
          <p:cNvSpPr>
            <a:spLocks noGrp="1" noChangeArrowheads="1"/>
          </p:cNvSpPr>
          <p:nvPr>
            <p:ph type="title"/>
          </p:nvPr>
        </p:nvSpPr>
        <p:spPr/>
        <p:txBody>
          <a:bodyPr rtlCol="0">
            <a:normAutofit fontScale="90000"/>
          </a:bodyPr>
          <a:lstStyle/>
          <a:p>
            <a:pPr fontAlgn="auto">
              <a:spcAft>
                <a:spcPts val="0"/>
              </a:spcAft>
              <a:defRPr/>
            </a:pPr>
            <a:r>
              <a:rPr lang="en-AU" smtClean="0"/>
              <a:t>Managing Passwords - Computer Generated</a:t>
            </a:r>
          </a:p>
        </p:txBody>
      </p:sp>
      <p:sp>
        <p:nvSpPr>
          <p:cNvPr id="27651" name="Rectangle 1027"/>
          <p:cNvSpPr>
            <a:spLocks noGrp="1" noChangeArrowheads="1"/>
          </p:cNvSpPr>
          <p:nvPr>
            <p:ph idx="1"/>
          </p:nvPr>
        </p:nvSpPr>
        <p:spPr/>
        <p:txBody>
          <a:bodyPr>
            <a:normAutofit lnSpcReduction="10000"/>
          </a:bodyPr>
          <a:lstStyle/>
          <a:p>
            <a:pPr>
              <a:lnSpc>
                <a:spcPct val="90000"/>
              </a:lnSpc>
            </a:pPr>
            <a:r>
              <a:rPr lang="en-AU" altLang="en-US" smtClean="0"/>
              <a:t>let computer create passwords</a:t>
            </a:r>
          </a:p>
          <a:p>
            <a:pPr>
              <a:lnSpc>
                <a:spcPct val="90000"/>
              </a:lnSpc>
            </a:pPr>
            <a:r>
              <a:rPr lang="en-AU" altLang="en-US" smtClean="0"/>
              <a:t>if random likely not memorisable, so will be written down (sticky label syndrome)</a:t>
            </a:r>
          </a:p>
          <a:p>
            <a:pPr>
              <a:lnSpc>
                <a:spcPct val="90000"/>
              </a:lnSpc>
            </a:pPr>
            <a:r>
              <a:rPr lang="en-AU" altLang="en-US" smtClean="0"/>
              <a:t>even pronounceable not remembered</a:t>
            </a:r>
          </a:p>
          <a:p>
            <a:pPr>
              <a:lnSpc>
                <a:spcPct val="90000"/>
              </a:lnSpc>
            </a:pPr>
            <a:r>
              <a:rPr lang="en-AU" altLang="en-US" smtClean="0"/>
              <a:t>have history of poor user acceptance</a:t>
            </a:r>
          </a:p>
          <a:p>
            <a:pPr>
              <a:lnSpc>
                <a:spcPct val="90000"/>
              </a:lnSpc>
            </a:pPr>
            <a:r>
              <a:rPr lang="en-AU" altLang="en-US" smtClean="0"/>
              <a:t>FIPS PUB 181 one of best generators</a:t>
            </a:r>
          </a:p>
          <a:p>
            <a:pPr lvl="1">
              <a:lnSpc>
                <a:spcPct val="90000"/>
              </a:lnSpc>
            </a:pPr>
            <a:r>
              <a:rPr lang="en-AU" altLang="en-US" smtClean="0"/>
              <a:t>has both description &amp; sample code</a:t>
            </a:r>
          </a:p>
          <a:p>
            <a:pPr lvl="1">
              <a:lnSpc>
                <a:spcPct val="90000"/>
              </a:lnSpc>
            </a:pPr>
            <a:r>
              <a:rPr lang="en-US" altLang="en-US" smtClean="0"/>
              <a:t>generates words from concatenating random pronounceable syllables</a:t>
            </a:r>
            <a:endParaRPr lang="en-AU" altLang="en-US" sz="3200" smtClean="0"/>
          </a:p>
        </p:txBody>
      </p:sp>
    </p:spTree>
    <p:extLst>
      <p:ext uri="{BB962C8B-B14F-4D97-AF65-F5344CB8AC3E}">
        <p14:creationId xmlns:p14="http://schemas.microsoft.com/office/powerpoint/2010/main" val="35493200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rtlCol="0">
            <a:normAutofit fontScale="90000"/>
          </a:bodyPr>
          <a:lstStyle/>
          <a:p>
            <a:pPr fontAlgn="auto">
              <a:spcAft>
                <a:spcPts val="0"/>
              </a:spcAft>
              <a:defRPr/>
            </a:pPr>
            <a:r>
              <a:rPr lang="en-AU" smtClean="0"/>
              <a:t>Managing Passwords - Reactive Checking</a:t>
            </a:r>
          </a:p>
        </p:txBody>
      </p:sp>
      <p:sp>
        <p:nvSpPr>
          <p:cNvPr id="28675" name="Rectangle 3"/>
          <p:cNvSpPr>
            <a:spLocks noGrp="1" noChangeArrowheads="1"/>
          </p:cNvSpPr>
          <p:nvPr>
            <p:ph idx="1"/>
          </p:nvPr>
        </p:nvSpPr>
        <p:spPr>
          <a:xfrm>
            <a:off x="457200" y="1600200"/>
            <a:ext cx="8229600" cy="4637088"/>
          </a:xfrm>
        </p:spPr>
        <p:txBody>
          <a:bodyPr/>
          <a:lstStyle/>
          <a:p>
            <a:r>
              <a:rPr lang="en-AU" altLang="en-US" smtClean="0"/>
              <a:t>reactively run password guessing tools </a:t>
            </a:r>
          </a:p>
          <a:p>
            <a:pPr lvl="1"/>
            <a:r>
              <a:rPr lang="en-AU" altLang="en-US" smtClean="0"/>
              <a:t>note that good dictionaries exist for almost any language/interest group</a:t>
            </a:r>
          </a:p>
          <a:p>
            <a:r>
              <a:rPr lang="en-AU" altLang="en-US" smtClean="0"/>
              <a:t>cracked passwords are disabled</a:t>
            </a:r>
          </a:p>
          <a:p>
            <a:r>
              <a:rPr lang="en-AU" altLang="en-US" smtClean="0"/>
              <a:t>but is resource intensive</a:t>
            </a:r>
          </a:p>
          <a:p>
            <a:r>
              <a:rPr lang="en-AU" altLang="en-US" smtClean="0"/>
              <a:t>bad passwords are vulnerable till found</a:t>
            </a:r>
          </a:p>
          <a:p>
            <a:endParaRPr lang="en-AU" altLang="en-US" smtClean="0"/>
          </a:p>
        </p:txBody>
      </p:sp>
    </p:spTree>
    <p:extLst>
      <p:ext uri="{BB962C8B-B14F-4D97-AF65-F5344CB8AC3E}">
        <p14:creationId xmlns:p14="http://schemas.microsoft.com/office/powerpoint/2010/main" val="1127173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rtlCol="0">
            <a:normAutofit fontScale="90000"/>
          </a:bodyPr>
          <a:lstStyle/>
          <a:p>
            <a:pPr fontAlgn="auto">
              <a:spcAft>
                <a:spcPts val="0"/>
              </a:spcAft>
              <a:defRPr/>
            </a:pPr>
            <a:r>
              <a:rPr lang="en-AU" smtClean="0"/>
              <a:t>Managing Passwords - </a:t>
            </a:r>
            <a:r>
              <a:rPr lang="en-US" smtClean="0"/>
              <a:t>Proactive Checking</a:t>
            </a:r>
            <a:endParaRPr lang="en-AU" smtClean="0"/>
          </a:p>
        </p:txBody>
      </p:sp>
      <p:sp>
        <p:nvSpPr>
          <p:cNvPr id="29699" name="Rectangle 3"/>
          <p:cNvSpPr>
            <a:spLocks noGrp="1" noChangeArrowheads="1"/>
          </p:cNvSpPr>
          <p:nvPr>
            <p:ph idx="1"/>
          </p:nvPr>
        </p:nvSpPr>
        <p:spPr/>
        <p:txBody>
          <a:bodyPr/>
          <a:lstStyle/>
          <a:p>
            <a:pPr>
              <a:lnSpc>
                <a:spcPct val="90000"/>
              </a:lnSpc>
            </a:pPr>
            <a:r>
              <a:rPr lang="en-US" altLang="en-US" smtClean="0"/>
              <a:t>most promising approach to improving password security</a:t>
            </a:r>
          </a:p>
          <a:p>
            <a:pPr>
              <a:lnSpc>
                <a:spcPct val="90000"/>
              </a:lnSpc>
            </a:pPr>
            <a:r>
              <a:rPr lang="en-US" altLang="en-US" smtClean="0"/>
              <a:t>allow users to select own password</a:t>
            </a:r>
          </a:p>
          <a:p>
            <a:pPr>
              <a:lnSpc>
                <a:spcPct val="90000"/>
              </a:lnSpc>
            </a:pPr>
            <a:r>
              <a:rPr lang="en-US" altLang="en-US" smtClean="0"/>
              <a:t>but have system verify it is acceptable</a:t>
            </a:r>
          </a:p>
          <a:p>
            <a:pPr lvl="1">
              <a:lnSpc>
                <a:spcPct val="90000"/>
              </a:lnSpc>
            </a:pPr>
            <a:r>
              <a:rPr lang="en-US" altLang="en-US" smtClean="0"/>
              <a:t>simple rule enforcement (see earlier slide)</a:t>
            </a:r>
          </a:p>
          <a:p>
            <a:pPr lvl="1">
              <a:lnSpc>
                <a:spcPct val="90000"/>
              </a:lnSpc>
            </a:pPr>
            <a:r>
              <a:rPr lang="en-US" altLang="en-US" smtClean="0"/>
              <a:t>compare against dictionary of bad passwords</a:t>
            </a:r>
          </a:p>
          <a:p>
            <a:pPr lvl="1">
              <a:lnSpc>
                <a:spcPct val="90000"/>
              </a:lnSpc>
            </a:pPr>
            <a:r>
              <a:rPr lang="en-US" altLang="en-US" smtClean="0"/>
              <a:t>use algorithmic (markov model or bloom filter) to detect poor choices</a:t>
            </a:r>
          </a:p>
          <a:p>
            <a:pPr>
              <a:lnSpc>
                <a:spcPct val="90000"/>
              </a:lnSpc>
            </a:pPr>
            <a:endParaRPr lang="en-AU" altLang="en-US" smtClean="0"/>
          </a:p>
        </p:txBody>
      </p:sp>
    </p:spTree>
    <p:extLst>
      <p:ext uri="{BB962C8B-B14F-4D97-AF65-F5344CB8AC3E}">
        <p14:creationId xmlns:p14="http://schemas.microsoft.com/office/powerpoint/2010/main" val="3056888266"/>
      </p:ext>
    </p:extLst>
  </p:cSld>
  <p:clrMapOvr>
    <a:masterClrMapping/>
  </p:clrMapOvr>
</p:sld>
</file>

<file path=ppt/theme/theme1.xml><?xml version="1.0" encoding="utf-8"?>
<a:theme xmlns:a="http://schemas.openxmlformats.org/drawingml/2006/main" name="HNDI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HNDI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47D6EB70-AC5D-4C93-8EC9-DDBA92A97C78}" vid="{AD4A3A70-3E62-4EFF-A645-92967231B92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HNDIT</Template>
  <TotalTime>1412</TotalTime>
  <Words>3741</Words>
  <Application>Microsoft Office PowerPoint</Application>
  <PresentationFormat>On-screen Show (4:3)</PresentationFormat>
  <Paragraphs>257</Paragraphs>
  <Slides>24</Slides>
  <Notes>24</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24</vt:i4>
      </vt:variant>
    </vt:vector>
  </HeadingPairs>
  <TitlesOfParts>
    <vt:vector size="31" baseType="lpstr">
      <vt:lpstr>Arial</vt:lpstr>
      <vt:lpstr>Calibri</vt:lpstr>
      <vt:lpstr>Times</vt:lpstr>
      <vt:lpstr>Times-Italic</vt:lpstr>
      <vt:lpstr>Times-Roman</vt:lpstr>
      <vt:lpstr>HNDIT</vt:lpstr>
      <vt:lpstr>1_HNDIT</vt:lpstr>
      <vt:lpstr>6. Network Security</vt:lpstr>
      <vt:lpstr>Intruders</vt:lpstr>
      <vt:lpstr>Intruders</vt:lpstr>
      <vt:lpstr>Intrusion Techniques</vt:lpstr>
      <vt:lpstr>Password Guessing</vt:lpstr>
      <vt:lpstr>Password Capture</vt:lpstr>
      <vt:lpstr>Intrusion Detection</vt:lpstr>
      <vt:lpstr>Approaches to Intrusion Detection</vt:lpstr>
      <vt:lpstr>Audit Records</vt:lpstr>
      <vt:lpstr>Statistical Anomaly Detection</vt:lpstr>
      <vt:lpstr>Audit Record Analysis</vt:lpstr>
      <vt:lpstr>Rule-Based Intrusion Detection</vt:lpstr>
      <vt:lpstr>Rule-Based Intrusion Detection</vt:lpstr>
      <vt:lpstr>Base-Rate Fallacy</vt:lpstr>
      <vt:lpstr>Distributed Intrusion Detection</vt:lpstr>
      <vt:lpstr>Distributed Intrusion Detection - Architecture</vt:lpstr>
      <vt:lpstr>Distributed Intrusion Detection – Agent Implementation</vt:lpstr>
      <vt:lpstr>Honeypots</vt:lpstr>
      <vt:lpstr>Password Management</vt:lpstr>
      <vt:lpstr>Password Studies</vt:lpstr>
      <vt:lpstr>Managing Passwords - Education</vt:lpstr>
      <vt:lpstr>Managing Passwords - Computer Generated</vt:lpstr>
      <vt:lpstr>Managing Passwords - Reactive Checking</vt:lpstr>
      <vt:lpstr>Managing Passwords - Proactive Checking</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Asus X55</dc:creator>
  <cp:lastModifiedBy>Admin</cp:lastModifiedBy>
  <cp:revision>177</cp:revision>
  <dcterms:created xsi:type="dcterms:W3CDTF">2014-03-07T13:02:25Z</dcterms:created>
  <dcterms:modified xsi:type="dcterms:W3CDTF">2018-08-28T08:21:29Z</dcterms:modified>
</cp:coreProperties>
</file>