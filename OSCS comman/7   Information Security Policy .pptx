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3"/>
  </p:notesMasterIdLst>
  <p:sldIdLst>
    <p:sldId id="270" r:id="rId3"/>
    <p:sldId id="272" r:id="rId4"/>
    <p:sldId id="273" r:id="rId5"/>
    <p:sldId id="274" r:id="rId6"/>
    <p:sldId id="275" r:id="rId7"/>
    <p:sldId id="276" r:id="rId8"/>
    <p:sldId id="277" r:id="rId9"/>
    <p:sldId id="278" r:id="rId10"/>
    <p:sldId id="279" r:id="rId11"/>
    <p:sldId id="280"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31" autoAdjust="0"/>
    <p:restoredTop sz="94660"/>
  </p:normalViewPr>
  <p:slideViewPr>
    <p:cSldViewPr>
      <p:cViewPr varScale="1">
        <p:scale>
          <a:sx n="70" d="100"/>
          <a:sy n="70" d="100"/>
        </p:scale>
        <p:origin x="540" y="72"/>
      </p:cViewPr>
      <p:guideLst>
        <p:guide orient="horz" pos="2160"/>
        <p:guide pos="2880"/>
      </p:guideLst>
    </p:cSldViewPr>
  </p:slideViewPr>
  <p:notesTextViewPr>
    <p:cViewPr>
      <p:scale>
        <a:sx n="75" d="100"/>
        <a:sy n="75"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723204-145E-4E9A-8825-0DF9FD80C698}" type="datetimeFigureOut">
              <a:rPr lang="en-US" smtClean="0"/>
              <a:pPr/>
              <a:t>28/8/2018</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677AEE-D46A-4C91-9543-7FBC6ED44F7E}" type="slidenum">
              <a:rPr lang="en-US" smtClean="0"/>
              <a:pPr/>
              <a:t>‹#›</a:t>
            </a:fld>
            <a:endParaRPr lang="en-US" dirty="0"/>
          </a:p>
        </p:txBody>
      </p:sp>
    </p:spTree>
    <p:extLst>
      <p:ext uri="{BB962C8B-B14F-4D97-AF65-F5344CB8AC3E}">
        <p14:creationId xmlns:p14="http://schemas.microsoft.com/office/powerpoint/2010/main" val="1185138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02308AD-CF68-426A-90FA-99268130AF8F}" type="slidenum">
              <a:rPr lang="en-AU"/>
              <a:pPr eaLnBrk="1" hangingPunct="1"/>
              <a:t>1</a:t>
            </a:fld>
            <a:endParaRPr lang="en-AU"/>
          </a:p>
        </p:txBody>
      </p:sp>
      <p:sp>
        <p:nvSpPr>
          <p:cNvPr id="33795" name="Rectangle 2"/>
          <p:cNvSpPr>
            <a:spLocks noGrp="1" noRot="1" noChangeAspect="1" noChangeArrowheads="1" noTextEdit="1"/>
          </p:cNvSpPr>
          <p:nvPr>
            <p:ph type="sldImg"/>
          </p:nvPr>
        </p:nvSpPr>
        <p:spPr>
          <a:solidFill>
            <a:srgbClr val="FFFFFF"/>
          </a:solidFill>
          <a:ln/>
        </p:spPr>
      </p:sp>
      <p:sp>
        <p:nvSpPr>
          <p:cNvPr id="33796"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smtClean="0"/>
              <a:t>Lecture slides by Lawrie Brown for “Cryptography and Network Security”, 4/e, by William Stallings, Chapter 20 – “Firewalls”.</a:t>
            </a:r>
            <a:endParaRPr lang="en-AU" smtClean="0"/>
          </a:p>
          <a:p>
            <a:pPr eaLnBrk="1" hangingPunct="1"/>
            <a:endParaRPr lang="en-US" smtClean="0"/>
          </a:p>
        </p:txBody>
      </p:sp>
    </p:spTree>
    <p:extLst>
      <p:ext uri="{BB962C8B-B14F-4D97-AF65-F5344CB8AC3E}">
        <p14:creationId xmlns:p14="http://schemas.microsoft.com/office/powerpoint/2010/main" val="5584452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E2B9C55-B1F5-4DCD-B44C-56F4D10DFF02}" type="datetime1">
              <a:rPr lang="en-US" smtClean="0"/>
              <a:t>28/8/2018</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28/8/2018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28/8/2018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28/8/2018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28/8/2018</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28/8/2018</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28/8/2018</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28/8/2018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28/8/2018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28/8/2018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28/8/2018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8E2B9C55-B1F5-4DCD-B44C-56F4D10DFF02}" type="datetime1">
              <a:rPr lang="en-US" smtClean="0"/>
              <a:t>28/8/2018</a:t>
            </a:fld>
            <a:endParaRPr lang="en-US" dirty="0"/>
          </a:p>
        </p:txBody>
      </p:sp>
      <p:sp>
        <p:nvSpPr>
          <p:cNvPr id="5" name="Footer Placeholder 4"/>
          <p:cNvSpPr>
            <a:spLocks noGrp="1"/>
          </p:cNvSpPr>
          <p:nvPr>
            <p:ph type="ftr" sz="quarter" idx="11"/>
          </p:nvPr>
        </p:nvSpPr>
        <p:spPr/>
        <p:txBody>
          <a:bodyPr/>
          <a:lstStyle>
            <a:lvl1pPr>
              <a:defRPr/>
            </a:lvl1p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val="4000367739"/>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96DC9F0-F6FA-4EF5-9B02-32D7E772F3DA}" type="datetime1">
              <a:rPr lang="en-US" smtClean="0"/>
              <a:t>28/8/2018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39203731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2B24C-E9C5-4837-990A-2D89EDE17F40}" type="datetime1">
              <a:rPr lang="en-US" smtClean="0"/>
              <a:t>28/8/2018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43306039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FB2C1C87-DFFE-40DD-88ED-115007FBF96B}" type="datetime1">
              <a:rPr lang="en-US" smtClean="0"/>
              <a:t>28/8/2018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768885867"/>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7910CCB-6840-48E9-8232-4140365FD666}" type="datetime1">
              <a:rPr lang="en-US" smtClean="0"/>
              <a:t>28/8/2018</a:t>
            </a:fld>
            <a:endParaRPr lang="en-US" dirty="0"/>
          </a:p>
        </p:txBody>
      </p:sp>
      <p:sp>
        <p:nvSpPr>
          <p:cNvPr id="8" name="Footer Placeholder 7"/>
          <p:cNvSpPr>
            <a:spLocks noGrp="1"/>
          </p:cNvSpPr>
          <p:nvPr>
            <p:ph type="ftr" sz="quarter" idx="11"/>
          </p:nvPr>
        </p:nvSpPr>
        <p:spPr/>
        <p:txBody>
          <a:bodyPr/>
          <a:lstStyle/>
          <a:p>
            <a:r>
              <a:rPr lang="en-US" smtClean="0"/>
              <a:t>(c) Dept. of Industrial Mgt, 2013</a:t>
            </a:r>
            <a:endParaRPr lang="en-US" dirty="0"/>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3014733444"/>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DC12BC-620C-4804-A68B-E5D136F30A82}" type="datetime1">
              <a:rPr lang="en-US" smtClean="0"/>
              <a:t>28/8/2018</a:t>
            </a:fld>
            <a:endParaRPr lang="en-US" dirty="0"/>
          </a:p>
        </p:txBody>
      </p:sp>
      <p:sp>
        <p:nvSpPr>
          <p:cNvPr id="4" name="Footer Placeholder 3"/>
          <p:cNvSpPr>
            <a:spLocks noGrp="1"/>
          </p:cNvSpPr>
          <p:nvPr>
            <p:ph type="ftr" sz="quarter" idx="11"/>
          </p:nvPr>
        </p:nvSpPr>
        <p:spPr/>
        <p:txBody>
          <a:bodyPr/>
          <a:lstStyle/>
          <a:p>
            <a:r>
              <a:rPr lang="en-US" smtClean="0"/>
              <a:t>(c) Dept. of Industrial Mgt, 2013</a:t>
            </a:r>
            <a:endParaRPr lang="en-US" dirty="0"/>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293690693"/>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1E3FF4-2F5D-4D00-8619-BEEFC2A769C0}" type="datetime1">
              <a:rPr lang="en-US" smtClean="0"/>
              <a:t>28/8/2018</a:t>
            </a:fld>
            <a:endParaRPr lang="en-US" dirty="0"/>
          </a:p>
        </p:txBody>
      </p:sp>
      <p:sp>
        <p:nvSpPr>
          <p:cNvPr id="3" name="Footer Placeholder 2"/>
          <p:cNvSpPr>
            <a:spLocks noGrp="1"/>
          </p:cNvSpPr>
          <p:nvPr>
            <p:ph type="ftr" sz="quarter" idx="11"/>
          </p:nvPr>
        </p:nvSpPr>
        <p:spPr/>
        <p:txBody>
          <a:bodyPr/>
          <a:lstStyle/>
          <a:p>
            <a:r>
              <a:rPr lang="en-US" smtClean="0"/>
              <a:t>(c) Dept. of Industrial Mgt, 2013</a:t>
            </a:r>
            <a:endParaRPr lang="en-US" dirty="0"/>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244137634"/>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DA6F5A-D08C-4C6E-9A94-889EC7EE21A6}" type="datetime1">
              <a:rPr lang="en-US" smtClean="0"/>
              <a:t>28/8/2018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14715060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A478FA-CAA3-494E-AE22-6AE9783FAB5B}" type="datetime1">
              <a:rPr lang="en-US" smtClean="0"/>
              <a:t>28/8/2018</a:t>
            </a:fld>
            <a:endParaRPr lang="en-US" dirty="0"/>
          </a:p>
        </p:txBody>
      </p:sp>
      <p:sp>
        <p:nvSpPr>
          <p:cNvPr id="6" name="Footer Placeholder 5"/>
          <p:cNvSpPr>
            <a:spLocks noGrp="1"/>
          </p:cNvSpPr>
          <p:nvPr>
            <p:ph type="ftr" sz="quarter" idx="11"/>
          </p:nvPr>
        </p:nvSpPr>
        <p:spPr/>
        <p:txBody>
          <a:bodyPr/>
          <a:lstStyle/>
          <a:p>
            <a:r>
              <a:rPr lang="en-US" smtClean="0"/>
              <a:t>(c) Dept. of Industrial Mgt, 2013</a:t>
            </a:r>
            <a:endParaRPr lang="en-US" dirty="0"/>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525436515"/>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21B3BF-CA00-44EF-B758-B15ECF3DFDAF}" type="datetime1">
              <a:rPr lang="en-US" smtClean="0"/>
              <a:t>28/8/2018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4031546261"/>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A16D5A7-B666-4055-9430-CD0CBCBD1CF8}" type="datetime1">
              <a:rPr lang="en-US" smtClean="0"/>
              <a:t>28/8/2018</a:t>
            </a:fld>
            <a:endParaRPr lang="en-US" dirty="0"/>
          </a:p>
        </p:txBody>
      </p:sp>
      <p:sp>
        <p:nvSpPr>
          <p:cNvPr id="5" name="Footer Placeholder 4"/>
          <p:cNvSpPr>
            <a:spLocks noGrp="1"/>
          </p:cNvSpPr>
          <p:nvPr>
            <p:ph type="ftr" sz="quarter" idx="11"/>
          </p:nvPr>
        </p:nvSpPr>
        <p:spPr/>
        <p:txBody>
          <a:bodyPr/>
          <a:lstStyle/>
          <a:p>
            <a:r>
              <a:rPr lang="en-US" smtClean="0"/>
              <a:t>(c) Dept. of Industrial Mgt, 2013</a:t>
            </a:r>
            <a:endParaRPr lang="en-US" dirty="0"/>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dirty="0"/>
          </a:p>
        </p:txBody>
      </p:sp>
    </p:spTree>
    <p:extLst>
      <p:ext uri="{BB962C8B-B14F-4D97-AF65-F5344CB8AC3E}">
        <p14:creationId xmlns:p14="http://schemas.microsoft.com/office/powerpoint/2010/main" val="280822584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28/8/2018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8" name="Picture 2" descr="C:\Users\Dell PC\Desktop\template2.jp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12FDDB-310E-4072-8B61-ACE857F405FC}" type="datetime1">
              <a:rPr lang="en-US" smtClean="0"/>
              <a:t>28/8/2018</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 Dept. of Industrial Mgt, 2013</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dirty="0"/>
          </a:p>
        </p:txBody>
      </p:sp>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val="16892658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876800" y="2209800"/>
            <a:ext cx="3886200" cy="1981200"/>
          </a:xfrm>
          <a:prstGeom prst="rect">
            <a:avLst/>
          </a:prstGeom>
        </p:spPr>
        <p:txBody>
          <a:bodyPr vert="horz" lIns="91440" tIns="45720" rIns="91440" bIns="45720" rtlCol="0" anchor="ctr">
            <a:normAutofit fontScale="8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mtClean="0"/>
              <a:t>Operating Systems and Computer Security</a:t>
            </a:r>
            <a:endParaRPr lang="en-US" dirty="0"/>
          </a:p>
        </p:txBody>
      </p:sp>
      <p:sp>
        <p:nvSpPr>
          <p:cNvPr id="5" name="Rectangle 2"/>
          <p:cNvSpPr txBox="1">
            <a:spLocks noChangeArrowheads="1"/>
          </p:cNvSpPr>
          <p:nvPr/>
        </p:nvSpPr>
        <p:spPr>
          <a:xfrm>
            <a:off x="762000" y="457200"/>
            <a:ext cx="7391400" cy="154305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dirty="0"/>
              <a:t> Information Security Policy</a:t>
            </a:r>
            <a:endParaRPr lang="en-AU" altLang="en-US" dirty="0" smtClean="0"/>
          </a:p>
        </p:txBody>
      </p:sp>
      <p:sp>
        <p:nvSpPr>
          <p:cNvPr id="2" name="Title 1"/>
          <p:cNvSpPr>
            <a:spLocks noGrp="1"/>
          </p:cNvSpPr>
          <p:nvPr>
            <p:ph type="ctrTitle"/>
          </p:nvPr>
        </p:nvSpPr>
        <p:spPr/>
        <p:txBody>
          <a:bodyPr/>
          <a:lstStyle/>
          <a:p>
            <a:endParaRPr lang="en-US" dirty="0"/>
          </a:p>
        </p:txBody>
      </p:sp>
    </p:spTree>
    <p:extLst>
      <p:ext uri="{BB962C8B-B14F-4D97-AF65-F5344CB8AC3E}">
        <p14:creationId xmlns:p14="http://schemas.microsoft.com/office/powerpoint/2010/main" val="26102779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r>
              <a:rPr lang="en-US" altLang="en-US" smtClean="0"/>
              <a:t>Information Security Policy (ISP)</a:t>
            </a:r>
          </a:p>
        </p:txBody>
      </p:sp>
      <p:sp>
        <p:nvSpPr>
          <p:cNvPr id="3075" name="Content Placeholder 2"/>
          <p:cNvSpPr>
            <a:spLocks noGrp="1"/>
          </p:cNvSpPr>
          <p:nvPr>
            <p:ph idx="1"/>
          </p:nvPr>
        </p:nvSpPr>
        <p:spPr>
          <a:xfrm>
            <a:off x="457200" y="1295400"/>
            <a:ext cx="8229600" cy="5105400"/>
          </a:xfrm>
        </p:spPr>
        <p:txBody>
          <a:bodyPr/>
          <a:lstStyle/>
          <a:p>
            <a:r>
              <a:rPr lang="en-US" altLang="en-US" smtClean="0"/>
              <a:t>Defined as “Documentation of measures accepted by the management as necessary to maintain confidentiality, Integrity and Availability of information”</a:t>
            </a:r>
          </a:p>
          <a:p>
            <a:r>
              <a:rPr lang="en-US" altLang="en-US" smtClean="0"/>
              <a:t>A formal statement based on which people are given access to organization's resources and information assets</a:t>
            </a:r>
          </a:p>
          <a:p>
            <a:r>
              <a:rPr lang="en-US" altLang="en-US" smtClean="0"/>
              <a:t>Encompasses managerial, technological and legal aspects</a:t>
            </a:r>
          </a:p>
        </p:txBody>
      </p:sp>
    </p:spTree>
    <p:extLst>
      <p:ext uri="{BB962C8B-B14F-4D97-AF65-F5344CB8AC3E}">
        <p14:creationId xmlns:p14="http://schemas.microsoft.com/office/powerpoint/2010/main" val="3917463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r>
              <a:rPr lang="en-US" altLang="en-US" smtClean="0"/>
              <a:t>Information Security Policy (ISP)</a:t>
            </a:r>
          </a:p>
        </p:txBody>
      </p:sp>
      <p:sp>
        <p:nvSpPr>
          <p:cNvPr id="4099" name="Content Placeholder 2"/>
          <p:cNvSpPr>
            <a:spLocks noGrp="1"/>
          </p:cNvSpPr>
          <p:nvPr>
            <p:ph idx="1"/>
          </p:nvPr>
        </p:nvSpPr>
        <p:spPr/>
        <p:txBody>
          <a:bodyPr/>
          <a:lstStyle/>
          <a:p>
            <a:r>
              <a:rPr lang="en-US" altLang="en-US" smtClean="0"/>
              <a:t>Broadly comprise of 3 groups of management</a:t>
            </a:r>
          </a:p>
          <a:p>
            <a:pPr lvl="1"/>
            <a:r>
              <a:rPr lang="en-US" altLang="en-US" smtClean="0"/>
              <a:t>Managers who has budget and policy authority</a:t>
            </a:r>
          </a:p>
          <a:p>
            <a:pPr lvl="1"/>
            <a:r>
              <a:rPr lang="en-US" altLang="en-US" smtClean="0"/>
              <a:t>Technical groups who know what can be and what cannot be supported by technology</a:t>
            </a:r>
          </a:p>
          <a:p>
            <a:pPr lvl="1"/>
            <a:r>
              <a:rPr lang="en-US" altLang="en-US" smtClean="0"/>
              <a:t>Legal experts who knows the legal ramification of various policy charges</a:t>
            </a:r>
          </a:p>
        </p:txBody>
      </p:sp>
    </p:spTree>
    <p:extLst>
      <p:ext uri="{BB962C8B-B14F-4D97-AF65-F5344CB8AC3E}">
        <p14:creationId xmlns:p14="http://schemas.microsoft.com/office/powerpoint/2010/main" val="1075194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381000" y="158750"/>
            <a:ext cx="8229600" cy="868363"/>
          </a:xfrm>
        </p:spPr>
        <p:txBody>
          <a:bodyPr/>
          <a:lstStyle/>
          <a:p>
            <a:r>
              <a:rPr lang="en-US" altLang="en-US" smtClean="0"/>
              <a:t>Information Security Policy (ISP)</a:t>
            </a:r>
          </a:p>
        </p:txBody>
      </p:sp>
      <p:sp>
        <p:nvSpPr>
          <p:cNvPr id="3" name="Content Placeholder 2"/>
          <p:cNvSpPr>
            <a:spLocks noGrp="1"/>
          </p:cNvSpPr>
          <p:nvPr>
            <p:ph idx="1"/>
          </p:nvPr>
        </p:nvSpPr>
        <p:spPr>
          <a:xfrm>
            <a:off x="457200" y="914400"/>
            <a:ext cx="8229600" cy="5638800"/>
          </a:xfrm>
        </p:spPr>
        <p:txBody>
          <a:bodyPr rtlCol="0">
            <a:normAutofit lnSpcReduction="10000"/>
          </a:bodyPr>
          <a:lstStyle/>
          <a:p>
            <a:pPr fontAlgn="auto">
              <a:spcAft>
                <a:spcPts val="0"/>
              </a:spcAft>
              <a:defRPr/>
            </a:pPr>
            <a:r>
              <a:rPr lang="en-US" dirty="0" smtClean="0"/>
              <a:t>The objective of Information Security is:</a:t>
            </a:r>
          </a:p>
          <a:p>
            <a:pPr lvl="1" fontAlgn="auto">
              <a:spcAft>
                <a:spcPts val="0"/>
              </a:spcAft>
              <a:defRPr/>
            </a:pPr>
            <a:r>
              <a:rPr lang="en-US" dirty="0" smtClean="0"/>
              <a:t>Protection of the interest of those relying on information, and the information systems and communication that deliver the information, from harm resulting from failures of availability, integrity and confidentiality</a:t>
            </a:r>
          </a:p>
          <a:p>
            <a:pPr fontAlgn="auto">
              <a:spcAft>
                <a:spcPts val="0"/>
              </a:spcAft>
              <a:defRPr/>
            </a:pPr>
            <a:r>
              <a:rPr lang="en-US" dirty="0" smtClean="0"/>
              <a:t>The objective is achieved when</a:t>
            </a:r>
          </a:p>
          <a:p>
            <a:pPr lvl="1" fontAlgn="auto">
              <a:spcAft>
                <a:spcPts val="0"/>
              </a:spcAft>
              <a:defRPr/>
            </a:pPr>
            <a:r>
              <a:rPr lang="en-US" dirty="0" smtClean="0"/>
              <a:t>Information systems are available &amp; usable when required(Availability)</a:t>
            </a:r>
          </a:p>
          <a:p>
            <a:pPr lvl="1" fontAlgn="auto">
              <a:spcAft>
                <a:spcPts val="0"/>
              </a:spcAft>
              <a:defRPr/>
            </a:pPr>
            <a:r>
              <a:rPr lang="en-US" dirty="0" smtClean="0"/>
              <a:t>Data &amp; information are disclosed only to those who has rights to know (Confidentiality)</a:t>
            </a:r>
          </a:p>
          <a:p>
            <a:pPr lvl="1" fontAlgn="auto">
              <a:spcAft>
                <a:spcPts val="0"/>
              </a:spcAft>
              <a:defRPr/>
            </a:pPr>
            <a:r>
              <a:rPr lang="en-US" dirty="0" smtClean="0"/>
              <a:t>Data and information are protected against unauthorized modification (Integrity)</a:t>
            </a:r>
          </a:p>
          <a:p>
            <a:pPr lvl="1" fontAlgn="auto">
              <a:spcAft>
                <a:spcPts val="0"/>
              </a:spcAft>
              <a:defRPr/>
            </a:pPr>
            <a:endParaRPr lang="en-US" dirty="0" smtClean="0"/>
          </a:p>
        </p:txBody>
      </p:sp>
    </p:spTree>
    <p:extLst>
      <p:ext uri="{BB962C8B-B14F-4D97-AF65-F5344CB8AC3E}">
        <p14:creationId xmlns:p14="http://schemas.microsoft.com/office/powerpoint/2010/main" val="1254227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274638"/>
            <a:ext cx="8229600" cy="868362"/>
          </a:xfrm>
        </p:spPr>
        <p:txBody>
          <a:bodyPr/>
          <a:lstStyle/>
          <a:p>
            <a:r>
              <a:rPr lang="en-US" altLang="en-US" smtClean="0"/>
              <a:t>Approach to implement security</a:t>
            </a:r>
          </a:p>
        </p:txBody>
      </p:sp>
      <p:sp>
        <p:nvSpPr>
          <p:cNvPr id="3" name="Content Placeholder 2"/>
          <p:cNvSpPr>
            <a:spLocks noGrp="1"/>
          </p:cNvSpPr>
          <p:nvPr>
            <p:ph idx="1"/>
          </p:nvPr>
        </p:nvSpPr>
        <p:spPr>
          <a:xfrm>
            <a:off x="457200" y="1143000"/>
            <a:ext cx="8229600" cy="5334000"/>
          </a:xfrm>
        </p:spPr>
        <p:txBody>
          <a:bodyPr rtlCol="0">
            <a:normAutofit lnSpcReduction="10000"/>
          </a:bodyPr>
          <a:lstStyle/>
          <a:p>
            <a:pPr fontAlgn="auto">
              <a:spcAft>
                <a:spcPts val="0"/>
              </a:spcAft>
              <a:defRPr/>
            </a:pPr>
            <a:r>
              <a:rPr lang="en-US" dirty="0" smtClean="0"/>
              <a:t>Policy development</a:t>
            </a:r>
          </a:p>
          <a:p>
            <a:pPr lvl="1" fontAlgn="auto">
              <a:spcAft>
                <a:spcPts val="0"/>
              </a:spcAft>
              <a:defRPr/>
            </a:pPr>
            <a:r>
              <a:rPr lang="en-US" dirty="0" smtClean="0"/>
              <a:t>The security objective and core principles provide a framework for developing the policy</a:t>
            </a:r>
          </a:p>
          <a:p>
            <a:pPr fontAlgn="auto">
              <a:spcAft>
                <a:spcPts val="0"/>
              </a:spcAft>
              <a:defRPr/>
            </a:pPr>
            <a:r>
              <a:rPr lang="en-US" dirty="0" smtClean="0"/>
              <a:t>Roles &amp; responsibilities</a:t>
            </a:r>
          </a:p>
          <a:p>
            <a:pPr lvl="1" fontAlgn="auto">
              <a:spcAft>
                <a:spcPts val="0"/>
              </a:spcAft>
              <a:defRPr/>
            </a:pPr>
            <a:r>
              <a:rPr lang="en-US" dirty="0" smtClean="0"/>
              <a:t>An effective policy requires  individual roles, responsibilities, and authorities clearly communicated and understood by all organizational members</a:t>
            </a:r>
          </a:p>
          <a:p>
            <a:pPr fontAlgn="auto">
              <a:spcAft>
                <a:spcPts val="0"/>
              </a:spcAft>
              <a:defRPr/>
            </a:pPr>
            <a:r>
              <a:rPr lang="en-US" dirty="0" smtClean="0"/>
              <a:t>Design</a:t>
            </a:r>
          </a:p>
          <a:p>
            <a:pPr lvl="1" fontAlgn="auto">
              <a:spcAft>
                <a:spcPts val="0"/>
              </a:spcAft>
              <a:defRPr/>
            </a:pPr>
            <a:r>
              <a:rPr lang="en-US" dirty="0" smtClean="0"/>
              <a:t>Develop security &amp; control framework consisting standards, measures, practices &amp; procedures</a:t>
            </a:r>
          </a:p>
        </p:txBody>
      </p:sp>
    </p:spTree>
    <p:extLst>
      <p:ext uri="{BB962C8B-B14F-4D97-AF65-F5344CB8AC3E}">
        <p14:creationId xmlns:p14="http://schemas.microsoft.com/office/powerpoint/2010/main" val="1448420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ltLang="en-US" smtClean="0"/>
              <a:t>Approach to implement security</a:t>
            </a:r>
          </a:p>
        </p:txBody>
      </p:sp>
      <p:sp>
        <p:nvSpPr>
          <p:cNvPr id="3" name="Content Placeholder 2"/>
          <p:cNvSpPr>
            <a:spLocks noGrp="1"/>
          </p:cNvSpPr>
          <p:nvPr>
            <p:ph idx="1"/>
          </p:nvPr>
        </p:nvSpPr>
        <p:spPr>
          <a:xfrm>
            <a:off x="457200" y="1600200"/>
            <a:ext cx="8229600" cy="4876800"/>
          </a:xfrm>
        </p:spPr>
        <p:txBody>
          <a:bodyPr rtlCol="0">
            <a:normAutofit lnSpcReduction="10000"/>
          </a:bodyPr>
          <a:lstStyle/>
          <a:p>
            <a:pPr fontAlgn="auto">
              <a:spcAft>
                <a:spcPts val="0"/>
              </a:spcAft>
              <a:defRPr/>
            </a:pPr>
            <a:r>
              <a:rPr lang="en-US" dirty="0" smtClean="0"/>
              <a:t>Implementation</a:t>
            </a:r>
          </a:p>
          <a:p>
            <a:pPr lvl="1" fontAlgn="auto">
              <a:spcAft>
                <a:spcPts val="0"/>
              </a:spcAft>
              <a:defRPr/>
            </a:pPr>
            <a:r>
              <a:rPr lang="en-US" dirty="0" smtClean="0"/>
              <a:t>Once the design approved, the policy should be taken into action on a timely basis and maintained</a:t>
            </a:r>
          </a:p>
          <a:p>
            <a:pPr fontAlgn="auto">
              <a:spcAft>
                <a:spcPts val="0"/>
              </a:spcAft>
              <a:defRPr/>
            </a:pPr>
            <a:r>
              <a:rPr lang="en-US" dirty="0" smtClean="0"/>
              <a:t>Monitoring</a:t>
            </a:r>
          </a:p>
          <a:p>
            <a:pPr lvl="1" fontAlgn="auto">
              <a:spcAft>
                <a:spcPts val="0"/>
              </a:spcAft>
              <a:defRPr/>
            </a:pPr>
            <a:r>
              <a:rPr lang="en-US" dirty="0" smtClean="0"/>
              <a:t>Monitoring measures of the policy need to be established to detect and ensure correction of security breaches such that all actual and suspected breaches are promptly identified, investigated and acted upon to ensure ongoing compliance with policy , standards and minimum acceptable security practices</a:t>
            </a:r>
          </a:p>
        </p:txBody>
      </p:sp>
    </p:spTree>
    <p:extLst>
      <p:ext uri="{BB962C8B-B14F-4D97-AF65-F5344CB8AC3E}">
        <p14:creationId xmlns:p14="http://schemas.microsoft.com/office/powerpoint/2010/main" val="19997950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ltLang="en-US" smtClean="0"/>
              <a:t>Approach to implement security</a:t>
            </a:r>
          </a:p>
        </p:txBody>
      </p:sp>
      <p:sp>
        <p:nvSpPr>
          <p:cNvPr id="8195" name="Content Placeholder 2"/>
          <p:cNvSpPr>
            <a:spLocks noGrp="1"/>
          </p:cNvSpPr>
          <p:nvPr>
            <p:ph idx="1"/>
          </p:nvPr>
        </p:nvSpPr>
        <p:spPr/>
        <p:txBody>
          <a:bodyPr/>
          <a:lstStyle/>
          <a:p>
            <a:r>
              <a:rPr lang="en-US" altLang="en-US" smtClean="0"/>
              <a:t>Awareness, training and education</a:t>
            </a:r>
          </a:p>
          <a:p>
            <a:pPr lvl="1"/>
            <a:r>
              <a:rPr lang="en-US" altLang="en-US" smtClean="0"/>
              <a:t>Awareness of the need to protect information, training, in the skill needed to operate information systems securely, and education in security measures and practices are of critical importance for the success of an enterprise security policy</a:t>
            </a:r>
          </a:p>
        </p:txBody>
      </p:sp>
    </p:spTree>
    <p:extLst>
      <p:ext uri="{BB962C8B-B14F-4D97-AF65-F5344CB8AC3E}">
        <p14:creationId xmlns:p14="http://schemas.microsoft.com/office/powerpoint/2010/main" val="3163806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57200" y="26988"/>
            <a:ext cx="8229600" cy="963612"/>
          </a:xfrm>
        </p:spPr>
        <p:txBody>
          <a:bodyPr/>
          <a:lstStyle/>
          <a:p>
            <a:r>
              <a:rPr lang="en-US" altLang="en-US" smtClean="0"/>
              <a:t>Areas covered by the ISP</a:t>
            </a:r>
          </a:p>
        </p:txBody>
      </p:sp>
      <p:sp>
        <p:nvSpPr>
          <p:cNvPr id="3" name="Content Placeholder 2"/>
          <p:cNvSpPr>
            <a:spLocks noGrp="1"/>
          </p:cNvSpPr>
          <p:nvPr>
            <p:ph idx="1"/>
          </p:nvPr>
        </p:nvSpPr>
        <p:spPr>
          <a:xfrm>
            <a:off x="533400" y="914400"/>
            <a:ext cx="8229600" cy="5715000"/>
          </a:xfrm>
        </p:spPr>
        <p:txBody>
          <a:bodyPr rtlCol="0">
            <a:normAutofit fontScale="85000" lnSpcReduction="20000"/>
          </a:bodyPr>
          <a:lstStyle/>
          <a:p>
            <a:pPr fontAlgn="auto">
              <a:spcAft>
                <a:spcPts val="0"/>
              </a:spcAft>
              <a:defRPr/>
            </a:pPr>
            <a:r>
              <a:rPr lang="en-US" dirty="0" smtClean="0"/>
              <a:t>Access</a:t>
            </a:r>
          </a:p>
          <a:p>
            <a:pPr lvl="1" fontAlgn="auto">
              <a:spcAft>
                <a:spcPts val="0"/>
              </a:spcAft>
              <a:defRPr/>
            </a:pPr>
            <a:r>
              <a:rPr lang="en-US" dirty="0" smtClean="0"/>
              <a:t>Ability to do something with a computer resource</a:t>
            </a:r>
          </a:p>
          <a:p>
            <a:pPr lvl="1" fontAlgn="auto">
              <a:spcAft>
                <a:spcPts val="0"/>
              </a:spcAft>
              <a:defRPr/>
            </a:pPr>
            <a:r>
              <a:rPr lang="en-US" dirty="0" smtClean="0"/>
              <a:t>Refers to a technical ability (read, create, modify, or delete a file, execute a program or use an external connection)</a:t>
            </a:r>
          </a:p>
          <a:p>
            <a:pPr fontAlgn="auto">
              <a:spcAft>
                <a:spcPts val="0"/>
              </a:spcAft>
              <a:defRPr/>
            </a:pPr>
            <a:r>
              <a:rPr lang="en-US" dirty="0" smtClean="0"/>
              <a:t>Access control</a:t>
            </a:r>
          </a:p>
          <a:p>
            <a:pPr lvl="1" fontAlgn="auto">
              <a:spcAft>
                <a:spcPts val="0"/>
              </a:spcAft>
              <a:defRPr/>
            </a:pPr>
            <a:r>
              <a:rPr lang="en-US" dirty="0" smtClean="0"/>
              <a:t>By which ability is explicitly enabled or restricted in some way </a:t>
            </a:r>
          </a:p>
          <a:p>
            <a:pPr lvl="1" fontAlgn="auto">
              <a:spcAft>
                <a:spcPts val="0"/>
              </a:spcAft>
              <a:defRPr/>
            </a:pPr>
            <a:r>
              <a:rPr lang="en-US" dirty="0" smtClean="0"/>
              <a:t>Computer based access controls can prescribe not only who or what is to have access to a specific system resource, but also the type of access that is permitted</a:t>
            </a:r>
          </a:p>
          <a:p>
            <a:pPr lvl="1" fontAlgn="auto">
              <a:spcAft>
                <a:spcPts val="0"/>
              </a:spcAft>
              <a:defRPr/>
            </a:pPr>
            <a:r>
              <a:rPr lang="en-US" dirty="0" smtClean="0"/>
              <a:t>The controls for these may be built into</a:t>
            </a:r>
          </a:p>
          <a:p>
            <a:pPr lvl="2" fontAlgn="auto">
              <a:spcAft>
                <a:spcPts val="0"/>
              </a:spcAft>
              <a:defRPr/>
            </a:pPr>
            <a:r>
              <a:rPr lang="en-US" dirty="0" smtClean="0"/>
              <a:t>Operating system</a:t>
            </a:r>
          </a:p>
          <a:p>
            <a:pPr lvl="2" fontAlgn="auto">
              <a:spcAft>
                <a:spcPts val="0"/>
              </a:spcAft>
              <a:defRPr/>
            </a:pPr>
            <a:r>
              <a:rPr lang="en-US" dirty="0" smtClean="0"/>
              <a:t>Application programs</a:t>
            </a:r>
          </a:p>
          <a:p>
            <a:pPr lvl="2" fontAlgn="auto">
              <a:spcAft>
                <a:spcPts val="0"/>
              </a:spcAft>
              <a:defRPr/>
            </a:pPr>
            <a:r>
              <a:rPr lang="en-US" dirty="0" smtClean="0"/>
              <a:t>DBMS</a:t>
            </a:r>
          </a:p>
          <a:p>
            <a:pPr lvl="1" fontAlgn="auto">
              <a:spcAft>
                <a:spcPts val="0"/>
              </a:spcAft>
              <a:defRPr/>
            </a:pPr>
            <a:r>
              <a:rPr lang="en-US" dirty="0" smtClean="0"/>
              <a:t>Logical access control are built into computer systems or external devices</a:t>
            </a:r>
          </a:p>
          <a:p>
            <a:pPr lvl="1" fontAlgn="auto">
              <a:spcAft>
                <a:spcPts val="0"/>
              </a:spcAft>
              <a:defRPr/>
            </a:pPr>
            <a:endParaRPr lang="en-US" dirty="0" smtClean="0"/>
          </a:p>
          <a:p>
            <a:pPr lvl="1" fontAlgn="auto">
              <a:spcAft>
                <a:spcPts val="0"/>
              </a:spcAft>
              <a:defRPr/>
            </a:pPr>
            <a:endParaRPr lang="en-US" dirty="0" smtClean="0"/>
          </a:p>
          <a:p>
            <a:pPr lvl="1" fontAlgn="auto">
              <a:spcAft>
                <a:spcPts val="0"/>
              </a:spcAft>
              <a:defRPr/>
            </a:pPr>
            <a:endParaRPr lang="en-US" dirty="0" smtClean="0"/>
          </a:p>
        </p:txBody>
      </p:sp>
    </p:spTree>
    <p:extLst>
      <p:ext uri="{BB962C8B-B14F-4D97-AF65-F5344CB8AC3E}">
        <p14:creationId xmlns:p14="http://schemas.microsoft.com/office/powerpoint/2010/main" val="3376713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533400" y="69850"/>
            <a:ext cx="8229600" cy="792163"/>
          </a:xfrm>
        </p:spPr>
        <p:txBody>
          <a:bodyPr/>
          <a:lstStyle/>
          <a:p>
            <a:r>
              <a:rPr lang="en-US" altLang="en-US" smtClean="0"/>
              <a:t>Areas covered by the ISP</a:t>
            </a:r>
          </a:p>
        </p:txBody>
      </p:sp>
      <p:sp>
        <p:nvSpPr>
          <p:cNvPr id="10243" name="Content Placeholder 2"/>
          <p:cNvSpPr>
            <a:spLocks noGrp="1"/>
          </p:cNvSpPr>
          <p:nvPr>
            <p:ph idx="1"/>
          </p:nvPr>
        </p:nvSpPr>
        <p:spPr>
          <a:xfrm>
            <a:off x="457200" y="914400"/>
            <a:ext cx="8229600" cy="5562600"/>
          </a:xfrm>
        </p:spPr>
        <p:txBody>
          <a:bodyPr/>
          <a:lstStyle/>
          <a:p>
            <a:r>
              <a:rPr lang="en-US" altLang="en-US" smtClean="0"/>
              <a:t>Access criteria</a:t>
            </a:r>
          </a:p>
          <a:p>
            <a:pPr lvl="1"/>
            <a:r>
              <a:rPr lang="en-US" altLang="en-US" smtClean="0"/>
              <a:t>In deciding whether to permit someone to use a system resource, logical access controls examine whether the user is authorized for the type of access required</a:t>
            </a:r>
          </a:p>
          <a:p>
            <a:pPr lvl="1"/>
            <a:r>
              <a:rPr lang="en-US" altLang="en-US" smtClean="0"/>
              <a:t>The system uses various access criteria to determine if the request for access will be granted. </a:t>
            </a:r>
          </a:p>
          <a:p>
            <a:pPr lvl="1"/>
            <a:r>
              <a:rPr lang="en-US" altLang="en-US" smtClean="0"/>
              <a:t>Typical a combination of criteria are used</a:t>
            </a:r>
          </a:p>
          <a:p>
            <a:pPr lvl="1"/>
            <a:endParaRPr lang="en-US" altLang="en-US" smtClean="0"/>
          </a:p>
        </p:txBody>
      </p:sp>
    </p:spTree>
    <p:extLst>
      <p:ext uri="{BB962C8B-B14F-4D97-AF65-F5344CB8AC3E}">
        <p14:creationId xmlns:p14="http://schemas.microsoft.com/office/powerpoint/2010/main" val="1394029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tLang="en-US" smtClean="0"/>
              <a:t>Areas covered by the ISP</a:t>
            </a:r>
          </a:p>
        </p:txBody>
      </p:sp>
      <p:sp>
        <p:nvSpPr>
          <p:cNvPr id="3" name="Content Placeholder 2"/>
          <p:cNvSpPr>
            <a:spLocks noGrp="1"/>
          </p:cNvSpPr>
          <p:nvPr>
            <p:ph idx="1"/>
          </p:nvPr>
        </p:nvSpPr>
        <p:spPr>
          <a:xfrm>
            <a:off x="457200" y="1219200"/>
            <a:ext cx="8229600" cy="4525963"/>
          </a:xfrm>
        </p:spPr>
        <p:txBody>
          <a:bodyPr rtlCol="0">
            <a:normAutofit fontScale="92500" lnSpcReduction="20000"/>
          </a:bodyPr>
          <a:lstStyle/>
          <a:p>
            <a:pPr fontAlgn="auto">
              <a:spcAft>
                <a:spcPts val="0"/>
              </a:spcAft>
              <a:defRPr/>
            </a:pPr>
            <a:r>
              <a:rPr lang="en-US" dirty="0" smtClean="0"/>
              <a:t>Authorization</a:t>
            </a:r>
          </a:p>
          <a:p>
            <a:pPr lvl="1" fontAlgn="auto">
              <a:spcAft>
                <a:spcPts val="0"/>
              </a:spcAft>
              <a:defRPr/>
            </a:pPr>
            <a:r>
              <a:rPr lang="en-US" dirty="0" smtClean="0"/>
              <a:t>Permission to use a computer resource</a:t>
            </a:r>
          </a:p>
          <a:p>
            <a:pPr lvl="1" fontAlgn="auto">
              <a:spcAft>
                <a:spcPts val="0"/>
              </a:spcAft>
              <a:defRPr/>
            </a:pPr>
            <a:r>
              <a:rPr lang="en-US" dirty="0" smtClean="0"/>
              <a:t>Granted directly or indirectly</a:t>
            </a:r>
          </a:p>
          <a:p>
            <a:pPr fontAlgn="auto">
              <a:spcAft>
                <a:spcPts val="0"/>
              </a:spcAft>
              <a:defRPr/>
            </a:pPr>
            <a:r>
              <a:rPr lang="en-US" dirty="0" smtClean="0"/>
              <a:t>Authentication</a:t>
            </a:r>
          </a:p>
          <a:p>
            <a:pPr lvl="1" fontAlgn="auto">
              <a:spcAft>
                <a:spcPts val="0"/>
              </a:spcAft>
              <a:defRPr/>
            </a:pPr>
            <a:r>
              <a:rPr lang="en-US" dirty="0" smtClean="0"/>
              <a:t>Proving the users are who they claim to be</a:t>
            </a:r>
          </a:p>
          <a:p>
            <a:pPr fontAlgn="auto">
              <a:spcAft>
                <a:spcPts val="0"/>
              </a:spcAft>
              <a:defRPr/>
            </a:pPr>
            <a:r>
              <a:rPr lang="en-US" dirty="0" smtClean="0"/>
              <a:t>Identity</a:t>
            </a:r>
          </a:p>
          <a:p>
            <a:pPr lvl="1" fontAlgn="auto">
              <a:spcAft>
                <a:spcPts val="0"/>
              </a:spcAft>
              <a:defRPr/>
            </a:pPr>
            <a:r>
              <a:rPr lang="en-US" dirty="0" smtClean="0"/>
              <a:t>Usually unique to support individual accountability</a:t>
            </a:r>
          </a:p>
          <a:p>
            <a:pPr fontAlgn="auto">
              <a:spcAft>
                <a:spcPts val="0"/>
              </a:spcAft>
              <a:defRPr/>
            </a:pPr>
            <a:r>
              <a:rPr lang="en-US" dirty="0" smtClean="0"/>
              <a:t>Roles</a:t>
            </a:r>
          </a:p>
          <a:p>
            <a:pPr lvl="1" fontAlgn="auto">
              <a:spcAft>
                <a:spcPts val="0"/>
              </a:spcAft>
              <a:defRPr/>
            </a:pPr>
            <a:r>
              <a:rPr lang="en-US" dirty="0" smtClean="0"/>
              <a:t>When access to information is granted by the job assignment  access rights are grouped by the role name of </a:t>
            </a:r>
            <a:r>
              <a:rPr lang="en-US" smtClean="0"/>
              <a:t>the job </a:t>
            </a:r>
            <a:endParaRPr lang="en-US" dirty="0" smtClean="0"/>
          </a:p>
          <a:p>
            <a:pPr lvl="2" fontAlgn="auto">
              <a:spcAft>
                <a:spcPts val="0"/>
              </a:spcAft>
              <a:defRPr/>
            </a:pPr>
            <a:endParaRPr lang="en-US" dirty="0" smtClean="0"/>
          </a:p>
          <a:p>
            <a:pPr lvl="1" fontAlgn="auto">
              <a:spcAft>
                <a:spcPts val="0"/>
              </a:spcAft>
              <a:defRPr/>
            </a:pPr>
            <a:endParaRPr lang="en-US" dirty="0" smtClean="0"/>
          </a:p>
        </p:txBody>
      </p:sp>
    </p:spTree>
    <p:extLst>
      <p:ext uri="{BB962C8B-B14F-4D97-AF65-F5344CB8AC3E}">
        <p14:creationId xmlns:p14="http://schemas.microsoft.com/office/powerpoint/2010/main" val="2458507287"/>
      </p:ext>
    </p:extLst>
  </p:cSld>
  <p:clrMapOvr>
    <a:masterClrMapping/>
  </p:clrMapOvr>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47D6EB70-AC5D-4C93-8EC9-DDBA92A97C78}" vid="{AD4A3A70-3E62-4EFF-A645-92967231B9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1418</TotalTime>
  <Words>608</Words>
  <Application>Microsoft Office PowerPoint</Application>
  <PresentationFormat>On-screen Show (4:3)</PresentationFormat>
  <Paragraphs>63</Paragraphs>
  <Slides>10</Slides>
  <Notes>1</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10</vt:i4>
      </vt:variant>
    </vt:vector>
  </HeadingPairs>
  <TitlesOfParts>
    <vt:vector size="14" baseType="lpstr">
      <vt:lpstr>Arial</vt:lpstr>
      <vt:lpstr>Calibri</vt:lpstr>
      <vt:lpstr>HNDIT</vt:lpstr>
      <vt:lpstr>1_HNDIT</vt:lpstr>
      <vt:lpstr>PowerPoint Presentation</vt:lpstr>
      <vt:lpstr>Information Security Policy (ISP)</vt:lpstr>
      <vt:lpstr>Information Security Policy (ISP)</vt:lpstr>
      <vt:lpstr>Information Security Policy (ISP)</vt:lpstr>
      <vt:lpstr>Approach to implement security</vt:lpstr>
      <vt:lpstr>Approach to implement security</vt:lpstr>
      <vt:lpstr>Approach to implement security</vt:lpstr>
      <vt:lpstr>Areas covered by the ISP</vt:lpstr>
      <vt:lpstr>Areas covered by the ISP</vt:lpstr>
      <vt:lpstr>Areas covered by the ISP</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Asus X55</dc:creator>
  <cp:lastModifiedBy>Admin</cp:lastModifiedBy>
  <cp:revision>178</cp:revision>
  <dcterms:created xsi:type="dcterms:W3CDTF">2014-03-07T13:02:25Z</dcterms:created>
  <dcterms:modified xsi:type="dcterms:W3CDTF">2018-08-28T08:27:43Z</dcterms:modified>
</cp:coreProperties>
</file>