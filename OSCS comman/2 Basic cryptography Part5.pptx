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13"/>
  </p:notesMasterIdLst>
  <p:sldIdLst>
    <p:sldId id="257" r:id="rId3"/>
    <p:sldId id="279" r:id="rId4"/>
    <p:sldId id="280" r:id="rId5"/>
    <p:sldId id="281" r:id="rId6"/>
    <p:sldId id="282" r:id="rId7"/>
    <p:sldId id="283" r:id="rId8"/>
    <p:sldId id="284" r:id="rId9"/>
    <p:sldId id="285" r:id="rId10"/>
    <p:sldId id="286" r:id="rId11"/>
    <p:sldId id="287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51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723204-145E-4E9A-8825-0DF9FD80C698}" type="datetimeFigureOut">
              <a:rPr lang="en-US" smtClean="0"/>
              <a:pPr/>
              <a:t>6/29/2018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677AEE-D46A-4C91-9543-7FBC6ED44F7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5138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3143F5A-A5F0-46A4-8826-62D9B1122C43}" type="slidenum">
              <a:rPr lang="en-US" altLang="en-US">
                <a:latin typeface="Times New Roman" panose="02020603050405020304" pitchFamily="18" charset="0"/>
              </a:rPr>
              <a:pPr/>
              <a:t>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smtClean="0"/>
          </a:p>
        </p:txBody>
      </p:sp>
    </p:spTree>
    <p:extLst>
      <p:ext uri="{BB962C8B-B14F-4D97-AF65-F5344CB8AC3E}">
        <p14:creationId xmlns:p14="http://schemas.microsoft.com/office/powerpoint/2010/main" val="34825257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B9C55-B1F5-4DCD-B44C-56F4D10DFF02}" type="datetime1">
              <a:rPr lang="en-US" smtClean="0"/>
              <a:t>6/29/2018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27" name="Picture 3" descr="C:\Users\Dell PC\Desktop\mainpag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738" y="2133600"/>
            <a:ext cx="9162738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Chapter 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28600" y="2247901"/>
            <a:ext cx="3886200" cy="198119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Course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21274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DC9F0-F6FA-4EF5-9B02-32D7E772F3DA}" type="datetime1">
              <a:rPr lang="en-US" smtClean="0"/>
              <a:t>6/29/2018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26" name="Picture 2" descr="C:\Users\Dell PC\Desktop\template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81728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2B24C-E9C5-4837-990A-2D89EDE17F40}" type="datetime1">
              <a:rPr lang="en-US" smtClean="0"/>
              <a:t>6/29/2018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44108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C1C87-DFFE-40DD-88ED-115007FBF96B}" type="datetime1">
              <a:rPr lang="en-US" smtClean="0"/>
              <a:t>6/29/2018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48156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10CCB-6840-48E9-8232-4140365FD666}" type="datetime1">
              <a:rPr lang="en-US" smtClean="0"/>
              <a:t>6/29/2018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8612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C12BC-620C-4804-A68B-E5D136F30A82}" type="datetime1">
              <a:rPr lang="en-US" smtClean="0"/>
              <a:t>6/29/2018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419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E3FF4-2F5D-4D00-8619-BEEFC2A769C0}" type="datetime1">
              <a:rPr lang="en-US" smtClean="0"/>
              <a:t>6/29/2018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6640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A6F5A-D08C-4C6E-9A94-889EC7EE21A6}" type="datetime1">
              <a:rPr lang="en-US" smtClean="0"/>
              <a:t>6/29/2018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49323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478FA-CAA3-494E-AE22-6AE9783FAB5B}" type="datetime1">
              <a:rPr lang="en-US" smtClean="0"/>
              <a:t>6/29/2018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7184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1B3BF-CA00-44EF-B758-B15ECF3DFDAF}" type="datetime1">
              <a:rPr lang="en-US" smtClean="0"/>
              <a:t>6/29/2018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27744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6D5A7-B666-4055-9430-CD0CBCBD1CF8}" type="datetime1">
              <a:rPr lang="en-US" smtClean="0"/>
              <a:t>6/29/2018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6135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57400"/>
            <a:ext cx="9144000" cy="2566851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B9C55-B1F5-4DCD-B44C-56F4D10DFF02}" type="datetime1">
              <a:rPr lang="en-US" smtClean="0"/>
              <a:t>6/29/2018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Chapter 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53000" y="2362201"/>
            <a:ext cx="3886200" cy="198119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Course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03677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DC9F0-F6FA-4EF5-9B02-32D7E772F3DA}" type="datetime1">
              <a:rPr lang="en-US" smtClean="0"/>
              <a:t>6/29/2018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20373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2B24C-E9C5-4837-990A-2D89EDE17F40}" type="datetime1">
              <a:rPr lang="en-US" smtClean="0"/>
              <a:t>6/29/2018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30603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C1C87-DFFE-40DD-88ED-115007FBF96B}" type="datetime1">
              <a:rPr lang="en-US" smtClean="0"/>
              <a:t>6/29/2018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8858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10CCB-6840-48E9-8232-4140365FD666}" type="datetime1">
              <a:rPr lang="en-US" smtClean="0"/>
              <a:t>6/29/2018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47334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C12BC-620C-4804-A68B-E5D136F30A82}" type="datetime1">
              <a:rPr lang="en-US" smtClean="0"/>
              <a:t>6/29/2018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6906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E3FF4-2F5D-4D00-8619-BEEFC2A769C0}" type="datetime1">
              <a:rPr lang="en-US" smtClean="0"/>
              <a:t>6/29/2018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41376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A6F5A-D08C-4C6E-9A94-889EC7EE21A6}" type="datetime1">
              <a:rPr lang="en-US" smtClean="0"/>
              <a:t>6/29/2018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1506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478FA-CAA3-494E-AE22-6AE9783FAB5B}" type="datetime1">
              <a:rPr lang="en-US" smtClean="0"/>
              <a:t>6/29/2018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54365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1B3BF-CA00-44EF-B758-B15ECF3DFDAF}" type="datetime1">
              <a:rPr lang="en-US" smtClean="0"/>
              <a:t>6/29/2018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15462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6D5A7-B666-4055-9430-CD0CBCBD1CF8}" type="datetime1">
              <a:rPr lang="en-US" smtClean="0"/>
              <a:t>6/29/2018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82258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12FDDB-310E-4072-8B61-ACE857F405FC}" type="datetime1">
              <a:rPr lang="en-US" smtClean="0"/>
              <a:t>6/29/2018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2" descr="C:\Users\Dell PC\Desktop\template2.jp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038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12FDDB-310E-4072-8B61-ACE857F405FC}" type="datetime1">
              <a:rPr lang="en-US" smtClean="0"/>
              <a:t>6/29/2018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265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800600"/>
            <a:ext cx="6705600" cy="685800"/>
          </a:xfrm>
          <a:noFill/>
        </p:spPr>
        <p:txBody>
          <a:bodyPr anchorCtr="1"/>
          <a:lstStyle/>
          <a:p>
            <a:r>
              <a:rPr lang="en-US" altLang="en-US" dirty="0" smtClean="0"/>
              <a:t>2  </a:t>
            </a:r>
            <a:r>
              <a:rPr lang="en-US" altLang="en-US" dirty="0"/>
              <a:t>Basic </a:t>
            </a:r>
            <a:r>
              <a:rPr lang="en-US" altLang="en-US" dirty="0" smtClean="0"/>
              <a:t>cryptography - Part </a:t>
            </a:r>
            <a:r>
              <a:rPr lang="en-US" altLang="en-US" dirty="0" smtClean="0"/>
              <a:t>5</a:t>
            </a:r>
            <a:endParaRPr lang="en-US" altLang="en-US" dirty="0" smtClean="0"/>
          </a:p>
        </p:txBody>
      </p:sp>
      <p:sp>
        <p:nvSpPr>
          <p:cNvPr id="2061" name="Rectangle 13"/>
          <p:cNvSpPr>
            <a:spLocks noGrp="1" noChangeArrowheads="1"/>
          </p:cNvSpPr>
          <p:nvPr>
            <p:ph type="ctrTitle"/>
          </p:nvPr>
        </p:nvSpPr>
        <p:spPr>
          <a:xfrm>
            <a:off x="4876800" y="2362200"/>
            <a:ext cx="4191000" cy="18288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sz="3200" dirty="0"/>
              <a:t>HNDIT2301: Operating System and Information Security</a:t>
            </a:r>
            <a:endParaRPr lang="en-US" sz="2400" b="1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2590800" y="303047"/>
            <a:ext cx="42672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 smtClean="0"/>
              <a:t>Digital Signature </a:t>
            </a:r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01921996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Digital Signature </a:t>
            </a:r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mtClean="0"/>
              <a:t>have looked at </a:t>
            </a:r>
            <a:r>
              <a:rPr lang="en-AU" altLang="en-US" smtClean="0"/>
              <a:t>message authentication 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 smtClean="0"/>
              <a:t>but does not address issues of lack of trust</a:t>
            </a:r>
          </a:p>
          <a:p>
            <a:pPr eaLnBrk="1" hangingPunct="1">
              <a:lnSpc>
                <a:spcPct val="90000"/>
              </a:lnSpc>
            </a:pPr>
            <a:r>
              <a:rPr lang="en-AU" altLang="en-US" smtClean="0"/>
              <a:t>digital signatures provide the ability to: 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 smtClean="0"/>
              <a:t>verify author, date &amp; time of signature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 smtClean="0"/>
              <a:t>authenticate message contents 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 smtClean="0"/>
              <a:t>be verified by third parties to resolve disputes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/>
              <a:t>hence include authentication function with additional capabilities</a:t>
            </a:r>
            <a:endParaRPr lang="en-AU" altLang="en-US" smtClean="0"/>
          </a:p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088929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Digital Signature Properties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AU" sz="2800" smtClean="0"/>
              <a:t>must depend on the message signed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AU" sz="2800" smtClean="0"/>
              <a:t>must use information unique to sender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AU" sz="2400" smtClean="0"/>
              <a:t>to prevent both forgery and denial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AU" sz="2800" smtClean="0"/>
              <a:t>must be relatively easy to produce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AU" sz="2800" smtClean="0"/>
              <a:t>must be relatively easy to recognize &amp; verify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AU" sz="2800" smtClean="0"/>
              <a:t>be computationally infeasible to forge 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AU" sz="2400" smtClean="0"/>
              <a:t>with new message for existing digital signature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AU" sz="2400" smtClean="0"/>
              <a:t>with fraudulent digital signature for given message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AU" sz="2800" smtClean="0"/>
              <a:t>be practical save digital signature in storage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9068276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Direct Digital Signatures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mtClean="0"/>
              <a:t>involve only sender &amp; receiver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/>
              <a:t>assumed receiver has sender’s public-key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/>
              <a:t>digital signature made by sender signing entire message or hash with private-key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/>
              <a:t>can encrypt using receivers public-key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/>
              <a:t>important that sign first then encrypt message &amp; signature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/>
              <a:t>security depends on sender’s private-key</a:t>
            </a:r>
            <a:endParaRPr lang="en-AU" altLang="en-US" smtClean="0"/>
          </a:p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682910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Arbitrated Digital Signatures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involves use of arbiter A</a:t>
            </a:r>
          </a:p>
          <a:p>
            <a:pPr lvl="1" eaLnBrk="1" hangingPunct="1"/>
            <a:r>
              <a:rPr lang="en-US" altLang="en-US" smtClean="0"/>
              <a:t>validates any signed message</a:t>
            </a:r>
          </a:p>
          <a:p>
            <a:pPr lvl="1" eaLnBrk="1" hangingPunct="1"/>
            <a:r>
              <a:rPr lang="en-US" altLang="en-US" smtClean="0"/>
              <a:t>then dated and sent to recipient</a:t>
            </a:r>
          </a:p>
          <a:p>
            <a:pPr eaLnBrk="1" hangingPunct="1"/>
            <a:r>
              <a:rPr lang="en-US" altLang="en-US" smtClean="0"/>
              <a:t>requires suitable level of trust in arbiter</a:t>
            </a:r>
          </a:p>
          <a:p>
            <a:pPr eaLnBrk="1" hangingPunct="1"/>
            <a:r>
              <a:rPr lang="en-US" altLang="en-US" smtClean="0"/>
              <a:t>can be implemented with either private or public-key algorithms</a:t>
            </a:r>
          </a:p>
          <a:p>
            <a:pPr eaLnBrk="1" hangingPunct="1"/>
            <a:r>
              <a:rPr lang="en-US" altLang="en-US" smtClean="0"/>
              <a:t>arbiter may or may not see message</a:t>
            </a:r>
            <a:endParaRPr lang="en-AU" altLang="en-US" smtClean="0"/>
          </a:p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4883682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Authentication Protocols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/>
              <a:t>used to convince parties of each others identity and to exchange session keys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/>
              <a:t>may be one-way or mutual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/>
              <a:t>key issues are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smtClean="0"/>
              <a:t>confidentiality – to protect session keys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smtClean="0"/>
              <a:t>timeliness – to prevent replay attacks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AU" smtClean="0"/>
              <a:t>published protocols are often found to have flaws and need to be modified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577087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Replay Attacks</a:t>
            </a:r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smtClean="0"/>
              <a:t>where a valid signed message is copied and later resent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smtClean="0"/>
              <a:t>simple replay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smtClean="0"/>
              <a:t>repetition that can be logged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smtClean="0"/>
              <a:t>repetition that cannot be detected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smtClean="0"/>
              <a:t>backward replay without modification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smtClean="0"/>
              <a:t>countermeasures include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smtClean="0"/>
              <a:t>use of sequence numbers (generally impractical)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smtClean="0"/>
              <a:t>timestamps (needs synchronized clocks)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smtClean="0"/>
              <a:t>challenge/response (using unique nonce)</a:t>
            </a:r>
            <a:endParaRPr lang="en-AU" altLang="en-US" sz="2400" smtClean="0"/>
          </a:p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0127657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Using Symmetric Encryption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as discussed previously can use a two-level hierarchy of keys</a:t>
            </a:r>
          </a:p>
          <a:p>
            <a:pPr eaLnBrk="1" hangingPunct="1"/>
            <a:r>
              <a:rPr lang="en-US" altLang="en-US" smtClean="0"/>
              <a:t>usually with a trusted Key Distribution Center (KDC)</a:t>
            </a:r>
          </a:p>
          <a:p>
            <a:pPr lvl="1" eaLnBrk="1" hangingPunct="1"/>
            <a:r>
              <a:rPr lang="en-US" altLang="en-US" smtClean="0"/>
              <a:t>each party shares own master key with KDC</a:t>
            </a:r>
          </a:p>
          <a:p>
            <a:pPr lvl="1" eaLnBrk="1" hangingPunct="1"/>
            <a:r>
              <a:rPr lang="en-US" altLang="en-US" smtClean="0"/>
              <a:t>KDC generates session keys used for connections between parties</a:t>
            </a:r>
          </a:p>
          <a:p>
            <a:pPr lvl="1" eaLnBrk="1" hangingPunct="1"/>
            <a:r>
              <a:rPr lang="en-US" altLang="en-US" smtClean="0"/>
              <a:t>master keys used to distribute these to them</a:t>
            </a:r>
            <a:endParaRPr lang="en-AU" altLang="en-US" smtClean="0"/>
          </a:p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8073347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mtClean="0"/>
              <a:t>Digital Certificate </a:t>
            </a:r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en-US" smtClean="0"/>
              <a:t>An electronic Document which provides the certification that a person is authorised to use the Public Key algorithm given to him by a trusted third party</a:t>
            </a:r>
          </a:p>
          <a:p>
            <a:pPr eaLnBrk="1" hangingPunct="1"/>
            <a:r>
              <a:rPr lang="en-US" altLang="en-US" smtClean="0"/>
              <a:t>Provided to all users of a systems when they are given the Public Key for the corresponding system</a:t>
            </a:r>
          </a:p>
          <a:p>
            <a:pPr eaLnBrk="1" hangingPunct="1"/>
            <a:r>
              <a:rPr lang="en-US" altLang="en-US" smtClean="0"/>
              <a:t>The user is bound to produce his Digital Certificate at any time on request by the employer or a customer</a:t>
            </a:r>
          </a:p>
        </p:txBody>
      </p:sp>
    </p:spTree>
    <p:extLst>
      <p:ext uri="{BB962C8B-B14F-4D97-AF65-F5344CB8AC3E}">
        <p14:creationId xmlns:p14="http://schemas.microsoft.com/office/powerpoint/2010/main" val="24476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Certification Authority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A trusted third party organisation who is involved in issuing Public Key Algorithms to users</a:t>
            </a:r>
          </a:p>
          <a:p>
            <a:pPr eaLnBrk="1" hangingPunct="1"/>
            <a:r>
              <a:rPr lang="en-US" altLang="en-US" smtClean="0"/>
              <a:t>They are responsible for the security provided by the Digital Signature generated using Public and private keys</a:t>
            </a:r>
          </a:p>
          <a:p>
            <a:pPr eaLnBrk="1" hangingPunct="1"/>
            <a:r>
              <a:rPr lang="en-US" altLang="en-US" smtClean="0"/>
              <a:t>VeriSign is a Certification Authority</a:t>
            </a:r>
          </a:p>
        </p:txBody>
      </p:sp>
    </p:spTree>
    <p:extLst>
      <p:ext uri="{BB962C8B-B14F-4D97-AF65-F5344CB8AC3E}">
        <p14:creationId xmlns:p14="http://schemas.microsoft.com/office/powerpoint/2010/main" val="3769693397"/>
      </p:ext>
    </p:extLst>
  </p:cSld>
  <p:clrMapOvr>
    <a:masterClrMapping/>
  </p:clrMapOvr>
</p:sld>
</file>

<file path=ppt/theme/theme1.xml><?xml version="1.0" encoding="utf-8"?>
<a:theme xmlns:a="http://schemas.openxmlformats.org/drawingml/2006/main" name="HND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HND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7D6EB70-AC5D-4C93-8EC9-DDBA92A97C78}" vid="{AD4A3A70-3E62-4EFF-A645-92967231B92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HNDIT</Template>
  <TotalTime>1191</TotalTime>
  <Words>462</Words>
  <Application>Microsoft Office PowerPoint</Application>
  <PresentationFormat>On-screen Show (4:3)</PresentationFormat>
  <Paragraphs>67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Times New Roman</vt:lpstr>
      <vt:lpstr>HNDIT</vt:lpstr>
      <vt:lpstr>1_HNDIT</vt:lpstr>
      <vt:lpstr>HNDIT2301: Operating System and Information Security</vt:lpstr>
      <vt:lpstr>Digital Signature </vt:lpstr>
      <vt:lpstr>Digital Signature Properties</vt:lpstr>
      <vt:lpstr>Direct Digital Signatures</vt:lpstr>
      <vt:lpstr>Arbitrated Digital Signatures</vt:lpstr>
      <vt:lpstr>Authentication Protocols</vt:lpstr>
      <vt:lpstr>Replay Attacks</vt:lpstr>
      <vt:lpstr>Using Symmetric Encryption</vt:lpstr>
      <vt:lpstr>Digital Certificate </vt:lpstr>
      <vt:lpstr>Certification Authority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Asus X55</dc:creator>
  <cp:lastModifiedBy>Admin</cp:lastModifiedBy>
  <cp:revision>156</cp:revision>
  <dcterms:created xsi:type="dcterms:W3CDTF">2014-03-07T13:02:25Z</dcterms:created>
  <dcterms:modified xsi:type="dcterms:W3CDTF">2018-06-29T09:19:21Z</dcterms:modified>
</cp:coreProperties>
</file>