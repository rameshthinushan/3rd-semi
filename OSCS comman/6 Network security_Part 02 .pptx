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0"/>
  </p:notesMasterIdLst>
  <p:sldIdLst>
    <p:sldId id="270" r:id="rId3"/>
    <p:sldId id="273" r:id="rId4"/>
    <p:sldId id="274" r:id="rId5"/>
    <p:sldId id="275"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88"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31" autoAdjust="0"/>
    <p:restoredTop sz="94660"/>
  </p:normalViewPr>
  <p:slideViewPr>
    <p:cSldViewPr>
      <p:cViewPr varScale="1">
        <p:scale>
          <a:sx n="70" d="100"/>
          <a:sy n="70" d="100"/>
        </p:scale>
        <p:origin x="540" y="72"/>
      </p:cViewPr>
      <p:guideLst>
        <p:guide orient="horz" pos="2160"/>
        <p:guide pos="2880"/>
      </p:guideLst>
    </p:cSldViewPr>
  </p:slideViewPr>
  <p:notesTextViewPr>
    <p:cViewPr>
      <p:scale>
        <a:sx n="75" d="100"/>
        <a:sy n="75"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723204-145E-4E9A-8825-0DF9FD80C698}" type="datetimeFigureOut">
              <a:rPr lang="en-US" smtClean="0"/>
              <a:pPr/>
              <a:t>14/8/2018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677AEE-D46A-4C91-9543-7FBC6ED44F7E}" type="slidenum">
              <a:rPr lang="en-US" smtClean="0"/>
              <a:pPr/>
              <a:t>‹#›</a:t>
            </a:fld>
            <a:endParaRPr lang="en-US" dirty="0"/>
          </a:p>
        </p:txBody>
      </p:sp>
    </p:spTree>
    <p:extLst>
      <p:ext uri="{BB962C8B-B14F-4D97-AF65-F5344CB8AC3E}">
        <p14:creationId xmlns:p14="http://schemas.microsoft.com/office/powerpoint/2010/main" val="118513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2308AD-CF68-426A-90FA-99268130AF8F}" type="slidenum">
              <a:rPr lang="en-AU"/>
              <a:pPr eaLnBrk="1" hangingPunct="1"/>
              <a:t>1</a:t>
            </a:fld>
            <a:endParaRPr lang="en-AU"/>
          </a:p>
        </p:txBody>
      </p:sp>
      <p:sp>
        <p:nvSpPr>
          <p:cNvPr id="33795" name="Rectangle 2"/>
          <p:cNvSpPr>
            <a:spLocks noGrp="1" noRot="1" noChangeAspect="1" noChangeArrowheads="1" noTextEdit="1"/>
          </p:cNvSpPr>
          <p:nvPr>
            <p:ph type="sldImg"/>
          </p:nvPr>
        </p:nvSpPr>
        <p:spPr>
          <a:solidFill>
            <a:srgbClr val="FFFFFF"/>
          </a:solidFill>
          <a:ln/>
        </p:spPr>
      </p:sp>
      <p:sp>
        <p:nvSpPr>
          <p:cNvPr id="3379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smtClean="0"/>
              <a:t>Lecture slides by Lawrie Brown for “Cryptography and Network Security”, 4/e, by William Stallings, Chapter 20 – “Firewalls”.</a:t>
            </a:r>
            <a:endParaRPr lang="en-AU" smtClean="0"/>
          </a:p>
          <a:p>
            <a:pPr eaLnBrk="1" hangingPunct="1"/>
            <a:endParaRPr lang="en-US" smtClean="0"/>
          </a:p>
        </p:txBody>
      </p:sp>
    </p:spTree>
    <p:extLst>
      <p:ext uri="{BB962C8B-B14F-4D97-AF65-F5344CB8AC3E}">
        <p14:creationId xmlns:p14="http://schemas.microsoft.com/office/powerpoint/2010/main" val="558445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17F1EAF-5B12-423C-9AAF-D88732120BC9}" type="slidenum">
              <a:rPr lang="en-AU" altLang="en-US"/>
              <a:pPr>
                <a:spcBef>
                  <a:spcPct val="0"/>
                </a:spcBef>
              </a:pPr>
              <a:t>2</a:t>
            </a:fld>
            <a:endParaRPr lang="en-AU" altLang="en-US"/>
          </a:p>
        </p:txBody>
      </p:sp>
      <p:sp>
        <p:nvSpPr>
          <p:cNvPr id="10243" name="Rectangle 1026"/>
          <p:cNvSpPr>
            <a:spLocks noRot="1" noChangeArrowheads="1" noTextEdit="1"/>
          </p:cNvSpPr>
          <p:nvPr>
            <p:ph type="sldImg"/>
          </p:nvPr>
        </p:nvSpPr>
        <p:spPr>
          <a:ln/>
        </p:spPr>
      </p:sp>
      <p:sp>
        <p:nvSpPr>
          <p:cNvPr id="1024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Information systems in corporations,government agencies,and other organizations have undergone a steady evolution from mainframes to LANs. Internet connectivity is no longer optional, with information and services essential to the organization. Moreover, individual users want and need Internet access. However, while Internet access provides benefits, it enables the outside world to reach and interact with local network assets, creating a threat to the organization. While it is possible to equip each workstation and server on the premises network with strong security features, this is not a practical approach in general. Firewalls can be an effective means of protecting a local system or network of systems from network-based security threats while at the same time affording access to the outside world via wide area networks and the Internet. However they need to be part of a wider security strategy including host security.</a:t>
            </a:r>
          </a:p>
        </p:txBody>
      </p:sp>
    </p:spTree>
    <p:extLst>
      <p:ext uri="{BB962C8B-B14F-4D97-AF65-F5344CB8AC3E}">
        <p14:creationId xmlns:p14="http://schemas.microsoft.com/office/powerpoint/2010/main" val="4254287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0F30B12-70BA-4B08-8969-AC718CC743E0}" type="slidenum">
              <a:rPr lang="en-AU" altLang="en-US"/>
              <a:pPr>
                <a:spcBef>
                  <a:spcPct val="0"/>
                </a:spcBef>
              </a:pPr>
              <a:t>3</a:t>
            </a:fld>
            <a:endParaRPr lang="en-AU" altLang="en-US"/>
          </a:p>
        </p:txBody>
      </p:sp>
      <p:sp>
        <p:nvSpPr>
          <p:cNvPr id="12291" name="Rectangle 2"/>
          <p:cNvSpPr>
            <a:spLocks noRo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mtClean="0"/>
              <a:t>A firewall is inserted between the premises network and the Internet to establish a controlled link and to erect an outer security wall or perimeter, forming a single choke point where security and audit can be imposed. A firewall:</a:t>
            </a:r>
          </a:p>
          <a:p>
            <a:pPr marL="228600" indent="-228600" eaLnBrk="1" hangingPunct="1">
              <a:buFont typeface="Times" panose="02020603050405020304" pitchFamily="18" charset="0"/>
              <a:buAutoNum type="arabicPeriod"/>
            </a:pPr>
            <a:r>
              <a:rPr lang="en-US" altLang="en-US" smtClean="0"/>
              <a:t>defines a single choke point that keeps unauthorized users out of the protected network, prohibits potentially vulnerable services from entering or leaving the network, and provides protection from various kinds of IP spoofing and routing attacks. </a:t>
            </a:r>
          </a:p>
          <a:p>
            <a:pPr marL="228600" indent="-228600" eaLnBrk="1" hangingPunct="1">
              <a:buFont typeface="Times" panose="02020603050405020304" pitchFamily="18" charset="0"/>
              <a:buNone/>
            </a:pPr>
            <a:r>
              <a:rPr lang="en-US" altLang="en-US" smtClean="0"/>
              <a:t>2. provides a location for monitoring security-related events</a:t>
            </a:r>
          </a:p>
          <a:p>
            <a:pPr marL="228600" indent="-228600" eaLnBrk="1" hangingPunct="1">
              <a:buFont typeface="Times" panose="02020603050405020304" pitchFamily="18" charset="0"/>
              <a:buNone/>
            </a:pPr>
            <a:r>
              <a:rPr lang="en-US" altLang="en-US" smtClean="0"/>
              <a:t>3. is a convenient platform for several Internet functions that are not security related, such as NAT and Internet usage audits or logs </a:t>
            </a:r>
          </a:p>
          <a:p>
            <a:pPr marL="228600" indent="-228600" eaLnBrk="1" hangingPunct="1">
              <a:buFont typeface="Times" panose="02020603050405020304" pitchFamily="18" charset="0"/>
              <a:buNone/>
            </a:pPr>
            <a:r>
              <a:rPr lang="en-US" altLang="en-US" smtClean="0"/>
              <a:t>4. A firewall can serve as the platform for IPSec to implement virtual private networks.</a:t>
            </a:r>
          </a:p>
          <a:p>
            <a:pPr marL="228600" indent="-228600" eaLnBrk="1" hangingPunct="1">
              <a:buFont typeface="Times" panose="02020603050405020304" pitchFamily="18" charset="0"/>
              <a:buNone/>
            </a:pPr>
            <a:r>
              <a:rPr lang="en-US" altLang="en-US" smtClean="0"/>
              <a:t>The firewall itself must be immune to penetration, since it will be a target of attack.</a:t>
            </a:r>
          </a:p>
        </p:txBody>
      </p:sp>
    </p:spTree>
    <p:extLst>
      <p:ext uri="{BB962C8B-B14F-4D97-AF65-F5344CB8AC3E}">
        <p14:creationId xmlns:p14="http://schemas.microsoft.com/office/powerpoint/2010/main" val="1280022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4A364D0-51B4-4228-AD7D-5E62A3530AFC}" type="slidenum">
              <a:rPr lang="en-AU" altLang="en-US"/>
              <a:pPr>
                <a:spcBef>
                  <a:spcPct val="0"/>
                </a:spcBef>
              </a:pPr>
              <a:t>4</a:t>
            </a:fld>
            <a:endParaRPr lang="en-AU" altLang="en-US"/>
          </a:p>
        </p:txBody>
      </p:sp>
      <p:sp>
        <p:nvSpPr>
          <p:cNvPr id="14339" name="Rectangle 2"/>
          <p:cNvSpPr>
            <a:spLocks noRo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mtClean="0"/>
              <a:t>Firewalls have their limitations, including that they: </a:t>
            </a:r>
          </a:p>
          <a:p>
            <a:pPr marL="228600" indent="-228600" eaLnBrk="1" hangingPunct="1">
              <a:buFont typeface="Times" panose="02020603050405020304" pitchFamily="18" charset="0"/>
              <a:buAutoNum type="arabicPeriod"/>
            </a:pPr>
            <a:r>
              <a:rPr lang="en-US" altLang="en-US" smtClean="0"/>
              <a:t> cannot protect against attacks that bypass the firewall, eg PCs with dial-out capability to an ISP, or dial-in modem pool use</a:t>
            </a:r>
          </a:p>
          <a:p>
            <a:pPr marL="228600" indent="-228600" eaLnBrk="1" hangingPunct="1">
              <a:buFont typeface="Times" panose="02020603050405020304" pitchFamily="18" charset="0"/>
              <a:buNone/>
            </a:pPr>
            <a:r>
              <a:rPr lang="en-US" altLang="en-US" smtClean="0"/>
              <a:t>2. do not protect against internal threats, eg disgruntled employee or one who cooperates with an attacker</a:t>
            </a:r>
          </a:p>
          <a:p>
            <a:pPr marL="228600" indent="-228600" eaLnBrk="1" hangingPunct="1">
              <a:buFont typeface="Times" panose="02020603050405020304" pitchFamily="18" charset="0"/>
              <a:buNone/>
            </a:pPr>
            <a:r>
              <a:rPr lang="en-US" altLang="en-US" smtClean="0"/>
              <a:t>3. cannot protect against the transfer of virus-infected programs or files, given wide variety of O/S &amp; applications supported</a:t>
            </a:r>
          </a:p>
          <a:p>
            <a:pPr marL="228600" indent="-228600" eaLnBrk="1" hangingPunct="1">
              <a:buFont typeface="Times" panose="02020603050405020304" pitchFamily="18" charset="0"/>
              <a:buNone/>
            </a:pPr>
            <a:endParaRPr lang="en-US" altLang="en-US" smtClean="0"/>
          </a:p>
        </p:txBody>
      </p:sp>
    </p:spTree>
    <p:extLst>
      <p:ext uri="{BB962C8B-B14F-4D97-AF65-F5344CB8AC3E}">
        <p14:creationId xmlns:p14="http://schemas.microsoft.com/office/powerpoint/2010/main" val="996479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7E9AF71-ACAC-44BE-995B-8801A0F3F2A1}" type="slidenum">
              <a:rPr lang="en-AU" altLang="en-US"/>
              <a:pPr>
                <a:spcBef>
                  <a:spcPct val="0"/>
                </a:spcBef>
              </a:pPr>
              <a:t>5</a:t>
            </a:fld>
            <a:endParaRPr lang="en-AU" altLang="en-US"/>
          </a:p>
        </p:txBody>
      </p:sp>
      <p:sp>
        <p:nvSpPr>
          <p:cNvPr id="16387" name="Rectangle 2"/>
          <p:cNvSpPr>
            <a:spLocks noRo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Have three common types of firewalls: packet filters, application-level gateways, &amp; circuit-level gateways.</a:t>
            </a:r>
          </a:p>
          <a:p>
            <a:pPr eaLnBrk="1" hangingPunct="1"/>
            <a:r>
              <a:rPr lang="en-US" altLang="en-US" smtClean="0"/>
              <a:t>A packet-filtering router applies a set of rules to each incoming and outgoing IP packet to forward or discard the packet. Filtering rules are based on information contained in a network packet such as src &amp; dest IP addresses, ports, transport protocol &amp; interface. Some advantages are simplicity, transparency &amp; speed.</a:t>
            </a:r>
          </a:p>
          <a:p>
            <a:pPr eaLnBrk="1" hangingPunct="1"/>
            <a:r>
              <a:rPr lang="en-US" altLang="en-US" smtClean="0"/>
              <a:t>If there is no match to any rule, then one of two default policies are applied: </a:t>
            </a:r>
          </a:p>
          <a:p>
            <a:pPr eaLnBrk="1" hangingPunct="1"/>
            <a:r>
              <a:rPr lang="en-US" altLang="en-US" smtClean="0"/>
              <a:t>• that which is not expressly permitted is prohibited (default action is discard packet), conservative policy </a:t>
            </a:r>
          </a:p>
          <a:p>
            <a:pPr eaLnBrk="1" hangingPunct="1"/>
            <a:r>
              <a:rPr lang="en-US" altLang="en-US" smtClean="0"/>
              <a:t>• that which is not expressly prohibited is permitted (default action is forward packet), permissive policy</a:t>
            </a:r>
          </a:p>
          <a:p>
            <a:pPr eaLnBrk="1" hangingPunct="1"/>
            <a:endParaRPr lang="en-US" altLang="en-US" smtClean="0"/>
          </a:p>
        </p:txBody>
      </p:sp>
    </p:spTree>
    <p:extLst>
      <p:ext uri="{BB962C8B-B14F-4D97-AF65-F5344CB8AC3E}">
        <p14:creationId xmlns:p14="http://schemas.microsoft.com/office/powerpoint/2010/main" val="2061270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B891BA1-4993-4546-9A60-8E6C210CC254}" type="slidenum">
              <a:rPr lang="en-AU" altLang="en-US"/>
              <a:pPr>
                <a:spcBef>
                  <a:spcPct val="0"/>
                </a:spcBef>
              </a:pPr>
              <a:t>6</a:t>
            </a:fld>
            <a:endParaRPr lang="en-AU" altLang="en-US"/>
          </a:p>
        </p:txBody>
      </p:sp>
      <p:sp>
        <p:nvSpPr>
          <p:cNvPr id="18435" name="Rectangle 2"/>
          <p:cNvSpPr>
            <a:spLocks noRo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Figure 20.1a illustrates the packet filter firewall placement in the border router, on the security perimeter, between the external less-trusted Internet, and the internal more trusted private network.</a:t>
            </a:r>
          </a:p>
        </p:txBody>
      </p:sp>
    </p:spTree>
    <p:extLst>
      <p:ext uri="{BB962C8B-B14F-4D97-AF65-F5344CB8AC3E}">
        <p14:creationId xmlns:p14="http://schemas.microsoft.com/office/powerpoint/2010/main" val="2559491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C8C4D28-2F20-4943-9568-94BE42D68891}" type="slidenum">
              <a:rPr lang="en-AU" altLang="en-US"/>
              <a:pPr>
                <a:spcBef>
                  <a:spcPct val="0"/>
                </a:spcBef>
              </a:pPr>
              <a:t>7</a:t>
            </a:fld>
            <a:endParaRPr lang="en-AU" altLang="en-US"/>
          </a:p>
        </p:txBody>
      </p:sp>
      <p:sp>
        <p:nvSpPr>
          <p:cNvPr id="20483" name="Rectangle 2"/>
          <p:cNvSpPr>
            <a:spLocks noRo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Table 20.1 gives some examples of packet-filtering rule sets. In each set, the rules are applied top to bottom.</a:t>
            </a:r>
          </a:p>
          <a:p>
            <a:pPr eaLnBrk="1" hangingPunct="1"/>
            <a:r>
              <a:rPr lang="en-US" altLang="en-US" smtClean="0"/>
              <a:t>A. Inbound mail is allowed to a gateway host only (port 25 is for SMTP incoming</a:t>
            </a:r>
          </a:p>
          <a:p>
            <a:pPr eaLnBrk="1" hangingPunct="1"/>
            <a:r>
              <a:rPr lang="en-US" altLang="en-US" smtClean="0"/>
              <a:t>B. explicit statement of the default policy</a:t>
            </a:r>
          </a:p>
          <a:p>
            <a:pPr eaLnBrk="1" hangingPunct="1"/>
            <a:r>
              <a:rPr lang="en-US" altLang="en-US" smtClean="0"/>
              <a:t>C. tries to specify that any inside host can send mail to the outside, but has problem that an outside machine could be configured to have some other application linked to port 25</a:t>
            </a:r>
          </a:p>
          <a:p>
            <a:pPr eaLnBrk="1" hangingPunct="1"/>
            <a:r>
              <a:rPr lang="en-US" altLang="en-US" smtClean="0"/>
              <a:t>D. properly implements mail sending rule, by checking ACK flag of a TCP segment is set </a:t>
            </a:r>
          </a:p>
          <a:p>
            <a:pPr eaLnBrk="1" hangingPunct="1"/>
            <a:r>
              <a:rPr lang="en-US" altLang="en-US" smtClean="0"/>
              <a:t>E. this rule set is one approach to handling FTP connections</a:t>
            </a:r>
            <a:endParaRPr lang="en-AU" altLang="en-US" smtClean="0"/>
          </a:p>
        </p:txBody>
      </p:sp>
    </p:spTree>
    <p:extLst>
      <p:ext uri="{BB962C8B-B14F-4D97-AF65-F5344CB8AC3E}">
        <p14:creationId xmlns:p14="http://schemas.microsoft.com/office/powerpoint/2010/main" val="2210968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2BFB255-BD2B-40D9-803C-40D33512C79A}" type="slidenum">
              <a:rPr lang="en-AU" altLang="en-US"/>
              <a:pPr>
                <a:spcBef>
                  <a:spcPct val="0"/>
                </a:spcBef>
              </a:pPr>
              <a:t>8</a:t>
            </a:fld>
            <a:endParaRPr lang="en-AU" altLang="en-US"/>
          </a:p>
        </p:txBody>
      </p:sp>
      <p:sp>
        <p:nvSpPr>
          <p:cNvPr id="22531" name="Rectangle 2"/>
          <p:cNvSpPr>
            <a:spLocks noRo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Some of the attacks that can be made on packet-filtering routers &amp; countermeasures are:</a:t>
            </a:r>
          </a:p>
          <a:p>
            <a:pPr eaLnBrk="1" hangingPunct="1"/>
            <a:r>
              <a:rPr lang="en-US" altLang="en-US" smtClean="0"/>
              <a:t>• IP address spoofing: where intruder transmits packets from the outside with internal host source IP addr, need to filter &amp; discard such packets</a:t>
            </a:r>
          </a:p>
          <a:p>
            <a:pPr eaLnBrk="1" hangingPunct="1"/>
            <a:r>
              <a:rPr lang="en-US" altLang="en-US" smtClean="0"/>
              <a:t>• Source routing attacks: where source specifies the route that a packet should take to bypass security measures, should discard all source routed packets </a:t>
            </a:r>
          </a:p>
          <a:p>
            <a:pPr eaLnBrk="1" hangingPunct="1"/>
            <a:r>
              <a:rPr lang="en-US" altLang="en-US" smtClean="0"/>
              <a:t>• Tiny fragment attacks: intruder uses the IP fragmentation option to create extremely small fragments and force the TCP header information into a separate fragments to circumvent filtering rules needing full header info, can enforce minimum fragment size to include full header. </a:t>
            </a:r>
          </a:p>
          <a:p>
            <a:pPr eaLnBrk="1" hangingPunct="1"/>
            <a:endParaRPr lang="en-US" altLang="en-US" smtClean="0"/>
          </a:p>
        </p:txBody>
      </p:sp>
    </p:spTree>
    <p:extLst>
      <p:ext uri="{BB962C8B-B14F-4D97-AF65-F5344CB8AC3E}">
        <p14:creationId xmlns:p14="http://schemas.microsoft.com/office/powerpoint/2010/main" val="3763356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316F57D-6E7B-4A53-A9EF-A6D047CDBAE1}" type="slidenum">
              <a:rPr lang="en-AU" altLang="en-US"/>
              <a:pPr>
                <a:spcBef>
                  <a:spcPct val="0"/>
                </a:spcBef>
              </a:pPr>
              <a:t>9</a:t>
            </a:fld>
            <a:endParaRPr lang="en-AU" altLang="en-US"/>
          </a:p>
        </p:txBody>
      </p:sp>
      <p:sp>
        <p:nvSpPr>
          <p:cNvPr id="24579" name="Rectangle 2"/>
          <p:cNvSpPr>
            <a:spLocks noRo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 traditional packet filter makes filtering decisions on an individual packet basis and does not take into consideration any higher layer context. A stateful inspection packet filter tightens up the rules for TCP traffic by creating a directory of outbound TCP connections, and will allow incoming traffic to high-numbered ports only for those packets that fit the profile of one of the entries in this directory. Hence they </a:t>
            </a:r>
            <a:r>
              <a:rPr lang="en-AU" altLang="en-US" smtClean="0"/>
              <a:t>are better able to detect bogus packets sent out of context.</a:t>
            </a:r>
            <a:endParaRPr lang="en-US" altLang="en-US" smtClean="0"/>
          </a:p>
        </p:txBody>
      </p:sp>
    </p:spTree>
    <p:extLst>
      <p:ext uri="{BB962C8B-B14F-4D97-AF65-F5344CB8AC3E}">
        <p14:creationId xmlns:p14="http://schemas.microsoft.com/office/powerpoint/2010/main" val="777879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CC370A2-69CC-47FF-A774-111941440395}" type="slidenum">
              <a:rPr lang="en-AU" altLang="en-US"/>
              <a:pPr>
                <a:spcBef>
                  <a:spcPct val="0"/>
                </a:spcBef>
              </a:pPr>
              <a:t>10</a:t>
            </a:fld>
            <a:endParaRPr lang="en-AU" altLang="en-US"/>
          </a:p>
        </p:txBody>
      </p:sp>
      <p:sp>
        <p:nvSpPr>
          <p:cNvPr id="26627" name="Rectangle 2"/>
          <p:cNvSpPr>
            <a:spLocks noRo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An application-level gateway (or proxy server), acts as a relay of application-level traffic. A user contacts the gateway to access some service, provides details of the service, remote host &amp; authentication details, contacts the application on the remote host and relays all data between the two endpoints. If the gateway does not implement the proxy code for a specific application, then it is not supported and cannot be used. Note that </a:t>
            </a:r>
            <a:r>
              <a:rPr lang="en-AU" altLang="en-US" smtClean="0"/>
              <a:t>some services naturally support proxying, whilst others are more problematic.</a:t>
            </a:r>
            <a:r>
              <a:rPr lang="en-US" altLang="en-US" smtClean="0"/>
              <a:t> Application-level gateways tend to be more secure than packet filters, &amp;can  log and audit traffic at application level. </a:t>
            </a:r>
          </a:p>
        </p:txBody>
      </p:sp>
    </p:spTree>
    <p:extLst>
      <p:ext uri="{BB962C8B-B14F-4D97-AF65-F5344CB8AC3E}">
        <p14:creationId xmlns:p14="http://schemas.microsoft.com/office/powerpoint/2010/main" val="954185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8D9FAC6-5EC5-4064-A264-451EEE733B53}" type="slidenum">
              <a:rPr lang="en-AU" altLang="en-US"/>
              <a:pPr>
                <a:spcBef>
                  <a:spcPct val="0"/>
                </a:spcBef>
              </a:pPr>
              <a:t>11</a:t>
            </a:fld>
            <a:endParaRPr lang="en-AU" altLang="en-US"/>
          </a:p>
        </p:txBody>
      </p:sp>
      <p:sp>
        <p:nvSpPr>
          <p:cNvPr id="28675" name="Rectangle 1026"/>
          <p:cNvSpPr>
            <a:spLocks noRot="1" noChangeArrowheads="1" noTextEdit="1"/>
          </p:cNvSpPr>
          <p:nvPr>
            <p:ph type="sldImg"/>
          </p:nvPr>
        </p:nvSpPr>
        <p:spPr>
          <a:ln/>
        </p:spPr>
      </p:sp>
      <p:sp>
        <p:nvSpPr>
          <p:cNvPr id="28676"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Figure 20.1b illustrates an application-level gateway (or proxy server), emphasizing that it only supports a specific list of application services.</a:t>
            </a:r>
          </a:p>
        </p:txBody>
      </p:sp>
    </p:spTree>
    <p:extLst>
      <p:ext uri="{BB962C8B-B14F-4D97-AF65-F5344CB8AC3E}">
        <p14:creationId xmlns:p14="http://schemas.microsoft.com/office/powerpoint/2010/main" val="1083301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31EC0AC-F5EF-4D91-A153-9060FEA6A624}" type="slidenum">
              <a:rPr lang="en-AU" altLang="en-US"/>
              <a:pPr>
                <a:spcBef>
                  <a:spcPct val="0"/>
                </a:spcBef>
              </a:pPr>
              <a:t>12</a:t>
            </a:fld>
            <a:endParaRPr lang="en-AU" altLang="en-US"/>
          </a:p>
        </p:txBody>
      </p:sp>
      <p:sp>
        <p:nvSpPr>
          <p:cNvPr id="30723" name="Rectangle 1026"/>
          <p:cNvSpPr>
            <a:spLocks noRot="1" noChangeArrowheads="1" noTextEdit="1"/>
          </p:cNvSpPr>
          <p:nvPr>
            <p:ph type="sldImg"/>
          </p:nvPr>
        </p:nvSpPr>
        <p:spPr>
          <a:ln/>
        </p:spPr>
      </p:sp>
      <p:sp>
        <p:nvSpPr>
          <p:cNvPr id="3072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 circuit-level gateway relays two TCP connections, one between itself and an inside TCP user, and the other between itself and a TCP user on an outside host. Once the two connections are established, it relays TCP data from one connection to the other without examining its contents. The security function consists of determining which connections will be allowed. It is typically used when internal users are trusted to decide what external services to access.</a:t>
            </a:r>
          </a:p>
          <a:p>
            <a:pPr eaLnBrk="1" hangingPunct="1"/>
            <a:r>
              <a:rPr lang="en-US" altLang="en-US" smtClean="0"/>
              <a:t>One of the most common circuit-level gateways is SOCKS, defined in RFC 1928. It consists of a SOCKS server on the firewall, and a SOCKS library &amp; SOCKS-aware applications on internal clients.</a:t>
            </a:r>
          </a:p>
        </p:txBody>
      </p:sp>
    </p:spTree>
    <p:extLst>
      <p:ext uri="{BB962C8B-B14F-4D97-AF65-F5344CB8AC3E}">
        <p14:creationId xmlns:p14="http://schemas.microsoft.com/office/powerpoint/2010/main" val="3383840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542031F-EAE3-40ED-81F8-E6086A0625D1}" type="slidenum">
              <a:rPr lang="en-AU" altLang="en-US"/>
              <a:pPr>
                <a:spcBef>
                  <a:spcPct val="0"/>
                </a:spcBef>
              </a:pPr>
              <a:t>13</a:t>
            </a:fld>
            <a:endParaRPr lang="en-AU" altLang="en-US"/>
          </a:p>
        </p:txBody>
      </p:sp>
      <p:sp>
        <p:nvSpPr>
          <p:cNvPr id="32771" name="Rectangle 2"/>
          <p:cNvSpPr>
            <a:spLocks noRo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Figure 20.1c illustrates a circuit-level gateway, showing how it relays between 2 TCP connections. Note that it can be implemented in a stand-alone system or can be a specialized function in an application-level gateway for certain applications. Note also that relaying UDP packets is more problematical, because of the lack of connection context, and require a parallel TCP connection to provide these details.</a:t>
            </a:r>
          </a:p>
          <a:p>
            <a:pPr eaLnBrk="1" hangingPunct="1"/>
            <a:endParaRPr lang="en-US" altLang="en-US" smtClean="0"/>
          </a:p>
        </p:txBody>
      </p:sp>
    </p:spTree>
    <p:extLst>
      <p:ext uri="{BB962C8B-B14F-4D97-AF65-F5344CB8AC3E}">
        <p14:creationId xmlns:p14="http://schemas.microsoft.com/office/powerpoint/2010/main" val="1082509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8149B15-3B64-45C4-987B-BCDDF8275422}" type="slidenum">
              <a:rPr lang="en-AU" altLang="en-US"/>
              <a:pPr>
                <a:spcBef>
                  <a:spcPct val="0"/>
                </a:spcBef>
              </a:pPr>
              <a:t>14</a:t>
            </a:fld>
            <a:endParaRPr lang="en-AU" altLang="en-US"/>
          </a:p>
        </p:txBody>
      </p:sp>
      <p:sp>
        <p:nvSpPr>
          <p:cNvPr id="34819" name="Rectangle 2"/>
          <p:cNvSpPr>
            <a:spLocks noRo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 bastion host is a critical strong point in the network’s security, serving as a platform for an application-level or circuit-level gateway, or for external services. It is thus </a:t>
            </a:r>
            <a:r>
              <a:rPr lang="en-AU" altLang="en-US" smtClean="0"/>
              <a:t>potentially exposed to "hostile" elements and must be secured to withstand this. </a:t>
            </a:r>
            <a:r>
              <a:rPr lang="en-US" altLang="en-US" smtClean="0"/>
              <a:t>Common characteristics of a bastion host include that it:</a:t>
            </a:r>
          </a:p>
          <a:p>
            <a:pPr eaLnBrk="1" hangingPunct="1"/>
            <a:r>
              <a:rPr lang="en-US" altLang="en-US" smtClean="0"/>
              <a:t>• executes a secure version of its O/S, making it a trusted system</a:t>
            </a:r>
          </a:p>
          <a:p>
            <a:pPr eaLnBrk="1" hangingPunct="1"/>
            <a:r>
              <a:rPr lang="en-US" altLang="en-US" smtClean="0"/>
              <a:t>• has only essential services installed on the bastion host</a:t>
            </a:r>
          </a:p>
          <a:p>
            <a:pPr eaLnBrk="1" hangingPunct="1"/>
            <a:r>
              <a:rPr lang="en-US" altLang="en-US" smtClean="0"/>
              <a:t>• may require additional authentication before a user is allowed access to the proxy services</a:t>
            </a:r>
          </a:p>
          <a:p>
            <a:pPr eaLnBrk="1" hangingPunct="1"/>
            <a:r>
              <a:rPr lang="en-US" altLang="en-US" smtClean="0"/>
              <a:t>• is configured to support only a subset of the standard application’s command set, with access only to specific hosts</a:t>
            </a:r>
          </a:p>
          <a:p>
            <a:pPr eaLnBrk="1" hangingPunct="1"/>
            <a:r>
              <a:rPr lang="en-US" altLang="en-US" smtClean="0"/>
              <a:t>• maintains detailed audit information by logging all traffic</a:t>
            </a:r>
          </a:p>
          <a:p>
            <a:pPr eaLnBrk="1" hangingPunct="1"/>
            <a:r>
              <a:rPr lang="en-US" altLang="en-US" smtClean="0"/>
              <a:t>• has each proxy module a very small software package specifically designed for network security</a:t>
            </a:r>
          </a:p>
          <a:p>
            <a:pPr eaLnBrk="1" hangingPunct="1"/>
            <a:r>
              <a:rPr lang="en-US" altLang="en-US" smtClean="0"/>
              <a:t>• has each proxy independent of other proxies on the bastion host</a:t>
            </a:r>
          </a:p>
          <a:p>
            <a:pPr eaLnBrk="1" hangingPunct="1"/>
            <a:r>
              <a:rPr lang="en-US" altLang="en-US" smtClean="0"/>
              <a:t>• have a proxy performs no disk access other than to read its initial configuration file</a:t>
            </a:r>
          </a:p>
          <a:p>
            <a:pPr eaLnBrk="1" hangingPunct="1"/>
            <a:r>
              <a:rPr lang="en-US" altLang="en-US" smtClean="0"/>
              <a:t>• have each proxy run as a nonprivileged user in a private and secured directory</a:t>
            </a:r>
          </a:p>
          <a:p>
            <a:pPr eaLnBrk="1" hangingPunct="1"/>
            <a:r>
              <a:rPr lang="en-US" altLang="en-US" smtClean="0"/>
              <a:t>A bastion host may have two or more network interfaces (or ports), and must </a:t>
            </a:r>
            <a:r>
              <a:rPr lang="en-AU" altLang="en-US" smtClean="0"/>
              <a:t>be trusted to enforce trusted separation between these network connections, relaying traffic only according to policy.</a:t>
            </a:r>
            <a:endParaRPr lang="en-US" altLang="en-US" smtClean="0"/>
          </a:p>
        </p:txBody>
      </p:sp>
    </p:spTree>
    <p:extLst>
      <p:ext uri="{BB962C8B-B14F-4D97-AF65-F5344CB8AC3E}">
        <p14:creationId xmlns:p14="http://schemas.microsoft.com/office/powerpoint/2010/main" val="2317832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2C2315E-1A9B-4D02-8B8B-D909873A79AD}" type="slidenum">
              <a:rPr lang="en-AU" altLang="en-US"/>
              <a:pPr>
                <a:spcBef>
                  <a:spcPct val="0"/>
                </a:spcBef>
              </a:pPr>
              <a:t>15</a:t>
            </a:fld>
            <a:endParaRPr lang="en-AU" altLang="en-US"/>
          </a:p>
        </p:txBody>
      </p:sp>
      <p:sp>
        <p:nvSpPr>
          <p:cNvPr id="36867" name="Rectangle 2"/>
          <p:cNvSpPr>
            <a:spLocks noRo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In addition to the use of a simple configuration consisting of a single system, more complex configurations are possible and indeed more common. Stallings Figure 20.2 illustrates three common firewall configurations.</a:t>
            </a:r>
          </a:p>
          <a:p>
            <a:pPr eaLnBrk="1" hangingPunct="1"/>
            <a:r>
              <a:rPr lang="en-US" altLang="en-US" smtClean="0"/>
              <a:t>Figure 20.2a shows the “screened host firewall, single-homed bastion configuration”, where the firewall consists of two systems: </a:t>
            </a:r>
          </a:p>
          <a:p>
            <a:pPr eaLnBrk="1" hangingPunct="1">
              <a:buFontTx/>
              <a:buChar char="•"/>
            </a:pPr>
            <a:r>
              <a:rPr lang="en-US" altLang="en-US" smtClean="0"/>
              <a:t>a packet-filtering router - allows Internet packets to/from bastion only</a:t>
            </a:r>
          </a:p>
          <a:p>
            <a:pPr eaLnBrk="1" hangingPunct="1">
              <a:buFontTx/>
              <a:buChar char="•"/>
            </a:pPr>
            <a:r>
              <a:rPr lang="en-US" altLang="en-US" smtClean="0"/>
              <a:t>a bastion host - performs authentication and proxy functions</a:t>
            </a:r>
          </a:p>
          <a:p>
            <a:pPr eaLnBrk="1" hangingPunct="1"/>
            <a:r>
              <a:rPr lang="en-US" altLang="en-US" smtClean="0"/>
              <a:t>This configuration has greater security, as it implements both packet-level &amp; application-level filtering, forces an intruder to generally penetrate two separate systems to compromise internal security, &amp; also affords flexibility in providing direct Internet access to specific internal servers (eg web) if desired.</a:t>
            </a:r>
            <a:endParaRPr lang="en-AU" altLang="en-US" smtClean="0"/>
          </a:p>
        </p:txBody>
      </p:sp>
    </p:spTree>
    <p:extLst>
      <p:ext uri="{BB962C8B-B14F-4D97-AF65-F5344CB8AC3E}">
        <p14:creationId xmlns:p14="http://schemas.microsoft.com/office/powerpoint/2010/main" val="6409493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5F49BD1-60FF-4100-9571-DF55BC374772}" type="slidenum">
              <a:rPr lang="en-AU" altLang="en-US"/>
              <a:pPr>
                <a:spcBef>
                  <a:spcPct val="0"/>
                </a:spcBef>
              </a:pPr>
              <a:t>16</a:t>
            </a:fld>
            <a:endParaRPr lang="en-AU" altLang="en-US"/>
          </a:p>
        </p:txBody>
      </p:sp>
      <p:sp>
        <p:nvSpPr>
          <p:cNvPr id="38915" name="Rectangle 2"/>
          <p:cNvSpPr>
            <a:spLocks noRo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Figure 20.2b illustrates the “screened host firewall, dual-homed bastion configuration” which physically separates the external and internal networks, ensuring two systems must be compromised to breach security. The advantages of dual layers of security are also present here. Again, an information server or other hosts can be allowed direct communication with the router if this is in accord with the security policy, but are now separated from the internal network.</a:t>
            </a:r>
            <a:endParaRPr lang="en-AU" altLang="en-US" smtClean="0"/>
          </a:p>
        </p:txBody>
      </p:sp>
    </p:spTree>
    <p:extLst>
      <p:ext uri="{BB962C8B-B14F-4D97-AF65-F5344CB8AC3E}">
        <p14:creationId xmlns:p14="http://schemas.microsoft.com/office/powerpoint/2010/main" val="722459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313C36B-A132-403B-AB79-65CEC97D7FD5}" type="slidenum">
              <a:rPr lang="en-AU" altLang="en-US"/>
              <a:pPr>
                <a:spcBef>
                  <a:spcPct val="0"/>
                </a:spcBef>
              </a:pPr>
              <a:t>17</a:t>
            </a:fld>
            <a:endParaRPr lang="en-AU" altLang="en-US"/>
          </a:p>
        </p:txBody>
      </p:sp>
      <p:sp>
        <p:nvSpPr>
          <p:cNvPr id="40963" name="Rectangle 2"/>
          <p:cNvSpPr>
            <a:spLocks noRo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Figure 20.2c shows the “screened subnet firewall configuration”, being the most secure shown. It has two packet-filtering routers, one between the bastion host and the Internet and the other between the bastion host and the internal network, creating an isolated subnetwork. This may consist of simply the bastion host but may also include one or more information servers and modems for dial-in capability. Typically, both the Internet and the internal network have access to hosts on the screened subnet, but traffic across the screened subnet is blocked.</a:t>
            </a:r>
          </a:p>
          <a:p>
            <a:pPr eaLnBrk="1" hangingPunct="1"/>
            <a:r>
              <a:rPr lang="en-US" altLang="en-US" smtClean="0"/>
              <a:t>This configuration offers several advantages:</a:t>
            </a:r>
          </a:p>
          <a:p>
            <a:pPr eaLnBrk="1" hangingPunct="1"/>
            <a:r>
              <a:rPr lang="en-US" altLang="en-US" smtClean="0"/>
              <a:t>• There are now three levels of defense to thwart intruders</a:t>
            </a:r>
          </a:p>
          <a:p>
            <a:pPr eaLnBrk="1" hangingPunct="1"/>
            <a:r>
              <a:rPr lang="en-US" altLang="en-US" smtClean="0"/>
              <a:t>• The outside router advertises only the existence of the screened subnet to the Internet; therefore the internal network is invisible to the Internet</a:t>
            </a:r>
          </a:p>
          <a:p>
            <a:pPr eaLnBrk="1" hangingPunct="1"/>
            <a:r>
              <a:rPr lang="en-US" altLang="en-US" smtClean="0"/>
              <a:t>• Similarly, the inside router advertises only the existence of the screened subnet to the internal network; hence systems on the inside network cannot construct direct routes to the Internet</a:t>
            </a:r>
            <a:endParaRPr lang="en-AU" altLang="en-US" smtClean="0"/>
          </a:p>
        </p:txBody>
      </p:sp>
    </p:spTree>
    <p:extLst>
      <p:ext uri="{BB962C8B-B14F-4D97-AF65-F5344CB8AC3E}">
        <p14:creationId xmlns:p14="http://schemas.microsoft.com/office/powerpoint/2010/main" val="6489572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2B9C55-B1F5-4DCD-B44C-56F4D10DFF02}" type="datetime1">
              <a:rPr lang="en-US" smtClean="0"/>
              <a:t>14/8/2018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14/8/2018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14/8/2018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14/8/2018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14/8/2018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14/8/2018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14/8/2018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14/8/2018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14/8/2018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14/8/2018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14/8/2018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8E2B9C55-B1F5-4DCD-B44C-56F4D10DFF02}" type="datetime1">
              <a:rPr lang="en-US" smtClean="0"/>
              <a:t>14/8/2018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400036773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14/8/2018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39203731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14/8/2018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43306039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14/8/2018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76888586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14/8/2018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01473344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14/8/2018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29369069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14/8/2018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4413763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14/8/2018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4715060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14/8/2018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543651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14/8/2018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03154626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14/8/2018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80822584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14/8/2018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14/8/2018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6892658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3"/>
          <p:cNvSpPr>
            <a:spLocks noGrp="1"/>
          </p:cNvSpPr>
          <p:nvPr>
            <p:ph type="ctrTitle"/>
          </p:nvPr>
        </p:nvSpPr>
        <p:spPr>
          <a:xfrm>
            <a:off x="1295400" y="4669596"/>
            <a:ext cx="6934200" cy="1981200"/>
          </a:xfrm>
        </p:spPr>
        <p:txBody>
          <a:bodyPr/>
          <a:lstStyle/>
          <a:p>
            <a:pPr eaLnBrk="1" hangingPunct="1"/>
            <a:r>
              <a:rPr lang="en-US" dirty="0" smtClean="0"/>
              <a:t>5. </a:t>
            </a:r>
            <a:r>
              <a:rPr lang="en-US" dirty="0" smtClean="0"/>
              <a:t>Network Security</a:t>
            </a:r>
            <a:endParaRPr lang="en-US" dirty="0" smtClean="0"/>
          </a:p>
        </p:txBody>
      </p:sp>
      <p:sp>
        <p:nvSpPr>
          <p:cNvPr id="4" name="Title 1"/>
          <p:cNvSpPr txBox="1">
            <a:spLocks/>
          </p:cNvSpPr>
          <p:nvPr/>
        </p:nvSpPr>
        <p:spPr>
          <a:xfrm>
            <a:off x="4876800" y="2209800"/>
            <a:ext cx="3886200" cy="1981200"/>
          </a:xfrm>
          <a:prstGeom prst="rect">
            <a:avLst/>
          </a:prstGeom>
        </p:spPr>
        <p:txBody>
          <a:bodyPr vert="horz" lIns="91440" tIns="45720" rIns="91440" bIns="45720" rtlCol="0" anchor="ctr">
            <a:normAutofit fontScale="8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mtClean="0"/>
              <a:t>Operating Systems and Computer Security</a:t>
            </a:r>
            <a:endParaRPr lang="en-US" dirty="0"/>
          </a:p>
        </p:txBody>
      </p:sp>
      <p:sp>
        <p:nvSpPr>
          <p:cNvPr id="9" name="Title 3"/>
          <p:cNvSpPr txBox="1">
            <a:spLocks/>
          </p:cNvSpPr>
          <p:nvPr/>
        </p:nvSpPr>
        <p:spPr>
          <a:xfrm>
            <a:off x="2057400" y="12510"/>
            <a:ext cx="3886200" cy="1981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dirty="0" smtClean="0"/>
              <a:t>Firewalls </a:t>
            </a:r>
            <a:endParaRPr lang="en-US" altLang="en-US" dirty="0" smtClean="0"/>
          </a:p>
        </p:txBody>
      </p:sp>
    </p:spTree>
    <p:extLst>
      <p:ext uri="{BB962C8B-B14F-4D97-AF65-F5344CB8AC3E}">
        <p14:creationId xmlns:p14="http://schemas.microsoft.com/office/powerpoint/2010/main" val="26102779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mtClean="0"/>
              <a:t>Introduction</a:t>
            </a:r>
            <a:endParaRPr lang="en-AU" altLang="en-US" smtClean="0"/>
          </a:p>
        </p:txBody>
      </p:sp>
      <p:sp>
        <p:nvSpPr>
          <p:cNvPr id="9219" name="Rectangle 3"/>
          <p:cNvSpPr>
            <a:spLocks noGrp="1" noChangeArrowheads="1"/>
          </p:cNvSpPr>
          <p:nvPr>
            <p:ph idx="1"/>
          </p:nvPr>
        </p:nvSpPr>
        <p:spPr/>
        <p:txBody>
          <a:bodyPr/>
          <a:lstStyle/>
          <a:p>
            <a:pPr eaLnBrk="1" hangingPunct="1">
              <a:lnSpc>
                <a:spcPct val="90000"/>
              </a:lnSpc>
            </a:pPr>
            <a:r>
              <a:rPr lang="en-US" altLang="en-US" sz="2800" smtClean="0"/>
              <a:t>seen evolution of information systems</a:t>
            </a:r>
            <a:endParaRPr lang="en-AU" altLang="en-US" sz="2800" smtClean="0"/>
          </a:p>
          <a:p>
            <a:pPr eaLnBrk="1" hangingPunct="1">
              <a:lnSpc>
                <a:spcPct val="90000"/>
              </a:lnSpc>
            </a:pPr>
            <a:r>
              <a:rPr lang="en-AU" altLang="en-US" sz="2800" smtClean="0"/>
              <a:t>now everyone want to be on the Internet </a:t>
            </a:r>
          </a:p>
          <a:p>
            <a:pPr eaLnBrk="1" hangingPunct="1">
              <a:lnSpc>
                <a:spcPct val="90000"/>
              </a:lnSpc>
            </a:pPr>
            <a:r>
              <a:rPr lang="en-AU" altLang="en-US" sz="2800" smtClean="0"/>
              <a:t>and to interconnect networks </a:t>
            </a:r>
          </a:p>
          <a:p>
            <a:pPr eaLnBrk="1" hangingPunct="1">
              <a:lnSpc>
                <a:spcPct val="90000"/>
              </a:lnSpc>
            </a:pPr>
            <a:r>
              <a:rPr lang="en-AU" altLang="en-US" sz="2800" smtClean="0"/>
              <a:t>has persistent security concerns</a:t>
            </a:r>
          </a:p>
          <a:p>
            <a:pPr lvl="1" eaLnBrk="1" hangingPunct="1">
              <a:lnSpc>
                <a:spcPct val="90000"/>
              </a:lnSpc>
            </a:pPr>
            <a:r>
              <a:rPr lang="en-US" altLang="en-US" sz="2400" smtClean="0"/>
              <a:t>can’t easily secure every system in org</a:t>
            </a:r>
            <a:endParaRPr lang="en-AU" altLang="en-US" sz="2400" smtClean="0"/>
          </a:p>
          <a:p>
            <a:pPr eaLnBrk="1" hangingPunct="1">
              <a:lnSpc>
                <a:spcPct val="90000"/>
              </a:lnSpc>
            </a:pPr>
            <a:r>
              <a:rPr lang="en-AU" altLang="en-US" sz="2800" smtClean="0"/>
              <a:t>typically use a </a:t>
            </a:r>
            <a:r>
              <a:rPr lang="en-AU" altLang="en-US" sz="2800" b="1" smtClean="0"/>
              <a:t>Firewall</a:t>
            </a:r>
            <a:endParaRPr lang="en-AU" altLang="en-US" sz="2800" smtClean="0"/>
          </a:p>
          <a:p>
            <a:pPr eaLnBrk="1" hangingPunct="1">
              <a:lnSpc>
                <a:spcPct val="90000"/>
              </a:lnSpc>
            </a:pPr>
            <a:r>
              <a:rPr lang="en-AU" altLang="en-US" sz="2800" smtClean="0"/>
              <a:t>to provide </a:t>
            </a:r>
            <a:r>
              <a:rPr lang="en-AU" altLang="en-US" sz="2800" b="1" smtClean="0"/>
              <a:t>perimeter defence</a:t>
            </a:r>
            <a:endParaRPr lang="en-AU" altLang="en-US" sz="2800" smtClean="0"/>
          </a:p>
          <a:p>
            <a:pPr eaLnBrk="1" hangingPunct="1">
              <a:lnSpc>
                <a:spcPct val="90000"/>
              </a:lnSpc>
            </a:pPr>
            <a:r>
              <a:rPr lang="en-AU" altLang="en-US" sz="2800" smtClean="0"/>
              <a:t>as part of comprehensive security strategy</a:t>
            </a:r>
          </a:p>
          <a:p>
            <a:pPr eaLnBrk="1" hangingPunct="1">
              <a:lnSpc>
                <a:spcPct val="90000"/>
              </a:lnSpc>
              <a:buFont typeface="Wingdings" panose="05000000000000000000" pitchFamily="2" charset="2"/>
              <a:buNone/>
            </a:pPr>
            <a:endParaRPr lang="en-AU" altLang="en-US" sz="2800" smtClean="0"/>
          </a:p>
        </p:txBody>
      </p:sp>
    </p:spTree>
    <p:extLst>
      <p:ext uri="{BB962C8B-B14F-4D97-AF65-F5344CB8AC3E}">
        <p14:creationId xmlns:p14="http://schemas.microsoft.com/office/powerpoint/2010/main" val="274104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AU" altLang="en-US" smtClean="0"/>
              <a:t>What is a Firewall?</a:t>
            </a:r>
          </a:p>
        </p:txBody>
      </p:sp>
      <p:sp>
        <p:nvSpPr>
          <p:cNvPr id="11267" name="Rectangle 3"/>
          <p:cNvSpPr>
            <a:spLocks noGrp="1" noChangeArrowheads="1"/>
          </p:cNvSpPr>
          <p:nvPr>
            <p:ph idx="1"/>
          </p:nvPr>
        </p:nvSpPr>
        <p:spPr>
          <a:xfrm>
            <a:off x="457200" y="1676400"/>
            <a:ext cx="8229600" cy="4876800"/>
          </a:xfrm>
        </p:spPr>
        <p:txBody>
          <a:bodyPr/>
          <a:lstStyle/>
          <a:p>
            <a:pPr eaLnBrk="1" hangingPunct="1">
              <a:lnSpc>
                <a:spcPct val="90000"/>
              </a:lnSpc>
            </a:pPr>
            <a:r>
              <a:rPr lang="en-AU" altLang="en-US" smtClean="0"/>
              <a:t>a </a:t>
            </a:r>
            <a:r>
              <a:rPr lang="en-AU" altLang="en-US" b="1" smtClean="0"/>
              <a:t>choke point</a:t>
            </a:r>
            <a:r>
              <a:rPr lang="en-AU" altLang="en-US" smtClean="0"/>
              <a:t> of control and monitoring interconnects networks with differing trust</a:t>
            </a:r>
          </a:p>
          <a:p>
            <a:pPr eaLnBrk="1" hangingPunct="1">
              <a:lnSpc>
                <a:spcPct val="90000"/>
              </a:lnSpc>
            </a:pPr>
            <a:r>
              <a:rPr lang="en-AU" altLang="en-US" smtClean="0"/>
              <a:t>imposes restrictions on network services</a:t>
            </a:r>
          </a:p>
          <a:p>
            <a:pPr lvl="1" eaLnBrk="1" hangingPunct="1">
              <a:lnSpc>
                <a:spcPct val="90000"/>
              </a:lnSpc>
            </a:pPr>
            <a:r>
              <a:rPr lang="en-AU" altLang="en-US" smtClean="0"/>
              <a:t>only authorized traffic is allowed </a:t>
            </a:r>
          </a:p>
          <a:p>
            <a:pPr eaLnBrk="1" hangingPunct="1">
              <a:lnSpc>
                <a:spcPct val="90000"/>
              </a:lnSpc>
            </a:pPr>
            <a:r>
              <a:rPr lang="en-AU" altLang="en-US" smtClean="0"/>
              <a:t>auditing and controlling access</a:t>
            </a:r>
          </a:p>
          <a:p>
            <a:pPr lvl="1" eaLnBrk="1" hangingPunct="1">
              <a:lnSpc>
                <a:spcPct val="90000"/>
              </a:lnSpc>
            </a:pPr>
            <a:r>
              <a:rPr lang="en-US" altLang="en-US" smtClean="0"/>
              <a:t>can implement alarms for abnormal behavior</a:t>
            </a:r>
          </a:p>
          <a:p>
            <a:pPr eaLnBrk="1" hangingPunct="1">
              <a:lnSpc>
                <a:spcPct val="90000"/>
              </a:lnSpc>
            </a:pPr>
            <a:r>
              <a:rPr lang="en-AU" altLang="en-US" smtClean="0"/>
              <a:t>provide NAT &amp; usage monitoring</a:t>
            </a:r>
          </a:p>
          <a:p>
            <a:pPr eaLnBrk="1" hangingPunct="1">
              <a:lnSpc>
                <a:spcPct val="90000"/>
              </a:lnSpc>
            </a:pPr>
            <a:r>
              <a:rPr lang="en-AU" altLang="en-US" smtClean="0"/>
              <a:t>implement VPNs using IPSec</a:t>
            </a:r>
          </a:p>
          <a:p>
            <a:pPr eaLnBrk="1" hangingPunct="1">
              <a:lnSpc>
                <a:spcPct val="90000"/>
              </a:lnSpc>
            </a:pPr>
            <a:r>
              <a:rPr lang="en-US" altLang="en-US" smtClean="0"/>
              <a:t>must be immune to penetration</a:t>
            </a:r>
            <a:endParaRPr lang="en-AU" altLang="en-US" smtClean="0"/>
          </a:p>
        </p:txBody>
      </p:sp>
    </p:spTree>
    <p:extLst>
      <p:ext uri="{BB962C8B-B14F-4D97-AF65-F5344CB8AC3E}">
        <p14:creationId xmlns:p14="http://schemas.microsoft.com/office/powerpoint/2010/main" val="3863589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smtClean="0"/>
              <a:t>Firewall Limitations</a:t>
            </a:r>
            <a:endParaRPr lang="en-AU" altLang="en-US" smtClean="0"/>
          </a:p>
        </p:txBody>
      </p:sp>
      <p:sp>
        <p:nvSpPr>
          <p:cNvPr id="13315" name="Rectangle 3"/>
          <p:cNvSpPr>
            <a:spLocks noGrp="1" noChangeArrowheads="1"/>
          </p:cNvSpPr>
          <p:nvPr>
            <p:ph idx="1"/>
          </p:nvPr>
        </p:nvSpPr>
        <p:spPr/>
        <p:txBody>
          <a:bodyPr/>
          <a:lstStyle/>
          <a:p>
            <a:pPr eaLnBrk="1" hangingPunct="1"/>
            <a:r>
              <a:rPr lang="en-US" altLang="en-US" smtClean="0"/>
              <a:t>cannot protect from attacks bypassing it</a:t>
            </a:r>
          </a:p>
          <a:p>
            <a:pPr lvl="1" eaLnBrk="1" hangingPunct="1"/>
            <a:r>
              <a:rPr lang="en-AU" altLang="en-US" smtClean="0"/>
              <a:t>eg sneaker net, utility modems, trusted organisations, trusted services (eg SSL/SSH)</a:t>
            </a:r>
          </a:p>
          <a:p>
            <a:pPr eaLnBrk="1" hangingPunct="1"/>
            <a:r>
              <a:rPr lang="en-US" altLang="en-US" smtClean="0"/>
              <a:t>cannot protect against internal threats</a:t>
            </a:r>
          </a:p>
          <a:p>
            <a:pPr lvl="1" eaLnBrk="1" hangingPunct="1"/>
            <a:r>
              <a:rPr lang="en-US" altLang="en-US" smtClean="0"/>
              <a:t>eg disgruntled or colluding employees</a:t>
            </a:r>
          </a:p>
          <a:p>
            <a:pPr eaLnBrk="1" hangingPunct="1"/>
            <a:r>
              <a:rPr lang="en-US" altLang="en-US" smtClean="0"/>
              <a:t>cannot protect against transfer of all virus infected programs or files</a:t>
            </a:r>
          </a:p>
          <a:p>
            <a:pPr lvl="1" eaLnBrk="1" hangingPunct="1"/>
            <a:r>
              <a:rPr lang="en-US" altLang="en-US" smtClean="0"/>
              <a:t>because of huge range of O/S &amp; file types</a:t>
            </a:r>
            <a:endParaRPr lang="en-AU" altLang="en-US" smtClean="0"/>
          </a:p>
        </p:txBody>
      </p:sp>
    </p:spTree>
    <p:extLst>
      <p:ext uri="{BB962C8B-B14F-4D97-AF65-F5344CB8AC3E}">
        <p14:creationId xmlns:p14="http://schemas.microsoft.com/office/powerpoint/2010/main" val="2396311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mtClean="0"/>
              <a:t>Firewalls – Packet Filters</a:t>
            </a:r>
            <a:endParaRPr lang="en-AU" altLang="en-US" smtClean="0"/>
          </a:p>
        </p:txBody>
      </p:sp>
      <p:sp>
        <p:nvSpPr>
          <p:cNvPr id="7171" name="Rectangle 3"/>
          <p:cNvSpPr>
            <a:spLocks noGrp="1" noChangeArrowheads="1"/>
          </p:cNvSpPr>
          <p:nvPr>
            <p:ph idx="1"/>
          </p:nvPr>
        </p:nvSpPr>
        <p:spPr/>
        <p:txBody>
          <a:bodyPr rtlCol="0">
            <a:normAutofit lnSpcReduction="10000"/>
          </a:bodyPr>
          <a:lstStyle/>
          <a:p>
            <a:pPr eaLnBrk="1" fontAlgn="auto" hangingPunct="1">
              <a:spcAft>
                <a:spcPts val="0"/>
              </a:spcAft>
              <a:defRPr/>
            </a:pPr>
            <a:r>
              <a:rPr lang="en-AU" smtClean="0"/>
              <a:t>simplest, fastest firewall component </a:t>
            </a:r>
          </a:p>
          <a:p>
            <a:pPr eaLnBrk="1" fontAlgn="auto" hangingPunct="1">
              <a:spcAft>
                <a:spcPts val="0"/>
              </a:spcAft>
              <a:defRPr/>
            </a:pPr>
            <a:r>
              <a:rPr lang="en-AU" smtClean="0"/>
              <a:t>foundation of any firewall system </a:t>
            </a:r>
          </a:p>
          <a:p>
            <a:pPr eaLnBrk="1" fontAlgn="auto" hangingPunct="1">
              <a:spcAft>
                <a:spcPts val="0"/>
              </a:spcAft>
              <a:defRPr/>
            </a:pPr>
            <a:r>
              <a:rPr lang="en-AU" smtClean="0"/>
              <a:t>examine each IP packet (no context) and permit or deny according to rules </a:t>
            </a:r>
          </a:p>
          <a:p>
            <a:pPr eaLnBrk="1" fontAlgn="auto" hangingPunct="1">
              <a:spcAft>
                <a:spcPts val="0"/>
              </a:spcAft>
              <a:defRPr/>
            </a:pPr>
            <a:r>
              <a:rPr lang="en-AU" smtClean="0"/>
              <a:t>hence restrict access to services (ports)</a:t>
            </a:r>
          </a:p>
          <a:p>
            <a:pPr eaLnBrk="1" fontAlgn="auto" hangingPunct="1">
              <a:spcAft>
                <a:spcPts val="0"/>
              </a:spcAft>
              <a:defRPr/>
            </a:pPr>
            <a:r>
              <a:rPr lang="en-US" smtClean="0"/>
              <a:t>possible default policies</a:t>
            </a:r>
          </a:p>
          <a:p>
            <a:pPr lvl="1" eaLnBrk="1" fontAlgn="auto" hangingPunct="1">
              <a:spcAft>
                <a:spcPts val="0"/>
              </a:spcAft>
              <a:defRPr/>
            </a:pPr>
            <a:r>
              <a:rPr lang="en-AU" smtClean="0"/>
              <a:t>that not expressly permitted is prohibited </a:t>
            </a:r>
          </a:p>
          <a:p>
            <a:pPr lvl="1" eaLnBrk="1" fontAlgn="auto" hangingPunct="1">
              <a:spcAft>
                <a:spcPts val="0"/>
              </a:spcAft>
              <a:defRPr/>
            </a:pPr>
            <a:r>
              <a:rPr lang="en-AU" smtClean="0"/>
              <a:t>that not expressly prohibited is permitted</a:t>
            </a:r>
          </a:p>
        </p:txBody>
      </p:sp>
    </p:spTree>
    <p:extLst>
      <p:ext uri="{BB962C8B-B14F-4D97-AF65-F5344CB8AC3E}">
        <p14:creationId xmlns:p14="http://schemas.microsoft.com/office/powerpoint/2010/main" val="3107039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smtClean="0"/>
              <a:t>Firewalls – Packet Filters</a:t>
            </a:r>
            <a:endParaRPr lang="en-AU" altLang="en-US" smtClean="0"/>
          </a:p>
        </p:txBody>
      </p:sp>
      <p:pic>
        <p:nvPicPr>
          <p:cNvPr id="17411" name="Picture 5" descr="Ch20. Firewall Type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l="4633" t="3580" r="4633" b="69801"/>
          <a:stretch>
            <a:fillRect/>
          </a:stretch>
        </p:blipFill>
        <p:spPr bwMode="auto">
          <a:xfrm>
            <a:off x="1066800" y="2514600"/>
            <a:ext cx="705167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5688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smtClean="0"/>
              <a:t>Firewalls – Packet Filters</a:t>
            </a:r>
            <a:endParaRPr lang="en-AU" altLang="en-US" smtClean="0"/>
          </a:p>
        </p:txBody>
      </p:sp>
      <p:pic>
        <p:nvPicPr>
          <p:cNvPr id="1945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600200"/>
            <a:ext cx="8424863" cy="459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4441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mtClean="0"/>
              <a:t>Attacks on Packet Filters</a:t>
            </a:r>
            <a:endParaRPr lang="en-AU" altLang="en-US" smtClean="0"/>
          </a:p>
        </p:txBody>
      </p:sp>
      <p:sp>
        <p:nvSpPr>
          <p:cNvPr id="21507" name="Rectangle 3"/>
          <p:cNvSpPr>
            <a:spLocks noGrp="1" noChangeArrowheads="1"/>
          </p:cNvSpPr>
          <p:nvPr>
            <p:ph idx="1"/>
          </p:nvPr>
        </p:nvSpPr>
        <p:spPr/>
        <p:txBody>
          <a:bodyPr>
            <a:normAutofit lnSpcReduction="10000"/>
          </a:bodyPr>
          <a:lstStyle/>
          <a:p>
            <a:pPr eaLnBrk="1" hangingPunct="1">
              <a:lnSpc>
                <a:spcPct val="90000"/>
              </a:lnSpc>
            </a:pPr>
            <a:r>
              <a:rPr lang="en-US" altLang="en-US" smtClean="0"/>
              <a:t>IP address spoofing</a:t>
            </a:r>
          </a:p>
          <a:p>
            <a:pPr lvl="1" eaLnBrk="1" hangingPunct="1">
              <a:lnSpc>
                <a:spcPct val="90000"/>
              </a:lnSpc>
            </a:pPr>
            <a:r>
              <a:rPr lang="en-US" altLang="en-US" smtClean="0"/>
              <a:t>fake source address to be trusted</a:t>
            </a:r>
          </a:p>
          <a:p>
            <a:pPr lvl="1" eaLnBrk="1" hangingPunct="1">
              <a:lnSpc>
                <a:spcPct val="90000"/>
              </a:lnSpc>
            </a:pPr>
            <a:r>
              <a:rPr lang="en-US" altLang="en-US" smtClean="0"/>
              <a:t>add filters on router to block</a:t>
            </a:r>
          </a:p>
          <a:p>
            <a:pPr eaLnBrk="1" hangingPunct="1">
              <a:lnSpc>
                <a:spcPct val="90000"/>
              </a:lnSpc>
            </a:pPr>
            <a:r>
              <a:rPr lang="en-US" altLang="en-US" smtClean="0"/>
              <a:t>source routing attacks</a:t>
            </a:r>
          </a:p>
          <a:p>
            <a:pPr lvl="1" eaLnBrk="1" hangingPunct="1">
              <a:lnSpc>
                <a:spcPct val="90000"/>
              </a:lnSpc>
            </a:pPr>
            <a:r>
              <a:rPr lang="en-US" altLang="en-US" smtClean="0"/>
              <a:t>attacker sets a route other than default</a:t>
            </a:r>
          </a:p>
          <a:p>
            <a:pPr lvl="1" eaLnBrk="1" hangingPunct="1">
              <a:lnSpc>
                <a:spcPct val="90000"/>
              </a:lnSpc>
            </a:pPr>
            <a:r>
              <a:rPr lang="en-US" altLang="en-US" smtClean="0"/>
              <a:t>block source routed packets</a:t>
            </a:r>
          </a:p>
          <a:p>
            <a:pPr eaLnBrk="1" hangingPunct="1">
              <a:lnSpc>
                <a:spcPct val="90000"/>
              </a:lnSpc>
            </a:pPr>
            <a:r>
              <a:rPr lang="en-US" altLang="en-US" smtClean="0"/>
              <a:t>tiny fragment attacks</a:t>
            </a:r>
          </a:p>
          <a:p>
            <a:pPr lvl="1" eaLnBrk="1" hangingPunct="1">
              <a:lnSpc>
                <a:spcPct val="90000"/>
              </a:lnSpc>
            </a:pPr>
            <a:r>
              <a:rPr lang="en-US" altLang="en-US" smtClean="0"/>
              <a:t>split header info over several tiny packets</a:t>
            </a:r>
          </a:p>
          <a:p>
            <a:pPr lvl="1" eaLnBrk="1" hangingPunct="1">
              <a:lnSpc>
                <a:spcPct val="90000"/>
              </a:lnSpc>
            </a:pPr>
            <a:r>
              <a:rPr lang="en-US" altLang="en-US" smtClean="0"/>
              <a:t>either discard or reassemble before check</a:t>
            </a:r>
            <a:endParaRPr lang="en-AU" altLang="en-US" smtClean="0"/>
          </a:p>
        </p:txBody>
      </p:sp>
    </p:spTree>
    <p:extLst>
      <p:ext uri="{BB962C8B-B14F-4D97-AF65-F5344CB8AC3E}">
        <p14:creationId xmlns:p14="http://schemas.microsoft.com/office/powerpoint/2010/main" val="1262421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sz="4000" smtClean="0"/>
              <a:t>Firewalls – Stateful Packet Filters</a:t>
            </a:r>
            <a:endParaRPr lang="en-AU" altLang="en-US" sz="4000" smtClean="0"/>
          </a:p>
        </p:txBody>
      </p:sp>
      <p:sp>
        <p:nvSpPr>
          <p:cNvPr id="23555" name="Rectangle 3"/>
          <p:cNvSpPr>
            <a:spLocks noGrp="1" noChangeArrowheads="1"/>
          </p:cNvSpPr>
          <p:nvPr>
            <p:ph idx="1"/>
          </p:nvPr>
        </p:nvSpPr>
        <p:spPr/>
        <p:txBody>
          <a:bodyPr>
            <a:normAutofit lnSpcReduction="10000"/>
          </a:bodyPr>
          <a:lstStyle/>
          <a:p>
            <a:pPr eaLnBrk="1" hangingPunct="1">
              <a:lnSpc>
                <a:spcPct val="90000"/>
              </a:lnSpc>
            </a:pPr>
            <a:r>
              <a:rPr lang="en-AU" altLang="en-US" smtClean="0"/>
              <a:t>traditional packet filters do not examine higher layer context</a:t>
            </a:r>
          </a:p>
          <a:p>
            <a:pPr lvl="1" eaLnBrk="1" hangingPunct="1">
              <a:lnSpc>
                <a:spcPct val="90000"/>
              </a:lnSpc>
            </a:pPr>
            <a:r>
              <a:rPr lang="en-AU" altLang="en-US" smtClean="0"/>
              <a:t>ie matching return packets with outgoing flow</a:t>
            </a:r>
          </a:p>
          <a:p>
            <a:pPr eaLnBrk="1" hangingPunct="1">
              <a:lnSpc>
                <a:spcPct val="90000"/>
              </a:lnSpc>
            </a:pPr>
            <a:r>
              <a:rPr lang="en-US" altLang="en-US" smtClean="0"/>
              <a:t>stateful packet filters address this need</a:t>
            </a:r>
            <a:endParaRPr lang="en-AU" altLang="en-US" smtClean="0"/>
          </a:p>
          <a:p>
            <a:pPr eaLnBrk="1" hangingPunct="1">
              <a:lnSpc>
                <a:spcPct val="90000"/>
              </a:lnSpc>
            </a:pPr>
            <a:r>
              <a:rPr lang="en-AU" altLang="en-US" smtClean="0"/>
              <a:t>they examine each IP packet in context</a:t>
            </a:r>
          </a:p>
          <a:p>
            <a:pPr lvl="1" eaLnBrk="1" hangingPunct="1">
              <a:lnSpc>
                <a:spcPct val="90000"/>
              </a:lnSpc>
            </a:pPr>
            <a:r>
              <a:rPr lang="en-US" altLang="en-US" smtClean="0"/>
              <a:t>keep track of client-server sessions</a:t>
            </a:r>
          </a:p>
          <a:p>
            <a:pPr lvl="1" eaLnBrk="1" hangingPunct="1">
              <a:lnSpc>
                <a:spcPct val="90000"/>
              </a:lnSpc>
            </a:pPr>
            <a:r>
              <a:rPr lang="en-US" altLang="en-US" smtClean="0"/>
              <a:t>check each packet validly belongs to one</a:t>
            </a:r>
            <a:endParaRPr lang="en-AU" altLang="en-US" smtClean="0"/>
          </a:p>
          <a:p>
            <a:pPr eaLnBrk="1" hangingPunct="1">
              <a:lnSpc>
                <a:spcPct val="90000"/>
              </a:lnSpc>
            </a:pPr>
            <a:r>
              <a:rPr lang="en-AU" altLang="en-US" smtClean="0"/>
              <a:t>hence are better able to detect bogus packets out of context </a:t>
            </a:r>
          </a:p>
        </p:txBody>
      </p:sp>
    </p:spTree>
    <p:extLst>
      <p:ext uri="{BB962C8B-B14F-4D97-AF65-F5344CB8AC3E}">
        <p14:creationId xmlns:p14="http://schemas.microsoft.com/office/powerpoint/2010/main" val="2881298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fontScale="90000"/>
          </a:bodyPr>
          <a:lstStyle/>
          <a:p>
            <a:pPr eaLnBrk="1" hangingPunct="1"/>
            <a:r>
              <a:rPr lang="en-US" altLang="en-US" sz="4000" smtClean="0"/>
              <a:t>Firewalls - </a:t>
            </a:r>
            <a:r>
              <a:rPr lang="en-AU" altLang="en-US" sz="4000" smtClean="0"/>
              <a:t>Application Level Gateway (or Proxy)</a:t>
            </a:r>
          </a:p>
        </p:txBody>
      </p:sp>
      <p:sp>
        <p:nvSpPr>
          <p:cNvPr id="25603" name="Rectangle 3"/>
          <p:cNvSpPr>
            <a:spLocks noGrp="1" noChangeArrowheads="1"/>
          </p:cNvSpPr>
          <p:nvPr>
            <p:ph idx="1"/>
          </p:nvPr>
        </p:nvSpPr>
        <p:spPr>
          <a:xfrm>
            <a:off x="457200" y="1676400"/>
            <a:ext cx="8229600" cy="4953000"/>
          </a:xfrm>
        </p:spPr>
        <p:txBody>
          <a:bodyPr/>
          <a:lstStyle/>
          <a:p>
            <a:pPr eaLnBrk="1" hangingPunct="1"/>
            <a:r>
              <a:rPr lang="en-AU" altLang="en-US" smtClean="0"/>
              <a:t>have application specific gateway / proxy </a:t>
            </a:r>
          </a:p>
          <a:p>
            <a:pPr eaLnBrk="1" hangingPunct="1"/>
            <a:r>
              <a:rPr lang="en-AU" altLang="en-US" smtClean="0"/>
              <a:t>has full access to protocol </a:t>
            </a:r>
          </a:p>
          <a:p>
            <a:pPr lvl="1" eaLnBrk="1" hangingPunct="1"/>
            <a:r>
              <a:rPr lang="en-AU" altLang="en-US" smtClean="0"/>
              <a:t>user requests service from proxy </a:t>
            </a:r>
          </a:p>
          <a:p>
            <a:pPr lvl="1" eaLnBrk="1" hangingPunct="1"/>
            <a:r>
              <a:rPr lang="en-AU" altLang="en-US" smtClean="0"/>
              <a:t>proxy validates request as legal </a:t>
            </a:r>
          </a:p>
          <a:p>
            <a:pPr lvl="1" eaLnBrk="1" hangingPunct="1"/>
            <a:r>
              <a:rPr lang="en-AU" altLang="en-US" smtClean="0"/>
              <a:t>then actions request and returns result to user</a:t>
            </a:r>
          </a:p>
          <a:p>
            <a:pPr lvl="1" eaLnBrk="1" hangingPunct="1"/>
            <a:r>
              <a:rPr lang="en-AU" altLang="en-US" smtClean="0"/>
              <a:t>can log / audit traffic at application level </a:t>
            </a:r>
          </a:p>
          <a:p>
            <a:pPr eaLnBrk="1" hangingPunct="1"/>
            <a:r>
              <a:rPr lang="en-AU" altLang="en-US" smtClean="0"/>
              <a:t>need separate proxies for each service </a:t>
            </a:r>
          </a:p>
          <a:p>
            <a:pPr lvl="1" eaLnBrk="1" hangingPunct="1"/>
            <a:r>
              <a:rPr lang="en-AU" altLang="en-US" smtClean="0"/>
              <a:t>some services naturally support proxying </a:t>
            </a:r>
          </a:p>
          <a:p>
            <a:pPr lvl="1" eaLnBrk="1" hangingPunct="1"/>
            <a:r>
              <a:rPr lang="en-AU" altLang="en-US" smtClean="0"/>
              <a:t>others are more problematic </a:t>
            </a:r>
          </a:p>
        </p:txBody>
      </p:sp>
    </p:spTree>
    <p:extLst>
      <p:ext uri="{BB962C8B-B14F-4D97-AF65-F5344CB8AC3E}">
        <p14:creationId xmlns:p14="http://schemas.microsoft.com/office/powerpoint/2010/main" val="4286751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fontScale="90000"/>
          </a:bodyPr>
          <a:lstStyle/>
          <a:p>
            <a:pPr eaLnBrk="1" hangingPunct="1"/>
            <a:r>
              <a:rPr lang="en-US" altLang="en-US" sz="4000" smtClean="0"/>
              <a:t>Firewalls - </a:t>
            </a:r>
            <a:r>
              <a:rPr lang="en-AU" altLang="en-US" sz="4000" smtClean="0"/>
              <a:t>Application Level Gateway (or Proxy)</a:t>
            </a:r>
          </a:p>
        </p:txBody>
      </p:sp>
      <p:pic>
        <p:nvPicPr>
          <p:cNvPr id="27651" name="Picture 5" descr="Ch20. Firewall Type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l="4633" t="28636" r="4633" b="41165"/>
          <a:stretch>
            <a:fillRect/>
          </a:stretch>
        </p:blipFill>
        <p:spPr bwMode="auto">
          <a:xfrm>
            <a:off x="1143000" y="2438400"/>
            <a:ext cx="7051675" cy="302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3320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sz="4000" smtClean="0"/>
              <a:t>Firewalls - </a:t>
            </a:r>
            <a:r>
              <a:rPr lang="en-AU" altLang="en-US" sz="4000" smtClean="0"/>
              <a:t>Circuit Level Gateway</a:t>
            </a:r>
          </a:p>
        </p:txBody>
      </p:sp>
      <p:sp>
        <p:nvSpPr>
          <p:cNvPr id="29699" name="Rectangle 3"/>
          <p:cNvSpPr>
            <a:spLocks noGrp="1" noChangeArrowheads="1"/>
          </p:cNvSpPr>
          <p:nvPr>
            <p:ph idx="1"/>
          </p:nvPr>
        </p:nvSpPr>
        <p:spPr/>
        <p:txBody>
          <a:bodyPr>
            <a:normAutofit lnSpcReduction="10000"/>
          </a:bodyPr>
          <a:lstStyle/>
          <a:p>
            <a:pPr eaLnBrk="1" hangingPunct="1"/>
            <a:r>
              <a:rPr lang="en-US" altLang="en-US" smtClean="0"/>
              <a:t>relays two TCP connections</a:t>
            </a:r>
          </a:p>
          <a:p>
            <a:pPr eaLnBrk="1" hangingPunct="1"/>
            <a:r>
              <a:rPr lang="en-US" altLang="en-US" smtClean="0"/>
              <a:t>imposes security by limiting which such connections are allowed</a:t>
            </a:r>
          </a:p>
          <a:p>
            <a:pPr eaLnBrk="1" hangingPunct="1"/>
            <a:r>
              <a:rPr lang="en-US" altLang="en-US" smtClean="0"/>
              <a:t>once created usually relays traffic without examining contents</a:t>
            </a:r>
          </a:p>
          <a:p>
            <a:pPr eaLnBrk="1" hangingPunct="1"/>
            <a:r>
              <a:rPr lang="en-US" altLang="en-US" smtClean="0"/>
              <a:t>typically used when trust internal users by allowing general outbound connections</a:t>
            </a:r>
          </a:p>
          <a:p>
            <a:pPr eaLnBrk="1" hangingPunct="1"/>
            <a:r>
              <a:rPr lang="en-US" altLang="en-US" smtClean="0"/>
              <a:t>SOCKS is commonly used</a:t>
            </a:r>
            <a:endParaRPr lang="en-AU" altLang="en-US" smtClean="0"/>
          </a:p>
        </p:txBody>
      </p:sp>
    </p:spTree>
    <p:extLst>
      <p:ext uri="{BB962C8B-B14F-4D97-AF65-F5344CB8AC3E}">
        <p14:creationId xmlns:p14="http://schemas.microsoft.com/office/powerpoint/2010/main" val="140974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sz="4000" smtClean="0"/>
              <a:t>Firewalls - </a:t>
            </a:r>
            <a:r>
              <a:rPr lang="en-AU" altLang="en-US" sz="4000" smtClean="0"/>
              <a:t>Circuit Level Gateway</a:t>
            </a:r>
          </a:p>
        </p:txBody>
      </p:sp>
      <p:pic>
        <p:nvPicPr>
          <p:cNvPr id="31747" name="Picture 6" descr="Ch20. Firewall Type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l="4633" t="57272" r="4633" b="12529"/>
          <a:stretch>
            <a:fillRect/>
          </a:stretch>
        </p:blipFill>
        <p:spPr bwMode="auto">
          <a:xfrm>
            <a:off x="1143000" y="2492375"/>
            <a:ext cx="7051675" cy="302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6601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AU" altLang="en-US" smtClean="0"/>
              <a:t>Bastion Host</a:t>
            </a:r>
          </a:p>
        </p:txBody>
      </p:sp>
      <p:sp>
        <p:nvSpPr>
          <p:cNvPr id="33795" name="Rectangle 3"/>
          <p:cNvSpPr>
            <a:spLocks noGrp="1" noChangeArrowheads="1"/>
          </p:cNvSpPr>
          <p:nvPr>
            <p:ph idx="1"/>
          </p:nvPr>
        </p:nvSpPr>
        <p:spPr>
          <a:xfrm>
            <a:off x="457200" y="1676400"/>
            <a:ext cx="8229600" cy="4800600"/>
          </a:xfrm>
        </p:spPr>
        <p:txBody>
          <a:bodyPr/>
          <a:lstStyle/>
          <a:p>
            <a:pPr eaLnBrk="1" hangingPunct="1">
              <a:lnSpc>
                <a:spcPct val="90000"/>
              </a:lnSpc>
            </a:pPr>
            <a:r>
              <a:rPr lang="en-AU" altLang="en-US" sz="2800" smtClean="0"/>
              <a:t>highly secure host system </a:t>
            </a:r>
          </a:p>
          <a:p>
            <a:pPr eaLnBrk="1" hangingPunct="1">
              <a:lnSpc>
                <a:spcPct val="90000"/>
              </a:lnSpc>
            </a:pPr>
            <a:r>
              <a:rPr lang="en-AU" altLang="en-US" sz="2800" smtClean="0"/>
              <a:t>runs circuit / application level gateways </a:t>
            </a:r>
          </a:p>
          <a:p>
            <a:pPr eaLnBrk="1" hangingPunct="1">
              <a:lnSpc>
                <a:spcPct val="90000"/>
              </a:lnSpc>
            </a:pPr>
            <a:r>
              <a:rPr lang="en-AU" altLang="en-US" sz="2800" smtClean="0"/>
              <a:t>or provides externally accessible services</a:t>
            </a:r>
          </a:p>
          <a:p>
            <a:pPr eaLnBrk="1" hangingPunct="1">
              <a:lnSpc>
                <a:spcPct val="90000"/>
              </a:lnSpc>
            </a:pPr>
            <a:r>
              <a:rPr lang="en-AU" altLang="en-US" sz="2800" smtClean="0"/>
              <a:t>potentially exposed to "hostile" elements </a:t>
            </a:r>
          </a:p>
          <a:p>
            <a:pPr eaLnBrk="1" hangingPunct="1">
              <a:lnSpc>
                <a:spcPct val="90000"/>
              </a:lnSpc>
            </a:pPr>
            <a:r>
              <a:rPr lang="en-AU" altLang="en-US" sz="2800" smtClean="0"/>
              <a:t>hence is secured to withstand this</a:t>
            </a:r>
          </a:p>
          <a:p>
            <a:pPr lvl="1" eaLnBrk="1" hangingPunct="1">
              <a:lnSpc>
                <a:spcPct val="90000"/>
              </a:lnSpc>
            </a:pPr>
            <a:r>
              <a:rPr lang="en-AU" altLang="en-US" sz="2400" smtClean="0"/>
              <a:t>hardened O/S, essential services, extra auth</a:t>
            </a:r>
          </a:p>
          <a:p>
            <a:pPr lvl="1" eaLnBrk="1" hangingPunct="1">
              <a:lnSpc>
                <a:spcPct val="90000"/>
              </a:lnSpc>
            </a:pPr>
            <a:r>
              <a:rPr lang="en-AU" altLang="en-US" sz="2400" smtClean="0"/>
              <a:t>proxies small, secure, independent, non-privileged </a:t>
            </a:r>
          </a:p>
          <a:p>
            <a:pPr eaLnBrk="1" hangingPunct="1">
              <a:lnSpc>
                <a:spcPct val="90000"/>
              </a:lnSpc>
            </a:pPr>
            <a:r>
              <a:rPr lang="en-AU" altLang="en-US" sz="2800" smtClean="0"/>
              <a:t>may support 2 or more net connections</a:t>
            </a:r>
          </a:p>
          <a:p>
            <a:pPr eaLnBrk="1" hangingPunct="1">
              <a:lnSpc>
                <a:spcPct val="90000"/>
              </a:lnSpc>
            </a:pPr>
            <a:r>
              <a:rPr lang="en-AU" altLang="en-US" sz="2800" smtClean="0"/>
              <a:t>may be trusted to enforce policy of trusted separation between these net connections</a:t>
            </a:r>
          </a:p>
        </p:txBody>
      </p:sp>
    </p:spTree>
    <p:extLst>
      <p:ext uri="{BB962C8B-B14F-4D97-AF65-F5344CB8AC3E}">
        <p14:creationId xmlns:p14="http://schemas.microsoft.com/office/powerpoint/2010/main" val="541006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smtClean="0"/>
              <a:t>Firewall Configurations</a:t>
            </a:r>
            <a:endParaRPr lang="en-AU" altLang="en-US" smtClean="0"/>
          </a:p>
        </p:txBody>
      </p:sp>
      <p:pic>
        <p:nvPicPr>
          <p:cNvPr id="35843" name="Picture 5" descr="Ch20. Firewall Config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t="3580" b="68011"/>
          <a:stretch>
            <a:fillRect/>
          </a:stretch>
        </p:blipFill>
        <p:spPr bwMode="auto">
          <a:xfrm>
            <a:off x="685800" y="2438400"/>
            <a:ext cx="7772400" cy="285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4668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en-US" smtClean="0"/>
              <a:t>Firewall Configurations</a:t>
            </a:r>
            <a:endParaRPr lang="en-AU" altLang="en-US" smtClean="0"/>
          </a:p>
        </p:txBody>
      </p:sp>
      <p:pic>
        <p:nvPicPr>
          <p:cNvPr id="37891" name="Picture 5" descr="Ch20. Firewall Config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t="30426" b="41165"/>
          <a:stretch>
            <a:fillRect/>
          </a:stretch>
        </p:blipFill>
        <p:spPr bwMode="auto">
          <a:xfrm>
            <a:off x="685800" y="2438400"/>
            <a:ext cx="7772400" cy="285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1793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en-US" smtClean="0"/>
              <a:t>Firewall Configurations</a:t>
            </a:r>
            <a:endParaRPr lang="en-AU" altLang="en-US" smtClean="0"/>
          </a:p>
        </p:txBody>
      </p:sp>
      <p:pic>
        <p:nvPicPr>
          <p:cNvPr id="39939" name="Picture 5" descr="Ch20. Firewall Config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t="57988" b="14319"/>
          <a:stretch>
            <a:fillRect/>
          </a:stretch>
        </p:blipFill>
        <p:spPr bwMode="auto">
          <a:xfrm>
            <a:off x="685800" y="2433638"/>
            <a:ext cx="7772400" cy="278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1065558"/>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1411</TotalTime>
  <Words>2317</Words>
  <Application>Microsoft Office PowerPoint</Application>
  <PresentationFormat>On-screen Show (4:3)</PresentationFormat>
  <Paragraphs>160</Paragraphs>
  <Slides>17</Slides>
  <Notes>17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Calibri</vt:lpstr>
      <vt:lpstr>Times</vt:lpstr>
      <vt:lpstr>Wingdings</vt:lpstr>
      <vt:lpstr>HNDIT</vt:lpstr>
      <vt:lpstr>1_HNDIT</vt:lpstr>
      <vt:lpstr>5. Network Security</vt:lpstr>
      <vt:lpstr>Introduction</vt:lpstr>
      <vt:lpstr>What is a Firewall?</vt:lpstr>
      <vt:lpstr>Firewall Limitations</vt:lpstr>
      <vt:lpstr>Firewalls – Packet Filters</vt:lpstr>
      <vt:lpstr>Firewalls – Packet Filters</vt:lpstr>
      <vt:lpstr>Firewalls – Packet Filters</vt:lpstr>
      <vt:lpstr>Attacks on Packet Filters</vt:lpstr>
      <vt:lpstr>Firewalls – Stateful Packet Filters</vt:lpstr>
      <vt:lpstr>Firewalls - Application Level Gateway (or Proxy)</vt:lpstr>
      <vt:lpstr>Firewalls - Application Level Gateway (or Proxy)</vt:lpstr>
      <vt:lpstr>Firewalls - Circuit Level Gateway</vt:lpstr>
      <vt:lpstr>Firewalls - Circuit Level Gateway</vt:lpstr>
      <vt:lpstr>Bastion Host</vt:lpstr>
      <vt:lpstr>Firewall Configurations</vt:lpstr>
      <vt:lpstr>Firewall Configurations</vt:lpstr>
      <vt:lpstr>Firewall Configurations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Asus X55</dc:creator>
  <cp:lastModifiedBy>Admin</cp:lastModifiedBy>
  <cp:revision>175</cp:revision>
  <dcterms:created xsi:type="dcterms:W3CDTF">2014-03-07T13:02:25Z</dcterms:created>
  <dcterms:modified xsi:type="dcterms:W3CDTF">2018-08-14T10:29:16Z</dcterms:modified>
</cp:coreProperties>
</file>