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17"/>
  </p:notesMasterIdLst>
  <p:sldIdLst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0246C-083D-4977-886C-AD69EC833187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14D91-2D63-41EA-9CD5-49C3380F9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695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82151E-2A52-48BB-BBDB-F5CE99D25891}" type="slidenum">
              <a:rPr lang="en-AU" altLang="en-US" smtClean="0"/>
              <a:pPr>
                <a:spcBef>
                  <a:spcPct val="0"/>
                </a:spcBef>
              </a:pPr>
              <a:t>3</a:t>
            </a:fld>
            <a:endParaRPr lang="en-AU" altLang="en-US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AU" altLang="en-US" i="1" smtClean="0">
                <a:latin typeface="Arial" panose="020B0604020202020204" pitchFamily="34" charset="0"/>
              </a:rPr>
              <a:t>All traditional schemes are </a:t>
            </a:r>
            <a:r>
              <a:rPr lang="en-AU" altLang="en-US" b="1" i="1" smtClean="0">
                <a:latin typeface="Arial" panose="020B0604020202020204" pitchFamily="34" charset="0"/>
              </a:rPr>
              <a:t>symmetric</a:t>
            </a:r>
            <a:r>
              <a:rPr lang="en-AU" altLang="en-US" i="1" smtClean="0">
                <a:latin typeface="Arial" panose="020B0604020202020204" pitchFamily="34" charset="0"/>
              </a:rPr>
              <a:t> / </a:t>
            </a:r>
            <a:r>
              <a:rPr lang="en-AU" altLang="en-US" b="1" i="1" smtClean="0">
                <a:latin typeface="Arial" panose="020B0604020202020204" pitchFamily="34" charset="0"/>
              </a:rPr>
              <a:t>single key</a:t>
            </a:r>
            <a:r>
              <a:rPr lang="en-AU" altLang="en-US" i="1" smtClean="0">
                <a:latin typeface="Arial" panose="020B0604020202020204" pitchFamily="34" charset="0"/>
              </a:rPr>
              <a:t> / </a:t>
            </a:r>
            <a:r>
              <a:rPr lang="en-AU" altLang="en-US" b="1" i="1" smtClean="0">
                <a:latin typeface="Arial" panose="020B0604020202020204" pitchFamily="34" charset="0"/>
              </a:rPr>
              <a:t>private-key</a:t>
            </a:r>
            <a:r>
              <a:rPr lang="en-AU" altLang="en-US" i="1" smtClean="0">
                <a:latin typeface="Arial" panose="020B0604020202020204" pitchFamily="34" charset="0"/>
              </a:rPr>
              <a:t> encryption algorithms, with a </a:t>
            </a:r>
            <a:r>
              <a:rPr lang="en-AU" altLang="en-US" b="1" i="1" smtClean="0">
                <a:latin typeface="Arial" panose="020B0604020202020204" pitchFamily="34" charset="0"/>
              </a:rPr>
              <a:t>single key</a:t>
            </a:r>
            <a:r>
              <a:rPr lang="en-AU" altLang="en-US" i="1" smtClean="0">
                <a:latin typeface="Arial" panose="020B0604020202020204" pitchFamily="34" charset="0"/>
              </a:rPr>
              <a:t>, used for both encryption and decryption, since both sender and receiver are equivalent, either can encrypt or decrypt messages using that common key.</a:t>
            </a:r>
            <a:r>
              <a:rPr lang="en-AU" altLang="en-US" smtClean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6736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4C9177-ABA2-4107-A912-14AD2A5092D0}" type="slidenum">
              <a:rPr lang="en-AU" altLang="en-US" smtClean="0"/>
              <a:pPr>
                <a:spcBef>
                  <a:spcPct val="0"/>
                </a:spcBef>
              </a:pPr>
              <a:t>4</a:t>
            </a:fld>
            <a:endParaRPr lang="en-AU" altLang="en-US" smtClean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Briefly review some terminology used throughout the course. </a:t>
            </a:r>
          </a:p>
        </p:txBody>
      </p:sp>
    </p:spTree>
    <p:extLst>
      <p:ext uri="{BB962C8B-B14F-4D97-AF65-F5344CB8AC3E}">
        <p14:creationId xmlns:p14="http://schemas.microsoft.com/office/powerpoint/2010/main" val="2504845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B29458-2577-4CB1-B00F-2472FD734DAB}" type="slidenum">
              <a:rPr lang="en-AU" altLang="en-US" smtClean="0"/>
              <a:pPr>
                <a:spcBef>
                  <a:spcPct val="0"/>
                </a:spcBef>
              </a:pPr>
              <a:t>6</a:t>
            </a:fld>
            <a:endParaRPr lang="en-AU" altLang="en-US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Detail 5 ingredients of the symmetric cipher model:</a:t>
            </a:r>
          </a:p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  <a:p>
            <a:pPr eaLnBrk="1" hangingPunct="1">
              <a:buFontTx/>
              <a:buChar char="-"/>
            </a:pPr>
            <a:r>
              <a:rPr lang="en-US" altLang="en-US" smtClean="0">
                <a:latin typeface="Arial" panose="020B0604020202020204" pitchFamily="34" charset="0"/>
              </a:rPr>
              <a:t>plaintext</a:t>
            </a:r>
          </a:p>
          <a:p>
            <a:pPr eaLnBrk="1" hangingPunct="1">
              <a:buFontTx/>
              <a:buChar char="-"/>
            </a:pPr>
            <a:r>
              <a:rPr lang="en-US" altLang="en-US" smtClean="0">
                <a:latin typeface="Arial" panose="020B0604020202020204" pitchFamily="34" charset="0"/>
              </a:rPr>
              <a:t>encryption algorithm – performs substitutions/transformations on plaintext</a:t>
            </a:r>
          </a:p>
          <a:p>
            <a:pPr eaLnBrk="1" hangingPunct="1">
              <a:buFontTx/>
              <a:buChar char="-"/>
            </a:pPr>
            <a:r>
              <a:rPr lang="en-US" altLang="en-US" smtClean="0">
                <a:latin typeface="Arial" panose="020B0604020202020204" pitchFamily="34" charset="0"/>
              </a:rPr>
              <a:t>secret key – control exact substitutions/transformations used in encryption algorithm</a:t>
            </a:r>
          </a:p>
          <a:p>
            <a:pPr eaLnBrk="1" hangingPunct="1">
              <a:buFontTx/>
              <a:buChar char="-"/>
            </a:pPr>
            <a:r>
              <a:rPr lang="en-US" altLang="en-US" smtClean="0">
                <a:latin typeface="Arial" panose="020B0604020202020204" pitchFamily="34" charset="0"/>
              </a:rPr>
              <a:t>ciphertext</a:t>
            </a:r>
          </a:p>
          <a:p>
            <a:pPr eaLnBrk="1" hangingPunct="1">
              <a:buFontTx/>
              <a:buChar char="-"/>
            </a:pPr>
            <a:r>
              <a:rPr lang="en-US" altLang="en-US" smtClean="0">
                <a:latin typeface="Arial" panose="020B0604020202020204" pitchFamily="34" charset="0"/>
              </a:rPr>
              <a:t>decryption algorithm – inverse of encryption algorithm</a:t>
            </a:r>
            <a:endParaRPr lang="en-AU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115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1FBF955-4BAB-4D43-92ED-D0A715F2CB75}" type="slidenum">
              <a:rPr lang="en-AU" altLang="en-US" smtClean="0"/>
              <a:pPr>
                <a:spcBef>
                  <a:spcPct val="0"/>
                </a:spcBef>
              </a:pPr>
              <a:t>7</a:t>
            </a:fld>
            <a:endParaRPr lang="en-AU" altLang="en-US" smtClean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Generally assume that the algorithm is known.</a:t>
            </a:r>
          </a:p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This allows easy distribution of s/w and h/w implementations.</a:t>
            </a:r>
          </a:p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Hence assume just keeping key secret is sufficient to secure encrypted messages.</a:t>
            </a:r>
          </a:p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Have plaintext X, ciphertext Y, key K, encryption alg Ek, decryption alg Dk.</a:t>
            </a:r>
          </a:p>
          <a:p>
            <a:pPr eaLnBrk="1" hangingPunct="1"/>
            <a:endParaRPr lang="en-AU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942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DC1DE4-EE00-4AD0-8966-3C911E55AB83}" type="slidenum">
              <a:rPr lang="en-AU" altLang="en-US" smtClean="0"/>
              <a:pPr>
                <a:spcBef>
                  <a:spcPct val="0"/>
                </a:spcBef>
              </a:pPr>
              <a:t>10</a:t>
            </a:fld>
            <a:endParaRPr lang="en-AU" altLang="en-US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Unconditional security would be nice, but the only known such cipher is the </a:t>
            </a:r>
            <a:r>
              <a:rPr lang="en-AU" altLang="en-US" b="1" smtClean="0">
                <a:latin typeface="Arial" panose="020B0604020202020204" pitchFamily="34" charset="0"/>
              </a:rPr>
              <a:t>one-time pad</a:t>
            </a:r>
            <a:r>
              <a:rPr lang="en-AU" altLang="en-US" smtClean="0">
                <a:latin typeface="Arial" panose="020B0604020202020204" pitchFamily="34" charset="0"/>
              </a:rPr>
              <a:t> (later). For all reasonable encryption algorithms, have to assume computational security where it either takes too long, or is too expensive, to bother breaking the cipher. </a:t>
            </a:r>
          </a:p>
        </p:txBody>
      </p:sp>
    </p:spTree>
    <p:extLst>
      <p:ext uri="{BB962C8B-B14F-4D97-AF65-F5344CB8AC3E}">
        <p14:creationId xmlns:p14="http://schemas.microsoft.com/office/powerpoint/2010/main" val="3653515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94B7A84-7E16-4727-9B1C-4E6AE563358A}" type="slidenum">
              <a:rPr lang="en-AU" altLang="en-US" smtClean="0"/>
              <a:pPr>
                <a:spcBef>
                  <a:spcPct val="0"/>
                </a:spcBef>
              </a:pPr>
              <a:t>11</a:t>
            </a:fld>
            <a:endParaRPr lang="en-AU" alt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In this section and the next, we examine a sampling of what might be called classical encryption</a:t>
            </a:r>
          </a:p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techniques. A study of these techniques enables us to illustrate the basic approaches to</a:t>
            </a:r>
          </a:p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symmetric encryption used today and the types of cryptanalytic attacks that must be anticipated.</a:t>
            </a:r>
          </a:p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The two basic building blocks of all encryption techniques: substitution and transposition.</a:t>
            </a:r>
          </a:p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We examine these in the next two sections. Finally, we discuss a system that combine both</a:t>
            </a:r>
          </a:p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substitution and transposition.</a:t>
            </a:r>
          </a:p>
          <a:p>
            <a:pPr eaLnBrk="1" hangingPunct="1"/>
            <a:endParaRPr lang="en-AU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536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B42D505-5710-42F3-AAE7-146812A2ED62}" type="slidenum">
              <a:rPr lang="en-AU" altLang="en-US" smtClean="0"/>
              <a:pPr>
                <a:spcBef>
                  <a:spcPct val="0"/>
                </a:spcBef>
              </a:pPr>
              <a:t>12</a:t>
            </a:fld>
            <a:endParaRPr lang="en-AU" alt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Substitution ciphers form the first of the fundamental building blocks. The core idea is to replace one basic unit (letter/byte) with another. Whilst the early Greeks described several substitution ciphers, the first attested use in military affairs of one was by Julius Caesar, described by him in </a:t>
            </a:r>
            <a:r>
              <a:rPr lang="en-AU" altLang="en-US" i="1" smtClean="0">
                <a:latin typeface="Arial" panose="020B0604020202020204" pitchFamily="34" charset="0"/>
              </a:rPr>
              <a:t>Gallic Wars</a:t>
            </a:r>
            <a:r>
              <a:rPr lang="en-AU" altLang="en-US" smtClean="0">
                <a:latin typeface="Arial" panose="020B0604020202020204" pitchFamily="34" charset="0"/>
              </a:rPr>
              <a:t> (cf. Kahn pp83-84). Still call any cipher using a simple letter shift a </a:t>
            </a:r>
            <a:r>
              <a:rPr lang="en-AU" altLang="en-US" b="1" smtClean="0">
                <a:latin typeface="Arial" panose="020B0604020202020204" pitchFamily="34" charset="0"/>
              </a:rPr>
              <a:t>caesar cipher</a:t>
            </a:r>
            <a:r>
              <a:rPr lang="en-AU" altLang="en-US" smtClean="0">
                <a:latin typeface="Arial" panose="020B0604020202020204" pitchFamily="34" charset="0"/>
              </a:rPr>
              <a:t>, not just those with shift 3. </a:t>
            </a:r>
          </a:p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Note: </a:t>
            </a:r>
            <a:r>
              <a:rPr lang="en-AU" altLang="en-US" smtClean="0">
                <a:latin typeface="Arial" panose="020B0604020202020204" pitchFamily="34" charset="0"/>
              </a:rPr>
              <a:t>when letters are involved, the following conventions are used in this course: Plaintext is always in lowercase; ciphertext is in uppercase; key values are in italicized lowercase.</a:t>
            </a:r>
          </a:p>
          <a:p>
            <a:pPr eaLnBrk="1" hangingPunct="1"/>
            <a:endParaRPr lang="en-AU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798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576C77B-018C-4A12-877E-0E352B005899}" type="slidenum">
              <a:rPr lang="en-AU" altLang="en-US" smtClean="0"/>
              <a:pPr>
                <a:spcBef>
                  <a:spcPct val="0"/>
                </a:spcBef>
              </a:pPr>
              <a:t>13</a:t>
            </a:fld>
            <a:endParaRPr lang="en-AU" alt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This mathematical description uses </a:t>
            </a:r>
            <a:r>
              <a:rPr lang="en-AU" altLang="en-US" b="1" smtClean="0">
                <a:latin typeface="Arial" panose="020B0604020202020204" pitchFamily="34" charset="0"/>
              </a:rPr>
              <a:t>modulo arithmetic</a:t>
            </a:r>
            <a:r>
              <a:rPr lang="en-AU" altLang="en-US" smtClean="0">
                <a:latin typeface="Arial" panose="020B0604020202020204" pitchFamily="34" charset="0"/>
              </a:rPr>
              <a:t> (ie clock arithmetic). Here, when you reach Z you go back to A and start again. Mod 26 implies that when you reach 26, you use 0 instead (ie the letter after Z, or 25 + 1 goes to A or 0). </a:t>
            </a:r>
          </a:p>
          <a:p>
            <a:pPr eaLnBrk="1" hangingPunct="1"/>
            <a:endParaRPr lang="en-AU" alt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Example: howdy (7,14,22,3,24) encrypted using key </a:t>
            </a:r>
            <a:r>
              <a:rPr lang="en-AU" altLang="en-US" i="1" smtClean="0">
                <a:latin typeface="Arial" panose="020B0604020202020204" pitchFamily="34" charset="0"/>
              </a:rPr>
              <a:t>f</a:t>
            </a:r>
            <a:r>
              <a:rPr lang="en-AU" altLang="en-US" smtClean="0">
                <a:latin typeface="Arial" panose="020B0604020202020204" pitchFamily="34" charset="0"/>
              </a:rPr>
              <a:t> (5) is MTBID</a:t>
            </a:r>
          </a:p>
        </p:txBody>
      </p:sp>
    </p:spTree>
    <p:extLst>
      <p:ext uri="{BB962C8B-B14F-4D97-AF65-F5344CB8AC3E}">
        <p14:creationId xmlns:p14="http://schemas.microsoft.com/office/powerpoint/2010/main" val="1889265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7F7BEF-5979-4B1E-B699-B21CF26CF44C}" type="slidenum">
              <a:rPr lang="en-AU" altLang="en-US" smtClean="0"/>
              <a:pPr>
                <a:spcBef>
                  <a:spcPct val="0"/>
                </a:spcBef>
              </a:pPr>
              <a:t>14</a:t>
            </a:fld>
            <a:endParaRPr lang="en-AU" alt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With a caesar cipher, there are only 26 possible keys, of which only 25 are of any use, since mapping A to A etc doesn't really obscure the message! cf. basic rule of cryptanalysis "check to ensure the cipher operator hasn't goofed and sent a plaintext message by mistake"! </a:t>
            </a:r>
          </a:p>
          <a:p>
            <a:pPr eaLnBrk="1" hangingPunct="1"/>
            <a:endParaRPr lang="en-AU" alt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Can try each of the keys (shifts) in turn, until can recognise the original message. </a:t>
            </a:r>
            <a:r>
              <a:rPr lang="en-US" altLang="en-US" smtClean="0">
                <a:latin typeface="Arial" panose="020B0604020202020204" pitchFamily="34" charset="0"/>
              </a:rPr>
              <a:t>See Stallings Fig 2.3 for example of search.</a:t>
            </a:r>
            <a:endParaRPr lang="en-AU" altLang="en-US" smtClean="0">
              <a:latin typeface="Arial" panose="020B0604020202020204" pitchFamily="34" charset="0"/>
            </a:endParaRPr>
          </a:p>
          <a:p>
            <a:pPr eaLnBrk="1" hangingPunct="1"/>
            <a:endParaRPr lang="en-AU" alt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Note: as mentioned before, do need to be able to </a:t>
            </a:r>
            <a:r>
              <a:rPr lang="en-AU" altLang="en-US" b="1" smtClean="0">
                <a:latin typeface="Arial" panose="020B0604020202020204" pitchFamily="34" charset="0"/>
              </a:rPr>
              <a:t>recognise</a:t>
            </a:r>
            <a:r>
              <a:rPr lang="en-AU" altLang="en-US" smtClean="0">
                <a:latin typeface="Arial" panose="020B0604020202020204" pitchFamily="34" charset="0"/>
              </a:rPr>
              <a:t> when have an original message (ie is it English or whatever). Usually easy for humans, hard for computers. Though if using say compressed data could be much harder.</a:t>
            </a:r>
          </a:p>
          <a:p>
            <a:pPr eaLnBrk="1" hangingPunct="1"/>
            <a:endParaRPr lang="en-AU" altLang="en-US" smtClean="0">
              <a:latin typeface="Arial" panose="020B0604020202020204" pitchFamily="34" charset="0"/>
            </a:endParaRPr>
          </a:p>
          <a:p>
            <a:pPr eaLnBrk="1" hangingPunct="1"/>
            <a:r>
              <a:rPr lang="en-AU" altLang="en-US" smtClean="0">
                <a:latin typeface="Arial" panose="020B0604020202020204" pitchFamily="34" charset="0"/>
              </a:rPr>
              <a:t>Example "GCUA VQ DTGCM" when broken gives "easy to break", with a shift of 2 (key C). </a:t>
            </a:r>
          </a:p>
        </p:txBody>
      </p:sp>
    </p:spTree>
    <p:extLst>
      <p:ext uri="{BB962C8B-B14F-4D97-AF65-F5344CB8AC3E}">
        <p14:creationId xmlns:p14="http://schemas.microsoft.com/office/powerpoint/2010/main" val="2342014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367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3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85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3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9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37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0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36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4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16016" y="2387600"/>
            <a:ext cx="4214813" cy="1470025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Basic Cryptography</a:t>
            </a:r>
            <a:endParaRPr lang="en-AU" altLang="en-US" dirty="0" smtClean="0"/>
          </a:p>
        </p:txBody>
      </p:sp>
      <p:sp>
        <p:nvSpPr>
          <p:cNvPr id="5123" name="TextBox 6"/>
          <p:cNvSpPr txBox="1">
            <a:spLocks noChangeArrowheads="1"/>
          </p:cNvSpPr>
          <p:nvPr/>
        </p:nvSpPr>
        <p:spPr bwMode="auto">
          <a:xfrm>
            <a:off x="4814291" y="3852934"/>
            <a:ext cx="4143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Week – </a:t>
            </a:r>
            <a:r>
              <a:rPr lang="en-US" altLang="en-US" dirty="0" smtClean="0">
                <a:latin typeface="Arial" panose="020B0604020202020204" pitchFamily="34" charset="0"/>
              </a:rPr>
              <a:t>2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476250"/>
            <a:ext cx="9144000" cy="492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HNDIT2301: Operating System and Information Security</a:t>
            </a:r>
            <a:endParaRPr 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537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8229600" cy="1944688"/>
          </a:xfrm>
        </p:spPr>
        <p:txBody>
          <a:bodyPr/>
          <a:lstStyle/>
          <a:p>
            <a:pPr eaLnBrk="1" hangingPunct="1"/>
            <a:r>
              <a:rPr lang="en-AU" altLang="en-US" sz="4000" smtClean="0"/>
              <a:t>Classical Encryption</a:t>
            </a:r>
            <a:br>
              <a:rPr lang="en-AU" altLang="en-US" sz="4000" smtClean="0"/>
            </a:br>
            <a:r>
              <a:rPr lang="en-AU" altLang="en-US" sz="4000" smtClean="0"/>
              <a:t>Techniques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2357438"/>
            <a:ext cx="8229600" cy="39893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AU" altLang="en-US" i="1" smtClean="0"/>
              <a:t>Many savages at the present day regard their names as vital parts of themselves, and therefore take great pains to conceal their real names, lest these should give to evil-disposed persons a handle by which to injure their owners. </a:t>
            </a:r>
            <a:r>
              <a:rPr lang="en-AU" altLang="en-US" b="1" smtClean="0"/>
              <a:t>—</a:t>
            </a:r>
            <a:r>
              <a:rPr lang="en-AU" altLang="en-US" b="1" i="1" smtClean="0"/>
              <a:t>The Golden Bough, </a:t>
            </a:r>
            <a:r>
              <a:rPr lang="en-AU" altLang="en-US" b="1" smtClean="0"/>
              <a:t>Sir James George Frazer</a:t>
            </a:r>
            <a:endParaRPr lang="en-AU" altLang="en-US" smtClean="0"/>
          </a:p>
          <a:p>
            <a:pPr eaLnBrk="1" hangingPunct="1">
              <a:buFontTx/>
              <a:buNone/>
            </a:pPr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1266626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Symmetric Encryption</a:t>
            </a:r>
            <a:endParaRPr lang="en-AU" altLang="en-US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or conventional / </a:t>
            </a:r>
            <a:r>
              <a:rPr lang="en-AU" altLang="en-US" smtClean="0"/>
              <a:t>private-key</a:t>
            </a:r>
            <a:r>
              <a:rPr lang="en-US" altLang="en-US" smtClean="0"/>
              <a:t>  / single-key</a:t>
            </a:r>
          </a:p>
          <a:p>
            <a:pPr eaLnBrk="1" hangingPunct="1"/>
            <a:r>
              <a:rPr lang="en-AU" altLang="en-US" smtClean="0"/>
              <a:t>sender and recipient share a common key</a:t>
            </a:r>
          </a:p>
          <a:p>
            <a:pPr eaLnBrk="1" hangingPunct="1"/>
            <a:r>
              <a:rPr lang="en-AU" altLang="en-US" smtClean="0"/>
              <a:t>all classical encryption algorithms are private-key</a:t>
            </a:r>
          </a:p>
          <a:p>
            <a:pPr eaLnBrk="1" hangingPunct="1"/>
            <a:r>
              <a:rPr lang="en-US" altLang="en-US" smtClean="0"/>
              <a:t>was only type prior to invention of public-key in 1970’s</a:t>
            </a:r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860300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285750"/>
            <a:ext cx="8229600" cy="1000125"/>
          </a:xfrm>
        </p:spPr>
        <p:txBody>
          <a:bodyPr/>
          <a:lstStyle/>
          <a:p>
            <a:pPr eaLnBrk="1" hangingPunct="1"/>
            <a:r>
              <a:rPr lang="en-AU" altLang="en-US" smtClean="0"/>
              <a:t>Basic Terminology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28688"/>
            <a:ext cx="8229600" cy="54292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AU" altLang="en-US" b="1" smtClean="0"/>
          </a:p>
          <a:p>
            <a:pPr eaLnBrk="1" hangingPunct="1">
              <a:lnSpc>
                <a:spcPct val="80000"/>
              </a:lnSpc>
            </a:pPr>
            <a:r>
              <a:rPr lang="en-AU" altLang="en-US" b="1" smtClean="0"/>
              <a:t>plaintext</a:t>
            </a:r>
            <a:r>
              <a:rPr lang="en-AU" altLang="en-US" smtClean="0"/>
              <a:t> - the original message 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b="1" smtClean="0"/>
              <a:t>ciphertext</a:t>
            </a:r>
            <a:r>
              <a:rPr lang="en-AU" altLang="en-US" smtClean="0"/>
              <a:t> - the coded message 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b="1" smtClean="0"/>
              <a:t>cipher</a:t>
            </a:r>
            <a:r>
              <a:rPr lang="en-AU" altLang="en-US" smtClean="0"/>
              <a:t> - algorithm for transforming plaintext to ciphertext 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b="1" smtClean="0"/>
              <a:t>key</a:t>
            </a:r>
            <a:r>
              <a:rPr lang="en-AU" altLang="en-US" smtClean="0"/>
              <a:t> - info used in cipher known only to sender/receiver 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b="1" smtClean="0"/>
              <a:t>encipher (encrypt)</a:t>
            </a:r>
            <a:r>
              <a:rPr lang="en-AU" altLang="en-US" smtClean="0"/>
              <a:t> - converting plaintext to ciphertext 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b="1" smtClean="0"/>
              <a:t>decipher (decrypt)</a:t>
            </a:r>
            <a:r>
              <a:rPr lang="en-AU" altLang="en-US" smtClean="0"/>
              <a:t> - recovering ciphertext from plaintext</a:t>
            </a:r>
          </a:p>
        </p:txBody>
      </p:sp>
    </p:spTree>
    <p:extLst>
      <p:ext uri="{BB962C8B-B14F-4D97-AF65-F5344CB8AC3E}">
        <p14:creationId xmlns:p14="http://schemas.microsoft.com/office/powerpoint/2010/main" val="205747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Basic Terminology – contd.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AU" altLang="en-US" b="1" smtClean="0"/>
              <a:t>cryptography</a:t>
            </a:r>
            <a:r>
              <a:rPr lang="en-AU" altLang="en-US" smtClean="0"/>
              <a:t> - study of encryption principles/methods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b="1" smtClean="0"/>
              <a:t>cryptanalysis (codebreaking)</a:t>
            </a:r>
            <a:r>
              <a:rPr lang="en-AU" altLang="en-US" smtClean="0"/>
              <a:t> - the study of principles/ methods of deciphering ciphertext </a:t>
            </a:r>
            <a:r>
              <a:rPr lang="en-AU" altLang="en-US" i="1" smtClean="0"/>
              <a:t>without</a:t>
            </a:r>
            <a:r>
              <a:rPr lang="en-AU" altLang="en-US" smtClean="0"/>
              <a:t> knowing key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b="1" smtClean="0"/>
              <a:t>cryptology</a:t>
            </a:r>
            <a:r>
              <a:rPr lang="en-AU" altLang="en-US" smtClean="0"/>
              <a:t> - the field of both cryptography and cryptanalysis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83925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Symmetric Cipher Model</a:t>
            </a:r>
            <a:endParaRPr lang="en-AU" altLang="en-US" smtClean="0"/>
          </a:p>
        </p:txBody>
      </p:sp>
      <p:pic>
        <p:nvPicPr>
          <p:cNvPr id="1229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0" y="2759075"/>
            <a:ext cx="6096000" cy="2513013"/>
          </a:xfrm>
        </p:spPr>
      </p:pic>
    </p:spTree>
    <p:extLst>
      <p:ext uri="{BB962C8B-B14F-4D97-AF65-F5344CB8AC3E}">
        <p14:creationId xmlns:p14="http://schemas.microsoft.com/office/powerpoint/2010/main" val="186421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Requirements</a:t>
            </a:r>
            <a:endParaRPr lang="en-AU" altLang="en-US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two requirements for secure use of symmetric encryption: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a strong encryption algorithm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a secret key known only to sender / receiver</a:t>
            </a:r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i="1" smtClean="0"/>
              <a:t>	Y </a:t>
            </a:r>
            <a:r>
              <a:rPr lang="en-US" smtClean="0"/>
              <a:t>= E</a:t>
            </a:r>
            <a:r>
              <a:rPr lang="en-US" sz="2400" i="1" baseline="-25000" smtClean="0"/>
              <a:t>K</a:t>
            </a:r>
            <a:r>
              <a:rPr lang="en-US" smtClean="0"/>
              <a:t>(</a:t>
            </a:r>
            <a:r>
              <a:rPr lang="en-US" i="1" smtClean="0"/>
              <a:t>X</a:t>
            </a:r>
            <a:r>
              <a:rPr lang="en-US" smtClean="0"/>
              <a:t>)</a:t>
            </a:r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i="1" smtClean="0"/>
              <a:t>	X </a:t>
            </a:r>
            <a:r>
              <a:rPr lang="en-US" smtClean="0"/>
              <a:t>= D</a:t>
            </a:r>
            <a:r>
              <a:rPr lang="en-US" sz="2400" i="1" baseline="-25000" smtClean="0"/>
              <a:t>K</a:t>
            </a:r>
            <a:r>
              <a:rPr lang="en-US" smtClean="0"/>
              <a:t>(</a:t>
            </a:r>
            <a:r>
              <a:rPr lang="en-US" i="1" smtClean="0"/>
              <a:t>Y</a:t>
            </a:r>
            <a:r>
              <a:rPr lang="en-US" smtClean="0"/>
              <a:t>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assume encryption algorithm is known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implies a secure channel to distribute key</a:t>
            </a:r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620757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Cryptography</a:t>
            </a:r>
            <a:endParaRPr lang="en-AU" altLang="en-US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can characterize by:</a:t>
            </a:r>
          </a:p>
          <a:p>
            <a:pPr lvl="1" eaLnBrk="1" hangingPunct="1"/>
            <a:r>
              <a:rPr lang="en-US" altLang="en-US" smtClean="0"/>
              <a:t>type of encryption operations used</a:t>
            </a:r>
          </a:p>
          <a:p>
            <a:pPr lvl="2" eaLnBrk="1" hangingPunct="1"/>
            <a:r>
              <a:rPr lang="en-US" altLang="en-US" smtClean="0"/>
              <a:t>substitution / transposition / product</a:t>
            </a:r>
          </a:p>
          <a:p>
            <a:pPr lvl="1" eaLnBrk="1" hangingPunct="1"/>
            <a:r>
              <a:rPr lang="en-US" altLang="en-US" smtClean="0"/>
              <a:t>number of keys used</a:t>
            </a:r>
          </a:p>
          <a:p>
            <a:pPr lvl="2" eaLnBrk="1" hangingPunct="1"/>
            <a:r>
              <a:rPr lang="en-US" altLang="en-US" smtClean="0"/>
              <a:t>single-key or private / two-key or public</a:t>
            </a:r>
          </a:p>
          <a:p>
            <a:pPr lvl="1" eaLnBrk="1" hangingPunct="1"/>
            <a:r>
              <a:rPr lang="en-US" altLang="en-US" smtClean="0"/>
              <a:t>way in which plaintext is processed</a:t>
            </a:r>
          </a:p>
          <a:p>
            <a:pPr lvl="2" eaLnBrk="1" hangingPunct="1"/>
            <a:r>
              <a:rPr lang="en-US" altLang="en-US" smtClean="0"/>
              <a:t>block / stream</a:t>
            </a:r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3471066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Brute Force Search</a:t>
            </a:r>
            <a:endParaRPr lang="en-AU" altLang="en-US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1973263"/>
          </a:xfrm>
        </p:spPr>
        <p:txBody>
          <a:bodyPr/>
          <a:lstStyle/>
          <a:p>
            <a:pPr eaLnBrk="1" hangingPunct="1"/>
            <a:r>
              <a:rPr lang="en-AU" altLang="en-US" smtClean="0"/>
              <a:t>always possible to simply try every key </a:t>
            </a:r>
          </a:p>
          <a:p>
            <a:pPr eaLnBrk="1" hangingPunct="1"/>
            <a:r>
              <a:rPr lang="en-AU" altLang="en-US" smtClean="0"/>
              <a:t>most basic attack, proportional to key size </a:t>
            </a:r>
          </a:p>
          <a:p>
            <a:pPr eaLnBrk="1" hangingPunct="1"/>
            <a:r>
              <a:rPr lang="en-AU" altLang="en-US" smtClean="0"/>
              <a:t>assume either know / recognise plaintext</a:t>
            </a:r>
          </a:p>
          <a:p>
            <a:pPr eaLnBrk="1" hangingPunct="1"/>
            <a:endParaRPr lang="en-AU" altLang="en-US" smtClean="0"/>
          </a:p>
          <a:p>
            <a:pPr eaLnBrk="1" hangingPunct="1"/>
            <a:endParaRPr lang="en-AU" altLang="en-US" smtClean="0"/>
          </a:p>
        </p:txBody>
      </p:sp>
      <p:pic>
        <p:nvPicPr>
          <p:cNvPr id="1741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644900"/>
            <a:ext cx="7235825" cy="283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276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More Definitions</a:t>
            </a:r>
            <a:endParaRPr lang="en-AU" altLang="en-US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b="1" smtClean="0"/>
              <a:t>unconditional security</a:t>
            </a:r>
            <a:r>
              <a:rPr lang="en-AU" altLang="en-US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mtClean="0"/>
              <a:t>no matter how much computer power is available, the cipher cannot be broken since the ciphertext provides insufficient information to uniquely determine the corresponding plaintext 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b="1" smtClean="0"/>
              <a:t>computational security</a:t>
            </a:r>
            <a:r>
              <a:rPr lang="en-AU" altLang="en-US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mtClean="0"/>
              <a:t>given limited computing resources (eg time needed for calculations is greater than age of universe), the cipher cannot be broken </a:t>
            </a:r>
          </a:p>
          <a:p>
            <a:pPr eaLnBrk="1" hangingPunct="1">
              <a:lnSpc>
                <a:spcPct val="90000"/>
              </a:lnSpc>
            </a:pPr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233025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Classical Substitution Ciphers</a:t>
            </a:r>
            <a:endParaRPr lang="en-AU" altLang="en-US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where </a:t>
            </a:r>
            <a:r>
              <a:rPr lang="en-AU" altLang="en-US" smtClean="0"/>
              <a:t>letters of plaintext are replaced by other letters or by numbers or symbols</a:t>
            </a:r>
          </a:p>
          <a:p>
            <a:pPr eaLnBrk="1" hangingPunct="1"/>
            <a:r>
              <a:rPr lang="en-US" altLang="en-US" smtClean="0"/>
              <a:t>or if plaintext is </a:t>
            </a:r>
            <a:r>
              <a:rPr lang="en-AU" altLang="en-US" smtClean="0"/>
              <a:t>viewed as a sequence of bits, then substitution involves replacing plaintext bit patterns with ciphertext bit patterns</a:t>
            </a:r>
          </a:p>
          <a:p>
            <a:pPr eaLnBrk="1" hangingPunct="1"/>
            <a:endParaRPr lang="en-AU" altLang="en-US" smtClean="0"/>
          </a:p>
          <a:p>
            <a:pPr eaLnBrk="1" hangingPunct="1"/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1552155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Caesar Cipher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571625"/>
            <a:ext cx="8229600" cy="4525963"/>
          </a:xfrm>
        </p:spPr>
        <p:txBody>
          <a:bodyPr/>
          <a:lstStyle/>
          <a:p>
            <a:pPr eaLnBrk="1" hangingPunct="1"/>
            <a:r>
              <a:rPr lang="en-AU" altLang="en-US" smtClean="0"/>
              <a:t>earliest known substitution cipher</a:t>
            </a:r>
          </a:p>
          <a:p>
            <a:pPr eaLnBrk="1" hangingPunct="1"/>
            <a:r>
              <a:rPr lang="en-AU" altLang="en-US" smtClean="0"/>
              <a:t>by Julius Caesar </a:t>
            </a:r>
          </a:p>
          <a:p>
            <a:pPr eaLnBrk="1" hangingPunct="1"/>
            <a:r>
              <a:rPr lang="en-AU" altLang="en-US" smtClean="0"/>
              <a:t>first attested use in military affairs</a:t>
            </a:r>
          </a:p>
          <a:p>
            <a:pPr eaLnBrk="1" hangingPunct="1"/>
            <a:r>
              <a:rPr lang="en-AU" altLang="en-US" smtClean="0"/>
              <a:t>replaces each letter by 3rd letter on</a:t>
            </a:r>
          </a:p>
          <a:p>
            <a:pPr eaLnBrk="1" hangingPunct="1"/>
            <a:r>
              <a:rPr lang="en-US" altLang="en-US" smtClean="0"/>
              <a:t>example:</a:t>
            </a:r>
            <a:endParaRPr lang="en-AU" altLang="en-US" smtClean="0"/>
          </a:p>
          <a:p>
            <a:pPr lvl="1" eaLnBrk="1" hangingPunct="1">
              <a:buFontTx/>
              <a:buNone/>
            </a:pPr>
            <a:r>
              <a:rPr lang="en-AU" altLang="en-US" b="1" smtClean="0">
                <a:solidFill>
                  <a:srgbClr val="7030A0"/>
                </a:solidFill>
                <a:latin typeface="Courier New" panose="02070309020205020404" pitchFamily="49" charset="0"/>
              </a:rPr>
              <a:t>meet me after the toga party</a:t>
            </a:r>
          </a:p>
          <a:p>
            <a:pPr lvl="1" eaLnBrk="1" hangingPunct="1">
              <a:buFontTx/>
              <a:buNone/>
            </a:pPr>
            <a:r>
              <a:rPr lang="en-AU" altLang="en-US" b="1" smtClean="0">
                <a:solidFill>
                  <a:srgbClr val="7030A0"/>
                </a:solidFill>
                <a:latin typeface="Courier New" panose="02070309020205020404" pitchFamily="49" charset="0"/>
              </a:rPr>
              <a:t>PHHW PH DIWHU WKH WRJD SDUWB</a:t>
            </a:r>
          </a:p>
          <a:p>
            <a:pPr eaLnBrk="1" hangingPunct="1"/>
            <a:endParaRPr lang="en-AU" altLang="en-US" smtClean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890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Caesar Cipher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mtClean="0"/>
              <a:t>can define transformation as: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AU" sz="1800" smtClean="0">
                <a:latin typeface="Courier New" pitchFamily="49" charset="0"/>
              </a:rPr>
              <a:t>a b c d e f g h i j k l m n o p q r s t u v w x y z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AU" sz="1800" smtClean="0">
                <a:latin typeface="Courier New" pitchFamily="49" charset="0"/>
              </a:rPr>
              <a:t>D E F G H I J K L M N O P Q R S T U V W X Y Z A B C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mtClean="0"/>
              <a:t>mathematically give each letter a number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AU" sz="1800" smtClean="0">
                <a:latin typeface="Courier New" pitchFamily="49" charset="0"/>
              </a:rPr>
              <a:t>a b c d e f g h i j k  l  m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AU" sz="1800" smtClean="0">
                <a:latin typeface="Courier New" pitchFamily="49" charset="0"/>
              </a:rPr>
              <a:t>0 1 2 3 4 5 6 7 8 9 10 11 12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AU" sz="1800" smtClean="0">
                <a:latin typeface="Courier New" pitchFamily="49" charset="0"/>
              </a:rPr>
              <a:t>n  o  p  q  r  s  t  u  v  w  x  y  Z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AU" sz="1800" smtClean="0">
                <a:latin typeface="Courier New" pitchFamily="49" charset="0"/>
              </a:rPr>
              <a:t>13 14 15 16 17 18 19 20 21 22 23 24 25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mtClean="0"/>
              <a:t>then have Caesar cipher as: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AU" i="1" smtClean="0"/>
              <a:t>C </a:t>
            </a:r>
            <a:r>
              <a:rPr lang="en-AU" smtClean="0"/>
              <a:t>= E(</a:t>
            </a:r>
            <a:r>
              <a:rPr lang="en-AU" i="1" smtClean="0"/>
              <a:t>p</a:t>
            </a:r>
            <a:r>
              <a:rPr lang="en-AU" smtClean="0"/>
              <a:t>) = (</a:t>
            </a:r>
            <a:r>
              <a:rPr lang="en-AU" i="1" smtClean="0"/>
              <a:t>p </a:t>
            </a:r>
            <a:r>
              <a:rPr lang="en-AU" smtClean="0"/>
              <a:t>+ </a:t>
            </a:r>
            <a:r>
              <a:rPr lang="en-AU" i="1" smtClean="0"/>
              <a:t>k</a:t>
            </a:r>
            <a:r>
              <a:rPr lang="en-AU" smtClean="0"/>
              <a:t>) mod (26)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AU" i="1" smtClean="0"/>
              <a:t>p </a:t>
            </a:r>
            <a:r>
              <a:rPr lang="en-AU" smtClean="0"/>
              <a:t>= D(C) = (C – </a:t>
            </a:r>
            <a:r>
              <a:rPr lang="en-AU" i="1" smtClean="0"/>
              <a:t>k</a:t>
            </a:r>
            <a:r>
              <a:rPr lang="en-AU" smtClean="0"/>
              <a:t>) mod (26)</a:t>
            </a:r>
            <a:endParaRPr lang="en-AU" sz="1800" smtClean="0">
              <a:latin typeface="Courier New" pitchFamily="49" charset="0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AU" sz="2000" smtClean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448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Cryptanalysis of Caesar Cipher 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only have 26 possible ciphers </a:t>
            </a:r>
          </a:p>
          <a:p>
            <a:pPr lvl="1" eaLnBrk="1" hangingPunct="1"/>
            <a:r>
              <a:rPr lang="en-AU" altLang="en-US" smtClean="0"/>
              <a:t>A maps to A,B,..Z </a:t>
            </a:r>
          </a:p>
          <a:p>
            <a:pPr eaLnBrk="1" hangingPunct="1"/>
            <a:r>
              <a:rPr lang="en-AU" altLang="en-US" smtClean="0"/>
              <a:t>could simply try each in turn </a:t>
            </a:r>
          </a:p>
          <a:p>
            <a:pPr eaLnBrk="1" hangingPunct="1"/>
            <a:r>
              <a:rPr lang="en-AU" altLang="en-US" smtClean="0"/>
              <a:t>a </a:t>
            </a:r>
            <a:r>
              <a:rPr lang="en-AU" altLang="en-US" b="1" smtClean="0"/>
              <a:t>brute force search</a:t>
            </a:r>
            <a:r>
              <a:rPr lang="en-AU" altLang="en-US" smtClean="0"/>
              <a:t> </a:t>
            </a:r>
          </a:p>
          <a:p>
            <a:pPr eaLnBrk="1" hangingPunct="1"/>
            <a:r>
              <a:rPr lang="en-AU" altLang="en-US" smtClean="0"/>
              <a:t>given ciphertext, just try all shifts of letters</a:t>
            </a:r>
          </a:p>
          <a:p>
            <a:pPr eaLnBrk="1" hangingPunct="1"/>
            <a:r>
              <a:rPr lang="en-US" altLang="en-US" smtClean="0"/>
              <a:t>do need to recognize when have plaintext</a:t>
            </a:r>
            <a:endParaRPr lang="en-AU" altLang="en-US" smtClean="0"/>
          </a:p>
          <a:p>
            <a:pPr eaLnBrk="1" hangingPunct="1"/>
            <a:r>
              <a:rPr lang="en-AU" altLang="en-US" smtClean="0"/>
              <a:t>eg. break ciphertext "GCUA VQ DTGCM"</a:t>
            </a:r>
          </a:p>
        </p:txBody>
      </p:sp>
    </p:spTree>
    <p:extLst>
      <p:ext uri="{BB962C8B-B14F-4D97-AF65-F5344CB8AC3E}">
        <p14:creationId xmlns:p14="http://schemas.microsoft.com/office/powerpoint/2010/main" val="238408506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146</TotalTime>
  <Words>1213</Words>
  <Application>Microsoft Office PowerPoint</Application>
  <PresentationFormat>On-screen Show (4:3)</PresentationFormat>
  <Paragraphs>121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Theme2</vt:lpstr>
      <vt:lpstr>1_HNDIT</vt:lpstr>
      <vt:lpstr>Basic Cryptography</vt:lpstr>
      <vt:lpstr>Classical Encryption Techniques</vt:lpstr>
      <vt:lpstr>Symmetric Encryption</vt:lpstr>
      <vt:lpstr>Basic Terminology</vt:lpstr>
      <vt:lpstr>Basic Terminology – contd.</vt:lpstr>
      <vt:lpstr>Symmetric Cipher Model</vt:lpstr>
      <vt:lpstr>Requirements</vt:lpstr>
      <vt:lpstr>Cryptography</vt:lpstr>
      <vt:lpstr>Brute Force Search</vt:lpstr>
      <vt:lpstr>More Definitions</vt:lpstr>
      <vt:lpstr>Classical Substitution Ciphers</vt:lpstr>
      <vt:lpstr>Caesar Cipher</vt:lpstr>
      <vt:lpstr>Caesar Cipher</vt:lpstr>
      <vt:lpstr>Cryptanalysis of Caesar Cipher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Admin</cp:lastModifiedBy>
  <cp:revision>18</cp:revision>
  <dcterms:created xsi:type="dcterms:W3CDTF">2018-04-26T04:37:25Z</dcterms:created>
  <dcterms:modified xsi:type="dcterms:W3CDTF">2019-05-28T07:22:55Z</dcterms:modified>
</cp:coreProperties>
</file>