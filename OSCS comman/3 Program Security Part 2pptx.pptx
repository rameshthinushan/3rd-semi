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59" autoAdjust="0"/>
    <p:restoredTop sz="94660"/>
  </p:normalViewPr>
  <p:slideViewPr>
    <p:cSldViewPr snapToGrid="0">
      <p:cViewPr varScale="1">
        <p:scale>
          <a:sx n="69" d="100"/>
          <a:sy n="69" d="100"/>
        </p:scale>
        <p:origin x="61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397BAB0-8FB1-4E91-875A-249A00DF394A}" type="datetimeFigureOut">
              <a:rPr lang="en-US" smtClean="0"/>
              <a:t>1/17/2022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8470519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97BAB0-8FB1-4E91-875A-249A00DF394A}" type="datetimeFigureOut">
              <a:rPr lang="en-US" smtClean="0"/>
              <a:t>1/17/2022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41687799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397BAB0-8FB1-4E91-875A-249A00DF394A}" type="datetimeFigureOut">
              <a:rPr lang="en-US" smtClean="0"/>
              <a:t>1/17/2022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8715678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97BAB0-8FB1-4E91-875A-249A00DF394A}" type="datetimeFigureOut">
              <a:rPr lang="en-US" smtClean="0"/>
              <a:t>1/17/2022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12431200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397BAB0-8FB1-4E91-875A-249A00DF394A}" type="datetimeFigureOut">
              <a:rPr lang="en-US" smtClean="0"/>
              <a:t>1/17/2022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1215130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397BAB0-8FB1-4E91-875A-249A00DF394A}" type="datetimeFigureOut">
              <a:rPr lang="en-US" smtClean="0"/>
              <a:t>1/17/2022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2336417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97BAB0-8FB1-4E91-875A-249A00DF394A}" type="datetimeFigureOut">
              <a:rPr lang="en-US" smtClean="0"/>
              <a:t>1/17/2022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3134300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97BAB0-8FB1-4E91-875A-249A00DF394A}" type="datetimeFigureOut">
              <a:rPr lang="en-US" smtClean="0"/>
              <a:t>1/17/2022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3611454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397BAB0-8FB1-4E91-875A-249A00DF394A}" type="datetimeFigureOut">
              <a:rPr lang="en-US" smtClean="0"/>
              <a:t>1/17/2022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4109539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97BAB0-8FB1-4E91-875A-249A00DF394A}" type="datetimeFigureOut">
              <a:rPr lang="en-US" smtClean="0"/>
              <a:t>1/17/2022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10253735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97BAB0-8FB1-4E91-875A-249A00DF394A}" type="datetimeFigureOut">
              <a:rPr lang="en-US" smtClean="0"/>
              <a:t>1/17/2022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FC69B3-C56F-4DA0-A178-4E5029724B38}" type="slidenum">
              <a:rPr lang="en-US" smtClean="0"/>
              <a:t>‹#›</a:t>
            </a:fld>
            <a:endParaRPr lang="en-US"/>
          </a:p>
        </p:txBody>
      </p:sp>
    </p:spTree>
    <p:extLst>
      <p:ext uri="{BB962C8B-B14F-4D97-AF65-F5344CB8AC3E}">
        <p14:creationId xmlns:p14="http://schemas.microsoft.com/office/powerpoint/2010/main" val="17198432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97BAB0-8FB1-4E91-875A-249A00DF394A}" type="datetimeFigureOut">
              <a:rPr lang="en-US" smtClean="0"/>
              <a:t>1/17/2022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FC69B3-C56F-4DA0-A178-4E5029724B38}" type="slidenum">
              <a:rPr lang="en-US" smtClean="0"/>
              <a:t>‹#›</a:t>
            </a:fld>
            <a:endParaRPr lang="en-US"/>
          </a:p>
        </p:txBody>
      </p:sp>
    </p:spTree>
    <p:extLst>
      <p:ext uri="{BB962C8B-B14F-4D97-AF65-F5344CB8AC3E}">
        <p14:creationId xmlns:p14="http://schemas.microsoft.com/office/powerpoint/2010/main" val="12680834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Program Security</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2357187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Program Security</a:t>
            </a:r>
            <a:br>
              <a:rPr lang="en-US" dirty="0"/>
            </a:br>
            <a:endParaRPr lang="en-US" dirty="0"/>
          </a:p>
        </p:txBody>
      </p:sp>
      <p:sp>
        <p:nvSpPr>
          <p:cNvPr id="3" name="Content Placeholder 2"/>
          <p:cNvSpPr>
            <a:spLocks noGrp="1"/>
          </p:cNvSpPr>
          <p:nvPr>
            <p:ph idx="1"/>
          </p:nvPr>
        </p:nvSpPr>
        <p:spPr/>
        <p:txBody>
          <a:bodyPr>
            <a:normAutofit/>
          </a:bodyPr>
          <a:lstStyle/>
          <a:p>
            <a:r>
              <a:rPr lang="en-US" dirty="0"/>
              <a:t> What is exactly a secure program?</a:t>
            </a:r>
          </a:p>
          <a:p>
            <a:pPr lvl="1"/>
            <a:r>
              <a:rPr lang="en-US" dirty="0"/>
              <a:t> Different people may give different answers</a:t>
            </a:r>
          </a:p>
          <a:p>
            <a:pPr lvl="1"/>
            <a:r>
              <a:rPr lang="en-US" dirty="0"/>
              <a:t> In general, a secure program should behave as their designers intended or uses expected</a:t>
            </a:r>
          </a:p>
          <a:p>
            <a:r>
              <a:rPr lang="en-US" dirty="0"/>
              <a:t>Program security flaws</a:t>
            </a:r>
          </a:p>
          <a:p>
            <a:pPr lvl="1"/>
            <a:r>
              <a:rPr lang="en-US" dirty="0"/>
              <a:t> Unexpected program behavior</a:t>
            </a:r>
          </a:p>
          <a:p>
            <a:pPr lvl="1"/>
            <a:r>
              <a:rPr lang="en-US" dirty="0"/>
              <a:t>Two classes</a:t>
            </a:r>
          </a:p>
          <a:p>
            <a:pPr lvl="2"/>
            <a:r>
              <a:rPr lang="en-US" dirty="0"/>
              <a:t> Inadvertent human errors</a:t>
            </a:r>
          </a:p>
          <a:p>
            <a:pPr lvl="2"/>
            <a:r>
              <a:rPr lang="en-US" dirty="0"/>
              <a:t> Intentionally induced flaws</a:t>
            </a:r>
          </a:p>
          <a:p>
            <a:pPr lvl="2"/>
            <a:r>
              <a:rPr lang="en-US" dirty="0"/>
              <a:t> Both types can cause serious damages</a:t>
            </a:r>
          </a:p>
        </p:txBody>
      </p:sp>
    </p:spTree>
    <p:extLst>
      <p:ext uri="{BB962C8B-B14F-4D97-AF65-F5344CB8AC3E}">
        <p14:creationId xmlns:p14="http://schemas.microsoft.com/office/powerpoint/2010/main" val="5609807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normAutofit fontScale="90000"/>
          </a:bodyPr>
          <a:lstStyle/>
          <a:p>
            <a:r>
              <a:rPr lang="en-US" dirty="0"/>
              <a:t>Inadvertent human errors(Non-malicious Program</a:t>
            </a:r>
            <a:br>
              <a:rPr lang="en-US" dirty="0"/>
            </a:br>
            <a:r>
              <a:rPr lang="en-US" dirty="0"/>
              <a:t>Errors)</a:t>
            </a:r>
          </a:p>
        </p:txBody>
      </p:sp>
      <p:sp>
        <p:nvSpPr>
          <p:cNvPr id="3" name="Content Placeholder 2"/>
          <p:cNvSpPr>
            <a:spLocks noGrp="1"/>
          </p:cNvSpPr>
          <p:nvPr>
            <p:ph idx="1"/>
          </p:nvPr>
        </p:nvSpPr>
        <p:spPr/>
        <p:txBody>
          <a:bodyPr>
            <a:normAutofit/>
          </a:bodyPr>
          <a:lstStyle/>
          <a:p>
            <a:r>
              <a:rPr lang="en-US" dirty="0"/>
              <a:t>Common non-malicious program errors</a:t>
            </a:r>
          </a:p>
          <a:p>
            <a:pPr lvl="1"/>
            <a:r>
              <a:rPr lang="en-US" sz="2800" dirty="0"/>
              <a:t>Buffer overflows</a:t>
            </a:r>
          </a:p>
          <a:p>
            <a:pPr lvl="1"/>
            <a:r>
              <a:rPr lang="en-US" sz="2800" dirty="0"/>
              <a:t>Incomplete mediation</a:t>
            </a:r>
          </a:p>
          <a:p>
            <a:pPr lvl="1"/>
            <a:r>
              <a:rPr lang="en-US" sz="2800" dirty="0"/>
              <a:t>Time-of-check to time-of-use errors</a:t>
            </a:r>
          </a:p>
        </p:txBody>
      </p:sp>
    </p:spTree>
    <p:extLst>
      <p:ext uri="{BB962C8B-B14F-4D97-AF65-F5344CB8AC3E}">
        <p14:creationId xmlns:p14="http://schemas.microsoft.com/office/powerpoint/2010/main" val="3626203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Overflows</a:t>
            </a:r>
          </a:p>
        </p:txBody>
      </p:sp>
      <p:sp>
        <p:nvSpPr>
          <p:cNvPr id="3" name="Content Placeholder 2"/>
          <p:cNvSpPr>
            <a:spLocks noGrp="1"/>
          </p:cNvSpPr>
          <p:nvPr>
            <p:ph idx="1"/>
          </p:nvPr>
        </p:nvSpPr>
        <p:spPr/>
        <p:txBody>
          <a:bodyPr/>
          <a:lstStyle/>
          <a:p>
            <a:r>
              <a:rPr lang="en-US" dirty="0"/>
              <a:t>A buffer is a space in which data can beheld</a:t>
            </a:r>
          </a:p>
          <a:p>
            <a:pPr lvl="1"/>
            <a:r>
              <a:rPr lang="en-US" dirty="0"/>
              <a:t> A buffer is finite</a:t>
            </a:r>
          </a:p>
          <a:p>
            <a:r>
              <a:rPr lang="en-US" dirty="0"/>
              <a:t>Buffer overflow</a:t>
            </a:r>
          </a:p>
          <a:p>
            <a:pPr lvl="1"/>
            <a:r>
              <a:rPr lang="en-US" dirty="0"/>
              <a:t>Out of bound use of the buffer</a:t>
            </a:r>
          </a:p>
          <a:p>
            <a:r>
              <a:rPr lang="en-US" dirty="0"/>
              <a:t>Example</a:t>
            </a:r>
          </a:p>
          <a:p>
            <a:pPr marL="914400" lvl="2" indent="0">
              <a:buNone/>
            </a:pPr>
            <a:r>
              <a:rPr lang="en-US" sz="2800" dirty="0"/>
              <a:t>char sample[10];</a:t>
            </a:r>
          </a:p>
          <a:p>
            <a:pPr marL="914400" lvl="2" indent="0">
              <a:buNone/>
            </a:pPr>
            <a:r>
              <a:rPr lang="nn-NO" sz="2800" dirty="0"/>
              <a:t>for (int i=0; i&lt;=9; i++)</a:t>
            </a:r>
          </a:p>
          <a:p>
            <a:pPr marL="914400" lvl="2" indent="0">
              <a:buNone/>
            </a:pPr>
            <a:r>
              <a:rPr lang="en-US" sz="2800" dirty="0"/>
              <a:t>	sample[</a:t>
            </a:r>
            <a:r>
              <a:rPr lang="en-US" sz="2800" dirty="0" err="1"/>
              <a:t>i</a:t>
            </a:r>
            <a:r>
              <a:rPr lang="en-US" sz="2800" dirty="0"/>
              <a:t>]=‘A’;</a:t>
            </a:r>
          </a:p>
          <a:p>
            <a:pPr marL="914400" lvl="2" indent="0">
              <a:buNone/>
            </a:pPr>
            <a:r>
              <a:rPr lang="en-US" sz="2800" dirty="0"/>
              <a:t>sample[10]=‘B’;</a:t>
            </a:r>
          </a:p>
        </p:txBody>
      </p:sp>
    </p:spTree>
    <p:extLst>
      <p:ext uri="{BB962C8B-B14F-4D97-AF65-F5344CB8AC3E}">
        <p14:creationId xmlns:p14="http://schemas.microsoft.com/office/powerpoint/2010/main" val="1882326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Buffer Overflows</a:t>
            </a:r>
            <a:br>
              <a:rPr lang="en-US" dirty="0"/>
            </a:br>
            <a:endParaRPr lang="en-US" dirty="0"/>
          </a:p>
        </p:txBody>
      </p:sp>
      <p:sp>
        <p:nvSpPr>
          <p:cNvPr id="3" name="Content Placeholder 2"/>
          <p:cNvSpPr>
            <a:spLocks noGrp="1"/>
          </p:cNvSpPr>
          <p:nvPr>
            <p:ph idx="1"/>
          </p:nvPr>
        </p:nvSpPr>
        <p:spPr/>
        <p:txBody>
          <a:bodyPr>
            <a:normAutofit/>
          </a:bodyPr>
          <a:lstStyle/>
          <a:p>
            <a:r>
              <a:rPr lang="en-US" dirty="0"/>
              <a:t>The techniques to exploit a buffer overflow vulnerability vary per architecture, operating system and memory region</a:t>
            </a:r>
          </a:p>
          <a:p>
            <a:r>
              <a:rPr lang="en-US" dirty="0"/>
              <a:t>There are two different techniques in use</a:t>
            </a:r>
          </a:p>
          <a:p>
            <a:pPr marL="0" indent="0">
              <a:buNone/>
            </a:pPr>
            <a:r>
              <a:rPr lang="en-US" dirty="0"/>
              <a:t>	– Stack-based exploitation</a:t>
            </a:r>
          </a:p>
          <a:p>
            <a:pPr marL="0" indent="0">
              <a:buNone/>
            </a:pPr>
            <a:r>
              <a:rPr lang="en-US" dirty="0"/>
              <a:t>	– Heap-based exploitation</a:t>
            </a:r>
          </a:p>
        </p:txBody>
      </p:sp>
    </p:spTree>
    <p:extLst>
      <p:ext uri="{BB962C8B-B14F-4D97-AF65-F5344CB8AC3E}">
        <p14:creationId xmlns:p14="http://schemas.microsoft.com/office/powerpoint/2010/main" val="3172771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35" y="-41503"/>
            <a:ext cx="10515600" cy="1325563"/>
          </a:xfrm>
        </p:spPr>
        <p:txBody>
          <a:bodyPr/>
          <a:lstStyle/>
          <a:p>
            <a:r>
              <a:rPr lang="en-US" dirty="0"/>
              <a:t>An Example of Stack </a:t>
            </a:r>
            <a:r>
              <a:rPr lang="en-US" dirty="0" err="1"/>
              <a:t>BufferOverflow</a:t>
            </a:r>
            <a:br>
              <a:rPr lang="en-US" dirty="0"/>
            </a:br>
            <a:endParaRPr lang="en-US" dirty="0"/>
          </a:p>
        </p:txBody>
      </p:sp>
      <p:sp>
        <p:nvSpPr>
          <p:cNvPr id="3" name="Content Placeholder 2"/>
          <p:cNvSpPr>
            <a:spLocks noGrp="1"/>
          </p:cNvSpPr>
          <p:nvPr>
            <p:ph idx="1"/>
          </p:nvPr>
        </p:nvSpPr>
        <p:spPr>
          <a:xfrm>
            <a:off x="-177362" y="911574"/>
            <a:ext cx="3720843" cy="5946426"/>
          </a:xfrm>
        </p:spPr>
        <p:style>
          <a:lnRef idx="1">
            <a:schemeClr val="accent6"/>
          </a:lnRef>
          <a:fillRef idx="3">
            <a:schemeClr val="accent6"/>
          </a:fillRef>
          <a:effectRef idx="2">
            <a:schemeClr val="accent6"/>
          </a:effectRef>
          <a:fontRef idx="minor">
            <a:schemeClr val="lt1"/>
          </a:fontRef>
        </p:style>
        <p:txBody>
          <a:bodyPr>
            <a:normAutofit/>
          </a:bodyPr>
          <a:lstStyle/>
          <a:p>
            <a:pPr marL="457200" lvl="1" indent="0">
              <a:buNone/>
            </a:pPr>
            <a:r>
              <a:rPr lang="en-US" dirty="0"/>
              <a:t>#include &lt;</a:t>
            </a:r>
            <a:r>
              <a:rPr lang="en-US" dirty="0" err="1"/>
              <a:t>string.h</a:t>
            </a:r>
            <a:r>
              <a:rPr lang="en-US" dirty="0"/>
              <a:t>&gt;</a:t>
            </a:r>
          </a:p>
          <a:p>
            <a:pPr marL="457200" lvl="1" indent="0">
              <a:buNone/>
            </a:pPr>
            <a:r>
              <a:rPr lang="en-US" dirty="0"/>
              <a:t>void foo (char *bar) {</a:t>
            </a:r>
          </a:p>
          <a:p>
            <a:pPr marL="457200" lvl="1" indent="0">
              <a:buNone/>
            </a:pPr>
            <a:r>
              <a:rPr lang="en-US" dirty="0"/>
              <a:t>char c[12];</a:t>
            </a:r>
          </a:p>
          <a:p>
            <a:pPr marL="457200" lvl="1" indent="0">
              <a:buNone/>
            </a:pPr>
            <a:r>
              <a:rPr lang="en-US" dirty="0" err="1"/>
              <a:t>strcpy</a:t>
            </a:r>
            <a:r>
              <a:rPr lang="en-US" dirty="0"/>
              <a:t>(c, bar); // no bounds checking...</a:t>
            </a:r>
          </a:p>
          <a:p>
            <a:pPr marL="457200" lvl="1" indent="0">
              <a:buNone/>
            </a:pPr>
            <a:r>
              <a:rPr lang="en-US" dirty="0"/>
              <a:t>}</a:t>
            </a:r>
          </a:p>
          <a:p>
            <a:pPr marL="457200" lvl="1" indent="0">
              <a:buNone/>
            </a:pPr>
            <a:r>
              <a:rPr lang="en-US" dirty="0" err="1"/>
              <a:t>int</a:t>
            </a:r>
            <a:r>
              <a:rPr lang="en-US" dirty="0"/>
              <a:t> main (</a:t>
            </a:r>
            <a:r>
              <a:rPr lang="en-US" dirty="0" err="1"/>
              <a:t>int</a:t>
            </a:r>
            <a:r>
              <a:rPr lang="en-US" dirty="0"/>
              <a:t> </a:t>
            </a:r>
            <a:r>
              <a:rPr lang="en-US" dirty="0" err="1"/>
              <a:t>argc</a:t>
            </a:r>
            <a:r>
              <a:rPr lang="en-US" dirty="0"/>
              <a:t>, char **</a:t>
            </a:r>
            <a:r>
              <a:rPr lang="en-US" dirty="0" err="1"/>
              <a:t>argv</a:t>
            </a:r>
            <a:r>
              <a:rPr lang="en-US" dirty="0"/>
              <a:t>)</a:t>
            </a:r>
          </a:p>
          <a:p>
            <a:pPr marL="457200" lvl="1" indent="0">
              <a:buNone/>
            </a:pPr>
            <a:r>
              <a:rPr lang="en-US" dirty="0"/>
              <a:t>{</a:t>
            </a:r>
          </a:p>
          <a:p>
            <a:pPr marL="457200" lvl="1" indent="0">
              <a:buNone/>
            </a:pPr>
            <a:r>
              <a:rPr lang="en-US" dirty="0"/>
              <a:t>foo(</a:t>
            </a:r>
            <a:r>
              <a:rPr lang="en-US" dirty="0" err="1"/>
              <a:t>argv</a:t>
            </a:r>
            <a:r>
              <a:rPr lang="en-US" dirty="0"/>
              <a:t>[1]);</a:t>
            </a:r>
          </a:p>
          <a:p>
            <a:pPr marL="457200" lvl="1" indent="0">
              <a:buNone/>
            </a:pPr>
            <a:r>
              <a:rPr lang="en-US" dirty="0"/>
              <a:t>}</a:t>
            </a:r>
          </a:p>
          <a:p>
            <a:pPr marL="457200" lvl="1" indent="0">
              <a:buNone/>
            </a:pPr>
            <a:endParaRPr lang="en-US" dirty="0"/>
          </a:p>
          <a:p>
            <a:r>
              <a:rPr lang="en-US" dirty="0"/>
              <a:t>The program stack in foo() with various inputs</a:t>
            </a:r>
          </a:p>
        </p:txBody>
      </p:sp>
      <p:pic>
        <p:nvPicPr>
          <p:cNvPr id="4" name="Picture 3"/>
          <p:cNvPicPr>
            <a:picLocks noChangeAspect="1"/>
          </p:cNvPicPr>
          <p:nvPr/>
        </p:nvPicPr>
        <p:blipFill>
          <a:blip r:embed="rId2"/>
          <a:stretch>
            <a:fillRect/>
          </a:stretch>
        </p:blipFill>
        <p:spPr>
          <a:xfrm>
            <a:off x="3229667" y="621278"/>
            <a:ext cx="2557221" cy="3623224"/>
          </a:xfrm>
          <a:prstGeom prst="rect">
            <a:avLst/>
          </a:prstGeom>
        </p:spPr>
      </p:pic>
      <p:sp>
        <p:nvSpPr>
          <p:cNvPr id="5" name="Rectangle 4"/>
          <p:cNvSpPr/>
          <p:nvPr/>
        </p:nvSpPr>
        <p:spPr>
          <a:xfrm>
            <a:off x="5729022" y="4113896"/>
            <a:ext cx="2696082"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endParaRPr lang="en-US" sz="2000" dirty="0"/>
          </a:p>
          <a:p>
            <a:r>
              <a:rPr lang="en-US" sz="2000" dirty="0"/>
              <a:t>"hello" is the first command line argument</a:t>
            </a:r>
          </a:p>
        </p:txBody>
      </p:sp>
      <p:pic>
        <p:nvPicPr>
          <p:cNvPr id="6" name="Picture 5"/>
          <p:cNvPicPr>
            <a:picLocks noChangeAspect="1"/>
          </p:cNvPicPr>
          <p:nvPr/>
        </p:nvPicPr>
        <p:blipFill>
          <a:blip r:embed="rId3"/>
          <a:stretch>
            <a:fillRect/>
          </a:stretch>
        </p:blipFill>
        <p:spPr>
          <a:xfrm>
            <a:off x="5919312" y="680796"/>
            <a:ext cx="2557221" cy="3623224"/>
          </a:xfrm>
          <a:prstGeom prst="rect">
            <a:avLst/>
          </a:prstGeom>
        </p:spPr>
      </p:pic>
      <p:sp>
        <p:nvSpPr>
          <p:cNvPr id="7" name="Rectangle 6"/>
          <p:cNvSpPr/>
          <p:nvPr/>
        </p:nvSpPr>
        <p:spPr>
          <a:xfrm>
            <a:off x="3158624" y="4269384"/>
            <a:ext cx="2431050" cy="400110"/>
          </a:xfrm>
          <a:prstGeom prst="rect">
            <a:avLst/>
          </a:prstGeom>
        </p:spPr>
        <p:style>
          <a:lnRef idx="1">
            <a:schemeClr val="accent4"/>
          </a:lnRef>
          <a:fillRef idx="2">
            <a:schemeClr val="accent4"/>
          </a:fillRef>
          <a:effectRef idx="1">
            <a:schemeClr val="accent4"/>
          </a:effectRef>
          <a:fontRef idx="minor">
            <a:schemeClr val="dk1"/>
          </a:fontRef>
        </p:style>
        <p:txBody>
          <a:bodyPr wrap="none">
            <a:spAutoFit/>
          </a:bodyPr>
          <a:lstStyle/>
          <a:p>
            <a:r>
              <a:rPr lang="en-US" sz="2000" dirty="0"/>
              <a:t>Before data is copied.</a:t>
            </a:r>
          </a:p>
        </p:txBody>
      </p:sp>
      <p:sp>
        <p:nvSpPr>
          <p:cNvPr id="8" name="Rectangle 7"/>
          <p:cNvSpPr/>
          <p:nvPr/>
        </p:nvSpPr>
        <p:spPr>
          <a:xfrm>
            <a:off x="8566101" y="4113896"/>
            <a:ext cx="3474260" cy="1323439"/>
          </a:xfrm>
          <a:prstGeom prst="rect">
            <a:avLst/>
          </a:prstGeom>
        </p:spPr>
        <p:style>
          <a:lnRef idx="1">
            <a:schemeClr val="accent4"/>
          </a:lnRef>
          <a:fillRef idx="2">
            <a:schemeClr val="accent4"/>
          </a:fillRef>
          <a:effectRef idx="1">
            <a:schemeClr val="accent4"/>
          </a:effectRef>
          <a:fontRef idx="minor">
            <a:schemeClr val="dk1"/>
          </a:fontRef>
        </p:style>
        <p:txBody>
          <a:bodyPr wrap="square">
            <a:spAutoFit/>
          </a:bodyPr>
          <a:lstStyle/>
          <a:p>
            <a:r>
              <a:rPr lang="en-US" sz="2000" dirty="0"/>
              <a:t>"A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a:t>
            </a:r>
            <a:r>
              <a:rPr lang="en-US" sz="2000" dirty="0" err="1"/>
              <a:t>A</a:t>
            </a:r>
            <a:r>
              <a:rPr lang="en-US" sz="2000" dirty="0"/>
              <a:t> \x08 \x35\ xC0\ x 80" is the first command line argument.</a:t>
            </a:r>
          </a:p>
        </p:txBody>
      </p:sp>
      <p:pic>
        <p:nvPicPr>
          <p:cNvPr id="9" name="Picture 8"/>
          <p:cNvPicPr>
            <a:picLocks noChangeAspect="1"/>
          </p:cNvPicPr>
          <p:nvPr/>
        </p:nvPicPr>
        <p:blipFill>
          <a:blip r:embed="rId4"/>
          <a:stretch>
            <a:fillRect/>
          </a:stretch>
        </p:blipFill>
        <p:spPr>
          <a:xfrm>
            <a:off x="8763315" y="384061"/>
            <a:ext cx="3079832" cy="3623224"/>
          </a:xfrm>
          <a:prstGeom prst="rect">
            <a:avLst/>
          </a:prstGeom>
        </p:spPr>
      </p:pic>
      <p:sp>
        <p:nvSpPr>
          <p:cNvPr id="10" name="Rectangle 9"/>
          <p:cNvSpPr/>
          <p:nvPr/>
        </p:nvSpPr>
        <p:spPr>
          <a:xfrm>
            <a:off x="3366183" y="5436332"/>
            <a:ext cx="8825817" cy="1446550"/>
          </a:xfrm>
          <a:prstGeom prst="rect">
            <a:avLst/>
          </a:prstGeom>
        </p:spPr>
        <p:style>
          <a:lnRef idx="1">
            <a:schemeClr val="accent5"/>
          </a:lnRef>
          <a:fillRef idx="2">
            <a:schemeClr val="accent5"/>
          </a:fillRef>
          <a:effectRef idx="1">
            <a:schemeClr val="accent5"/>
          </a:effectRef>
          <a:fontRef idx="minor">
            <a:schemeClr val="dk1"/>
          </a:fontRef>
        </p:style>
        <p:txBody>
          <a:bodyPr wrap="square">
            <a:spAutoFit/>
          </a:bodyPr>
          <a:lstStyle/>
          <a:p>
            <a:r>
              <a:rPr lang="en-US" sz="2200" dirty="0"/>
              <a:t>In an actual stack buffer overflow exploit the string of "A"'s would instead be shell code suitable to the platform and desired function</a:t>
            </a:r>
          </a:p>
          <a:p>
            <a:r>
              <a:rPr lang="en-US" sz="2200" dirty="0"/>
              <a:t>If the exploited program had special privileges then the attacker could use this vulnerability to gain super user privileges on the affected machine</a:t>
            </a:r>
          </a:p>
        </p:txBody>
      </p:sp>
    </p:spTree>
    <p:extLst>
      <p:ext uri="{BB962C8B-B14F-4D97-AF65-F5344CB8AC3E}">
        <p14:creationId xmlns:p14="http://schemas.microsoft.com/office/powerpoint/2010/main" val="41912715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Buffer overflow protection</a:t>
            </a:r>
            <a:endParaRPr lang="en-US" dirty="0"/>
          </a:p>
        </p:txBody>
      </p:sp>
      <p:sp>
        <p:nvSpPr>
          <p:cNvPr id="3" name="Content Placeholder 2"/>
          <p:cNvSpPr>
            <a:spLocks noGrp="1"/>
          </p:cNvSpPr>
          <p:nvPr>
            <p:ph idx="1"/>
          </p:nvPr>
        </p:nvSpPr>
        <p:spPr/>
        <p:txBody>
          <a:bodyPr>
            <a:normAutofit/>
          </a:bodyPr>
          <a:lstStyle/>
          <a:p>
            <a:r>
              <a:rPr lang="en-US" dirty="0"/>
              <a:t>Canaries</a:t>
            </a:r>
          </a:p>
          <a:p>
            <a:pPr lvl="1"/>
            <a:r>
              <a:rPr lang="en-US" dirty="0"/>
              <a:t>canary are known values that are placed between a buffer and control data on the stack to monitor buffer overflows.</a:t>
            </a:r>
          </a:p>
          <a:p>
            <a:r>
              <a:rPr lang="en-US" dirty="0"/>
              <a:t>Bounds Checking</a:t>
            </a:r>
          </a:p>
          <a:p>
            <a:pPr lvl="1"/>
            <a:r>
              <a:rPr lang="en-US" dirty="0"/>
              <a:t>a compiler-based technique that adds run-time bounds information for each allocated block of memory</a:t>
            </a:r>
          </a:p>
          <a:p>
            <a:pPr lvl="1"/>
            <a:r>
              <a:rPr lang="en-US" dirty="0" err="1"/>
              <a:t>Eg</a:t>
            </a:r>
            <a:r>
              <a:rPr lang="en-US" dirty="0"/>
              <a:t>. Java use bound checking</a:t>
            </a:r>
          </a:p>
          <a:p>
            <a:r>
              <a:rPr lang="en-US" dirty="0"/>
              <a:t>Tagging</a:t>
            </a:r>
          </a:p>
          <a:p>
            <a:pPr lvl="1"/>
            <a:r>
              <a:rPr lang="en-US" dirty="0"/>
              <a:t> tagging the memory of buffer as data memory</a:t>
            </a:r>
          </a:p>
          <a:p>
            <a:pPr lvl="1"/>
            <a:r>
              <a:rPr lang="en-US" dirty="0"/>
              <a:t> Execution from data memory is illegal</a:t>
            </a:r>
          </a:p>
        </p:txBody>
      </p:sp>
    </p:spTree>
    <p:extLst>
      <p:ext uri="{BB962C8B-B14F-4D97-AF65-F5344CB8AC3E}">
        <p14:creationId xmlns:p14="http://schemas.microsoft.com/office/powerpoint/2010/main" val="1470121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t>Incomplete mediation </a:t>
            </a:r>
          </a:p>
        </p:txBody>
      </p:sp>
      <p:sp>
        <p:nvSpPr>
          <p:cNvPr id="3" name="Content Placeholder 2"/>
          <p:cNvSpPr>
            <a:spLocks noGrp="1"/>
          </p:cNvSpPr>
          <p:nvPr>
            <p:ph idx="1"/>
          </p:nvPr>
        </p:nvSpPr>
        <p:spPr>
          <a:xfrm>
            <a:off x="277091" y="1098262"/>
            <a:ext cx="10515600" cy="5759738"/>
          </a:xfrm>
        </p:spPr>
        <p:txBody>
          <a:bodyPr>
            <a:normAutofit fontScale="85000" lnSpcReduction="20000"/>
          </a:bodyPr>
          <a:lstStyle/>
          <a:p>
            <a:pPr marL="0" indent="0">
              <a:buNone/>
            </a:pPr>
            <a:r>
              <a:rPr lang="en-US" dirty="0"/>
              <a:t>This occurs when access input data is not checking </a:t>
            </a:r>
          </a:p>
          <a:p>
            <a:pPr marL="0" indent="0">
              <a:buNone/>
            </a:pPr>
            <a:r>
              <a:rPr lang="en-US" dirty="0"/>
              <a:t>example </a:t>
            </a:r>
            <a:r>
              <a:rPr lang="en-US" dirty="0">
                <a:solidFill>
                  <a:srgbClr val="FF0000"/>
                </a:solidFill>
              </a:rPr>
              <a:t>http://www.somesite.com/subpage/userinput.asp?parm1=(808)555-1212&amp;parm2=2009Jan17</a:t>
            </a:r>
          </a:p>
          <a:p>
            <a:r>
              <a:rPr lang="en-US" dirty="0"/>
              <a:t>The two parameters look like a telephone number and a date. Probably the client's (user's) web browser enters those two values in their specified format for easy processing on the server's side. What would happen if parm2 were submitted as 1800Jan01? Or 800Feb30? Or 2048Min32? Or 1Aardvark2Many?</a:t>
            </a:r>
          </a:p>
          <a:p>
            <a:r>
              <a:rPr lang="en-US" dirty="0"/>
              <a:t>Something would likely fail.</a:t>
            </a:r>
          </a:p>
          <a:p>
            <a:r>
              <a:rPr lang="en-US" dirty="0"/>
              <a:t>One possibility is that the system would fail terribly, with a routine's failing on a data type error as it tried to handle a month named "Min" or even a year (like 1800) that was out of range. </a:t>
            </a:r>
          </a:p>
          <a:p>
            <a:r>
              <a:rPr lang="en-US" dirty="0"/>
              <a:t>Another possibility is that the receiving program would continue to execute but would generate a very wrong result.</a:t>
            </a:r>
          </a:p>
          <a:p>
            <a:r>
              <a:rPr lang="en-US" dirty="0"/>
              <a:t>(For example, imagine the amount of interest due today on a billing error with a start date of 1 Jan 1800.) Then again, the processing server might have a default condition, deciding to treat 1Aardvark2Many as 3 July 1947. The possibilities are endless.</a:t>
            </a:r>
          </a:p>
        </p:txBody>
      </p:sp>
    </p:spTree>
    <p:extLst>
      <p:ext uri="{BB962C8B-B14F-4D97-AF65-F5344CB8AC3E}">
        <p14:creationId xmlns:p14="http://schemas.microsoft.com/office/powerpoint/2010/main" val="1146048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Prevention</a:t>
            </a:r>
            <a:br>
              <a:rPr lang="en-US" dirty="0"/>
            </a:br>
            <a:endParaRPr lang="en-US" dirty="0"/>
          </a:p>
        </p:txBody>
      </p:sp>
      <p:sp>
        <p:nvSpPr>
          <p:cNvPr id="3" name="Content Placeholder 2"/>
          <p:cNvSpPr>
            <a:spLocks noGrp="1"/>
          </p:cNvSpPr>
          <p:nvPr>
            <p:ph idx="1"/>
          </p:nvPr>
        </p:nvSpPr>
        <p:spPr>
          <a:xfrm>
            <a:off x="540327" y="1122218"/>
            <a:ext cx="10813473" cy="5054745"/>
          </a:xfrm>
        </p:spPr>
        <p:txBody>
          <a:bodyPr>
            <a:normAutofit fontScale="92500" lnSpcReduction="20000"/>
          </a:bodyPr>
          <a:lstStyle/>
          <a:p>
            <a:r>
              <a:rPr lang="en-US" dirty="0"/>
              <a:t> Use strict validation for input data</a:t>
            </a:r>
          </a:p>
          <a:p>
            <a:r>
              <a:rPr lang="en-US" dirty="0"/>
              <a:t>programmer in the examples above may have written code to check for correctness on the </a:t>
            </a:r>
            <a:r>
              <a:rPr lang="en-US" i="1" dirty="0"/>
              <a:t>client</a:t>
            </a:r>
            <a:r>
              <a:rPr lang="en-US" dirty="0"/>
              <a:t>'s side (that is, the user's browser). </a:t>
            </a:r>
          </a:p>
          <a:p>
            <a:r>
              <a:rPr lang="en-US" dirty="0"/>
              <a:t>The client program can search for and screen out errors. </a:t>
            </a:r>
          </a:p>
          <a:p>
            <a:r>
              <a:rPr lang="en-US" dirty="0"/>
              <a:t>Or, to prevent the use of nonsense data, the program can restrict choices only to valid ones.</a:t>
            </a:r>
          </a:p>
          <a:p>
            <a:pPr lvl="1"/>
            <a:r>
              <a:rPr lang="en-US" dirty="0"/>
              <a:t> For example, the program supplying the parameters might have solicited them by using a drop-down box or choice list from which only the twelve conventional months would have been possible choices. </a:t>
            </a:r>
          </a:p>
          <a:p>
            <a:r>
              <a:rPr lang="en-US" dirty="0"/>
              <a:t>Similarly, the year could have been tested to ensure that the value was between 1995 and 2015, and date numbers would have to have been appropriate for the months in which they occur (no 30th of February, for example).</a:t>
            </a:r>
          </a:p>
          <a:p>
            <a:r>
              <a:rPr lang="en-US" dirty="0"/>
              <a:t>Using these verification techniques, the programmer may have felt well insulated from the possible problems a careless or malicious user could cause</a:t>
            </a:r>
          </a:p>
        </p:txBody>
      </p:sp>
    </p:spTree>
    <p:extLst>
      <p:ext uri="{BB962C8B-B14F-4D97-AF65-F5344CB8AC3E}">
        <p14:creationId xmlns:p14="http://schemas.microsoft.com/office/powerpoint/2010/main" val="809738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219</TotalTime>
  <Words>774</Words>
  <Application>Microsoft Office PowerPoint</Application>
  <PresentationFormat>Widescreen</PresentationFormat>
  <Paragraphs>74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Calibri Light</vt:lpstr>
      <vt:lpstr>Office Theme</vt:lpstr>
      <vt:lpstr>Program Security</vt:lpstr>
      <vt:lpstr>Program Security </vt:lpstr>
      <vt:lpstr>Inadvertent human errors(Non-malicious Program Errors)</vt:lpstr>
      <vt:lpstr>Buffer Overflows</vt:lpstr>
      <vt:lpstr>Buffer Overflows </vt:lpstr>
      <vt:lpstr>An Example of Stack BufferOverflow </vt:lpstr>
      <vt:lpstr>Buffer overflow protection</vt:lpstr>
      <vt:lpstr>Incomplete mediation </vt:lpstr>
      <vt:lpstr>Prevention </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 Security</dc:title>
  <dc:creator>Admin</dc:creator>
  <cp:lastModifiedBy>HP</cp:lastModifiedBy>
  <cp:revision>10</cp:revision>
  <dcterms:created xsi:type="dcterms:W3CDTF">2018-07-27T03:49:20Z</dcterms:created>
  <dcterms:modified xsi:type="dcterms:W3CDTF">2022-01-16T19:24:47Z</dcterms:modified>
</cp:coreProperties>
</file>