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14"/>
  </p:notesMasterIdLst>
  <p:sldIdLst>
    <p:sldId id="286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0246C-083D-4977-886C-AD69EC833187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D14D91-2D63-41EA-9CD5-49C3380F96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695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2B4F58-267D-4D10-8350-B34B19E08CAA}" type="slidenum">
              <a:rPr lang="en-AU" altLang="en-US" smtClean="0"/>
              <a:pPr>
                <a:spcBef>
                  <a:spcPct val="0"/>
                </a:spcBef>
              </a:pPr>
              <a:t>5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3044426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889D7A7-3CBC-4658-8D1D-661BB9716ED8}" type="slidenum">
              <a:rPr lang="en-AU" altLang="en-US" smtClean="0"/>
              <a:pPr>
                <a:spcBef>
                  <a:spcPct val="0"/>
                </a:spcBef>
              </a:pPr>
              <a:t>10</a:t>
            </a:fld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3451708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367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037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060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85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733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90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137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50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36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4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25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19D23-AEE4-487E-982C-E39F6C39919C}" type="datetimeFigureOut">
              <a:rPr lang="en-GB" smtClean="0"/>
              <a:t>28/05/2019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96A0F-E7D0-437E-83C0-1CA61A133593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t>28/5/2019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16016" y="2387600"/>
            <a:ext cx="4214813" cy="1470025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Basic Cryptography</a:t>
            </a:r>
            <a:endParaRPr lang="en-AU" altLang="en-US" dirty="0" smtClean="0"/>
          </a:p>
        </p:txBody>
      </p:sp>
      <p:sp>
        <p:nvSpPr>
          <p:cNvPr id="5123" name="TextBox 6"/>
          <p:cNvSpPr txBox="1">
            <a:spLocks noChangeArrowheads="1"/>
          </p:cNvSpPr>
          <p:nvPr/>
        </p:nvSpPr>
        <p:spPr bwMode="auto">
          <a:xfrm>
            <a:off x="4814291" y="3852934"/>
            <a:ext cx="41433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latin typeface="Arial" panose="020B0604020202020204" pitchFamily="34" charset="0"/>
              </a:rPr>
              <a:t>Week – </a:t>
            </a:r>
            <a:r>
              <a:rPr lang="en-US" altLang="en-US" dirty="0" smtClean="0">
                <a:latin typeface="Arial" panose="020B0604020202020204" pitchFamily="34" charset="0"/>
              </a:rPr>
              <a:t>2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476250"/>
            <a:ext cx="9144000" cy="492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HNDIT2301: Operating System and Information Security</a:t>
            </a:r>
            <a:endParaRPr 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5370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Block Cipher Characteristics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features seen in modern block ciphers are:</a:t>
            </a:r>
          </a:p>
          <a:p>
            <a:pPr lvl="1" eaLnBrk="1" hangingPunct="1"/>
            <a:r>
              <a:rPr lang="en-US" altLang="en-US" smtClean="0"/>
              <a:t>variable key length / block size / no rounds</a:t>
            </a:r>
          </a:p>
          <a:p>
            <a:pPr lvl="1" eaLnBrk="1" hangingPunct="1"/>
            <a:r>
              <a:rPr lang="en-US" altLang="en-US" smtClean="0"/>
              <a:t>mixed operators, data/key dependent rotation</a:t>
            </a:r>
          </a:p>
          <a:p>
            <a:pPr lvl="1" eaLnBrk="1" hangingPunct="1"/>
            <a:r>
              <a:rPr lang="en-US" altLang="en-US" smtClean="0"/>
              <a:t>key dependent S-boxes</a:t>
            </a:r>
          </a:p>
          <a:p>
            <a:pPr lvl="1" eaLnBrk="1" hangingPunct="1"/>
            <a:r>
              <a:rPr lang="en-US" altLang="en-US" smtClean="0"/>
              <a:t>more complex key scheduling</a:t>
            </a:r>
          </a:p>
          <a:p>
            <a:pPr lvl="1" eaLnBrk="1" hangingPunct="1"/>
            <a:r>
              <a:rPr lang="en-US" altLang="en-US" smtClean="0"/>
              <a:t>operation of full data in each round</a:t>
            </a:r>
          </a:p>
          <a:p>
            <a:pPr lvl="1" eaLnBrk="1" hangingPunct="1"/>
            <a:r>
              <a:rPr lang="en-US" altLang="en-US" smtClean="0"/>
              <a:t>varying non-linear functions</a:t>
            </a:r>
            <a:endParaRPr lang="en-AU" altLang="en-US" smtClean="0"/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0488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Blowfish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a symmetric block cipher designed by Bruce Schneier in 1993/94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characteristics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fast implementation on 32-bit CPUs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compact in use of memory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simple structure eases analysis/implemention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variable security by varying key size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has been implemented in various products</a:t>
            </a:r>
            <a:endParaRPr lang="en-AU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88528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Stream Ciphers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AU" sz="2800" smtClean="0"/>
              <a:t>process the message bit by bit (as a stream)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z="2800" smtClean="0"/>
              <a:t>typically have a (pseudo) random </a:t>
            </a:r>
            <a:r>
              <a:rPr lang="en-AU" sz="2800" b="1" smtClean="0"/>
              <a:t>stream key</a:t>
            </a:r>
            <a:r>
              <a:rPr lang="en-AU" sz="2800" smtClean="0"/>
              <a:t>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z="2800" smtClean="0"/>
              <a:t>combined (XOR) with plaintext bit by bit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z="2800" smtClean="0"/>
              <a:t>randomness of </a:t>
            </a:r>
            <a:r>
              <a:rPr lang="en-AU" sz="2800" b="1" smtClean="0"/>
              <a:t>stream key</a:t>
            </a:r>
            <a:r>
              <a:rPr lang="en-AU" sz="2800" smtClean="0"/>
              <a:t> completely destroys any statistically properties in the message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AU" sz="2400" smtClean="0">
                <a:latin typeface="Courier New" pitchFamily="49" charset="0"/>
              </a:rPr>
              <a:t>C</a:t>
            </a:r>
            <a:r>
              <a:rPr lang="en-AU" sz="2400" baseline="-25000" smtClean="0">
                <a:latin typeface="Courier New" pitchFamily="49" charset="0"/>
              </a:rPr>
              <a:t>i</a:t>
            </a:r>
            <a:r>
              <a:rPr lang="en-AU" sz="2400" smtClean="0">
                <a:latin typeface="Courier New" pitchFamily="49" charset="0"/>
              </a:rPr>
              <a:t> = M</a:t>
            </a:r>
            <a:r>
              <a:rPr lang="en-AU" sz="2400" baseline="-25000" smtClean="0">
                <a:latin typeface="Courier New" pitchFamily="49" charset="0"/>
              </a:rPr>
              <a:t>i</a:t>
            </a:r>
            <a:r>
              <a:rPr lang="en-AU" sz="2400" smtClean="0">
                <a:latin typeface="Courier New" pitchFamily="49" charset="0"/>
              </a:rPr>
              <a:t> XOR StreamKey</a:t>
            </a:r>
            <a:r>
              <a:rPr lang="en-AU" sz="2400" baseline="-25000" smtClean="0">
                <a:latin typeface="Courier New" pitchFamily="49" charset="0"/>
              </a:rPr>
              <a:t>i</a:t>
            </a:r>
            <a:r>
              <a:rPr lang="en-AU" sz="2400" smtClean="0">
                <a:latin typeface="Courier New" pitchFamily="49" charset="0"/>
              </a:rPr>
              <a:t>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z="2800" smtClean="0"/>
              <a:t>what could be simpler!!!!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smtClean="0"/>
              <a:t>but must never reuse stream key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smtClean="0"/>
              <a:t>otherwise can remove effect and recover messages</a:t>
            </a:r>
            <a:endParaRPr lang="en-AU" sz="2400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702621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Stream Cipher Properties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mtClean="0"/>
              <a:t>some design considerations are: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AU" smtClean="0"/>
              <a:t>long period with no repetitions 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AU" smtClean="0"/>
              <a:t>statistically random 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mtClean="0"/>
              <a:t>depends on large enough key</a:t>
            </a:r>
            <a:endParaRPr lang="en-AU" smtClean="0"/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AU" smtClean="0"/>
              <a:t>large linear complexity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AU" smtClean="0"/>
              <a:t>correlation immunity 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AU" smtClean="0"/>
              <a:t>confusion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AU" smtClean="0"/>
              <a:t>diffusion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AU" smtClean="0"/>
              <a:t>use of highly non-linear boolean functions </a:t>
            </a:r>
          </a:p>
          <a:p>
            <a:pPr lvl="1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AU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900491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RC4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a proprietary cipher owned by RSA DSI </a:t>
            </a:r>
          </a:p>
          <a:p>
            <a:pPr eaLnBrk="1" hangingPunct="1"/>
            <a:r>
              <a:rPr lang="en-AU" altLang="en-US" smtClean="0"/>
              <a:t>another Ron Rivest design, simple but effective</a:t>
            </a:r>
          </a:p>
          <a:p>
            <a:pPr eaLnBrk="1" hangingPunct="1"/>
            <a:r>
              <a:rPr lang="en-AU" altLang="en-US" smtClean="0"/>
              <a:t>variable key size, byte-oriented stream cipher </a:t>
            </a:r>
          </a:p>
          <a:p>
            <a:pPr eaLnBrk="1" hangingPunct="1"/>
            <a:r>
              <a:rPr lang="en-AU" altLang="en-US" smtClean="0"/>
              <a:t>widely used (web SSL/TLS, wireless WEP) 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6263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RC4 – contd.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key forms random permutation of all 8-bit values </a:t>
            </a:r>
          </a:p>
          <a:p>
            <a:pPr eaLnBrk="1" hangingPunct="1"/>
            <a:r>
              <a:rPr lang="en-AU" altLang="en-US" smtClean="0"/>
              <a:t>uses that permutation to scramble input info processed a byte at a time </a:t>
            </a:r>
          </a:p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8443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Block vs Stream Ciphers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AU" smtClean="0"/>
              <a:t>block ciphers process messages in into blocks, each of which is then en/decrypted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AU" smtClean="0"/>
              <a:t>like a substitution on very big characters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AU" smtClean="0"/>
              <a:t>64-bits or more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stream ciphers </a:t>
            </a:r>
            <a:r>
              <a:rPr lang="en-AU" smtClean="0"/>
              <a:t>process messages a bit or byte at a time when en/decrypting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many current ciphers are block ciphers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hence are focus of course</a:t>
            </a:r>
            <a:endParaRPr lang="en-AU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0547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smtClean="0"/>
              <a:t>Steganography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an alternative to encryption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hides existence of message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using only a subset of letters/words in a longer message marked in some way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using invisible ink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hiding in LSB in graphic image or sound file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mtClean="0"/>
              <a:t>has drawbacks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mtClean="0"/>
              <a:t>high overhead to hide relatively few info bits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AU" smtClean="0"/>
          </a:p>
        </p:txBody>
      </p:sp>
    </p:spTree>
    <p:extLst>
      <p:ext uri="{BB962C8B-B14F-4D97-AF65-F5344CB8AC3E}">
        <p14:creationId xmlns:p14="http://schemas.microsoft.com/office/powerpoint/2010/main" val="125828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86500" y="642938"/>
          <a:ext cx="1690687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7"/>
                <a:gridCol w="571507"/>
                <a:gridCol w="547673"/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o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L="91441" marR="91441" marT="45700" marB="45700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57938" y="4071938"/>
          <a:ext cx="1690687" cy="14827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1507"/>
                <a:gridCol w="571507"/>
                <a:gridCol w="547673"/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4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T="45700" marB="45700"/>
                </a:tc>
              </a:tr>
              <a:tr h="370681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</a:t>
                      </a:r>
                      <a:endParaRPr lang="en-US" sz="1800" dirty="0"/>
                    </a:p>
                  </a:txBody>
                  <a:tcPr marT="45700" marB="45700"/>
                </a:tc>
              </a:tr>
            </a:tbl>
          </a:graphicData>
        </a:graphic>
      </p:graphicFrame>
      <p:pic>
        <p:nvPicPr>
          <p:cNvPr id="58371" name="Picture 3" descr="E:\Nishanthi\ATI\Semester 1 2013\Security\Images\steganography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357188"/>
            <a:ext cx="3567113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2" name="Picture 4" descr="E:\Nishanthi\ATI\Semester 1 2013\Security\Images\steganography1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3857625"/>
            <a:ext cx="3968750" cy="211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Straight Arrow Connector 9"/>
          <p:cNvCxnSpPr/>
          <p:nvPr/>
        </p:nvCxnSpPr>
        <p:spPr>
          <a:xfrm>
            <a:off x="4214813" y="1357313"/>
            <a:ext cx="1857375" cy="1587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Down Arrow 10"/>
          <p:cNvSpPr/>
          <p:nvPr/>
        </p:nvSpPr>
        <p:spPr>
          <a:xfrm>
            <a:off x="7000875" y="2428875"/>
            <a:ext cx="785813" cy="150018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214813" y="2643188"/>
            <a:ext cx="27860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Encoded using Steganography tools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rot="10800000">
            <a:off x="4714875" y="4929188"/>
            <a:ext cx="1357313" cy="0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642938" y="2286000"/>
            <a:ext cx="2786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Original Image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928688" y="6072188"/>
            <a:ext cx="2786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Ciphered  Image</a:t>
            </a:r>
          </a:p>
        </p:txBody>
      </p:sp>
    </p:spTree>
    <p:extLst>
      <p:ext uri="{BB962C8B-B14F-4D97-AF65-F5344CB8AC3E}">
        <p14:creationId xmlns:p14="http://schemas.microsoft.com/office/powerpoint/2010/main" val="2293141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23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Summary</a:t>
            </a:r>
            <a:endParaRPr lang="en-AU" altLang="en-US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have considered: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classical cipher techniques and terminology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Mono alphabetic substitution ciphers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cryptanalysis using letter frequencies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transposition ciphers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product ciphers and rotor machines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Block and stream ciphers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stenography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mtClean="0"/>
          </a:p>
          <a:p>
            <a:pPr lvl="1" eaLnBrk="1" hangingPunct="1">
              <a:lnSpc>
                <a:spcPct val="90000"/>
              </a:lnSpc>
            </a:pPr>
            <a:endParaRPr lang="en-AU" altLang="en-US" smtClean="0"/>
          </a:p>
        </p:txBody>
      </p:sp>
    </p:spTree>
    <p:extLst>
      <p:ext uri="{BB962C8B-B14F-4D97-AF65-F5344CB8AC3E}">
        <p14:creationId xmlns:p14="http://schemas.microsoft.com/office/powerpoint/2010/main" val="212303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149</TotalTime>
  <Words>409</Words>
  <Application>Microsoft Office PowerPoint</Application>
  <PresentationFormat>On-screen Show (4:3)</PresentationFormat>
  <Paragraphs>99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Theme2</vt:lpstr>
      <vt:lpstr>1_HNDIT</vt:lpstr>
      <vt:lpstr>Basic Cryptography</vt:lpstr>
      <vt:lpstr>Block Cipher Characteristics</vt:lpstr>
      <vt:lpstr>Blowfish</vt:lpstr>
      <vt:lpstr>Stream Ciphers</vt:lpstr>
      <vt:lpstr>Stream Cipher Properties</vt:lpstr>
      <vt:lpstr>RC4</vt:lpstr>
      <vt:lpstr>RC4 – contd.</vt:lpstr>
      <vt:lpstr>Block vs Stream Ciphers</vt:lpstr>
      <vt:lpstr>Steganography</vt:lpstr>
      <vt:lpstr>PowerPoint Presentation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Admin</cp:lastModifiedBy>
  <cp:revision>19</cp:revision>
  <dcterms:created xsi:type="dcterms:W3CDTF">2018-04-26T04:37:25Z</dcterms:created>
  <dcterms:modified xsi:type="dcterms:W3CDTF">2019-05-28T07:25:02Z</dcterms:modified>
</cp:coreProperties>
</file>